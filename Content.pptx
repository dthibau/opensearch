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01FD19-191F-4FA0-A373-8F775C828A8E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DF40A-C9D3-42A5-AA2B-FDD757B89E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93A7A1-8FE2-4206-8199-492EBCC9E0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5DA42D-36C9-48B8-8229-0A47B1A023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1E74FE-5E60-415B-A1F8-626336261E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2909CF-FD80-4938-93FA-159EE8B3DF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8290EE-A4B1-4418-BF34-BF9C029597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F1FC81-C7A6-4AE2-8391-793BB081F613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215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0" y="0"/>
            <a:ext cx="163800" cy="63936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20040" y="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Scaling – Ajout de nœuds et rééquilibrage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20040" y="71316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c93"/>
                </a:solidFill>
                <a:latin typeface="Calibri"/>
                <a:ea typeface="Calibri"/>
              </a:rPr>
              <a:t>OpenSearch supporte le scaling horizontal à chaud : les nouveaux nœuds rejoignent le cluster et les shards sont automatiquement redistribués selon les règles d'allocation.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2004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Ajouter un nœud data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320040" y="1581840"/>
            <a:ext cx="4205520" cy="2331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411480" y="1645920"/>
            <a:ext cx="4022640" cy="22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opensearch.yml du nouveau nœud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cluster.name: prod-cluster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node.name: data-node-5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node.roles: [ data 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network.host: 10.0.1.15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discovery.seed_hosts: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- 10.0.1.10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- 10.0.1.11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- 10.0.1.12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Démarrer OpenSearch →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le nœud rejoint le cluster automatiquement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Surveiller le rééquilibrage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GET /_cat/recovery?v&amp;active_only=true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GET /_cluster/health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?wait_for_status=green&amp;timeout=120s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20040" y="3977640"/>
            <a:ext cx="4205520" cy="822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411480" y="4023360"/>
            <a:ext cx="4022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⚠  </a:t>
            </a:r>
            <a:r>
              <a:rPr b="0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Le rééquilibrage peut impacter les performances. En prod, limiter la vitesse :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cluster.routing.allocation.node_concurrent_recoveries: 2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indices.recovery.max_bytes_per_sec: 40mb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475488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Contrôle de l'allocation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4754880" y="1581840"/>
            <a:ext cx="4205520" cy="32637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4846320" y="1645920"/>
            <a:ext cx="40226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Désactiver le rééquilibrage pendant maintenance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/_cluster/settings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"transient":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"cluster.routing.rebalance.enable": "none"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Réactiver après maintenance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/_cluster/settings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"transient":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"cluster.routing.rebalance.enable": "all"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Déplacer manuellement un shard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POST /_cluster/reroute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"commands": [{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"move":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"index": "logs-2024.01.01",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"shard": 0,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"from_node": "data-node-1",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"to_node":   "data-node-5"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22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63800" cy="63936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320040" y="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ISM – Index State Management : cycle de vie des index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320040" y="71316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c93"/>
                </a:solidFill>
                <a:latin typeface="Calibri"/>
                <a:ea typeface="Calibri"/>
              </a:rPr>
              <a:t>ISM automatise les opérations sur les index selon des politiques déclaratives : rollover, passage en read-only, migration vers nœuds cold, suppression après rétention.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20040" y="1234440"/>
            <a:ext cx="1919520" cy="31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320040" y="1234440"/>
            <a:ext cx="1919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hot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320040" y="1554480"/>
            <a:ext cx="1919520" cy="63936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320040" y="15544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Écriture active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Rollover auto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2240280" y="1389600"/>
            <a:ext cx="685800" cy="360"/>
          </a:xfrm>
          <a:prstGeom prst="line">
            <a:avLst/>
          </a:prstGeom>
          <a:ln w="254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2377440" y="1261800"/>
            <a:ext cx="3650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672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2606040" y="1234440"/>
            <a:ext cx="1919520" cy="31032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2606040" y="1234440"/>
            <a:ext cx="1919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warm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2606040" y="1554480"/>
            <a:ext cx="1919520" cy="63936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606040" y="15544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Lecture seule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Forcemerge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526280" y="1389600"/>
            <a:ext cx="685800" cy="360"/>
          </a:xfrm>
          <a:prstGeom prst="line">
            <a:avLst/>
          </a:prstGeom>
          <a:ln w="254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4663440" y="1261800"/>
            <a:ext cx="3650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672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4892040" y="1234440"/>
            <a:ext cx="1919520" cy="310320"/>
          </a:xfrm>
          <a:prstGeom prst="rect">
            <a:avLst/>
          </a:prstGeom>
          <a:solidFill>
            <a:srgbClr val="00a3d9"/>
          </a:solidFill>
          <a:ln w="12700">
            <a:solidFill>
              <a:srgbClr val="00a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4892040" y="1234440"/>
            <a:ext cx="1919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cold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5"/>
          <p:cNvSpPr/>
          <p:nvPr/>
        </p:nvSpPr>
        <p:spPr>
          <a:xfrm>
            <a:off x="4892040" y="1554480"/>
            <a:ext cx="1919520" cy="63936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4892040" y="15544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Nœud cold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Réplicas = 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6812280" y="1389600"/>
            <a:ext cx="685800" cy="360"/>
          </a:xfrm>
          <a:prstGeom prst="line">
            <a:avLst/>
          </a:prstGeom>
          <a:ln w="254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4"/>
          <p:cNvSpPr/>
          <p:nvPr/>
        </p:nvSpPr>
        <p:spPr>
          <a:xfrm>
            <a:off x="6949440" y="1261800"/>
            <a:ext cx="3650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672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7178040" y="1234440"/>
            <a:ext cx="1919520" cy="310320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7178040" y="1234440"/>
            <a:ext cx="1919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delete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7178040" y="1554480"/>
            <a:ext cx="1919520" cy="63936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6"/>
          <p:cNvSpPr/>
          <p:nvPr/>
        </p:nvSpPr>
        <p:spPr>
          <a:xfrm>
            <a:off x="7178040" y="15544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Suppression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après rétention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7"/>
          <p:cNvSpPr/>
          <p:nvPr/>
        </p:nvSpPr>
        <p:spPr>
          <a:xfrm>
            <a:off x="320040" y="2331720"/>
            <a:ext cx="8503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Politique ISM complète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9"/>
          <p:cNvSpPr/>
          <p:nvPr/>
        </p:nvSpPr>
        <p:spPr>
          <a:xfrm>
            <a:off x="320040" y="2679120"/>
            <a:ext cx="8503200" cy="2349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411480" y="2743200"/>
            <a:ext cx="8320320" cy="22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/_plugins/_ism/policies/logs-lifecycle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"policy":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"description": "Hot → Warm → Cold → Delete",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"default_state": "hot",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"states": [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"name": "hot",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"actions": [{ "rollover": { "min_index_age": "1d", "min_size": "50gb" } }],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"transitions": [{ "state_name": "warm", "conditions": { "min_rollover_age": "2d" } }]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"name": "warm",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"actions": [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"replica_count": { "number_of_replicas": 1 } 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"force_merge": { "max_num_segments": 1 }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"transitions": [{ "state_name": "cold", "conditions": { "min_index_age": "15d" } }]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"name": "cold",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"actions": [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"replica_count": { "number_of_replicas": 0 } 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"read_only": {}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"transitions": [{ "state_name": "delete", "conditions": { "min_index_age": "90d" } }]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"name": "delete", "actions": [{ "delete": {} }], "transitions": []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"ism_template": [{ "index_patterns": ["logs-*"], "priority": 100 }]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2234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0" y="0"/>
            <a:ext cx="163800" cy="63936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20040" y="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Gestion du stockage – Architecture Hot-Warm-Cold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320040" y="71316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c93"/>
                </a:solidFill>
                <a:latin typeface="Calibri"/>
                <a:ea typeface="Calibri"/>
              </a:rPr>
              <a:t>L'architecture Hot-Warm-Cold optimise le rapport performance/coût en stockant les données sur des nœuds adaptés à leur fréquence d'accès.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292680" y="1234440"/>
            <a:ext cx="2742480" cy="31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292680" y="12344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HOT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292680" y="1554480"/>
            <a:ext cx="2742480" cy="274248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384120" y="1591200"/>
            <a:ext cx="2559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Consolas"/>
                <a:ea typeface="Consolas"/>
              </a:rPr>
              <a:t>Nœud : data_hot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384120" y="184716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Matériel : SSD NVMe, RAM ++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383760" y="208476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384120" y="2121480"/>
            <a:ext cx="2559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Index en cours (&lt; 1-2 jours)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383760" y="246888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384120" y="250560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Écriture et lecture haute fréquence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Réplicas actifs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node.roles: [data_hot]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2"/>
          <p:cNvSpPr/>
          <p:nvPr/>
        </p:nvSpPr>
        <p:spPr>
          <a:xfrm>
            <a:off x="3218760" y="1234440"/>
            <a:ext cx="2742480" cy="31032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3218760" y="12344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WARM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3"/>
          <p:cNvSpPr/>
          <p:nvPr/>
        </p:nvSpPr>
        <p:spPr>
          <a:xfrm>
            <a:off x="3218760" y="1554480"/>
            <a:ext cx="2742480" cy="274248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3310200" y="1591200"/>
            <a:ext cx="2559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Consolas"/>
                <a:ea typeface="Consolas"/>
              </a:rPr>
              <a:t>Nœud : data_warm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2"/>
          <p:cNvSpPr/>
          <p:nvPr/>
        </p:nvSpPr>
        <p:spPr>
          <a:xfrm>
            <a:off x="3310200" y="184716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Matériel : SSD ou HDD, RAM moyenne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4"/>
          <p:cNvSpPr/>
          <p:nvPr/>
        </p:nvSpPr>
        <p:spPr>
          <a:xfrm>
            <a:off x="3309840" y="208476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3"/>
          <p:cNvSpPr/>
          <p:nvPr/>
        </p:nvSpPr>
        <p:spPr>
          <a:xfrm>
            <a:off x="3310200" y="2121480"/>
            <a:ext cx="2559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Index récents, lecture seule (&lt; 30j)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5"/>
          <p:cNvSpPr/>
          <p:nvPr/>
        </p:nvSpPr>
        <p:spPr>
          <a:xfrm>
            <a:off x="3309840" y="246888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8"/>
          <p:cNvSpPr/>
          <p:nvPr/>
        </p:nvSpPr>
        <p:spPr>
          <a:xfrm>
            <a:off x="3310200" y="250560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Forcemerge 1 segment, réplicas 1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Économie de ressources SSD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node.roles: [data_warm]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6"/>
          <p:cNvSpPr/>
          <p:nvPr/>
        </p:nvSpPr>
        <p:spPr>
          <a:xfrm>
            <a:off x="6144840" y="1234440"/>
            <a:ext cx="2742480" cy="310320"/>
          </a:xfrm>
          <a:prstGeom prst="rect">
            <a:avLst/>
          </a:prstGeom>
          <a:solidFill>
            <a:srgbClr val="00a3d9"/>
          </a:solidFill>
          <a:ln w="12700">
            <a:solidFill>
              <a:srgbClr val="00a3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9"/>
          <p:cNvSpPr/>
          <p:nvPr/>
        </p:nvSpPr>
        <p:spPr>
          <a:xfrm>
            <a:off x="6144840" y="12344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COLD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7"/>
          <p:cNvSpPr/>
          <p:nvPr/>
        </p:nvSpPr>
        <p:spPr>
          <a:xfrm>
            <a:off x="6144840" y="1554480"/>
            <a:ext cx="2742480" cy="274248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0"/>
          <p:cNvSpPr/>
          <p:nvPr/>
        </p:nvSpPr>
        <p:spPr>
          <a:xfrm>
            <a:off x="6236280" y="1591200"/>
            <a:ext cx="2559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Consolas"/>
                <a:ea typeface="Consolas"/>
              </a:rPr>
              <a:t>Nœud : data_cold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61"/>
          <p:cNvSpPr/>
          <p:nvPr/>
        </p:nvSpPr>
        <p:spPr>
          <a:xfrm>
            <a:off x="6236280" y="1847160"/>
            <a:ext cx="25596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Matériel : HDD haute capacité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8"/>
          <p:cNvSpPr/>
          <p:nvPr/>
        </p:nvSpPr>
        <p:spPr>
          <a:xfrm>
            <a:off x="6235920" y="208476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2"/>
          <p:cNvSpPr/>
          <p:nvPr/>
        </p:nvSpPr>
        <p:spPr>
          <a:xfrm>
            <a:off x="6236280" y="2121480"/>
            <a:ext cx="2559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672a"/>
                </a:solidFill>
                <a:latin typeface="Calibri"/>
                <a:ea typeface="Calibri"/>
              </a:rPr>
              <a:t>Archives (&gt; 30 jours)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9"/>
          <p:cNvSpPr/>
          <p:nvPr/>
        </p:nvSpPr>
        <p:spPr>
          <a:xfrm>
            <a:off x="6235920" y="2468880"/>
            <a:ext cx="2560320" cy="360"/>
          </a:xfrm>
          <a:prstGeom prst="line">
            <a:avLst/>
          </a:prstGeom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63"/>
          <p:cNvSpPr/>
          <p:nvPr/>
        </p:nvSpPr>
        <p:spPr>
          <a:xfrm>
            <a:off x="6236280" y="2505600"/>
            <a:ext cx="25596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read_only, réplicas = 0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Accès rare, stockage économique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node.roles: [data_cold]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40"/>
          <p:cNvSpPr/>
          <p:nvPr/>
        </p:nvSpPr>
        <p:spPr>
          <a:xfrm>
            <a:off x="292680" y="4370760"/>
            <a:ext cx="8594640" cy="45648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64"/>
          <p:cNvSpPr/>
          <p:nvPr/>
        </p:nvSpPr>
        <p:spPr>
          <a:xfrm>
            <a:off x="384120" y="4416480"/>
            <a:ext cx="841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⚙  </a:t>
            </a: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Configuration du nœud dans opensearch.yml : node.roles: [data_hot] + node.attr.temperature: hot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ISM route via : index.routing.allocation.require.temperature: hot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2249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30"/>
          <p:cNvSpPr/>
          <p:nvPr/>
        </p:nvSpPr>
        <p:spPr>
          <a:xfrm>
            <a:off x="0" y="0"/>
            <a:ext cx="163800" cy="63936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320040" y="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Bonnes pratiques – Dimensionnement des shards et rollover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40"/>
          <p:cNvSpPr/>
          <p:nvPr/>
        </p:nvSpPr>
        <p:spPr>
          <a:xfrm>
            <a:off x="320040" y="71316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c93"/>
                </a:solidFill>
                <a:latin typeface="Calibri"/>
                <a:ea typeface="Calibri"/>
              </a:rPr>
              <a:t>Un mauvais dimensionnement des shards est la première source de problèmes de performance. La règle d'or : 10–50 GB par shard, ≤ 20 shards par Go de heap JVM.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65"/>
          <p:cNvSpPr/>
          <p:nvPr/>
        </p:nvSpPr>
        <p:spPr>
          <a:xfrm>
            <a:off x="32004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Règles de dimensionnement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1"/>
          <p:cNvSpPr/>
          <p:nvPr/>
        </p:nvSpPr>
        <p:spPr>
          <a:xfrm>
            <a:off x="320040" y="1581840"/>
            <a:ext cx="4205520" cy="74916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320040" y="1581840"/>
            <a:ext cx="54000" cy="74916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66"/>
          <p:cNvSpPr/>
          <p:nvPr/>
        </p:nvSpPr>
        <p:spPr>
          <a:xfrm>
            <a:off x="457200" y="162756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📦  </a:t>
            </a: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Taille cible : 10–50 GB par shard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7"/>
          <p:cNvSpPr/>
          <p:nvPr/>
        </p:nvSpPr>
        <p:spPr>
          <a:xfrm>
            <a:off x="457200" y="190188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En dessous de 1 GB : overhead trop élevé. Au-dessus de 50 GB : récupération très longue en cas de défaillance.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3"/>
          <p:cNvSpPr/>
          <p:nvPr/>
        </p:nvSpPr>
        <p:spPr>
          <a:xfrm>
            <a:off x="320040" y="2404800"/>
            <a:ext cx="4205520" cy="74916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4"/>
          <p:cNvSpPr/>
          <p:nvPr/>
        </p:nvSpPr>
        <p:spPr>
          <a:xfrm>
            <a:off x="320040" y="2404800"/>
            <a:ext cx="54000" cy="74916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8"/>
          <p:cNvSpPr/>
          <p:nvPr/>
        </p:nvSpPr>
        <p:spPr>
          <a:xfrm>
            <a:off x="457200" y="245052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🔢  </a:t>
            </a: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Max shards par nœud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9"/>
          <p:cNvSpPr/>
          <p:nvPr/>
        </p:nvSpPr>
        <p:spPr>
          <a:xfrm>
            <a:off x="457200" y="272484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≤ </a:t>
            </a: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20 shards par Go de heap. Ex : nœud 32 GB heap → max 640 shards (primaires + réplicas).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5"/>
          <p:cNvSpPr/>
          <p:nvPr/>
        </p:nvSpPr>
        <p:spPr>
          <a:xfrm>
            <a:off x="320040" y="3227760"/>
            <a:ext cx="4205520" cy="74916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6"/>
          <p:cNvSpPr/>
          <p:nvPr/>
        </p:nvSpPr>
        <p:spPr>
          <a:xfrm>
            <a:off x="320040" y="3227760"/>
            <a:ext cx="54000" cy="74916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70"/>
          <p:cNvSpPr/>
          <p:nvPr/>
        </p:nvSpPr>
        <p:spPr>
          <a:xfrm>
            <a:off x="457200" y="327348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⚖️  </a:t>
            </a: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Réplicas selon le contexte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71"/>
          <p:cNvSpPr/>
          <p:nvPr/>
        </p:nvSpPr>
        <p:spPr>
          <a:xfrm>
            <a:off x="457200" y="354780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1 réplica en production. 0 pendant une ingestion bulk massive, puis remettre à 1 après.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47"/>
          <p:cNvSpPr/>
          <p:nvPr/>
        </p:nvSpPr>
        <p:spPr>
          <a:xfrm>
            <a:off x="320040" y="4050720"/>
            <a:ext cx="4205520" cy="74916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e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8"/>
          <p:cNvSpPr/>
          <p:nvPr/>
        </p:nvSpPr>
        <p:spPr>
          <a:xfrm>
            <a:off x="320040" y="4050720"/>
            <a:ext cx="54000" cy="74916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72"/>
          <p:cNvSpPr/>
          <p:nvPr/>
        </p:nvSpPr>
        <p:spPr>
          <a:xfrm>
            <a:off x="457200" y="40964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📋  </a:t>
            </a:r>
            <a:r>
              <a:rPr b="1" lang="en-US" sz="1000" spc="-1" strike="noStrike">
                <a:solidFill>
                  <a:srgbClr val="002b5c"/>
                </a:solidFill>
                <a:latin typeface="Arial"/>
                <a:ea typeface="Arial"/>
              </a:rPr>
              <a:t>Rollover plutôt que big shards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3"/>
          <p:cNvSpPr/>
          <p:nvPr/>
        </p:nvSpPr>
        <p:spPr>
          <a:xfrm>
            <a:off x="457200" y="4370760"/>
            <a:ext cx="3931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7c93"/>
                </a:solidFill>
                <a:latin typeface="Calibri"/>
                <a:ea typeface="Calibri"/>
              </a:rPr>
              <a:t>Préférer plusieurs petits index via rollover automatique (1 shard/index) à un index monolithique.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74"/>
          <p:cNvSpPr/>
          <p:nvPr/>
        </p:nvSpPr>
        <p:spPr>
          <a:xfrm>
            <a:off x="475488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Rollover via alias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9"/>
          <p:cNvSpPr/>
          <p:nvPr/>
        </p:nvSpPr>
        <p:spPr>
          <a:xfrm>
            <a:off x="4754880" y="1581840"/>
            <a:ext cx="4205520" cy="32637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75"/>
          <p:cNvSpPr/>
          <p:nvPr/>
        </p:nvSpPr>
        <p:spPr>
          <a:xfrm>
            <a:off x="4846320" y="1645920"/>
            <a:ext cx="40226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1. Créer l'index initial avec alias d'écriture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/logs-000001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"aliases":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"logs-write": { "is_write_index": true },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"logs-read":  {}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2. Déclencher le rollover (manuel ou via ISM)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POST /logs-write/_rollover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"conditions":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"max_age":  "1d",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"max_size": "40gb",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"max_docs": 100000000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Résultat : logs-000002 créé automatiquement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logs-write pointe vers le nouvel index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logs-read couvre TOUS les index (000001, 000002…)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Toujours écrire sur l'alias, jamais sur l'index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POST /logs-write/_doc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 "message": "mon log"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2260"/>
          <p:cNvSpPr/>
          <p:nvPr/>
        </p:nvSpPr>
        <p:spPr>
          <a:xfrm>
            <a:off x="0" y="0"/>
            <a:ext cx="9143280" cy="63936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41"/>
          <p:cNvSpPr/>
          <p:nvPr/>
        </p:nvSpPr>
        <p:spPr>
          <a:xfrm>
            <a:off x="0" y="0"/>
            <a:ext cx="163800" cy="63936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81"/>
          <p:cNvSpPr/>
          <p:nvPr/>
        </p:nvSpPr>
        <p:spPr>
          <a:xfrm>
            <a:off x="320040" y="0"/>
            <a:ext cx="8594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Bonnes pratiques – Index Templates et checklist de maintenance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82"/>
          <p:cNvSpPr/>
          <p:nvPr/>
        </p:nvSpPr>
        <p:spPr>
          <a:xfrm>
            <a:off x="320040" y="713160"/>
            <a:ext cx="8503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c93"/>
                </a:solidFill>
                <a:latin typeface="Calibri"/>
                <a:ea typeface="Calibri"/>
              </a:rPr>
              <a:t>Les index templates garantissent une configuration cohérente sur tous les index d'un pattern. La maintenance régulière évite l'accumulation de dettes techniques.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83"/>
          <p:cNvSpPr/>
          <p:nvPr/>
        </p:nvSpPr>
        <p:spPr>
          <a:xfrm>
            <a:off x="32004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Index template composable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57"/>
          <p:cNvSpPr/>
          <p:nvPr/>
        </p:nvSpPr>
        <p:spPr>
          <a:xfrm>
            <a:off x="320040" y="1581840"/>
            <a:ext cx="4205520" cy="26053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84"/>
          <p:cNvSpPr/>
          <p:nvPr/>
        </p:nvSpPr>
        <p:spPr>
          <a:xfrm>
            <a:off x="411480" y="1645920"/>
            <a:ext cx="4022640" cy="24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1. Component template : paramètres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/_component_template/logs-settings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"template":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"settings":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"number_of_shards": 1,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"number_of_replicas": 1,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"refresh_interval": "5s",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"index.search.slowlog.threshold.query.warn": "5s"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2. Index template composé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PUT /_index_template/logs-template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"index_patterns": ["logs-*"],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"composed_of": ["logs-settings","logs-mappings"],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"priority": 200,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"template": {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"aliases": { "logs-all": {}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85"/>
          <p:cNvSpPr/>
          <p:nvPr/>
        </p:nvSpPr>
        <p:spPr>
          <a:xfrm>
            <a:off x="4754880" y="123444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b5c"/>
                </a:solidFill>
                <a:latin typeface="Arial"/>
                <a:ea typeface="Arial"/>
              </a:rPr>
              <a:t>Checklist de maintenance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8"/>
          <p:cNvSpPr/>
          <p:nvPr/>
        </p:nvSpPr>
        <p:spPr>
          <a:xfrm>
            <a:off x="4754880" y="1581840"/>
            <a:ext cx="4205520" cy="273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86"/>
          <p:cNvSpPr/>
          <p:nvPr/>
        </p:nvSpPr>
        <p:spPr>
          <a:xfrm>
            <a:off x="4754880" y="158184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Quotidien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59"/>
          <p:cNvSpPr/>
          <p:nvPr/>
        </p:nvSpPr>
        <p:spPr>
          <a:xfrm>
            <a:off x="4754880" y="1892880"/>
            <a:ext cx="273600" cy="255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87"/>
          <p:cNvSpPr/>
          <p:nvPr/>
        </p:nvSpPr>
        <p:spPr>
          <a:xfrm>
            <a:off x="4754880" y="189288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8"/>
          <p:cNvSpPr/>
          <p:nvPr/>
        </p:nvSpPr>
        <p:spPr>
          <a:xfrm>
            <a:off x="5065920" y="189288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cluster health = green ?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0"/>
          <p:cNvSpPr/>
          <p:nvPr/>
        </p:nvSpPr>
        <p:spPr>
          <a:xfrm>
            <a:off x="4754880" y="2185560"/>
            <a:ext cx="273600" cy="255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89"/>
          <p:cNvSpPr/>
          <p:nvPr/>
        </p:nvSpPr>
        <p:spPr>
          <a:xfrm>
            <a:off x="4754880" y="218556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90"/>
          <p:cNvSpPr/>
          <p:nvPr/>
        </p:nvSpPr>
        <p:spPr>
          <a:xfrm>
            <a:off x="5065920" y="218556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Shards non assignés ?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61"/>
          <p:cNvSpPr/>
          <p:nvPr/>
        </p:nvSpPr>
        <p:spPr>
          <a:xfrm>
            <a:off x="4754880" y="2477880"/>
            <a:ext cx="273600" cy="255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91"/>
          <p:cNvSpPr/>
          <p:nvPr/>
        </p:nvSpPr>
        <p:spPr>
          <a:xfrm>
            <a:off x="4754880" y="247788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2"/>
          <p:cNvSpPr/>
          <p:nvPr/>
        </p:nvSpPr>
        <p:spPr>
          <a:xfrm>
            <a:off x="5065920" y="247788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Heap &lt; 75 % sur tous les nœuds ?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62"/>
          <p:cNvSpPr/>
          <p:nvPr/>
        </p:nvSpPr>
        <p:spPr>
          <a:xfrm>
            <a:off x="4754880" y="2935080"/>
            <a:ext cx="4205520" cy="27360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93"/>
          <p:cNvSpPr/>
          <p:nvPr/>
        </p:nvSpPr>
        <p:spPr>
          <a:xfrm>
            <a:off x="4754880" y="293508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Hebdomadaire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63"/>
          <p:cNvSpPr/>
          <p:nvPr/>
        </p:nvSpPr>
        <p:spPr>
          <a:xfrm>
            <a:off x="4754880" y="3246120"/>
            <a:ext cx="273600" cy="25524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94"/>
          <p:cNvSpPr/>
          <p:nvPr/>
        </p:nvSpPr>
        <p:spPr>
          <a:xfrm>
            <a:off x="4754880" y="324612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95"/>
          <p:cNvSpPr/>
          <p:nvPr/>
        </p:nvSpPr>
        <p:spPr>
          <a:xfrm>
            <a:off x="5065920" y="324612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Analyser les slow logs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4"/>
          <p:cNvSpPr/>
          <p:nvPr/>
        </p:nvSpPr>
        <p:spPr>
          <a:xfrm>
            <a:off x="4754880" y="3538800"/>
            <a:ext cx="273600" cy="25524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4754880" y="353880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97"/>
          <p:cNvSpPr/>
          <p:nvPr/>
        </p:nvSpPr>
        <p:spPr>
          <a:xfrm>
            <a:off x="5065920" y="353880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Progression des politiques ISM ?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5"/>
          <p:cNvSpPr/>
          <p:nvPr/>
        </p:nvSpPr>
        <p:spPr>
          <a:xfrm>
            <a:off x="4754880" y="3831480"/>
            <a:ext cx="273600" cy="255240"/>
          </a:xfrm>
          <a:prstGeom prst="rect">
            <a:avLst/>
          </a:prstGeom>
          <a:solidFill>
            <a:srgbClr val="007fb5"/>
          </a:solidFill>
          <a:ln w="12700">
            <a:solidFill>
              <a:srgbClr val="007f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98"/>
          <p:cNvSpPr/>
          <p:nvPr/>
        </p:nvSpPr>
        <p:spPr>
          <a:xfrm>
            <a:off x="4754880" y="383148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99"/>
          <p:cNvSpPr/>
          <p:nvPr/>
        </p:nvSpPr>
        <p:spPr>
          <a:xfrm>
            <a:off x="5065920" y="383148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Croissance des index nominale ?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66"/>
          <p:cNvSpPr/>
          <p:nvPr/>
        </p:nvSpPr>
        <p:spPr>
          <a:xfrm>
            <a:off x="4754880" y="4288680"/>
            <a:ext cx="4205520" cy="27360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00"/>
          <p:cNvSpPr/>
          <p:nvPr/>
        </p:nvSpPr>
        <p:spPr>
          <a:xfrm>
            <a:off x="4754880" y="4288680"/>
            <a:ext cx="4205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Mensuel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67"/>
          <p:cNvSpPr/>
          <p:nvPr/>
        </p:nvSpPr>
        <p:spPr>
          <a:xfrm>
            <a:off x="4754880" y="4599360"/>
            <a:ext cx="273600" cy="25524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01"/>
          <p:cNvSpPr/>
          <p:nvPr/>
        </p:nvSpPr>
        <p:spPr>
          <a:xfrm>
            <a:off x="4754880" y="459936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02"/>
          <p:cNvSpPr/>
          <p:nvPr/>
        </p:nvSpPr>
        <p:spPr>
          <a:xfrm>
            <a:off x="5065920" y="459936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Revue des politiques ISM/templates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68"/>
          <p:cNvSpPr/>
          <p:nvPr/>
        </p:nvSpPr>
        <p:spPr>
          <a:xfrm>
            <a:off x="4754880" y="4892040"/>
            <a:ext cx="273600" cy="25524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03"/>
          <p:cNvSpPr/>
          <p:nvPr/>
        </p:nvSpPr>
        <p:spPr>
          <a:xfrm>
            <a:off x="4754880" y="489204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04"/>
          <p:cNvSpPr/>
          <p:nvPr/>
        </p:nvSpPr>
        <p:spPr>
          <a:xfrm>
            <a:off x="5065920" y="489204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Tester la restauration de snapshot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69"/>
          <p:cNvSpPr/>
          <p:nvPr/>
        </p:nvSpPr>
        <p:spPr>
          <a:xfrm>
            <a:off x="4754880" y="5184720"/>
            <a:ext cx="273600" cy="255240"/>
          </a:xfrm>
          <a:prstGeom prst="rect">
            <a:avLst/>
          </a:prstGeom>
          <a:solidFill>
            <a:srgbClr val="e8672a"/>
          </a:solidFill>
          <a:ln w="12700">
            <a:solidFill>
              <a:srgbClr val="e86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05"/>
          <p:cNvSpPr/>
          <p:nvPr/>
        </p:nvSpPr>
        <p:spPr>
          <a:xfrm>
            <a:off x="4754880" y="5184720"/>
            <a:ext cx="273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06"/>
          <p:cNvSpPr/>
          <p:nvPr/>
        </p:nvSpPr>
        <p:spPr>
          <a:xfrm>
            <a:off x="5065920" y="5184720"/>
            <a:ext cx="389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Analyse des tendances de performance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70"/>
          <p:cNvSpPr/>
          <p:nvPr/>
        </p:nvSpPr>
        <p:spPr>
          <a:xfrm>
            <a:off x="320040" y="4270320"/>
            <a:ext cx="4205520" cy="474840"/>
          </a:xfrm>
          <a:prstGeom prst="rect">
            <a:avLst/>
          </a:prstGeom>
          <a:solidFill>
            <a:srgbClr val="edf2f7"/>
          </a:solidFill>
          <a:ln w="12700">
            <a:solidFill>
              <a:srgbClr val="d8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07"/>
          <p:cNvSpPr/>
          <p:nvPr/>
        </p:nvSpPr>
        <p:spPr>
          <a:xfrm>
            <a:off x="411480" y="4316040"/>
            <a:ext cx="4022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💡 </a:t>
            </a:r>
            <a:r>
              <a:rPr b="0" lang="en-US" sz="950" spc="-1" strike="noStrike">
                <a:solidFill>
                  <a:srgbClr val="0d1b2a"/>
                </a:solidFill>
                <a:latin typeface="Calibri"/>
                <a:ea typeface="Calibri"/>
              </a:rPr>
              <a:t>Forcemerge : exécuter uniquement sur les index read-only (index.blocks.write: true) pour éviter de bloquer les requêtes de recherche actives.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2026-03-19T11:07:59Z</dcterms:created>
  <dc:creator/>
  <dc:description/>
  <dc:language>fr-FR</dc:language>
  <cp:lastModifiedBy/>
  <dcterms:modified xsi:type="dcterms:W3CDTF">2026-03-22T08:17:07Z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