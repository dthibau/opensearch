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déplacer la diapo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2809E40-7AA3-4EB5-B541-0686C83F5F6B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4BCCCE-4535-4974-AB30-8F4C7F1747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C6B5BA-B36E-4738-9039-797827AA34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B76309-6DD9-4EEA-94D1-4BB39E8D5B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EB9358-A7A6-426B-B8FE-7C8A1E60DE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uez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pou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édit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mat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text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e-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2200" cy="82116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9142200" cy="712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57200" y="960120"/>
            <a:ext cx="82278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OpenSearch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1874520"/>
            <a:ext cx="82278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a8d4dc"/>
                </a:solidFill>
                <a:latin typeface="Calibri"/>
                <a:ea typeface="Calibri"/>
              </a:rPr>
              <a:t>Recherche, Analyse et Visualisation de Données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743200" y="2514600"/>
            <a:ext cx="3655800" cy="43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2834640"/>
            <a:ext cx="8227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8d4dc"/>
                </a:solidFill>
                <a:latin typeface="Calibri"/>
                <a:ea typeface="Calibri"/>
              </a:rPr>
              <a:t>David THIBAU – 2026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3218760"/>
            <a:ext cx="82278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david.thibau@gmail.com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82880" y="4069080"/>
            <a:ext cx="2147040" cy="656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28600" y="4069080"/>
            <a:ext cx="20556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Historique &amp; Positionnement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2468880" y="4069080"/>
            <a:ext cx="2147040" cy="6566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2514600" y="4069080"/>
            <a:ext cx="20556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Comparaison avec Elasticsearch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754880" y="4069080"/>
            <a:ext cx="2147040" cy="656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800600" y="4069080"/>
            <a:ext cx="20556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Composants principaux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995160" y="4069080"/>
            <a:ext cx="1964160" cy="6566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040880" y="4069080"/>
            <a:ext cx="187272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Architecture du cluster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0" y="4818960"/>
            <a:ext cx="9142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Formation OpenSearch · 2026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905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457200" y="73152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7a8a"/>
                </a:solidFill>
                <a:latin typeface="Calibri"/>
                <a:ea typeface="Calibri"/>
              </a:rPr>
              <a:t>OpenSearch – Requêtes DSL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457200" y="1325880"/>
            <a:ext cx="731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Principaux opérateurs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457200" y="2331720"/>
            <a:ext cx="7314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4a7480"/>
                </a:solidFill>
                <a:latin typeface="Calibri"/>
                <a:ea typeface="Calibri"/>
              </a:rPr>
              <a:t>Query Domain Specific Language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164520" y="4297680"/>
            <a:ext cx="8978760" cy="840600"/>
          </a:xfrm>
          <a:prstGeom prst="rect">
            <a:avLst/>
          </a:prstGeom>
          <a:solidFill>
            <a:srgbClr val="0040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365760" y="4370760"/>
            <a:ext cx="868608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</a:rPr>
              <a:t>Syntaxe DSL  •  </a:t>
            </a:r>
            <a:r>
              <a:rPr b="1" lang="en-US" sz="1300" spc="-1" strike="noStrike">
                <a:solidFill>
                  <a:srgbClr val="e8834a"/>
                </a:solidFill>
                <a:latin typeface="Calibri"/>
              </a:rPr>
              <a:t>Principaux opérateurs  •  </a:t>
            </a:r>
            <a:r>
              <a:rPr b="0" lang="en-US" sz="1300" spc="-1" strike="noStrike">
                <a:solidFill>
                  <a:srgbClr val="4a7480"/>
                </a:solidFill>
                <a:latin typeface="Calibri"/>
              </a:rPr>
              <a:t>Agrégations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42"/>
          <p:cNvSpPr/>
          <p:nvPr/>
        </p:nvSpPr>
        <p:spPr>
          <a:xfrm>
            <a:off x="0" y="0"/>
            <a:ext cx="9142200" cy="6566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45"/>
          <p:cNvSpPr/>
          <p:nvPr/>
        </p:nvSpPr>
        <p:spPr>
          <a:xfrm>
            <a:off x="0" y="0"/>
            <a:ext cx="162720" cy="6566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41"/>
          <p:cNvSpPr/>
          <p:nvPr/>
        </p:nvSpPr>
        <p:spPr>
          <a:xfrm>
            <a:off x="347400" y="54720"/>
            <a:ext cx="8410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Naissance d'OpenSearch — Chronologie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46"/>
          <p:cNvSpPr/>
          <p:nvPr/>
        </p:nvSpPr>
        <p:spPr>
          <a:xfrm>
            <a:off x="1371600" y="914400"/>
            <a:ext cx="62280" cy="383868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47"/>
          <p:cNvSpPr/>
          <p:nvPr/>
        </p:nvSpPr>
        <p:spPr>
          <a:xfrm>
            <a:off x="1143000" y="932760"/>
            <a:ext cx="254160" cy="254160"/>
          </a:xfrm>
          <a:prstGeom prst="ellipse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43"/>
          <p:cNvSpPr/>
          <p:nvPr/>
        </p:nvSpPr>
        <p:spPr>
          <a:xfrm>
            <a:off x="91440" y="868680"/>
            <a:ext cx="1004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2010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48"/>
          <p:cNvSpPr/>
          <p:nvPr/>
        </p:nvSpPr>
        <p:spPr>
          <a:xfrm>
            <a:off x="1554480" y="868680"/>
            <a:ext cx="7221960" cy="3823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44"/>
          <p:cNvSpPr/>
          <p:nvPr/>
        </p:nvSpPr>
        <p:spPr>
          <a:xfrm>
            <a:off x="1645920" y="868680"/>
            <a:ext cx="7039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Création d'Elasticsearch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49"/>
          <p:cNvSpPr/>
          <p:nvPr/>
        </p:nvSpPr>
        <p:spPr>
          <a:xfrm>
            <a:off x="1143000" y="1472040"/>
            <a:ext cx="254160" cy="254160"/>
          </a:xfrm>
          <a:prstGeom prst="ellipse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46"/>
          <p:cNvSpPr/>
          <p:nvPr/>
        </p:nvSpPr>
        <p:spPr>
          <a:xfrm>
            <a:off x="91440" y="1408320"/>
            <a:ext cx="1004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2015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50"/>
          <p:cNvSpPr/>
          <p:nvPr/>
        </p:nvSpPr>
        <p:spPr>
          <a:xfrm>
            <a:off x="1554480" y="1408320"/>
            <a:ext cx="7221960" cy="3823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47"/>
          <p:cNvSpPr/>
          <p:nvPr/>
        </p:nvSpPr>
        <p:spPr>
          <a:xfrm>
            <a:off x="1645920" y="1408320"/>
            <a:ext cx="7039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Elastic Stack (ELK → Elastic Stack)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51"/>
          <p:cNvSpPr/>
          <p:nvPr/>
        </p:nvSpPr>
        <p:spPr>
          <a:xfrm>
            <a:off x="1143000" y="2011680"/>
            <a:ext cx="254160" cy="254160"/>
          </a:xfrm>
          <a:prstGeom prst="ellipse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48"/>
          <p:cNvSpPr/>
          <p:nvPr/>
        </p:nvSpPr>
        <p:spPr>
          <a:xfrm>
            <a:off x="91440" y="1947600"/>
            <a:ext cx="1004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Jan 2021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52"/>
          <p:cNvSpPr/>
          <p:nvPr/>
        </p:nvSpPr>
        <p:spPr>
          <a:xfrm>
            <a:off x="1554480" y="1947600"/>
            <a:ext cx="7221960" cy="3823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49"/>
          <p:cNvSpPr/>
          <p:nvPr/>
        </p:nvSpPr>
        <p:spPr>
          <a:xfrm>
            <a:off x="1645920" y="1947600"/>
            <a:ext cx="7039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Elastic change la licence vers SSPL/Elastic License 2.0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53"/>
          <p:cNvSpPr/>
          <p:nvPr/>
        </p:nvSpPr>
        <p:spPr>
          <a:xfrm>
            <a:off x="1143000" y="2551320"/>
            <a:ext cx="254160" cy="254160"/>
          </a:xfrm>
          <a:prstGeom prst="ellipse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50"/>
          <p:cNvSpPr/>
          <p:nvPr/>
        </p:nvSpPr>
        <p:spPr>
          <a:xfrm>
            <a:off x="91440" y="2487240"/>
            <a:ext cx="1004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Avr 2021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54"/>
          <p:cNvSpPr/>
          <p:nvPr/>
        </p:nvSpPr>
        <p:spPr>
          <a:xfrm>
            <a:off x="1554480" y="2487240"/>
            <a:ext cx="7221960" cy="38232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51"/>
          <p:cNvSpPr/>
          <p:nvPr/>
        </p:nvSpPr>
        <p:spPr>
          <a:xfrm>
            <a:off x="1645920" y="2487240"/>
            <a:ext cx="7039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AWS fork ES 7.10 → OpenSearch 1.0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55"/>
          <p:cNvSpPr/>
          <p:nvPr/>
        </p:nvSpPr>
        <p:spPr>
          <a:xfrm>
            <a:off x="1143000" y="3090600"/>
            <a:ext cx="254160" cy="254160"/>
          </a:xfrm>
          <a:prstGeom prst="ellipse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52"/>
          <p:cNvSpPr/>
          <p:nvPr/>
        </p:nvSpPr>
        <p:spPr>
          <a:xfrm>
            <a:off x="91440" y="3026520"/>
            <a:ext cx="1004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Sep 2021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56"/>
          <p:cNvSpPr/>
          <p:nvPr/>
        </p:nvSpPr>
        <p:spPr>
          <a:xfrm>
            <a:off x="1554480" y="3026520"/>
            <a:ext cx="7221960" cy="38232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53"/>
          <p:cNvSpPr/>
          <p:nvPr/>
        </p:nvSpPr>
        <p:spPr>
          <a:xfrm>
            <a:off x="1645920" y="3026520"/>
            <a:ext cx="7039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OpenSearch 1.0 GA — Projet open source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57"/>
          <p:cNvSpPr/>
          <p:nvPr/>
        </p:nvSpPr>
        <p:spPr>
          <a:xfrm>
            <a:off x="1143000" y="3630240"/>
            <a:ext cx="254160" cy="254160"/>
          </a:xfrm>
          <a:prstGeom prst="ellipse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54"/>
          <p:cNvSpPr/>
          <p:nvPr/>
        </p:nvSpPr>
        <p:spPr>
          <a:xfrm>
            <a:off x="91440" y="3566160"/>
            <a:ext cx="1004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2023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58"/>
          <p:cNvSpPr/>
          <p:nvPr/>
        </p:nvSpPr>
        <p:spPr>
          <a:xfrm>
            <a:off x="1554480" y="3566160"/>
            <a:ext cx="7221960" cy="38232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645920" y="3566160"/>
            <a:ext cx="7039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OpenSearch Foundation (Linux Foundation)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59"/>
          <p:cNvSpPr/>
          <p:nvPr/>
        </p:nvSpPr>
        <p:spPr>
          <a:xfrm>
            <a:off x="1143000" y="4169520"/>
            <a:ext cx="254160" cy="254160"/>
          </a:xfrm>
          <a:prstGeom prst="ellipse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91440" y="4105800"/>
            <a:ext cx="1004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2024-25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0"/>
          <p:cNvSpPr/>
          <p:nvPr/>
        </p:nvSpPr>
        <p:spPr>
          <a:xfrm>
            <a:off x="1554480" y="4105800"/>
            <a:ext cx="7221960" cy="38232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7"/>
          <p:cNvSpPr/>
          <p:nvPr/>
        </p:nvSpPr>
        <p:spPr>
          <a:xfrm>
            <a:off x="1645920" y="4105800"/>
            <a:ext cx="7039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OpenSearch 2.x — roadmap indépendante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510"/>
          <p:cNvSpPr/>
          <p:nvPr/>
        </p:nvSpPr>
        <p:spPr>
          <a:xfrm>
            <a:off x="0" y="0"/>
            <a:ext cx="9142200" cy="8211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511"/>
          <p:cNvSpPr/>
          <p:nvPr/>
        </p:nvSpPr>
        <p:spPr>
          <a:xfrm>
            <a:off x="0" y="0"/>
            <a:ext cx="501120" cy="821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477"/>
          <p:cNvSpPr/>
          <p:nvPr/>
        </p:nvSpPr>
        <p:spPr>
          <a:xfrm>
            <a:off x="640080" y="0"/>
            <a:ext cx="7953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Document API — Opérations CRUD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513"/>
          <p:cNvSpPr/>
          <p:nvPr/>
        </p:nvSpPr>
        <p:spPr>
          <a:xfrm>
            <a:off x="274320" y="987480"/>
            <a:ext cx="1004040" cy="528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479"/>
          <p:cNvSpPr/>
          <p:nvPr/>
        </p:nvSpPr>
        <p:spPr>
          <a:xfrm>
            <a:off x="274320" y="987480"/>
            <a:ext cx="10040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POST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514"/>
          <p:cNvSpPr/>
          <p:nvPr/>
        </p:nvSpPr>
        <p:spPr>
          <a:xfrm>
            <a:off x="1325880" y="987480"/>
            <a:ext cx="2009880" cy="5284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480"/>
          <p:cNvSpPr/>
          <p:nvPr/>
        </p:nvSpPr>
        <p:spPr>
          <a:xfrm>
            <a:off x="1371600" y="987480"/>
            <a:ext cx="19184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d32"/>
                </a:solidFill>
                <a:latin typeface="Calibri"/>
              </a:rPr>
              <a:t>Créer (ID auto)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515"/>
          <p:cNvSpPr/>
          <p:nvPr/>
        </p:nvSpPr>
        <p:spPr>
          <a:xfrm>
            <a:off x="3383280" y="987480"/>
            <a:ext cx="2467080" cy="52848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481"/>
          <p:cNvSpPr/>
          <p:nvPr/>
        </p:nvSpPr>
        <p:spPr>
          <a:xfrm>
            <a:off x="3429000" y="987480"/>
            <a:ext cx="23756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POST /mon-index/_doc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482"/>
          <p:cNvSpPr/>
          <p:nvPr/>
        </p:nvSpPr>
        <p:spPr>
          <a:xfrm>
            <a:off x="5943600" y="987480"/>
            <a:ext cx="292428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4a7480"/>
                </a:solidFill>
                <a:latin typeface="Calibri"/>
              </a:rPr>
              <a:t>ID généré automatiquement par OpenSearch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516"/>
          <p:cNvSpPr/>
          <p:nvPr/>
        </p:nvSpPr>
        <p:spPr>
          <a:xfrm>
            <a:off x="274320" y="1673280"/>
            <a:ext cx="1004040" cy="528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483"/>
          <p:cNvSpPr/>
          <p:nvPr/>
        </p:nvSpPr>
        <p:spPr>
          <a:xfrm>
            <a:off x="274320" y="1673280"/>
            <a:ext cx="10040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PUT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517"/>
          <p:cNvSpPr/>
          <p:nvPr/>
        </p:nvSpPr>
        <p:spPr>
          <a:xfrm>
            <a:off x="1325880" y="1673280"/>
            <a:ext cx="2009880" cy="5284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484"/>
          <p:cNvSpPr/>
          <p:nvPr/>
        </p:nvSpPr>
        <p:spPr>
          <a:xfrm>
            <a:off x="1371600" y="1673280"/>
            <a:ext cx="19184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</a:rPr>
              <a:t>Créer / Remplacer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518"/>
          <p:cNvSpPr/>
          <p:nvPr/>
        </p:nvSpPr>
        <p:spPr>
          <a:xfrm>
            <a:off x="3383280" y="1673280"/>
            <a:ext cx="2467080" cy="52848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485"/>
          <p:cNvSpPr/>
          <p:nvPr/>
        </p:nvSpPr>
        <p:spPr>
          <a:xfrm>
            <a:off x="3429000" y="1673280"/>
            <a:ext cx="23756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PUT /mon-index/_doc/{id}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486"/>
          <p:cNvSpPr/>
          <p:nvPr/>
        </p:nvSpPr>
        <p:spPr>
          <a:xfrm>
            <a:off x="5943600" y="1673280"/>
            <a:ext cx="292428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4a7480"/>
                </a:solidFill>
                <a:latin typeface="Calibri"/>
              </a:rPr>
              <a:t>Crée ou remplace le document entier — _version incrémenté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519"/>
          <p:cNvSpPr/>
          <p:nvPr/>
        </p:nvSpPr>
        <p:spPr>
          <a:xfrm>
            <a:off x="274320" y="2359080"/>
            <a:ext cx="1004040" cy="5284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487"/>
          <p:cNvSpPr/>
          <p:nvPr/>
        </p:nvSpPr>
        <p:spPr>
          <a:xfrm>
            <a:off x="274320" y="2359080"/>
            <a:ext cx="10040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GET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520"/>
          <p:cNvSpPr/>
          <p:nvPr/>
        </p:nvSpPr>
        <p:spPr>
          <a:xfrm>
            <a:off x="1325880" y="2359080"/>
            <a:ext cx="2009880" cy="5284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488"/>
          <p:cNvSpPr/>
          <p:nvPr/>
        </p:nvSpPr>
        <p:spPr>
          <a:xfrm>
            <a:off x="1371600" y="2359080"/>
            <a:ext cx="19184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576b"/>
                </a:solidFill>
                <a:latin typeface="Calibri"/>
              </a:rPr>
              <a:t>Récupérer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521"/>
          <p:cNvSpPr/>
          <p:nvPr/>
        </p:nvSpPr>
        <p:spPr>
          <a:xfrm>
            <a:off x="3383280" y="2359080"/>
            <a:ext cx="2467080" cy="52848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489"/>
          <p:cNvSpPr/>
          <p:nvPr/>
        </p:nvSpPr>
        <p:spPr>
          <a:xfrm>
            <a:off x="3429000" y="2359080"/>
            <a:ext cx="23756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GET /mon-index/_doc/{id}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490"/>
          <p:cNvSpPr/>
          <p:nvPr/>
        </p:nvSpPr>
        <p:spPr>
          <a:xfrm>
            <a:off x="5943600" y="2359080"/>
            <a:ext cx="292428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4a7480"/>
                </a:solidFill>
                <a:latin typeface="Calibri"/>
              </a:rPr>
              <a:t>Retourne _index, _id, _version, _source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522"/>
          <p:cNvSpPr/>
          <p:nvPr/>
        </p:nvSpPr>
        <p:spPr>
          <a:xfrm>
            <a:off x="274320" y="3044880"/>
            <a:ext cx="1004040" cy="528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491"/>
          <p:cNvSpPr/>
          <p:nvPr/>
        </p:nvSpPr>
        <p:spPr>
          <a:xfrm>
            <a:off x="274320" y="3044880"/>
            <a:ext cx="10040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DELETE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523"/>
          <p:cNvSpPr/>
          <p:nvPr/>
        </p:nvSpPr>
        <p:spPr>
          <a:xfrm>
            <a:off x="1325880" y="3044880"/>
            <a:ext cx="2009880" cy="5284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92"/>
          <p:cNvSpPr/>
          <p:nvPr/>
        </p:nvSpPr>
        <p:spPr>
          <a:xfrm>
            <a:off x="1371600" y="3044880"/>
            <a:ext cx="19184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f4444"/>
                </a:solidFill>
                <a:latin typeface="Calibri"/>
              </a:rPr>
              <a:t>Supprimer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524"/>
          <p:cNvSpPr/>
          <p:nvPr/>
        </p:nvSpPr>
        <p:spPr>
          <a:xfrm>
            <a:off x="3383280" y="3044880"/>
            <a:ext cx="2467080" cy="52848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493"/>
          <p:cNvSpPr/>
          <p:nvPr/>
        </p:nvSpPr>
        <p:spPr>
          <a:xfrm>
            <a:off x="3429000" y="3044880"/>
            <a:ext cx="23756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DELETE /mon-index/_doc/{id}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494"/>
          <p:cNvSpPr/>
          <p:nvPr/>
        </p:nvSpPr>
        <p:spPr>
          <a:xfrm>
            <a:off x="5943600" y="3044880"/>
            <a:ext cx="292428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4a7480"/>
                </a:solidFill>
                <a:latin typeface="Calibri"/>
              </a:rPr>
              <a:t>Suppression asynchrone — répliques supprimées en batch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525"/>
          <p:cNvSpPr/>
          <p:nvPr/>
        </p:nvSpPr>
        <p:spPr>
          <a:xfrm>
            <a:off x="274320" y="3730680"/>
            <a:ext cx="1004040" cy="5284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495"/>
          <p:cNvSpPr/>
          <p:nvPr/>
        </p:nvSpPr>
        <p:spPr>
          <a:xfrm>
            <a:off x="274320" y="3730680"/>
            <a:ext cx="10040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POST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526"/>
          <p:cNvSpPr/>
          <p:nvPr/>
        </p:nvSpPr>
        <p:spPr>
          <a:xfrm>
            <a:off x="1325880" y="3730680"/>
            <a:ext cx="2009880" cy="5284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496"/>
          <p:cNvSpPr/>
          <p:nvPr/>
        </p:nvSpPr>
        <p:spPr>
          <a:xfrm>
            <a:off x="1371600" y="3730680"/>
            <a:ext cx="19184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</a:rPr>
              <a:t>Mise à jour partielle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527"/>
          <p:cNvSpPr/>
          <p:nvPr/>
        </p:nvSpPr>
        <p:spPr>
          <a:xfrm>
            <a:off x="3383280" y="3730680"/>
            <a:ext cx="2467080" cy="52848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497"/>
          <p:cNvSpPr/>
          <p:nvPr/>
        </p:nvSpPr>
        <p:spPr>
          <a:xfrm>
            <a:off x="3429000" y="3730680"/>
            <a:ext cx="23756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POST /mon-index/_update/{id}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498"/>
          <p:cNvSpPr/>
          <p:nvPr/>
        </p:nvSpPr>
        <p:spPr>
          <a:xfrm>
            <a:off x="5943600" y="3730680"/>
            <a:ext cx="292428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4a7480"/>
                </a:solidFill>
                <a:latin typeface="Calibri"/>
              </a:rPr>
              <a:t>Fusionne les champs fournis avec _source existant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528"/>
          <p:cNvSpPr/>
          <p:nvPr/>
        </p:nvSpPr>
        <p:spPr>
          <a:xfrm>
            <a:off x="274320" y="4462200"/>
            <a:ext cx="8593560" cy="4096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99"/>
          <p:cNvSpPr/>
          <p:nvPr/>
        </p:nvSpPr>
        <p:spPr>
          <a:xfrm>
            <a:off x="365760" y="4462200"/>
            <a:ext cx="8410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⚡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Bulk API : regrouper create / index / update / delete en une seule requête NDJSON  —  POST /mon-index/_bulk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529"/>
          <p:cNvSpPr/>
          <p:nvPr/>
        </p:nvSpPr>
        <p:spPr>
          <a:xfrm>
            <a:off x="274320" y="4526280"/>
            <a:ext cx="8593560" cy="38232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500"/>
          <p:cNvSpPr/>
          <p:nvPr/>
        </p:nvSpPr>
        <p:spPr>
          <a:xfrm>
            <a:off x="384120" y="4526280"/>
            <a:ext cx="84106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✏️ 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Atelier 2.1 — Créer un index avec mapping explicite et analyzer custom. Indexer des documents, tester CRUD et _analyze.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2026-03-17T11:30:50Z</dcterms:created>
  <dc:creator>David THIBAU</dc:creator>
  <dc:description/>
  <dc:language>fr-FR</dc:language>
  <cp:lastModifiedBy/>
  <dcterms:modified xsi:type="dcterms:W3CDTF">2026-03-23T15:47:16Z</dcterms:modified>
  <cp:revision>13</cp:revision>
  <dc:subject>PptxGenJS Presentation</dc:subject>
  <dc:title>OpenSearch – Introduction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