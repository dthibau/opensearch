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pour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déplacer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la diapo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Cliquez pour </a:t>
            </a: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modifier le </a:t>
            </a: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format des </a:t>
            </a: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notes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5BD8F5D-AC8D-43E6-B5B0-DE8D3C9A25D9}" type="slidenum"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2E559A-B141-4DEF-9DEA-719F11F4A5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D491F8-FD66-4B8B-B4C9-8B142C44613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BD4DFC-46FD-41C0-90DD-603920148F7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6A1F08-A430-49FA-A882-83E86D6575C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</a:t>
            </a: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57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2920" cy="82188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0"/>
            <a:ext cx="9142920" cy="720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57200" y="960120"/>
            <a:ext cx="822852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  <a:ea typeface="Calibri"/>
              </a:rPr>
              <a:t>OpenSearch</a:t>
            </a:r>
            <a:endParaRPr b="0" lang="fr-FR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457200" y="1874520"/>
            <a:ext cx="8228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a8d4dc"/>
                </a:solidFill>
                <a:latin typeface="Calibri"/>
                <a:ea typeface="Calibri"/>
              </a:rPr>
              <a:t>Recherche, Analyse et Visualisation de Données</a:t>
            </a:r>
            <a:endParaRPr b="0" lang="fr-FR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743200" y="2514600"/>
            <a:ext cx="3656520" cy="4464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57200" y="283464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a8d4dc"/>
                </a:solidFill>
                <a:latin typeface="Calibri"/>
                <a:ea typeface="Calibri"/>
              </a:rPr>
              <a:t>David THIBAU – 2026</a:t>
            </a:r>
            <a:endParaRPr b="0" lang="fr-FR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457200" y="321876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07a8a"/>
                </a:solidFill>
                <a:latin typeface="Calibri"/>
                <a:ea typeface="Calibri"/>
              </a:rPr>
              <a:t>david.thibau@gmail.com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182880" y="4069080"/>
            <a:ext cx="2147760" cy="657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228600" y="4069080"/>
            <a:ext cx="205632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Historique &amp; Positionnement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2468880" y="4069080"/>
            <a:ext cx="2147760" cy="657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2514600" y="4069080"/>
            <a:ext cx="205632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Comparaison avec Elasticsearch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4754880" y="4069080"/>
            <a:ext cx="2147760" cy="65736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4800600" y="4069080"/>
            <a:ext cx="205632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Composants principaux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6995160" y="4069080"/>
            <a:ext cx="1964880" cy="65736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7040880" y="4069080"/>
            <a:ext cx="187344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Architecture du cluster</a:t>
            </a:r>
            <a:endParaRPr b="0" lang="fr-FR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0" y="4818960"/>
            <a:ext cx="9142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7a8a"/>
                </a:solidFill>
                <a:latin typeface="Calibri"/>
                <a:ea typeface="Calibri"/>
              </a:rPr>
              <a:t>Formation OpenSearch · 2026</a:t>
            </a:r>
            <a:endParaRPr b="0" lang="fr-F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163440" cy="514692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1"/>
          <p:cNvSpPr/>
          <p:nvPr/>
        </p:nvSpPr>
        <p:spPr>
          <a:xfrm>
            <a:off x="411480" y="1645920"/>
            <a:ext cx="831996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Introduction</a:t>
            </a:r>
            <a:endParaRPr b="0" lang="fr-FR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411480" y="2697480"/>
            <a:ext cx="83199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a8d4dc"/>
                </a:solidFill>
                <a:latin typeface="Calibri"/>
                <a:ea typeface="Calibri"/>
              </a:rPr>
              <a:t>Historique · Comparaison · Composants · Architecture</a:t>
            </a: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42"/>
          <p:cNvSpPr/>
          <p:nvPr/>
        </p:nvSpPr>
        <p:spPr>
          <a:xfrm>
            <a:off x="0" y="0"/>
            <a:ext cx="9142920" cy="657360"/>
          </a:xfrm>
          <a:prstGeom prst="rect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45"/>
          <p:cNvSpPr/>
          <p:nvPr/>
        </p:nvSpPr>
        <p:spPr>
          <a:xfrm>
            <a:off x="0" y="0"/>
            <a:ext cx="163440" cy="657360"/>
          </a:xfrm>
          <a:prstGeom prst="rect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41"/>
          <p:cNvSpPr/>
          <p:nvPr/>
        </p:nvSpPr>
        <p:spPr>
          <a:xfrm>
            <a:off x="347400" y="54720"/>
            <a:ext cx="8411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Naissance d'OpenSearch — Chronologie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46"/>
          <p:cNvSpPr/>
          <p:nvPr/>
        </p:nvSpPr>
        <p:spPr>
          <a:xfrm>
            <a:off x="1371600" y="914400"/>
            <a:ext cx="63000" cy="383940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47"/>
          <p:cNvSpPr/>
          <p:nvPr/>
        </p:nvSpPr>
        <p:spPr>
          <a:xfrm>
            <a:off x="1143000" y="932760"/>
            <a:ext cx="254880" cy="254880"/>
          </a:xfrm>
          <a:prstGeom prst="ellipse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43"/>
          <p:cNvSpPr/>
          <p:nvPr/>
        </p:nvSpPr>
        <p:spPr>
          <a:xfrm>
            <a:off x="91440" y="868680"/>
            <a:ext cx="1004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2010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48"/>
          <p:cNvSpPr/>
          <p:nvPr/>
        </p:nvSpPr>
        <p:spPr>
          <a:xfrm>
            <a:off x="1554480" y="868680"/>
            <a:ext cx="7222680" cy="38304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44"/>
          <p:cNvSpPr/>
          <p:nvPr/>
        </p:nvSpPr>
        <p:spPr>
          <a:xfrm>
            <a:off x="1645920" y="868680"/>
            <a:ext cx="70398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Création d'Elasticsearch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49"/>
          <p:cNvSpPr/>
          <p:nvPr/>
        </p:nvSpPr>
        <p:spPr>
          <a:xfrm>
            <a:off x="1143000" y="1472040"/>
            <a:ext cx="254880" cy="254880"/>
          </a:xfrm>
          <a:prstGeom prst="ellipse">
            <a:avLst/>
          </a:prstGeom>
          <a:solidFill>
            <a:srgbClr val="007a8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46"/>
          <p:cNvSpPr/>
          <p:nvPr/>
        </p:nvSpPr>
        <p:spPr>
          <a:xfrm>
            <a:off x="91440" y="1408320"/>
            <a:ext cx="1004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2015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50"/>
          <p:cNvSpPr/>
          <p:nvPr/>
        </p:nvSpPr>
        <p:spPr>
          <a:xfrm>
            <a:off x="1554480" y="1408320"/>
            <a:ext cx="7222680" cy="38304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47"/>
          <p:cNvSpPr/>
          <p:nvPr/>
        </p:nvSpPr>
        <p:spPr>
          <a:xfrm>
            <a:off x="1645920" y="1408320"/>
            <a:ext cx="70398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Elastic Stack (ELK → Elastic Stack)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51"/>
          <p:cNvSpPr/>
          <p:nvPr/>
        </p:nvSpPr>
        <p:spPr>
          <a:xfrm>
            <a:off x="1143000" y="2011680"/>
            <a:ext cx="254880" cy="254880"/>
          </a:xfrm>
          <a:prstGeom prst="ellipse">
            <a:avLst/>
          </a:prstGeom>
          <a:solidFill>
            <a:srgbClr val="e88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48"/>
          <p:cNvSpPr/>
          <p:nvPr/>
        </p:nvSpPr>
        <p:spPr>
          <a:xfrm>
            <a:off x="91440" y="1947600"/>
            <a:ext cx="1004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Jan 2021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Shape 52"/>
          <p:cNvSpPr/>
          <p:nvPr/>
        </p:nvSpPr>
        <p:spPr>
          <a:xfrm>
            <a:off x="1554480" y="1947600"/>
            <a:ext cx="7222680" cy="383040"/>
          </a:xfrm>
          <a:prstGeom prst="rect">
            <a:avLst/>
          </a:prstGeom>
          <a:solidFill>
            <a:srgbClr val="e8ede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49"/>
          <p:cNvSpPr/>
          <p:nvPr/>
        </p:nvSpPr>
        <p:spPr>
          <a:xfrm>
            <a:off x="1645920" y="1947600"/>
            <a:ext cx="70398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Elastic change la licence vers SSPL/Elastic License 2.0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53"/>
          <p:cNvSpPr/>
          <p:nvPr/>
        </p:nvSpPr>
        <p:spPr>
          <a:xfrm>
            <a:off x="1143000" y="2551320"/>
            <a:ext cx="254880" cy="254880"/>
          </a:xfrm>
          <a:prstGeom prst="ellipse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50"/>
          <p:cNvSpPr/>
          <p:nvPr/>
        </p:nvSpPr>
        <p:spPr>
          <a:xfrm>
            <a:off x="91440" y="2487240"/>
            <a:ext cx="1004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Avr 2021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54"/>
          <p:cNvSpPr/>
          <p:nvPr/>
        </p:nvSpPr>
        <p:spPr>
          <a:xfrm>
            <a:off x="1554480" y="2487240"/>
            <a:ext cx="7222680" cy="3830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51"/>
          <p:cNvSpPr/>
          <p:nvPr/>
        </p:nvSpPr>
        <p:spPr>
          <a:xfrm>
            <a:off x="1645920" y="2487240"/>
            <a:ext cx="70398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AWS fork ES 7.10 → OpenSearch 1.0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55"/>
          <p:cNvSpPr/>
          <p:nvPr/>
        </p:nvSpPr>
        <p:spPr>
          <a:xfrm>
            <a:off x="1143000" y="3090600"/>
            <a:ext cx="254880" cy="254880"/>
          </a:xfrm>
          <a:prstGeom prst="ellipse">
            <a:avLst/>
          </a:prstGeom>
          <a:solidFill>
            <a:srgbClr val="00576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52"/>
          <p:cNvSpPr/>
          <p:nvPr/>
        </p:nvSpPr>
        <p:spPr>
          <a:xfrm>
            <a:off x="91440" y="3026520"/>
            <a:ext cx="1004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Sep 2021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56"/>
          <p:cNvSpPr/>
          <p:nvPr/>
        </p:nvSpPr>
        <p:spPr>
          <a:xfrm>
            <a:off x="1554480" y="3026520"/>
            <a:ext cx="7222680" cy="3830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53"/>
          <p:cNvSpPr/>
          <p:nvPr/>
        </p:nvSpPr>
        <p:spPr>
          <a:xfrm>
            <a:off x="1645920" y="3026520"/>
            <a:ext cx="70398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OpenSearch 1.0 GA — Projet open source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57"/>
          <p:cNvSpPr/>
          <p:nvPr/>
        </p:nvSpPr>
        <p:spPr>
          <a:xfrm>
            <a:off x="1143000" y="3630240"/>
            <a:ext cx="254880" cy="254880"/>
          </a:xfrm>
          <a:prstGeom prst="ellipse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54"/>
          <p:cNvSpPr/>
          <p:nvPr/>
        </p:nvSpPr>
        <p:spPr>
          <a:xfrm>
            <a:off x="91440" y="3566160"/>
            <a:ext cx="1004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2023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58"/>
          <p:cNvSpPr/>
          <p:nvPr/>
        </p:nvSpPr>
        <p:spPr>
          <a:xfrm>
            <a:off x="1554480" y="3566160"/>
            <a:ext cx="7222680" cy="3830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55"/>
          <p:cNvSpPr/>
          <p:nvPr/>
        </p:nvSpPr>
        <p:spPr>
          <a:xfrm>
            <a:off x="1645920" y="3566160"/>
            <a:ext cx="70398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OpenSearch Foundation (Linux Foundation)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59"/>
          <p:cNvSpPr/>
          <p:nvPr/>
        </p:nvSpPr>
        <p:spPr>
          <a:xfrm>
            <a:off x="1143000" y="4169520"/>
            <a:ext cx="254880" cy="254880"/>
          </a:xfrm>
          <a:prstGeom prst="ellipse">
            <a:avLst/>
          </a:prstGeom>
          <a:solidFill>
            <a:srgbClr val="2e7d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56"/>
          <p:cNvSpPr/>
          <p:nvPr/>
        </p:nvSpPr>
        <p:spPr>
          <a:xfrm>
            <a:off x="91440" y="4105800"/>
            <a:ext cx="10047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4a7480"/>
                </a:solidFill>
                <a:latin typeface="Calibri"/>
                <a:ea typeface="Calibri"/>
              </a:rPr>
              <a:t>2024-25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60"/>
          <p:cNvSpPr/>
          <p:nvPr/>
        </p:nvSpPr>
        <p:spPr>
          <a:xfrm>
            <a:off x="1554480" y="4105800"/>
            <a:ext cx="7222680" cy="383040"/>
          </a:xfrm>
          <a:prstGeom prst="rect">
            <a:avLst/>
          </a:prstGeom>
          <a:solidFill>
            <a:srgbClr val="eaf4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57"/>
          <p:cNvSpPr/>
          <p:nvPr/>
        </p:nvSpPr>
        <p:spPr>
          <a:xfrm>
            <a:off x="1645920" y="4105800"/>
            <a:ext cx="70398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a2b2f"/>
                </a:solidFill>
                <a:latin typeface="Calibri"/>
                <a:ea typeface="Calibri"/>
              </a:rPr>
              <a:t>OpenSearch 2.x — roadmap indépendante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a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10"/>
          <p:cNvSpPr/>
          <p:nvPr/>
        </p:nvSpPr>
        <p:spPr>
          <a:xfrm>
            <a:off x="0" y="0"/>
            <a:ext cx="9142920" cy="82188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511"/>
          <p:cNvSpPr/>
          <p:nvPr/>
        </p:nvSpPr>
        <p:spPr>
          <a:xfrm>
            <a:off x="0" y="0"/>
            <a:ext cx="501840" cy="82188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477"/>
          <p:cNvSpPr/>
          <p:nvPr/>
        </p:nvSpPr>
        <p:spPr>
          <a:xfrm>
            <a:off x="640080" y="0"/>
            <a:ext cx="79542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  <a:ea typeface="Calibri"/>
              </a:rPr>
              <a:t>Document API — Opérations CRUD</a:t>
            </a:r>
            <a:endParaRPr b="0" lang="fr-F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512"/>
          <p:cNvSpPr/>
          <p:nvPr/>
        </p:nvSpPr>
        <p:spPr>
          <a:xfrm>
            <a:off x="7955280" y="155520"/>
            <a:ext cx="1004760" cy="45612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478"/>
          <p:cNvSpPr/>
          <p:nvPr/>
        </p:nvSpPr>
        <p:spPr>
          <a:xfrm>
            <a:off x="7955280" y="155520"/>
            <a:ext cx="1004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576b"/>
                </a:solidFill>
                <a:latin typeface="Calibri"/>
              </a:rPr>
              <a:t>Module 2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513"/>
          <p:cNvSpPr/>
          <p:nvPr/>
        </p:nvSpPr>
        <p:spPr>
          <a:xfrm>
            <a:off x="274320" y="987480"/>
            <a:ext cx="1004760" cy="529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479"/>
          <p:cNvSpPr/>
          <p:nvPr/>
        </p:nvSpPr>
        <p:spPr>
          <a:xfrm>
            <a:off x="274320" y="987480"/>
            <a:ext cx="10047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POST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514"/>
          <p:cNvSpPr/>
          <p:nvPr/>
        </p:nvSpPr>
        <p:spPr>
          <a:xfrm>
            <a:off x="1325880" y="987480"/>
            <a:ext cx="2010600" cy="5292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480"/>
          <p:cNvSpPr/>
          <p:nvPr/>
        </p:nvSpPr>
        <p:spPr>
          <a:xfrm>
            <a:off x="1371600" y="987480"/>
            <a:ext cx="19191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e7d32"/>
                </a:solidFill>
                <a:latin typeface="Calibri"/>
              </a:rPr>
              <a:t>Créer (ID auto)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515"/>
          <p:cNvSpPr/>
          <p:nvPr/>
        </p:nvSpPr>
        <p:spPr>
          <a:xfrm>
            <a:off x="3383280" y="987480"/>
            <a:ext cx="2467800" cy="5292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481"/>
          <p:cNvSpPr/>
          <p:nvPr/>
        </p:nvSpPr>
        <p:spPr>
          <a:xfrm>
            <a:off x="3429000" y="987480"/>
            <a:ext cx="23763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POST /mon-index/_doc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482"/>
          <p:cNvSpPr/>
          <p:nvPr/>
        </p:nvSpPr>
        <p:spPr>
          <a:xfrm>
            <a:off x="5943600" y="987480"/>
            <a:ext cx="292500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4a7480"/>
                </a:solidFill>
                <a:latin typeface="Calibri"/>
              </a:rPr>
              <a:t>ID généré automatiquement par OpenSearch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516"/>
          <p:cNvSpPr/>
          <p:nvPr/>
        </p:nvSpPr>
        <p:spPr>
          <a:xfrm>
            <a:off x="274320" y="1673280"/>
            <a:ext cx="1004760" cy="529200"/>
          </a:xfrm>
          <a:prstGeom prst="rect">
            <a:avLst/>
          </a:prstGeom>
          <a:solidFill>
            <a:srgbClr val="007a8a"/>
          </a:solidFill>
          <a:ln w="12700">
            <a:solidFill>
              <a:srgbClr val="007a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483"/>
          <p:cNvSpPr/>
          <p:nvPr/>
        </p:nvSpPr>
        <p:spPr>
          <a:xfrm>
            <a:off x="274320" y="1673280"/>
            <a:ext cx="10047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PUT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517"/>
          <p:cNvSpPr/>
          <p:nvPr/>
        </p:nvSpPr>
        <p:spPr>
          <a:xfrm>
            <a:off x="1325880" y="1673280"/>
            <a:ext cx="2010600" cy="5292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484"/>
          <p:cNvSpPr/>
          <p:nvPr/>
        </p:nvSpPr>
        <p:spPr>
          <a:xfrm>
            <a:off x="1371600" y="1673280"/>
            <a:ext cx="19191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7a8a"/>
                </a:solidFill>
                <a:latin typeface="Calibri"/>
              </a:rPr>
              <a:t>Créer / Remplacer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518"/>
          <p:cNvSpPr/>
          <p:nvPr/>
        </p:nvSpPr>
        <p:spPr>
          <a:xfrm>
            <a:off x="3383280" y="1673280"/>
            <a:ext cx="2467800" cy="5292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485"/>
          <p:cNvSpPr/>
          <p:nvPr/>
        </p:nvSpPr>
        <p:spPr>
          <a:xfrm>
            <a:off x="3429000" y="1673280"/>
            <a:ext cx="23763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PUT /mon-index/_doc/{id}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486"/>
          <p:cNvSpPr/>
          <p:nvPr/>
        </p:nvSpPr>
        <p:spPr>
          <a:xfrm>
            <a:off x="5943600" y="1673280"/>
            <a:ext cx="292500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4a7480"/>
                </a:solidFill>
                <a:latin typeface="Calibri"/>
              </a:rPr>
              <a:t>Crée ou remplace le document entier — _version incrémenté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519"/>
          <p:cNvSpPr/>
          <p:nvPr/>
        </p:nvSpPr>
        <p:spPr>
          <a:xfrm>
            <a:off x="274320" y="2359080"/>
            <a:ext cx="1004760" cy="5292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487"/>
          <p:cNvSpPr/>
          <p:nvPr/>
        </p:nvSpPr>
        <p:spPr>
          <a:xfrm>
            <a:off x="274320" y="2359080"/>
            <a:ext cx="10047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GET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520"/>
          <p:cNvSpPr/>
          <p:nvPr/>
        </p:nvSpPr>
        <p:spPr>
          <a:xfrm>
            <a:off x="1325880" y="2359080"/>
            <a:ext cx="2010600" cy="5292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488"/>
          <p:cNvSpPr/>
          <p:nvPr/>
        </p:nvSpPr>
        <p:spPr>
          <a:xfrm>
            <a:off x="1371600" y="2359080"/>
            <a:ext cx="19191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576b"/>
                </a:solidFill>
                <a:latin typeface="Calibri"/>
              </a:rPr>
              <a:t>Récupérer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521"/>
          <p:cNvSpPr/>
          <p:nvPr/>
        </p:nvSpPr>
        <p:spPr>
          <a:xfrm>
            <a:off x="3383280" y="2359080"/>
            <a:ext cx="2467800" cy="5292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489"/>
          <p:cNvSpPr/>
          <p:nvPr/>
        </p:nvSpPr>
        <p:spPr>
          <a:xfrm>
            <a:off x="3429000" y="2359080"/>
            <a:ext cx="23763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GET /mon-index/_doc/{id}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490"/>
          <p:cNvSpPr/>
          <p:nvPr/>
        </p:nvSpPr>
        <p:spPr>
          <a:xfrm>
            <a:off x="5943600" y="2359080"/>
            <a:ext cx="292500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4a7480"/>
                </a:solidFill>
                <a:latin typeface="Calibri"/>
              </a:rPr>
              <a:t>Retourne _index, _id, _version, _source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522"/>
          <p:cNvSpPr/>
          <p:nvPr/>
        </p:nvSpPr>
        <p:spPr>
          <a:xfrm>
            <a:off x="274320" y="3044880"/>
            <a:ext cx="1004760" cy="5292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491"/>
          <p:cNvSpPr/>
          <p:nvPr/>
        </p:nvSpPr>
        <p:spPr>
          <a:xfrm>
            <a:off x="274320" y="3044880"/>
            <a:ext cx="10047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DELETE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523"/>
          <p:cNvSpPr/>
          <p:nvPr/>
        </p:nvSpPr>
        <p:spPr>
          <a:xfrm>
            <a:off x="1325880" y="3044880"/>
            <a:ext cx="2010600" cy="5292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492"/>
          <p:cNvSpPr/>
          <p:nvPr/>
        </p:nvSpPr>
        <p:spPr>
          <a:xfrm>
            <a:off x="1371600" y="3044880"/>
            <a:ext cx="19191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f4444"/>
                </a:solidFill>
                <a:latin typeface="Calibri"/>
              </a:rPr>
              <a:t>Supprimer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524"/>
          <p:cNvSpPr/>
          <p:nvPr/>
        </p:nvSpPr>
        <p:spPr>
          <a:xfrm>
            <a:off x="3383280" y="3044880"/>
            <a:ext cx="2467800" cy="5292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493"/>
          <p:cNvSpPr/>
          <p:nvPr/>
        </p:nvSpPr>
        <p:spPr>
          <a:xfrm>
            <a:off x="3429000" y="3044880"/>
            <a:ext cx="23763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DELETE /mon-index/_doc/{id}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494"/>
          <p:cNvSpPr/>
          <p:nvPr/>
        </p:nvSpPr>
        <p:spPr>
          <a:xfrm>
            <a:off x="5943600" y="3044880"/>
            <a:ext cx="292500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4a7480"/>
                </a:solidFill>
                <a:latin typeface="Calibri"/>
              </a:rPr>
              <a:t>Suppression asynchrone — répliques supprimées en batch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Shape 525"/>
          <p:cNvSpPr/>
          <p:nvPr/>
        </p:nvSpPr>
        <p:spPr>
          <a:xfrm>
            <a:off x="274320" y="3730680"/>
            <a:ext cx="1004760" cy="529200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495"/>
          <p:cNvSpPr/>
          <p:nvPr/>
        </p:nvSpPr>
        <p:spPr>
          <a:xfrm>
            <a:off x="274320" y="3730680"/>
            <a:ext cx="10047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</a:rPr>
              <a:t>POST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526"/>
          <p:cNvSpPr/>
          <p:nvPr/>
        </p:nvSpPr>
        <p:spPr>
          <a:xfrm>
            <a:off x="1325880" y="3730680"/>
            <a:ext cx="2010600" cy="529200"/>
          </a:xfrm>
          <a:prstGeom prst="rect">
            <a:avLst/>
          </a:prstGeom>
          <a:solidFill>
            <a:srgbClr val="f5f9fa"/>
          </a:solidFill>
          <a:ln w="12700">
            <a:solidFill>
              <a:srgbClr val="eaf4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496"/>
          <p:cNvSpPr/>
          <p:nvPr/>
        </p:nvSpPr>
        <p:spPr>
          <a:xfrm>
            <a:off x="1371600" y="3730680"/>
            <a:ext cx="19191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8834a"/>
                </a:solidFill>
                <a:latin typeface="Calibri"/>
              </a:rPr>
              <a:t>Mise à jour partielle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527"/>
          <p:cNvSpPr/>
          <p:nvPr/>
        </p:nvSpPr>
        <p:spPr>
          <a:xfrm>
            <a:off x="3383280" y="3730680"/>
            <a:ext cx="2467800" cy="529200"/>
          </a:xfrm>
          <a:prstGeom prst="rect">
            <a:avLst/>
          </a:prstGeom>
          <a:solidFill>
            <a:srgbClr val="1a2b2f"/>
          </a:solidFill>
          <a:ln w="12700">
            <a:solidFill>
              <a:srgbClr val="1a2b2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97"/>
          <p:cNvSpPr/>
          <p:nvPr/>
        </p:nvSpPr>
        <p:spPr>
          <a:xfrm>
            <a:off x="3429000" y="3730680"/>
            <a:ext cx="237636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a8d4dc"/>
                </a:solidFill>
                <a:latin typeface="Consolas"/>
                <a:ea typeface="Consolas"/>
              </a:rPr>
              <a:t>POST /mon-index/_update/{id}</a:t>
            </a:r>
            <a:endParaRPr b="0" lang="fr-F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498"/>
          <p:cNvSpPr/>
          <p:nvPr/>
        </p:nvSpPr>
        <p:spPr>
          <a:xfrm>
            <a:off x="5943600" y="3730680"/>
            <a:ext cx="292500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4a7480"/>
                </a:solidFill>
                <a:latin typeface="Calibri"/>
              </a:rPr>
              <a:t>Fusionne les champs fournis avec _source existant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528"/>
          <p:cNvSpPr/>
          <p:nvPr/>
        </p:nvSpPr>
        <p:spPr>
          <a:xfrm>
            <a:off x="274320" y="4462200"/>
            <a:ext cx="8594280" cy="410400"/>
          </a:xfrm>
          <a:prstGeom prst="rect">
            <a:avLst/>
          </a:prstGeom>
          <a:solidFill>
            <a:srgbClr val="00576b"/>
          </a:solidFill>
          <a:ln w="12700">
            <a:solidFill>
              <a:srgbClr val="0057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499"/>
          <p:cNvSpPr/>
          <p:nvPr/>
        </p:nvSpPr>
        <p:spPr>
          <a:xfrm>
            <a:off x="365760" y="4462200"/>
            <a:ext cx="8411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</a:rPr>
              <a:t>⚡ 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</a:rPr>
              <a:t>Bulk API : regrouper create / index / update / delete en une seule requête NDJSON  —  POST /mon-index/_bulk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529"/>
          <p:cNvSpPr/>
          <p:nvPr/>
        </p:nvSpPr>
        <p:spPr>
          <a:xfrm>
            <a:off x="274320" y="4526280"/>
            <a:ext cx="8594280" cy="383040"/>
          </a:xfrm>
          <a:prstGeom prst="rect">
            <a:avLst/>
          </a:prstGeom>
          <a:solidFill>
            <a:srgbClr val="00404f"/>
          </a:solidFill>
          <a:ln w="12700">
            <a:solidFill>
              <a:srgbClr val="0040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500"/>
          <p:cNvSpPr/>
          <p:nvPr/>
        </p:nvSpPr>
        <p:spPr>
          <a:xfrm>
            <a:off x="384120" y="4526280"/>
            <a:ext cx="841140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alibri"/>
              </a:rPr>
              <a:t>✏️  </a:t>
            </a:r>
            <a:r>
              <a:rPr b="0" lang="en-US" sz="950" spc="-1" strike="noStrike">
                <a:solidFill>
                  <a:srgbClr val="ffffff"/>
                </a:solidFill>
                <a:latin typeface="Calibri"/>
              </a:rPr>
              <a:t>Atelier 2.1 — Créer un index avec mapping explicite et analyzer custom. Indexer des documents, tester CRUD et _analyze.</a:t>
            </a:r>
            <a:endParaRPr b="0" lang="fr-FR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1563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2026-03-17T11:30:50Z</dcterms:created>
  <dc:creator>David THIBAU</dc:creator>
  <dc:description/>
  <dc:language>fr-FR</dc:language>
  <cp:lastModifiedBy/>
  <dcterms:modified xsi:type="dcterms:W3CDTF">2026-03-18T19:20:27Z</dcterms:modified>
  <cp:revision>10</cp:revision>
  <dc:subject>PptxGenJS Presentation</dc:subject>
  <dc:title>OpenSearch – Introduction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21</vt:i4>
  </property>
  <property fmtid="{D5CDD505-2E9C-101B-9397-08002B2CF9AE}" pid="3" name="PresentationFormat">
    <vt:lpwstr>On-screen Show (16:9)</vt:lpwstr>
  </property>
  <property fmtid="{D5CDD505-2E9C-101B-9397-08002B2CF9AE}" pid="4" name="Slides">
    <vt:i4>21</vt:i4>
  </property>
</Properties>
</file>