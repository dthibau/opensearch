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62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5.xml" ContentType="application/vnd.openxmlformats-officedocument.presentationml.slide+xml"/>
  <Override PartName="/ppt/slides/slide29.xml" ContentType="application/vnd.openxmlformats-officedocument.presentationml.slide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5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57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16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62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32.xml.rels" ContentType="application/vnd.openxmlformats-package.relationships+xml"/>
  <Override PartName="/ppt/slides/_rels/slide69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56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79.xml.rels" ContentType="application/vnd.openxmlformats-package.relationships+xml"/>
  <Override PartName="/ppt/slides/_rels/slide53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78.xml.rels" ContentType="application/vnd.openxmlformats-package.relationships+xml"/>
  <Override PartName="/ppt/slides/_rels/slide52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77.xml.rels" ContentType="application/vnd.openxmlformats-package.relationships+xml"/>
  <Override PartName="/ppt/slides/_rels/slide14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63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28.xml.rels" ContentType="application/vnd.openxmlformats-package.relationships+xml"/>
  <Override PartName="/ppt/slides/_rels/slide70.xml.rels" ContentType="application/vnd.openxmlformats-package.relationships+xml"/>
  <Override PartName="/ppt/slides/_rels/slide65.xml.rels" ContentType="application/vnd.openxmlformats-package.relationships+xml"/>
  <Override PartName="/ppt/slides/_rels/slide71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66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80.xml.rels" ContentType="application/vnd.openxmlformats-package.relationships+xml"/>
  <Override PartName="/ppt/slides/_rels/slide15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76.xml.rels" ContentType="application/vnd.openxmlformats-package.relationships+xml"/>
  <Override PartName="/ppt/slides/_rels/slide75.xml.rels" ContentType="application/vnd.openxmlformats-package.relationships+xml"/>
  <Override PartName="/ppt/slides/_rels/slide74.xml.rels" ContentType="application/vnd.openxmlformats-package.relationships+xml"/>
  <Override PartName="/ppt/slides/_rels/slide73.xml.rels" ContentType="application/vnd.openxmlformats-package.relationships+xml"/>
  <Override PartName="/ppt/slides/_rels/slide72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46.xml.rels" ContentType="application/vnd.openxmlformats-package.relationships+xml"/>
  <Override PartName="/ppt/slides/slide71.xml" ContentType="application/vnd.openxmlformats-officedocument.presentationml.slide+xml"/>
  <Override PartName="/ppt/slides/slide66.xml" ContentType="application/vnd.openxmlformats-officedocument.presentationml.slide+xml"/>
  <Override PartName="/ppt/slides/slide79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15.xml" ContentType="application/vnd.openxmlformats-officedocument.presentationml.slide+xml"/>
  <Override PartName="/ppt/slides/slide80.xml" ContentType="application/vnd.openxmlformats-officedocument.presentationml.slide+xml"/>
  <Override PartName="/ppt/slides/slide78.xml" ContentType="application/vnd.openxmlformats-officedocument.presentationml.slide+xml"/>
  <Override PartName="/ppt/slides/slide77.xml" ContentType="application/vnd.openxmlformats-officedocument.presentationml.slide+xml"/>
  <Override PartName="/ppt/slides/slide76.xml" ContentType="application/vnd.openxmlformats-officedocument.presentationml.slide+xml"/>
  <Override PartName="/ppt/slides/slide75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69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_rels/notesSlide56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74.xml.rels" ContentType="application/vnd.openxmlformats-package.relationships+xml"/>
  <Override PartName="/ppt/notesSlides/_rels/notesSlide55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73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80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5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58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68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69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54.xml.rels" ContentType="application/vnd.openxmlformats-package.relationships+xml"/>
  <Override PartName="/ppt/notesSlides/_rels/notesSlide77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79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3.xml.rels" ContentType="application/vnd.openxmlformats-package.relationships+xml"/>
  <Override PartName="/ppt/notesSlides/_rels/notesSlide52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76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78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72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60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71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7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67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66.xml.rels" ContentType="application/vnd.openxmlformats-package.relationships+xml"/>
  <Override PartName="/ppt/notesSlides/_rels/notesSlide65.xml.rels" ContentType="application/vnd.openxmlformats-package.relationships+xml"/>
  <Override PartName="/ppt/notesSlides/_rels/notesSlide6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6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6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6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57.xml.rels" ContentType="application/vnd.openxmlformats-package.relationships+xml"/>
  <Override PartName="/ppt/notesSlides/notesSlide7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déplacer la diapo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modifier le format 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CE90F3E-0F1C-4981-A66A-66AEC203FC7F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EC23C9-45AF-4CB0-A996-B6959652BD0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F45329-9C1E-496A-A6CE-6BE7621BD3A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D743B6-85CA-4EEB-B022-8E526459321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C204FD-7EA0-40B4-A095-8F67C36273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0A12E4-F564-44C6-900A-D705742A79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FD316A-3326-4D17-8095-170B84AE49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767073-5B4C-401F-90CF-2136CA3A0C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9DD714-7C05-4BBF-A0D8-27645B2DDB7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F9B0BA-34B3-41D8-8D9C-7F4E79C262A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2FA441-76F1-462E-9B5D-8B4047927C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A049AC-617C-4D1F-BAEF-387925D36CD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9D2DB4-AF01-4B83-A1B9-EC03E16F35D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EE8020-FCA2-4EEC-8BF1-096BE7BB470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551EE2-983F-40A3-8B22-51267EBB28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8E76BE-D6FC-4657-A8A5-C82E7B7B5E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A0D743-A9FE-4ACF-85DA-EC0FFEF12B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28B4E3-C9C6-42F7-8F32-7BDE52EE31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13EE78-A4B7-47F1-BE0C-351391B40A2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31605A-1D1A-49D5-B319-D1D5D0A8A74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A0DF8D-AB5F-4CBA-87BB-79AF2F553A5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29FF44-123F-4E5B-B60E-C1030AA08D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820AAA-CB2C-444E-A086-42E2DD04269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F3E840-A497-4018-B4B4-5BAF5C9BE2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23C510-76AE-48B3-B5A0-A8F10B5123C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7EC66B-3051-4133-8D1D-7A98ED2E70A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8067B9-F402-4A8F-9FDC-7745890BA3E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0D6498-01D9-409B-9DE7-DB37AA56FB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000A7E-FFF2-47D0-BF85-DFAF0AD9908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25684C-6D64-4411-8FD1-CC725579B1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4865A4-C8E1-4131-9143-0C404AC431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ABEE64-A745-4A00-82BA-2D23298F4E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CAD287-79EB-4DFA-AE80-C995C2CCC3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CA5DDB-E601-465A-98FB-31BD65EFC11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C94ED2-1CE5-4033-AE5F-7E85779AEF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CB52AF-76B8-462F-8469-30599986DA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4C57A1-8243-4192-B088-AB29D9011C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4D94F4-478D-45F2-BCFF-9B7FB0ABD5A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978479-B990-479E-BD53-B4159DC0D1B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C2442C-EF3E-4177-825E-DC67EB8296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6B33C9-A60E-4A99-B51C-CD05004C1D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C21B57-3F85-4388-829C-B13E0088412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3BA356-A872-4073-BB2F-6CC0C5EC4E4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59D8DC-F0A3-4BFD-9822-7D42B4E39DB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2EC697-4DAE-40A1-84B5-7218C78424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D7C834-B6D5-4D63-B688-B1FB3EDB24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984B97-A894-49D6-B907-7847529ECDC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6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B0A4C7-3E02-49EB-99D0-9FE11AD6C4A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9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E05E58-29A0-4093-A8B8-462210EA1AE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2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42C5AF-B3D6-4AB0-9A90-8197A51FE10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5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3E14D4-74C3-4721-8D0F-94AAEFC933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8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77330E-2F80-4D7F-8BA7-68509ED98BC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1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3CDD67-46CF-4B1E-899F-68EFF5206B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4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14A6D9-932F-43FE-830F-50551362D2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7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6146B9-54BA-4DA4-8110-3D5DC952F2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0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0960EE-27AE-4A0E-8CE3-0E31B96536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3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698001-9246-4871-BD9E-03F26B07D5F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6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D538EF-750D-4B75-874C-1B2A1A76A8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9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8722DA-0BE2-4ED1-BE6D-410553E5D6A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2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BF3CE3-8992-4E71-8725-931E2B4E2D9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5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39D6C7-496D-427A-A18E-A7EBEACD17B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8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F932D3-0444-4CAC-B6FA-9DB2A035265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1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94ECA6-37DB-459C-80E3-AAC8515FAD4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4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76C65A-6919-4E06-A95E-389C6575CC0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7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219745-03D8-4810-A774-73C49F5AC1C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0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6093CB-424E-437F-ABD8-12D028B61E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3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898702-F7F0-40BE-A9A5-140BC864313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6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83BFE4-E296-4CB8-81B3-41B85EC1946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9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1C17A8-CB02-4982-B549-C5E708C9A2D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2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94FFF6-1B9C-4DB2-8567-F841254489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5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AEE2C3-8340-4AB2-B138-B66C3665B1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8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967DBB-0ED8-4078-8AF0-745E73A7AF0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1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4943E3-AE7B-43D9-B3C7-D905385BC23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4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D046C1-4CC2-46A6-AE86-4F42D112F3E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7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254EC7-035B-4D85-964D-FA01D0448F5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0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CCF926-059E-4F9E-97C7-0A42221B0AB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3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6DEAB0-3796-49B8-8E8D-7250C50EB7D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6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1CC1A0-1982-4608-878B-A40578289D6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9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0172E3-A994-4301-8B92-9004FEFC24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591D53-C735-4CD4-874F-6010FB16461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5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EBE2DD-34C9-4049-BD46-D59FAE3AAA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chemeClr val="dk1"/>
                </a:solidFill>
                <a:latin typeface="Calibri"/>
              </a:rPr>
              <a:t>Cliquez pour éditer le format du texte-titre</a:t>
            </a: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chemeClr val="dk1"/>
                </a:solidFill>
                <a:latin typeface="Calibri"/>
              </a:rPr>
              <a:t>Cliquez pour éditer le format du plan de texte</a:t>
            </a:r>
            <a:endParaRPr b="0" lang="fr-FR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400" spc="-1" strike="noStrike">
                <a:solidFill>
                  <a:schemeClr val="dk1"/>
                </a:solidFill>
                <a:latin typeface="Calibri"/>
              </a:rPr>
              <a:t>Second niveau de plan</a:t>
            </a:r>
            <a:endParaRPr b="0" lang="fr-FR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Troisième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Quatrième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Cinquième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Sixième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Septième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9141840" cy="709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457200" y="960120"/>
            <a:ext cx="82274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457200" y="1874520"/>
            <a:ext cx="822744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a8d4dc"/>
                </a:solidFill>
                <a:latin typeface="Calibri"/>
                <a:ea typeface="Calibri"/>
              </a:rPr>
              <a:t>Recherche, Analyse et Visualisation de Données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4"/>
          <p:cNvSpPr/>
          <p:nvPr/>
        </p:nvSpPr>
        <p:spPr>
          <a:xfrm>
            <a:off x="2743200" y="2514600"/>
            <a:ext cx="3655440" cy="43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457200" y="2834640"/>
            <a:ext cx="8227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a8d4dc"/>
                </a:solidFill>
                <a:latin typeface="Calibri"/>
                <a:ea typeface="Calibri"/>
              </a:rPr>
              <a:t>David THIBAU – 2026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457200" y="3218760"/>
            <a:ext cx="82274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david.thibau@gmail.com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182880" y="4069080"/>
            <a:ext cx="2146680" cy="656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228600" y="4069080"/>
            <a:ext cx="2055240" cy="6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Historique &amp; Positionnement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9"/>
          <p:cNvSpPr/>
          <p:nvPr/>
        </p:nvSpPr>
        <p:spPr>
          <a:xfrm>
            <a:off x="2468880" y="4069080"/>
            <a:ext cx="214668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2514600" y="4069080"/>
            <a:ext cx="2055240" cy="6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Comparaison avec Elasticsearch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1"/>
          <p:cNvSpPr/>
          <p:nvPr/>
        </p:nvSpPr>
        <p:spPr>
          <a:xfrm>
            <a:off x="4754880" y="4069080"/>
            <a:ext cx="2146680" cy="656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2"/>
          <p:cNvSpPr/>
          <p:nvPr/>
        </p:nvSpPr>
        <p:spPr>
          <a:xfrm>
            <a:off x="4800600" y="4069080"/>
            <a:ext cx="2055240" cy="6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Composants principaux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6995160" y="4069080"/>
            <a:ext cx="196380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7040880" y="4069080"/>
            <a:ext cx="1872360" cy="6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Architecture du cluster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0" y="4818960"/>
            <a:ext cx="91418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676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677"/>
          <p:cNvSpPr/>
          <p:nvPr/>
        </p:nvSpPr>
        <p:spPr>
          <a:xfrm>
            <a:off x="0" y="0"/>
            <a:ext cx="164160" cy="6580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655"/>
          <p:cNvSpPr/>
          <p:nvPr/>
        </p:nvSpPr>
        <p:spPr>
          <a:xfrm>
            <a:off x="347400" y="54720"/>
            <a:ext cx="8412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Agenda  —  1 / 2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656"/>
          <p:cNvSpPr/>
          <p:nvPr/>
        </p:nvSpPr>
        <p:spPr>
          <a:xfrm>
            <a:off x="0" y="4818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657"/>
          <p:cNvSpPr/>
          <p:nvPr/>
        </p:nvSpPr>
        <p:spPr>
          <a:xfrm>
            <a:off x="347400" y="667440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Fondam</a:t>
            </a: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entaux </a:t>
            </a: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· </a:t>
            </a: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Donnée</a:t>
            </a: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s · </a:t>
            </a: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Ingestio</a:t>
            </a: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n · </a:t>
            </a: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Recherc</a:t>
            </a: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he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742"/>
          <p:cNvSpPr/>
          <p:nvPr/>
        </p:nvSpPr>
        <p:spPr>
          <a:xfrm>
            <a:off x="45720" y="1371600"/>
            <a:ext cx="502560" cy="5025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658"/>
          <p:cNvSpPr/>
          <p:nvPr/>
        </p:nvSpPr>
        <p:spPr>
          <a:xfrm>
            <a:off x="45720" y="13716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743"/>
          <p:cNvSpPr/>
          <p:nvPr/>
        </p:nvSpPr>
        <p:spPr>
          <a:xfrm>
            <a:off x="608040" y="987480"/>
            <a:ext cx="371196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744"/>
          <p:cNvSpPr/>
          <p:nvPr/>
        </p:nvSpPr>
        <p:spPr>
          <a:xfrm>
            <a:off x="608040" y="987480"/>
            <a:ext cx="63720" cy="127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659"/>
          <p:cNvSpPr/>
          <p:nvPr/>
        </p:nvSpPr>
        <p:spPr>
          <a:xfrm>
            <a:off x="772560" y="1078920"/>
            <a:ext cx="3730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In</a:t>
            </a: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tr</a:t>
            </a: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od</a:t>
            </a: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uc</a:t>
            </a: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ti</a:t>
            </a: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660"/>
          <p:cNvSpPr/>
          <p:nvPr/>
        </p:nvSpPr>
        <p:spPr>
          <a:xfrm>
            <a:off x="772560" y="146304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Historique, comparaison Elasticsearch,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661"/>
          <p:cNvSpPr/>
          <p:nvPr/>
        </p:nvSpPr>
        <p:spPr>
          <a:xfrm>
            <a:off x="772560" y="171900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co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mp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osa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nts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,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arc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hit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ect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ure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du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clu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ste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r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745"/>
          <p:cNvSpPr/>
          <p:nvPr/>
        </p:nvSpPr>
        <p:spPr>
          <a:xfrm>
            <a:off x="4588560" y="1371600"/>
            <a:ext cx="502560" cy="5025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662"/>
          <p:cNvSpPr/>
          <p:nvPr/>
        </p:nvSpPr>
        <p:spPr>
          <a:xfrm>
            <a:off x="4588560" y="13716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746"/>
          <p:cNvSpPr/>
          <p:nvPr/>
        </p:nvSpPr>
        <p:spPr>
          <a:xfrm>
            <a:off x="5222880" y="987480"/>
            <a:ext cx="359712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747"/>
          <p:cNvSpPr/>
          <p:nvPr/>
        </p:nvSpPr>
        <p:spPr>
          <a:xfrm>
            <a:off x="5222880" y="987480"/>
            <a:ext cx="63720" cy="127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769"/>
          <p:cNvSpPr/>
          <p:nvPr/>
        </p:nvSpPr>
        <p:spPr>
          <a:xfrm>
            <a:off x="5387400" y="1078920"/>
            <a:ext cx="3730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Indexation et mapping des données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770"/>
          <p:cNvSpPr/>
          <p:nvPr/>
        </p:nvSpPr>
        <p:spPr>
          <a:xfrm>
            <a:off x="5387400" y="146304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Document &amp; Bulk API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771"/>
          <p:cNvSpPr/>
          <p:nvPr/>
        </p:nvSpPr>
        <p:spPr>
          <a:xfrm>
            <a:off x="5387400" y="171900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Types, analyzers,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dynamic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templates, ISM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748"/>
          <p:cNvSpPr/>
          <p:nvPr/>
        </p:nvSpPr>
        <p:spPr>
          <a:xfrm>
            <a:off x="45720" y="2871360"/>
            <a:ext cx="502560" cy="5025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772"/>
          <p:cNvSpPr/>
          <p:nvPr/>
        </p:nvSpPr>
        <p:spPr>
          <a:xfrm>
            <a:off x="45720" y="28713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749"/>
          <p:cNvSpPr/>
          <p:nvPr/>
        </p:nvSpPr>
        <p:spPr>
          <a:xfrm>
            <a:off x="608040" y="2487240"/>
            <a:ext cx="3711960" cy="1279800"/>
          </a:xfrm>
          <a:prstGeom prst="rect">
            <a:avLst/>
          </a:prstGeom>
          <a:solidFill>
            <a:srgbClr val="fffaf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750"/>
          <p:cNvSpPr/>
          <p:nvPr/>
        </p:nvSpPr>
        <p:spPr>
          <a:xfrm>
            <a:off x="608040" y="2487240"/>
            <a:ext cx="63720" cy="1279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773"/>
          <p:cNvSpPr/>
          <p:nvPr/>
        </p:nvSpPr>
        <p:spPr>
          <a:xfrm>
            <a:off x="772560" y="2578680"/>
            <a:ext cx="3730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Ingestion de données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774"/>
          <p:cNvSpPr/>
          <p:nvPr/>
        </p:nvSpPr>
        <p:spPr>
          <a:xfrm>
            <a:off x="772560" y="296280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Logstash, Data Prepper, Metricbeat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775"/>
          <p:cNvSpPr/>
          <p:nvPr/>
        </p:nvSpPr>
        <p:spPr>
          <a:xfrm>
            <a:off x="772560" y="321876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Kafka Connect, pipelines, optimisation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751"/>
          <p:cNvSpPr/>
          <p:nvPr/>
        </p:nvSpPr>
        <p:spPr>
          <a:xfrm>
            <a:off x="4588560" y="2871360"/>
            <a:ext cx="502560" cy="5025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776"/>
          <p:cNvSpPr/>
          <p:nvPr/>
        </p:nvSpPr>
        <p:spPr>
          <a:xfrm>
            <a:off x="4588560" y="28713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752"/>
          <p:cNvSpPr/>
          <p:nvPr/>
        </p:nvSpPr>
        <p:spPr>
          <a:xfrm>
            <a:off x="5222880" y="2487240"/>
            <a:ext cx="359712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753"/>
          <p:cNvSpPr/>
          <p:nvPr/>
        </p:nvSpPr>
        <p:spPr>
          <a:xfrm>
            <a:off x="5222880" y="2487240"/>
            <a:ext cx="63720" cy="127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777"/>
          <p:cNvSpPr/>
          <p:nvPr/>
        </p:nvSpPr>
        <p:spPr>
          <a:xfrm>
            <a:off x="5387400" y="2578680"/>
            <a:ext cx="3730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Requêtes et agrégations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778"/>
          <p:cNvSpPr/>
          <p:nvPr/>
        </p:nvSpPr>
        <p:spPr>
          <a:xfrm>
            <a:off x="5387400" y="296280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Query DSL, filtres, full-text,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779"/>
          <p:cNvSpPr/>
          <p:nvPr/>
        </p:nvSpPr>
        <p:spPr>
          <a:xfrm>
            <a:off x="5387400" y="321876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agrégations, pagination, optimisation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754"/>
          <p:cNvSpPr/>
          <p:nvPr/>
        </p:nvSpPr>
        <p:spPr>
          <a:xfrm>
            <a:off x="274320" y="3913560"/>
            <a:ext cx="8595360" cy="360"/>
          </a:xfrm>
          <a:prstGeom prst="line">
            <a:avLst/>
          </a:prstGeom>
          <a:ln w="12700">
            <a:solidFill>
              <a:srgbClr val="1a4a5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780"/>
          <p:cNvSpPr/>
          <p:nvPr/>
        </p:nvSpPr>
        <p:spPr>
          <a:xfrm>
            <a:off x="7772400" y="3968640"/>
            <a:ext cx="1096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suite →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781"/>
          <p:cNvSpPr/>
          <p:nvPr/>
        </p:nvSpPr>
        <p:spPr>
          <a:xfrm>
            <a:off x="0" y="4818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755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756"/>
          <p:cNvSpPr/>
          <p:nvPr/>
        </p:nvSpPr>
        <p:spPr>
          <a:xfrm>
            <a:off x="0" y="0"/>
            <a:ext cx="164160" cy="6580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38"/>
          <p:cNvSpPr/>
          <p:nvPr/>
        </p:nvSpPr>
        <p:spPr>
          <a:xfrm>
            <a:off x="347400" y="54720"/>
            <a:ext cx="8412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Agenda  —  2 / 2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782"/>
          <p:cNvSpPr/>
          <p:nvPr/>
        </p:nvSpPr>
        <p:spPr>
          <a:xfrm>
            <a:off x="0" y="4818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783"/>
          <p:cNvSpPr/>
          <p:nvPr/>
        </p:nvSpPr>
        <p:spPr>
          <a:xfrm>
            <a:off x="347400" y="65844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a8d4dc"/>
                </a:solidFill>
                <a:latin typeface="Calibri"/>
                <a:ea typeface="Calibri"/>
              </a:rPr>
              <a:t>Visualisation · Administration · Supervision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757"/>
          <p:cNvSpPr/>
          <p:nvPr/>
        </p:nvSpPr>
        <p:spPr>
          <a:xfrm>
            <a:off x="45720" y="1344240"/>
            <a:ext cx="502560" cy="5025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784"/>
          <p:cNvSpPr/>
          <p:nvPr/>
        </p:nvSpPr>
        <p:spPr>
          <a:xfrm>
            <a:off x="45720" y="13442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758"/>
          <p:cNvSpPr/>
          <p:nvPr/>
        </p:nvSpPr>
        <p:spPr>
          <a:xfrm>
            <a:off x="752040" y="960120"/>
            <a:ext cx="356796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759"/>
          <p:cNvSpPr/>
          <p:nvPr/>
        </p:nvSpPr>
        <p:spPr>
          <a:xfrm>
            <a:off x="752040" y="960120"/>
            <a:ext cx="63720" cy="127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785"/>
          <p:cNvSpPr/>
          <p:nvPr/>
        </p:nvSpPr>
        <p:spPr>
          <a:xfrm>
            <a:off x="916560" y="1051560"/>
            <a:ext cx="3730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Visualisation — OpenSearch Dashboards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786"/>
          <p:cNvSpPr/>
          <p:nvPr/>
        </p:nvSpPr>
        <p:spPr>
          <a:xfrm>
            <a:off x="916560" y="143568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Dashboards, visualisations, DQL, PPL,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787"/>
          <p:cNvSpPr/>
          <p:nvPr/>
        </p:nvSpPr>
        <p:spPr>
          <a:xfrm>
            <a:off x="916560" y="169164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filtres interactifs, partage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760"/>
          <p:cNvSpPr/>
          <p:nvPr/>
        </p:nvSpPr>
        <p:spPr>
          <a:xfrm>
            <a:off x="4732560" y="1344240"/>
            <a:ext cx="502560" cy="5025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788"/>
          <p:cNvSpPr/>
          <p:nvPr/>
        </p:nvSpPr>
        <p:spPr>
          <a:xfrm>
            <a:off x="4732560" y="13442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761"/>
          <p:cNvSpPr/>
          <p:nvPr/>
        </p:nvSpPr>
        <p:spPr>
          <a:xfrm>
            <a:off x="5366880" y="960120"/>
            <a:ext cx="352512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762"/>
          <p:cNvSpPr/>
          <p:nvPr/>
        </p:nvSpPr>
        <p:spPr>
          <a:xfrm>
            <a:off x="5366880" y="960120"/>
            <a:ext cx="63720" cy="127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789"/>
          <p:cNvSpPr/>
          <p:nvPr/>
        </p:nvSpPr>
        <p:spPr>
          <a:xfrm>
            <a:off x="5279400" y="1051560"/>
            <a:ext cx="3730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Administration et sécurité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790"/>
          <p:cNvSpPr/>
          <p:nvPr/>
        </p:nvSpPr>
        <p:spPr>
          <a:xfrm>
            <a:off x="5279400" y="143568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Nœuds, HA, snapshots, certificats,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791"/>
          <p:cNvSpPr/>
          <p:nvPr/>
        </p:nvSpPr>
        <p:spPr>
          <a:xfrm>
            <a:off x="5279400" y="169164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rôles et utilisateurs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Shape 763"/>
          <p:cNvSpPr/>
          <p:nvPr/>
        </p:nvSpPr>
        <p:spPr>
          <a:xfrm>
            <a:off x="45720" y="2944440"/>
            <a:ext cx="502560" cy="5025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792"/>
          <p:cNvSpPr/>
          <p:nvPr/>
        </p:nvSpPr>
        <p:spPr>
          <a:xfrm>
            <a:off x="45720" y="2944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7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764"/>
          <p:cNvSpPr/>
          <p:nvPr/>
        </p:nvSpPr>
        <p:spPr>
          <a:xfrm>
            <a:off x="752040" y="2560320"/>
            <a:ext cx="356796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765"/>
          <p:cNvSpPr/>
          <p:nvPr/>
        </p:nvSpPr>
        <p:spPr>
          <a:xfrm>
            <a:off x="752040" y="2560320"/>
            <a:ext cx="63720" cy="127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793"/>
          <p:cNvSpPr/>
          <p:nvPr/>
        </p:nvSpPr>
        <p:spPr>
          <a:xfrm>
            <a:off x="916560" y="2651760"/>
            <a:ext cx="3730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Supervision et optimisation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794"/>
          <p:cNvSpPr/>
          <p:nvPr/>
        </p:nvSpPr>
        <p:spPr>
          <a:xfrm>
            <a:off x="916560" y="303588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Performance Analyzer, scaling,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795"/>
          <p:cNvSpPr/>
          <p:nvPr/>
        </p:nvSpPr>
        <p:spPr>
          <a:xfrm>
            <a:off x="916560" y="3291840"/>
            <a:ext cx="3730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gestion du stockage, maintenance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766"/>
          <p:cNvSpPr/>
          <p:nvPr/>
        </p:nvSpPr>
        <p:spPr>
          <a:xfrm>
            <a:off x="274320" y="4114800"/>
            <a:ext cx="8595000" cy="59400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Shape 767"/>
          <p:cNvSpPr/>
          <p:nvPr/>
        </p:nvSpPr>
        <p:spPr>
          <a:xfrm>
            <a:off x="274320" y="4114800"/>
            <a:ext cx="54360" cy="594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796"/>
          <p:cNvSpPr/>
          <p:nvPr/>
        </p:nvSpPr>
        <p:spPr>
          <a:xfrm>
            <a:off x="411480" y="4114800"/>
            <a:ext cx="832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a8d4dc"/>
                </a:solidFill>
                <a:latin typeface="Calibri"/>
                <a:ea typeface="Calibri"/>
              </a:rPr>
              <a:t>📌  </a:t>
            </a:r>
            <a:r>
              <a:rPr b="0" i="1" lang="en-US" sz="1050" spc="-1" strike="noStrike">
                <a:solidFill>
                  <a:srgbClr val="a8d4dc"/>
                </a:solidFill>
                <a:latin typeface="Calibri"/>
                <a:ea typeface="Calibri"/>
              </a:rPr>
              <a:t>Chaque module inclut des ateliers pratiques. Durée indicative : 3 jours.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797"/>
          <p:cNvSpPr/>
          <p:nvPr/>
        </p:nvSpPr>
        <p:spPr>
          <a:xfrm>
            <a:off x="0" y="4818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0"/>
            <a:ext cx="162360" cy="51458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411480" y="1645920"/>
            <a:ext cx="831888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</a:t>
            </a:r>
            <a:endParaRPr b="0" lang="fr-F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2"/>
          <p:cNvSpPr/>
          <p:nvPr/>
        </p:nvSpPr>
        <p:spPr>
          <a:xfrm>
            <a:off x="411480" y="2697480"/>
            <a:ext cx="83188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a8d4dc"/>
                </a:solidFill>
                <a:latin typeface="Calibri"/>
                <a:ea typeface="Calibri"/>
              </a:rPr>
              <a:t>Historique · Comparaison · Composants · Architecture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42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45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41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Naissance d'OpenSearch — Chronologie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1371600" y="914400"/>
            <a:ext cx="61920" cy="383832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7"/>
          <p:cNvSpPr/>
          <p:nvPr/>
        </p:nvSpPr>
        <p:spPr>
          <a:xfrm>
            <a:off x="1143000" y="932760"/>
            <a:ext cx="253800" cy="253800"/>
          </a:xfrm>
          <a:prstGeom prst="ellipse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3"/>
          <p:cNvSpPr/>
          <p:nvPr/>
        </p:nvSpPr>
        <p:spPr>
          <a:xfrm>
            <a:off x="91440" y="868680"/>
            <a:ext cx="1003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2010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8"/>
          <p:cNvSpPr/>
          <p:nvPr/>
        </p:nvSpPr>
        <p:spPr>
          <a:xfrm>
            <a:off x="1554480" y="868680"/>
            <a:ext cx="7221600" cy="3819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44"/>
          <p:cNvSpPr/>
          <p:nvPr/>
        </p:nvSpPr>
        <p:spPr>
          <a:xfrm>
            <a:off x="1645920" y="868680"/>
            <a:ext cx="70387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Création d'Elasticsearch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49"/>
          <p:cNvSpPr/>
          <p:nvPr/>
        </p:nvSpPr>
        <p:spPr>
          <a:xfrm>
            <a:off x="1143000" y="1472040"/>
            <a:ext cx="253800" cy="253800"/>
          </a:xfrm>
          <a:prstGeom prst="ellipse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46"/>
          <p:cNvSpPr/>
          <p:nvPr/>
        </p:nvSpPr>
        <p:spPr>
          <a:xfrm>
            <a:off x="91440" y="1408320"/>
            <a:ext cx="1003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2015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0"/>
          <p:cNvSpPr/>
          <p:nvPr/>
        </p:nvSpPr>
        <p:spPr>
          <a:xfrm>
            <a:off x="1554480" y="1408320"/>
            <a:ext cx="7221600" cy="3819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47"/>
          <p:cNvSpPr/>
          <p:nvPr/>
        </p:nvSpPr>
        <p:spPr>
          <a:xfrm>
            <a:off x="1645920" y="1408320"/>
            <a:ext cx="70387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Elastic Stack (ELK → Elastic Stack)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1"/>
          <p:cNvSpPr/>
          <p:nvPr/>
        </p:nvSpPr>
        <p:spPr>
          <a:xfrm>
            <a:off x="1143000" y="2011680"/>
            <a:ext cx="253800" cy="25380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48"/>
          <p:cNvSpPr/>
          <p:nvPr/>
        </p:nvSpPr>
        <p:spPr>
          <a:xfrm>
            <a:off x="91440" y="1947600"/>
            <a:ext cx="1003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Jan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2"/>
          <p:cNvSpPr/>
          <p:nvPr/>
        </p:nvSpPr>
        <p:spPr>
          <a:xfrm>
            <a:off x="1554480" y="1947600"/>
            <a:ext cx="7221600" cy="3819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49"/>
          <p:cNvSpPr/>
          <p:nvPr/>
        </p:nvSpPr>
        <p:spPr>
          <a:xfrm>
            <a:off x="1645920" y="1947600"/>
            <a:ext cx="70387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Elastic change la licence vers SSPL/Elastic License 2.0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3"/>
          <p:cNvSpPr/>
          <p:nvPr/>
        </p:nvSpPr>
        <p:spPr>
          <a:xfrm>
            <a:off x="1143000" y="2551320"/>
            <a:ext cx="253800" cy="253800"/>
          </a:xfrm>
          <a:prstGeom prst="ellipse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0"/>
          <p:cNvSpPr/>
          <p:nvPr/>
        </p:nvSpPr>
        <p:spPr>
          <a:xfrm>
            <a:off x="91440" y="2487240"/>
            <a:ext cx="1003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Avr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54"/>
          <p:cNvSpPr/>
          <p:nvPr/>
        </p:nvSpPr>
        <p:spPr>
          <a:xfrm>
            <a:off x="1554480" y="2487240"/>
            <a:ext cx="7221600" cy="381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51"/>
          <p:cNvSpPr/>
          <p:nvPr/>
        </p:nvSpPr>
        <p:spPr>
          <a:xfrm>
            <a:off x="1645920" y="2487240"/>
            <a:ext cx="70387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AWS fork ES 7.10 → OpenSearch 1.0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55"/>
          <p:cNvSpPr/>
          <p:nvPr/>
        </p:nvSpPr>
        <p:spPr>
          <a:xfrm>
            <a:off x="1143000" y="3090600"/>
            <a:ext cx="253800" cy="253800"/>
          </a:xfrm>
          <a:prstGeom prst="ellipse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52"/>
          <p:cNvSpPr/>
          <p:nvPr/>
        </p:nvSpPr>
        <p:spPr>
          <a:xfrm>
            <a:off x="91440" y="3026520"/>
            <a:ext cx="1003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Sep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56"/>
          <p:cNvSpPr/>
          <p:nvPr/>
        </p:nvSpPr>
        <p:spPr>
          <a:xfrm>
            <a:off x="1554480" y="3026520"/>
            <a:ext cx="7221600" cy="381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53"/>
          <p:cNvSpPr/>
          <p:nvPr/>
        </p:nvSpPr>
        <p:spPr>
          <a:xfrm>
            <a:off x="1645920" y="3026520"/>
            <a:ext cx="70387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1.0 GA — Projet open source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57"/>
          <p:cNvSpPr/>
          <p:nvPr/>
        </p:nvSpPr>
        <p:spPr>
          <a:xfrm>
            <a:off x="1143000" y="3630240"/>
            <a:ext cx="253800" cy="25380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54"/>
          <p:cNvSpPr/>
          <p:nvPr/>
        </p:nvSpPr>
        <p:spPr>
          <a:xfrm>
            <a:off x="91440" y="3566160"/>
            <a:ext cx="1003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2023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58"/>
          <p:cNvSpPr/>
          <p:nvPr/>
        </p:nvSpPr>
        <p:spPr>
          <a:xfrm>
            <a:off x="1554480" y="3566160"/>
            <a:ext cx="7221600" cy="381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55"/>
          <p:cNvSpPr/>
          <p:nvPr/>
        </p:nvSpPr>
        <p:spPr>
          <a:xfrm>
            <a:off x="1645920" y="3566160"/>
            <a:ext cx="70387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Foundation (Linux Foundation)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9"/>
          <p:cNvSpPr/>
          <p:nvPr/>
        </p:nvSpPr>
        <p:spPr>
          <a:xfrm>
            <a:off x="1143000" y="4169520"/>
            <a:ext cx="253800" cy="25380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56"/>
          <p:cNvSpPr/>
          <p:nvPr/>
        </p:nvSpPr>
        <p:spPr>
          <a:xfrm>
            <a:off x="91440" y="4105800"/>
            <a:ext cx="1003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2024-25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60"/>
          <p:cNvSpPr/>
          <p:nvPr/>
        </p:nvSpPr>
        <p:spPr>
          <a:xfrm>
            <a:off x="1554480" y="4105800"/>
            <a:ext cx="7221600" cy="381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57"/>
          <p:cNvSpPr/>
          <p:nvPr/>
        </p:nvSpPr>
        <p:spPr>
          <a:xfrm>
            <a:off x="1645920" y="4105800"/>
            <a:ext cx="70387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2.x — roadmap indépendante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61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62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58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Pourquoi le fork ? — La rupture de licence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63"/>
          <p:cNvSpPr/>
          <p:nvPr/>
        </p:nvSpPr>
        <p:spPr>
          <a:xfrm>
            <a:off x="320040" y="749880"/>
            <a:ext cx="4204080" cy="4734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59"/>
          <p:cNvSpPr/>
          <p:nvPr/>
        </p:nvSpPr>
        <p:spPr>
          <a:xfrm>
            <a:off x="411480" y="749880"/>
            <a:ext cx="40212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Elastic — Elastic License 2.0 / SSPL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64"/>
          <p:cNvSpPr/>
          <p:nvPr/>
        </p:nvSpPr>
        <p:spPr>
          <a:xfrm>
            <a:off x="320040" y="1325880"/>
            <a:ext cx="4204080" cy="766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65"/>
          <p:cNvSpPr/>
          <p:nvPr/>
        </p:nvSpPr>
        <p:spPr>
          <a:xfrm>
            <a:off x="320040" y="1325880"/>
            <a:ext cx="61920" cy="7660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60"/>
          <p:cNvSpPr/>
          <p:nvPr/>
        </p:nvSpPr>
        <p:spPr>
          <a:xfrm>
            <a:off x="502920" y="1325880"/>
            <a:ext cx="388404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Restrictions sur l'utilisation dans les services cloud (AWS, GCP…)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66"/>
          <p:cNvSpPr/>
          <p:nvPr/>
        </p:nvSpPr>
        <p:spPr>
          <a:xfrm>
            <a:off x="320040" y="2212920"/>
            <a:ext cx="4204080" cy="766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67"/>
          <p:cNvSpPr/>
          <p:nvPr/>
        </p:nvSpPr>
        <p:spPr>
          <a:xfrm>
            <a:off x="320040" y="2212920"/>
            <a:ext cx="61920" cy="7660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1"/>
          <p:cNvSpPr/>
          <p:nvPr/>
        </p:nvSpPr>
        <p:spPr>
          <a:xfrm>
            <a:off x="502920" y="2212920"/>
            <a:ext cx="388404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Interdit de proposer ES/Kibana en tant que service managé sans accord commercial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68"/>
          <p:cNvSpPr/>
          <p:nvPr/>
        </p:nvSpPr>
        <p:spPr>
          <a:xfrm>
            <a:off x="320040" y="3099960"/>
            <a:ext cx="4204080" cy="766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69"/>
          <p:cNvSpPr/>
          <p:nvPr/>
        </p:nvSpPr>
        <p:spPr>
          <a:xfrm>
            <a:off x="320040" y="3099960"/>
            <a:ext cx="61920" cy="7660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62"/>
          <p:cNvSpPr/>
          <p:nvPr/>
        </p:nvSpPr>
        <p:spPr>
          <a:xfrm>
            <a:off x="502920" y="3099960"/>
            <a:ext cx="388404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Source disponible mais pas OSI Open Source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70"/>
          <p:cNvSpPr/>
          <p:nvPr/>
        </p:nvSpPr>
        <p:spPr>
          <a:xfrm>
            <a:off x="320040" y="3986640"/>
            <a:ext cx="4204080" cy="766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71"/>
          <p:cNvSpPr/>
          <p:nvPr/>
        </p:nvSpPr>
        <p:spPr>
          <a:xfrm>
            <a:off x="320040" y="3986640"/>
            <a:ext cx="61920" cy="7660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63"/>
          <p:cNvSpPr/>
          <p:nvPr/>
        </p:nvSpPr>
        <p:spPr>
          <a:xfrm>
            <a:off x="502920" y="3986640"/>
            <a:ext cx="388404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Fonctionnalités sécurité/monitoring devenues payantes (X-Pack)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72"/>
          <p:cNvSpPr/>
          <p:nvPr/>
        </p:nvSpPr>
        <p:spPr>
          <a:xfrm>
            <a:off x="4754880" y="749880"/>
            <a:ext cx="4204080" cy="47340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64"/>
          <p:cNvSpPr/>
          <p:nvPr/>
        </p:nvSpPr>
        <p:spPr>
          <a:xfrm>
            <a:off x="4846320" y="749880"/>
            <a:ext cx="40212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OpenSearch — Apache License 2.0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73"/>
          <p:cNvSpPr/>
          <p:nvPr/>
        </p:nvSpPr>
        <p:spPr>
          <a:xfrm>
            <a:off x="4754880" y="1325880"/>
            <a:ext cx="4204080" cy="766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74"/>
          <p:cNvSpPr/>
          <p:nvPr/>
        </p:nvSpPr>
        <p:spPr>
          <a:xfrm>
            <a:off x="4754880" y="1325880"/>
            <a:ext cx="61920" cy="7660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65"/>
          <p:cNvSpPr/>
          <p:nvPr/>
        </p:nvSpPr>
        <p:spPr>
          <a:xfrm>
            <a:off x="4937760" y="1325880"/>
            <a:ext cx="388404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Licence Apache 2.0 garantie pour toujours (engagement fondation)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75"/>
          <p:cNvSpPr/>
          <p:nvPr/>
        </p:nvSpPr>
        <p:spPr>
          <a:xfrm>
            <a:off x="4754880" y="2212920"/>
            <a:ext cx="4204080" cy="766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76"/>
          <p:cNvSpPr/>
          <p:nvPr/>
        </p:nvSpPr>
        <p:spPr>
          <a:xfrm>
            <a:off x="4754880" y="2212920"/>
            <a:ext cx="61920" cy="7660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66"/>
          <p:cNvSpPr/>
          <p:nvPr/>
        </p:nvSpPr>
        <p:spPr>
          <a:xfrm>
            <a:off x="4937760" y="2212920"/>
            <a:ext cx="388404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Sécurité, monitoring, alertes, ML : 100% gratuits et intégrés nativement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77"/>
          <p:cNvSpPr/>
          <p:nvPr/>
        </p:nvSpPr>
        <p:spPr>
          <a:xfrm>
            <a:off x="4754880" y="3099960"/>
            <a:ext cx="4204080" cy="766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78"/>
          <p:cNvSpPr/>
          <p:nvPr/>
        </p:nvSpPr>
        <p:spPr>
          <a:xfrm>
            <a:off x="4754880" y="3099960"/>
            <a:ext cx="61920" cy="7660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67"/>
          <p:cNvSpPr/>
          <p:nvPr/>
        </p:nvSpPr>
        <p:spPr>
          <a:xfrm>
            <a:off x="4937760" y="3099960"/>
            <a:ext cx="388404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Contributions ouvertes — gouvernance via OpenSearch Foundation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79"/>
          <p:cNvSpPr/>
          <p:nvPr/>
        </p:nvSpPr>
        <p:spPr>
          <a:xfrm>
            <a:off x="4754880" y="3986640"/>
            <a:ext cx="4204080" cy="766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80"/>
          <p:cNvSpPr/>
          <p:nvPr/>
        </p:nvSpPr>
        <p:spPr>
          <a:xfrm>
            <a:off x="4754880" y="3986640"/>
            <a:ext cx="61920" cy="7660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68"/>
          <p:cNvSpPr/>
          <p:nvPr/>
        </p:nvSpPr>
        <p:spPr>
          <a:xfrm>
            <a:off x="4937760" y="3986640"/>
            <a:ext cx="388404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Compatible cloud et on-premise sans restriction d'usage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Gouvernance et Écosystème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3"/>
          <p:cNvSpPr/>
          <p:nvPr/>
        </p:nvSpPr>
        <p:spPr>
          <a:xfrm>
            <a:off x="274320" y="804600"/>
            <a:ext cx="4158360" cy="173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"/>
          <p:cNvSpPr/>
          <p:nvPr/>
        </p:nvSpPr>
        <p:spPr>
          <a:xfrm>
            <a:off x="274320" y="804600"/>
            <a:ext cx="4158360" cy="363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384120" y="804600"/>
            <a:ext cx="40212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Indépendance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6"/>
          <p:cNvSpPr/>
          <p:nvPr/>
        </p:nvSpPr>
        <p:spPr>
          <a:xfrm>
            <a:off x="274320" y="1170360"/>
            <a:ext cx="61920" cy="13694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7"/>
          <p:cNvSpPr/>
          <p:nvPr/>
        </p:nvSpPr>
        <p:spPr>
          <a:xfrm>
            <a:off x="457200" y="1243440"/>
            <a:ext cx="39024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Depuis 2024, le projet est hébergé par la OpenSearch Software Foundation au sein de la Linux Foundation.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8"/>
          <p:cNvSpPr/>
          <p:nvPr/>
        </p:nvSpPr>
        <p:spPr>
          <a:xfrm>
            <a:off x="4754880" y="804600"/>
            <a:ext cx="4158360" cy="173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9"/>
          <p:cNvSpPr/>
          <p:nvPr/>
        </p:nvSpPr>
        <p:spPr>
          <a:xfrm>
            <a:off x="4754880" y="804600"/>
            <a:ext cx="4158360" cy="363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0"/>
          <p:cNvSpPr/>
          <p:nvPr/>
        </p:nvSpPr>
        <p:spPr>
          <a:xfrm>
            <a:off x="4864680" y="804600"/>
            <a:ext cx="40212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Neutralité &amp; Contributeurs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1"/>
          <p:cNvSpPr/>
          <p:nvPr/>
        </p:nvSpPr>
        <p:spPr>
          <a:xfrm>
            <a:off x="4754880" y="1170360"/>
            <a:ext cx="61920" cy="1369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12"/>
          <p:cNvSpPr/>
          <p:nvPr/>
        </p:nvSpPr>
        <p:spPr>
          <a:xfrm>
            <a:off x="4937760" y="1243440"/>
            <a:ext cx="39024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Plus de 400 organisations contributrices : SAP, Uber, Capital One… Pas de dépendance exclusive à un seul fournisseur (Vendor Lock-in).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13"/>
          <p:cNvSpPr/>
          <p:nvPr/>
        </p:nvSpPr>
        <p:spPr>
          <a:xfrm>
            <a:off x="274320" y="2724840"/>
            <a:ext cx="4158360" cy="173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14"/>
          <p:cNvSpPr/>
          <p:nvPr/>
        </p:nvSpPr>
        <p:spPr>
          <a:xfrm>
            <a:off x="274320" y="2724840"/>
            <a:ext cx="4158360" cy="363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5"/>
          <p:cNvSpPr/>
          <p:nvPr/>
        </p:nvSpPr>
        <p:spPr>
          <a:xfrm>
            <a:off x="384120" y="2724840"/>
            <a:ext cx="40212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Chiffres clés (2026)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6"/>
          <p:cNvSpPr/>
          <p:nvPr/>
        </p:nvSpPr>
        <p:spPr>
          <a:xfrm>
            <a:off x="274320" y="3090600"/>
            <a:ext cx="61920" cy="13694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7"/>
          <p:cNvSpPr/>
          <p:nvPr/>
        </p:nvSpPr>
        <p:spPr>
          <a:xfrm>
            <a:off x="457200" y="3163680"/>
            <a:ext cx="39024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Plus d'1 milliard de téléchargements cumulés. Licence Apache 2.0 immuable. Communauté active et croissante.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18"/>
          <p:cNvSpPr/>
          <p:nvPr/>
        </p:nvSpPr>
        <p:spPr>
          <a:xfrm>
            <a:off x="4754880" y="2724840"/>
            <a:ext cx="4158360" cy="173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19"/>
          <p:cNvSpPr/>
          <p:nvPr/>
        </p:nvSpPr>
        <p:spPr>
          <a:xfrm>
            <a:off x="4754880" y="2724840"/>
            <a:ext cx="4158360" cy="363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20"/>
          <p:cNvSpPr/>
          <p:nvPr/>
        </p:nvSpPr>
        <p:spPr>
          <a:xfrm>
            <a:off x="4864680" y="2724840"/>
            <a:ext cx="40212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Écosystème de Plugins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21"/>
          <p:cNvSpPr/>
          <p:nvPr/>
        </p:nvSpPr>
        <p:spPr>
          <a:xfrm>
            <a:off x="4754880" y="3090600"/>
            <a:ext cx="61920" cy="13694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22"/>
          <p:cNvSpPr/>
          <p:nvPr/>
        </p:nvSpPr>
        <p:spPr>
          <a:xfrm>
            <a:off x="4937760" y="3163680"/>
            <a:ext cx="39024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Sécurité native, alertes, gestion de l'indexation (ISM), anomaly detection, observabilité, k-NN vectoriel.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Positionnement Technologique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320040" y="777240"/>
            <a:ext cx="8501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576b"/>
                </a:solidFill>
                <a:latin typeface="Calibri"/>
                <a:ea typeface="Calibri"/>
              </a:rPr>
              <a:t>OpenSearch : au-delà de la simple recherche full-text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4"/>
          <p:cNvSpPr/>
          <p:nvPr/>
        </p:nvSpPr>
        <p:spPr>
          <a:xfrm>
            <a:off x="274320" y="1298520"/>
            <a:ext cx="4158360" cy="155232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274320" y="1298520"/>
            <a:ext cx="61920" cy="15523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6"/>
          <p:cNvSpPr/>
          <p:nvPr/>
        </p:nvSpPr>
        <p:spPr>
          <a:xfrm>
            <a:off x="274320" y="1298520"/>
            <a:ext cx="4158360" cy="345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384120" y="1298520"/>
            <a:ext cx="40212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Observabilité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8"/>
          <p:cNvSpPr/>
          <p:nvPr/>
        </p:nvSpPr>
        <p:spPr>
          <a:xfrm>
            <a:off x="457200" y="1710000"/>
            <a:ext cx="390240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Analyse de logs, traces (OpenTelemetry native) et métriques en temps réel.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9"/>
          <p:cNvSpPr/>
          <p:nvPr/>
        </p:nvSpPr>
        <p:spPr>
          <a:xfrm>
            <a:off x="4754880" y="1298520"/>
            <a:ext cx="4158360" cy="155232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0"/>
          <p:cNvSpPr/>
          <p:nvPr/>
        </p:nvSpPr>
        <p:spPr>
          <a:xfrm>
            <a:off x="4754880" y="1298520"/>
            <a:ext cx="61920" cy="15523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11"/>
          <p:cNvSpPr/>
          <p:nvPr/>
        </p:nvSpPr>
        <p:spPr>
          <a:xfrm>
            <a:off x="4754880" y="1298520"/>
            <a:ext cx="4158360" cy="3452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12"/>
          <p:cNvSpPr/>
          <p:nvPr/>
        </p:nvSpPr>
        <p:spPr>
          <a:xfrm>
            <a:off x="4864680" y="1298520"/>
            <a:ext cx="40212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IA Générative &amp; Vecteurs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4937760" y="1710000"/>
            <a:ext cx="390240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Moteur de recherche vectorielle k-NN pour RAG (Retrieval-Augmented Generation) et LLM.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274320" y="2990160"/>
            <a:ext cx="4158360" cy="155232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5"/>
          <p:cNvSpPr/>
          <p:nvPr/>
        </p:nvSpPr>
        <p:spPr>
          <a:xfrm>
            <a:off x="274320" y="2990160"/>
            <a:ext cx="61920" cy="1552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274320" y="2990160"/>
            <a:ext cx="4158360" cy="34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17"/>
          <p:cNvSpPr/>
          <p:nvPr/>
        </p:nvSpPr>
        <p:spPr>
          <a:xfrm>
            <a:off x="384120" y="2990160"/>
            <a:ext cx="40212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Sécurité &amp; SIEM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18"/>
          <p:cNvSpPr/>
          <p:nvPr/>
        </p:nvSpPr>
        <p:spPr>
          <a:xfrm>
            <a:off x="457200" y="3401640"/>
            <a:ext cx="390240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Détection d'anomalies par Machine Learning et SIEM open-source intégré.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9"/>
          <p:cNvSpPr/>
          <p:nvPr/>
        </p:nvSpPr>
        <p:spPr>
          <a:xfrm>
            <a:off x="4754880" y="2990160"/>
            <a:ext cx="4158360" cy="155232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20"/>
          <p:cNvSpPr/>
          <p:nvPr/>
        </p:nvSpPr>
        <p:spPr>
          <a:xfrm>
            <a:off x="4754880" y="2990160"/>
            <a:ext cx="61920" cy="15523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21"/>
          <p:cNvSpPr/>
          <p:nvPr/>
        </p:nvSpPr>
        <p:spPr>
          <a:xfrm>
            <a:off x="4754880" y="2990160"/>
            <a:ext cx="4158360" cy="3452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22"/>
          <p:cNvSpPr/>
          <p:nvPr/>
        </p:nvSpPr>
        <p:spPr>
          <a:xfrm>
            <a:off x="4864680" y="2990160"/>
            <a:ext cx="40212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Performance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23"/>
          <p:cNvSpPr/>
          <p:nvPr/>
        </p:nvSpPr>
        <p:spPr>
          <a:xfrm>
            <a:off x="4937760" y="3401640"/>
            <a:ext cx="390240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Optimisation continue des agrégations et stockage découplé (Searchable Snapshots).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hape 0"/>
          <p:cNvSpPr/>
          <p:nvPr/>
        </p:nvSpPr>
        <p:spPr>
          <a:xfrm>
            <a:off x="0" y="0"/>
            <a:ext cx="162360" cy="51458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411480" y="1645920"/>
            <a:ext cx="831888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Comparaison avec Elasticsearch</a:t>
            </a:r>
            <a:endParaRPr b="0" lang="fr-F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2"/>
          <p:cNvSpPr/>
          <p:nvPr/>
        </p:nvSpPr>
        <p:spPr>
          <a:xfrm>
            <a:off x="411480" y="2697480"/>
            <a:ext cx="83188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a8d4dc"/>
                </a:solidFill>
                <a:latin typeface="Calibri"/>
                <a:ea typeface="Calibri"/>
              </a:rPr>
              <a:t>Similarités · Différences · Trajectoires de versions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Similarités avec Elasticsearch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3"/>
          <p:cNvSpPr/>
          <p:nvPr/>
        </p:nvSpPr>
        <p:spPr>
          <a:xfrm>
            <a:off x="274320" y="804600"/>
            <a:ext cx="8593200" cy="7293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4"/>
          <p:cNvSpPr/>
          <p:nvPr/>
        </p:nvSpPr>
        <p:spPr>
          <a:xfrm>
            <a:off x="274320" y="804600"/>
            <a:ext cx="61920" cy="729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5"/>
          <p:cNvSpPr/>
          <p:nvPr/>
        </p:nvSpPr>
        <p:spPr>
          <a:xfrm>
            <a:off x="457200" y="850320"/>
            <a:ext cx="2558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Apache Lucene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3108960" y="868680"/>
            <a:ext cx="562140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Les deux moteurs reposent sur Apache Lucene comme bibliothèque de recherche sous-jacente. Même index inversé, même scoring BM25.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7"/>
          <p:cNvSpPr/>
          <p:nvPr/>
        </p:nvSpPr>
        <p:spPr>
          <a:xfrm>
            <a:off x="3063240" y="896040"/>
            <a:ext cx="360" cy="53028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8"/>
          <p:cNvSpPr/>
          <p:nvPr/>
        </p:nvSpPr>
        <p:spPr>
          <a:xfrm>
            <a:off x="274320" y="1645920"/>
            <a:ext cx="8593200" cy="7293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9"/>
          <p:cNvSpPr/>
          <p:nvPr/>
        </p:nvSpPr>
        <p:spPr>
          <a:xfrm>
            <a:off x="274320" y="1645920"/>
            <a:ext cx="61920" cy="729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10"/>
          <p:cNvSpPr/>
          <p:nvPr/>
        </p:nvSpPr>
        <p:spPr>
          <a:xfrm>
            <a:off x="457200" y="1691640"/>
            <a:ext cx="2558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Concepts fondamentaux identiques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11"/>
          <p:cNvSpPr/>
          <p:nvPr/>
        </p:nvSpPr>
        <p:spPr>
          <a:xfrm>
            <a:off x="3108960" y="1710000"/>
            <a:ext cx="562140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Index, document, shard, replica — les concepts de base sont rigoureusement identiques entre les deux plateformes.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12"/>
          <p:cNvSpPr/>
          <p:nvPr/>
        </p:nvSpPr>
        <p:spPr>
          <a:xfrm>
            <a:off x="3063240" y="1737360"/>
            <a:ext cx="360" cy="53028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13"/>
          <p:cNvSpPr/>
          <p:nvPr/>
        </p:nvSpPr>
        <p:spPr>
          <a:xfrm>
            <a:off x="274320" y="2487240"/>
            <a:ext cx="8593200" cy="7293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14"/>
          <p:cNvSpPr/>
          <p:nvPr/>
        </p:nvSpPr>
        <p:spPr>
          <a:xfrm>
            <a:off x="274320" y="2487240"/>
            <a:ext cx="61920" cy="729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15"/>
          <p:cNvSpPr/>
          <p:nvPr/>
        </p:nvSpPr>
        <p:spPr>
          <a:xfrm>
            <a:off x="457200" y="2532960"/>
            <a:ext cx="2558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Query DSL hérité (v7.10)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16"/>
          <p:cNvSpPr/>
          <p:nvPr/>
        </p:nvSpPr>
        <p:spPr>
          <a:xfrm>
            <a:off x="3108960" y="2551320"/>
            <a:ext cx="562140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Query DSL est quasi-identique, héritage direct de la version 7.10.2. Les requêtes, filtres et agrégations de base fonctionnent sans modification.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17"/>
          <p:cNvSpPr/>
          <p:nvPr/>
        </p:nvSpPr>
        <p:spPr>
          <a:xfrm>
            <a:off x="3063240" y="2578320"/>
            <a:ext cx="360" cy="53064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18"/>
          <p:cNvSpPr/>
          <p:nvPr/>
        </p:nvSpPr>
        <p:spPr>
          <a:xfrm>
            <a:off x="274320" y="3328560"/>
            <a:ext cx="8593200" cy="7293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19"/>
          <p:cNvSpPr/>
          <p:nvPr/>
        </p:nvSpPr>
        <p:spPr>
          <a:xfrm>
            <a:off x="274320" y="3328560"/>
            <a:ext cx="61920" cy="729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20"/>
          <p:cNvSpPr/>
          <p:nvPr/>
        </p:nvSpPr>
        <p:spPr>
          <a:xfrm>
            <a:off x="457200" y="3374280"/>
            <a:ext cx="2558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API REST compatible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21"/>
          <p:cNvSpPr/>
          <p:nvPr/>
        </p:nvSpPr>
        <p:spPr>
          <a:xfrm>
            <a:off x="3108960" y="3392280"/>
            <a:ext cx="562140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CRUD (Index/Get/Delete), Search API, Bulk API, Cat API — les endpoints REST principaux sont pleinement compatibles.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22"/>
          <p:cNvSpPr/>
          <p:nvPr/>
        </p:nvSpPr>
        <p:spPr>
          <a:xfrm>
            <a:off x="3063240" y="3419640"/>
            <a:ext cx="360" cy="53028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23"/>
          <p:cNvSpPr/>
          <p:nvPr/>
        </p:nvSpPr>
        <p:spPr>
          <a:xfrm>
            <a:off x="274320" y="4169520"/>
            <a:ext cx="8593200" cy="7293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24"/>
          <p:cNvSpPr/>
          <p:nvPr/>
        </p:nvSpPr>
        <p:spPr>
          <a:xfrm>
            <a:off x="274320" y="4169520"/>
            <a:ext cx="61920" cy="729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25"/>
          <p:cNvSpPr/>
          <p:nvPr/>
        </p:nvSpPr>
        <p:spPr>
          <a:xfrm>
            <a:off x="457200" y="4215240"/>
            <a:ext cx="2558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Ingest pipelines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26"/>
          <p:cNvSpPr/>
          <p:nvPr/>
        </p:nvSpPr>
        <p:spPr>
          <a:xfrm>
            <a:off x="3108960" y="4233600"/>
            <a:ext cx="562140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Les pipelines d'ingestion avec processors (grok, date, rename…) fonctionnent de manière identique dans les deux solutions.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27"/>
          <p:cNvSpPr/>
          <p:nvPr/>
        </p:nvSpPr>
        <p:spPr>
          <a:xfrm>
            <a:off x="3063240" y="4260960"/>
            <a:ext cx="360" cy="53028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81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Shape 82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69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Comparaison — Licences &amp; Gouvernance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83"/>
          <p:cNvSpPr/>
          <p:nvPr/>
        </p:nvSpPr>
        <p:spPr>
          <a:xfrm>
            <a:off x="274320" y="777240"/>
            <a:ext cx="2503440" cy="4003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70"/>
          <p:cNvSpPr/>
          <p:nvPr/>
        </p:nvSpPr>
        <p:spPr>
          <a:xfrm>
            <a:off x="365760" y="777240"/>
            <a:ext cx="2375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Critère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84"/>
          <p:cNvSpPr/>
          <p:nvPr/>
        </p:nvSpPr>
        <p:spPr>
          <a:xfrm>
            <a:off x="2971800" y="777240"/>
            <a:ext cx="2869200" cy="4003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71"/>
          <p:cNvSpPr/>
          <p:nvPr/>
        </p:nvSpPr>
        <p:spPr>
          <a:xfrm>
            <a:off x="3063240" y="77724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Elasticsearch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85"/>
          <p:cNvSpPr/>
          <p:nvPr/>
        </p:nvSpPr>
        <p:spPr>
          <a:xfrm>
            <a:off x="5989320" y="777240"/>
            <a:ext cx="2869200" cy="4003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72"/>
          <p:cNvSpPr/>
          <p:nvPr/>
        </p:nvSpPr>
        <p:spPr>
          <a:xfrm>
            <a:off x="6080760" y="77724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86"/>
          <p:cNvSpPr/>
          <p:nvPr/>
        </p:nvSpPr>
        <p:spPr>
          <a:xfrm>
            <a:off x="274320" y="1216080"/>
            <a:ext cx="250344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73"/>
          <p:cNvSpPr/>
          <p:nvPr/>
        </p:nvSpPr>
        <p:spPr>
          <a:xfrm>
            <a:off x="365760" y="1216080"/>
            <a:ext cx="2375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Licence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87"/>
          <p:cNvSpPr/>
          <p:nvPr/>
        </p:nvSpPr>
        <p:spPr>
          <a:xfrm>
            <a:off x="2971800" y="1216080"/>
            <a:ext cx="286920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74"/>
          <p:cNvSpPr/>
          <p:nvPr/>
        </p:nvSpPr>
        <p:spPr>
          <a:xfrm>
            <a:off x="3063240" y="121608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Elastic License 2.0 / SSPL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88"/>
          <p:cNvSpPr/>
          <p:nvPr/>
        </p:nvSpPr>
        <p:spPr>
          <a:xfrm>
            <a:off x="5989320" y="1216080"/>
            <a:ext cx="286920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 75"/>
          <p:cNvSpPr/>
          <p:nvPr/>
        </p:nvSpPr>
        <p:spPr>
          <a:xfrm>
            <a:off x="6080760" y="121608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Apache License 2.0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89"/>
          <p:cNvSpPr/>
          <p:nvPr/>
        </p:nvSpPr>
        <p:spPr>
          <a:xfrm>
            <a:off x="274320" y="1654920"/>
            <a:ext cx="250344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76"/>
          <p:cNvSpPr/>
          <p:nvPr/>
        </p:nvSpPr>
        <p:spPr>
          <a:xfrm>
            <a:off x="365760" y="1654920"/>
            <a:ext cx="2375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Propriétaire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90"/>
          <p:cNvSpPr/>
          <p:nvPr/>
        </p:nvSpPr>
        <p:spPr>
          <a:xfrm>
            <a:off x="2971800" y="1654920"/>
            <a:ext cx="286920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77"/>
          <p:cNvSpPr/>
          <p:nvPr/>
        </p:nvSpPr>
        <p:spPr>
          <a:xfrm>
            <a:off x="3063240" y="165492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Elastic N.V. (société commerciale)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91"/>
          <p:cNvSpPr/>
          <p:nvPr/>
        </p:nvSpPr>
        <p:spPr>
          <a:xfrm>
            <a:off x="5989320" y="1654920"/>
            <a:ext cx="286920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78"/>
          <p:cNvSpPr/>
          <p:nvPr/>
        </p:nvSpPr>
        <p:spPr>
          <a:xfrm>
            <a:off x="6080760" y="165492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OpenSearch Foundation (Linux Foundation)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92"/>
          <p:cNvSpPr/>
          <p:nvPr/>
        </p:nvSpPr>
        <p:spPr>
          <a:xfrm>
            <a:off x="274320" y="2094120"/>
            <a:ext cx="250344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79"/>
          <p:cNvSpPr/>
          <p:nvPr/>
        </p:nvSpPr>
        <p:spPr>
          <a:xfrm>
            <a:off x="365760" y="2094120"/>
            <a:ext cx="2375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Open Source OSI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93"/>
          <p:cNvSpPr/>
          <p:nvPr/>
        </p:nvSpPr>
        <p:spPr>
          <a:xfrm>
            <a:off x="2971800" y="2094120"/>
            <a:ext cx="286920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80"/>
          <p:cNvSpPr/>
          <p:nvPr/>
        </p:nvSpPr>
        <p:spPr>
          <a:xfrm>
            <a:off x="3063240" y="209412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Non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94"/>
          <p:cNvSpPr/>
          <p:nvPr/>
        </p:nvSpPr>
        <p:spPr>
          <a:xfrm>
            <a:off x="5989320" y="2094120"/>
            <a:ext cx="286920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81"/>
          <p:cNvSpPr/>
          <p:nvPr/>
        </p:nvSpPr>
        <p:spPr>
          <a:xfrm>
            <a:off x="6080760" y="209412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b5e20"/>
                </a:solidFill>
                <a:latin typeface="Calibri"/>
                <a:ea typeface="Calibri"/>
              </a:rPr>
              <a:t>Oui ✔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95"/>
          <p:cNvSpPr/>
          <p:nvPr/>
        </p:nvSpPr>
        <p:spPr>
          <a:xfrm>
            <a:off x="274320" y="2532960"/>
            <a:ext cx="250344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82"/>
          <p:cNvSpPr/>
          <p:nvPr/>
        </p:nvSpPr>
        <p:spPr>
          <a:xfrm>
            <a:off x="365760" y="2532960"/>
            <a:ext cx="2375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Offre Cloud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96"/>
          <p:cNvSpPr/>
          <p:nvPr/>
        </p:nvSpPr>
        <p:spPr>
          <a:xfrm>
            <a:off x="2971800" y="2532960"/>
            <a:ext cx="286920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83"/>
          <p:cNvSpPr/>
          <p:nvPr/>
        </p:nvSpPr>
        <p:spPr>
          <a:xfrm>
            <a:off x="3063240" y="253296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Elastic Cloud (payant)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97"/>
          <p:cNvSpPr/>
          <p:nvPr/>
        </p:nvSpPr>
        <p:spPr>
          <a:xfrm>
            <a:off x="5989320" y="2532960"/>
            <a:ext cx="286920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84"/>
          <p:cNvSpPr/>
          <p:nvPr/>
        </p:nvSpPr>
        <p:spPr>
          <a:xfrm>
            <a:off x="6080760" y="253296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Amazon OpenSearch Service, self-managed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98"/>
          <p:cNvSpPr/>
          <p:nvPr/>
        </p:nvSpPr>
        <p:spPr>
          <a:xfrm>
            <a:off x="274320" y="2971800"/>
            <a:ext cx="250344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85"/>
          <p:cNvSpPr/>
          <p:nvPr/>
        </p:nvSpPr>
        <p:spPr>
          <a:xfrm>
            <a:off x="365760" y="2971800"/>
            <a:ext cx="2375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Sécurité gratuite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99"/>
          <p:cNvSpPr/>
          <p:nvPr/>
        </p:nvSpPr>
        <p:spPr>
          <a:xfrm>
            <a:off x="2971800" y="2971800"/>
            <a:ext cx="286920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86"/>
          <p:cNvSpPr/>
          <p:nvPr/>
        </p:nvSpPr>
        <p:spPr>
          <a:xfrm>
            <a:off x="3063240" y="297180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Non (avant 8.x)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100"/>
          <p:cNvSpPr/>
          <p:nvPr/>
        </p:nvSpPr>
        <p:spPr>
          <a:xfrm>
            <a:off x="5989320" y="2971800"/>
            <a:ext cx="286920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87"/>
          <p:cNvSpPr/>
          <p:nvPr/>
        </p:nvSpPr>
        <p:spPr>
          <a:xfrm>
            <a:off x="6080760" y="297180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Oui — intégrée nativement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101"/>
          <p:cNvSpPr/>
          <p:nvPr/>
        </p:nvSpPr>
        <p:spPr>
          <a:xfrm>
            <a:off x="274320" y="3410640"/>
            <a:ext cx="250344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88"/>
          <p:cNvSpPr/>
          <p:nvPr/>
        </p:nvSpPr>
        <p:spPr>
          <a:xfrm>
            <a:off x="365760" y="3410640"/>
            <a:ext cx="2375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Monitoring gratuit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102"/>
          <p:cNvSpPr/>
          <p:nvPr/>
        </p:nvSpPr>
        <p:spPr>
          <a:xfrm>
            <a:off x="2971800" y="3410640"/>
            <a:ext cx="286920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89"/>
          <p:cNvSpPr/>
          <p:nvPr/>
        </p:nvSpPr>
        <p:spPr>
          <a:xfrm>
            <a:off x="3063240" y="341064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Non (payant X-Pack)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103"/>
          <p:cNvSpPr/>
          <p:nvPr/>
        </p:nvSpPr>
        <p:spPr>
          <a:xfrm>
            <a:off x="5989320" y="3410640"/>
            <a:ext cx="2869200" cy="400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90"/>
          <p:cNvSpPr/>
          <p:nvPr/>
        </p:nvSpPr>
        <p:spPr>
          <a:xfrm>
            <a:off x="6080760" y="341064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Oui — Performance Analyzer inclus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104"/>
          <p:cNvSpPr/>
          <p:nvPr/>
        </p:nvSpPr>
        <p:spPr>
          <a:xfrm>
            <a:off x="274320" y="3849480"/>
            <a:ext cx="250344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91"/>
          <p:cNvSpPr/>
          <p:nvPr/>
        </p:nvSpPr>
        <p:spPr>
          <a:xfrm>
            <a:off x="365760" y="3849480"/>
            <a:ext cx="2375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Machine Learning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105"/>
          <p:cNvSpPr/>
          <p:nvPr/>
        </p:nvSpPr>
        <p:spPr>
          <a:xfrm>
            <a:off x="2971800" y="3849480"/>
            <a:ext cx="286920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92"/>
          <p:cNvSpPr/>
          <p:nvPr/>
        </p:nvSpPr>
        <p:spPr>
          <a:xfrm>
            <a:off x="3063240" y="384948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Payant (Platinum)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106"/>
          <p:cNvSpPr/>
          <p:nvPr/>
        </p:nvSpPr>
        <p:spPr>
          <a:xfrm>
            <a:off x="5989320" y="3849480"/>
            <a:ext cx="2869200" cy="4003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93"/>
          <p:cNvSpPr/>
          <p:nvPr/>
        </p:nvSpPr>
        <p:spPr>
          <a:xfrm>
            <a:off x="6080760" y="3849480"/>
            <a:ext cx="27410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Oui — ML intégré gratuit (depuis 2.x)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2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Shape 107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94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Comparaison — APIs &amp; Compatibilité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108"/>
          <p:cNvSpPr/>
          <p:nvPr/>
        </p:nvSpPr>
        <p:spPr>
          <a:xfrm>
            <a:off x="274320" y="749880"/>
            <a:ext cx="2503440" cy="372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95"/>
          <p:cNvSpPr/>
          <p:nvPr/>
        </p:nvSpPr>
        <p:spPr>
          <a:xfrm>
            <a:off x="365760" y="74988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API / Fonctionnalité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09"/>
          <p:cNvSpPr/>
          <p:nvPr/>
        </p:nvSpPr>
        <p:spPr>
          <a:xfrm>
            <a:off x="2971800" y="749880"/>
            <a:ext cx="2869200" cy="372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96"/>
          <p:cNvSpPr/>
          <p:nvPr/>
        </p:nvSpPr>
        <p:spPr>
          <a:xfrm>
            <a:off x="3063240" y="74988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Elasticsearch 8.x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10"/>
          <p:cNvSpPr/>
          <p:nvPr/>
        </p:nvSpPr>
        <p:spPr>
          <a:xfrm>
            <a:off x="5989320" y="749880"/>
            <a:ext cx="2869200" cy="372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 97"/>
          <p:cNvSpPr/>
          <p:nvPr/>
        </p:nvSpPr>
        <p:spPr>
          <a:xfrm>
            <a:off x="6080760" y="74988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OpenSearch 2.x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11"/>
          <p:cNvSpPr/>
          <p:nvPr/>
        </p:nvSpPr>
        <p:spPr>
          <a:xfrm>
            <a:off x="274320" y="1152000"/>
            <a:ext cx="250344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98"/>
          <p:cNvSpPr/>
          <p:nvPr/>
        </p:nvSpPr>
        <p:spPr>
          <a:xfrm>
            <a:off x="365760" y="115200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Query DSL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112"/>
          <p:cNvSpPr/>
          <p:nvPr/>
        </p:nvSpPr>
        <p:spPr>
          <a:xfrm>
            <a:off x="2971800" y="115200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99"/>
          <p:cNvSpPr/>
          <p:nvPr/>
        </p:nvSpPr>
        <p:spPr>
          <a:xfrm>
            <a:off x="3063240" y="115200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Identique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113"/>
          <p:cNvSpPr/>
          <p:nvPr/>
        </p:nvSpPr>
        <p:spPr>
          <a:xfrm>
            <a:off x="5989320" y="115200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100"/>
          <p:cNvSpPr/>
          <p:nvPr/>
        </p:nvSpPr>
        <p:spPr>
          <a:xfrm>
            <a:off x="6080760" y="115200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Identique ✔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114"/>
          <p:cNvSpPr/>
          <p:nvPr/>
        </p:nvSpPr>
        <p:spPr>
          <a:xfrm>
            <a:off x="274320" y="1554480"/>
            <a:ext cx="250344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101"/>
          <p:cNvSpPr/>
          <p:nvPr/>
        </p:nvSpPr>
        <p:spPr>
          <a:xfrm>
            <a:off x="365760" y="155448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REST API CRUD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115"/>
          <p:cNvSpPr/>
          <p:nvPr/>
        </p:nvSpPr>
        <p:spPr>
          <a:xfrm>
            <a:off x="2971800" y="1554480"/>
            <a:ext cx="286920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102"/>
          <p:cNvSpPr/>
          <p:nvPr/>
        </p:nvSpPr>
        <p:spPr>
          <a:xfrm>
            <a:off x="3063240" y="155448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Identique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116"/>
          <p:cNvSpPr/>
          <p:nvPr/>
        </p:nvSpPr>
        <p:spPr>
          <a:xfrm>
            <a:off x="5989320" y="1554480"/>
            <a:ext cx="286920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103"/>
          <p:cNvSpPr/>
          <p:nvPr/>
        </p:nvSpPr>
        <p:spPr>
          <a:xfrm>
            <a:off x="6080760" y="155448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Identique ✔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117"/>
          <p:cNvSpPr/>
          <p:nvPr/>
        </p:nvSpPr>
        <p:spPr>
          <a:xfrm>
            <a:off x="274320" y="1956960"/>
            <a:ext cx="250344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104"/>
          <p:cNvSpPr/>
          <p:nvPr/>
        </p:nvSpPr>
        <p:spPr>
          <a:xfrm>
            <a:off x="365760" y="195696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Index API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18"/>
          <p:cNvSpPr/>
          <p:nvPr/>
        </p:nvSpPr>
        <p:spPr>
          <a:xfrm>
            <a:off x="2971800" y="195696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105"/>
          <p:cNvSpPr/>
          <p:nvPr/>
        </p:nvSpPr>
        <p:spPr>
          <a:xfrm>
            <a:off x="3063240" y="195696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Identique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19"/>
          <p:cNvSpPr/>
          <p:nvPr/>
        </p:nvSpPr>
        <p:spPr>
          <a:xfrm>
            <a:off x="5989320" y="195696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106"/>
          <p:cNvSpPr/>
          <p:nvPr/>
        </p:nvSpPr>
        <p:spPr>
          <a:xfrm>
            <a:off x="6080760" y="195696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Identique ✔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20"/>
          <p:cNvSpPr/>
          <p:nvPr/>
        </p:nvSpPr>
        <p:spPr>
          <a:xfrm>
            <a:off x="274320" y="2359080"/>
            <a:ext cx="250344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107"/>
          <p:cNvSpPr/>
          <p:nvPr/>
        </p:nvSpPr>
        <p:spPr>
          <a:xfrm>
            <a:off x="365760" y="235908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Agrégations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21"/>
          <p:cNvSpPr/>
          <p:nvPr/>
        </p:nvSpPr>
        <p:spPr>
          <a:xfrm>
            <a:off x="2971800" y="2359080"/>
            <a:ext cx="286920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108"/>
          <p:cNvSpPr/>
          <p:nvPr/>
        </p:nvSpPr>
        <p:spPr>
          <a:xfrm>
            <a:off x="3063240" y="235908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Identique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122"/>
          <p:cNvSpPr/>
          <p:nvPr/>
        </p:nvSpPr>
        <p:spPr>
          <a:xfrm>
            <a:off x="5989320" y="2359080"/>
            <a:ext cx="286920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109"/>
          <p:cNvSpPr/>
          <p:nvPr/>
        </p:nvSpPr>
        <p:spPr>
          <a:xfrm>
            <a:off x="6080760" y="235908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Identique ✔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123"/>
          <p:cNvSpPr/>
          <p:nvPr/>
        </p:nvSpPr>
        <p:spPr>
          <a:xfrm>
            <a:off x="274320" y="2761560"/>
            <a:ext cx="250344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110"/>
          <p:cNvSpPr/>
          <p:nvPr/>
        </p:nvSpPr>
        <p:spPr>
          <a:xfrm>
            <a:off x="365760" y="276156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Sécurité (TLS, RBAC)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124"/>
          <p:cNvSpPr/>
          <p:nvPr/>
        </p:nvSpPr>
        <p:spPr>
          <a:xfrm>
            <a:off x="2971800" y="276156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111"/>
          <p:cNvSpPr/>
          <p:nvPr/>
        </p:nvSpPr>
        <p:spPr>
          <a:xfrm>
            <a:off x="3063240" y="276156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X-Pack payant / inclus 8.x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125"/>
          <p:cNvSpPr/>
          <p:nvPr/>
        </p:nvSpPr>
        <p:spPr>
          <a:xfrm>
            <a:off x="5989320" y="276156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112"/>
          <p:cNvSpPr/>
          <p:nvPr/>
        </p:nvSpPr>
        <p:spPr>
          <a:xfrm>
            <a:off x="6080760" y="276156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Plugin Security —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126"/>
          <p:cNvSpPr/>
          <p:nvPr/>
        </p:nvSpPr>
        <p:spPr>
          <a:xfrm>
            <a:off x="274320" y="3163680"/>
            <a:ext cx="250344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113"/>
          <p:cNvSpPr/>
          <p:nvPr/>
        </p:nvSpPr>
        <p:spPr>
          <a:xfrm>
            <a:off x="365760" y="316368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Index State Mgmt (ISM)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27"/>
          <p:cNvSpPr/>
          <p:nvPr/>
        </p:nvSpPr>
        <p:spPr>
          <a:xfrm>
            <a:off x="2971800" y="3163680"/>
            <a:ext cx="286920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114"/>
          <p:cNvSpPr/>
          <p:nvPr/>
        </p:nvSpPr>
        <p:spPr>
          <a:xfrm>
            <a:off x="3063240" y="316368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ILM (Elastic)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128"/>
          <p:cNvSpPr/>
          <p:nvPr/>
        </p:nvSpPr>
        <p:spPr>
          <a:xfrm>
            <a:off x="5989320" y="3163680"/>
            <a:ext cx="286920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115"/>
          <p:cNvSpPr/>
          <p:nvPr/>
        </p:nvSpPr>
        <p:spPr>
          <a:xfrm>
            <a:off x="6080760" y="316368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ISM — équivalent libre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129"/>
          <p:cNvSpPr/>
          <p:nvPr/>
        </p:nvSpPr>
        <p:spPr>
          <a:xfrm>
            <a:off x="274320" y="3566160"/>
            <a:ext cx="250344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116"/>
          <p:cNvSpPr/>
          <p:nvPr/>
        </p:nvSpPr>
        <p:spPr>
          <a:xfrm>
            <a:off x="365760" y="356616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Alerting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130"/>
          <p:cNvSpPr/>
          <p:nvPr/>
        </p:nvSpPr>
        <p:spPr>
          <a:xfrm>
            <a:off x="2971800" y="356616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117"/>
          <p:cNvSpPr/>
          <p:nvPr/>
        </p:nvSpPr>
        <p:spPr>
          <a:xfrm>
            <a:off x="3063240" y="356616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Watcher (payant avant)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131"/>
          <p:cNvSpPr/>
          <p:nvPr/>
        </p:nvSpPr>
        <p:spPr>
          <a:xfrm>
            <a:off x="5989320" y="356616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118"/>
          <p:cNvSpPr/>
          <p:nvPr/>
        </p:nvSpPr>
        <p:spPr>
          <a:xfrm>
            <a:off x="6080760" y="356616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Alerting Plugin —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132"/>
          <p:cNvSpPr/>
          <p:nvPr/>
        </p:nvSpPr>
        <p:spPr>
          <a:xfrm>
            <a:off x="274320" y="3968640"/>
            <a:ext cx="250344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119"/>
          <p:cNvSpPr/>
          <p:nvPr/>
        </p:nvSpPr>
        <p:spPr>
          <a:xfrm>
            <a:off x="365760" y="396864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SQL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133"/>
          <p:cNvSpPr/>
          <p:nvPr/>
        </p:nvSpPr>
        <p:spPr>
          <a:xfrm>
            <a:off x="2971800" y="3968640"/>
            <a:ext cx="286920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120"/>
          <p:cNvSpPr/>
          <p:nvPr/>
        </p:nvSpPr>
        <p:spPr>
          <a:xfrm>
            <a:off x="3063240" y="396864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Payant (X-Pack)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134"/>
          <p:cNvSpPr/>
          <p:nvPr/>
        </p:nvSpPr>
        <p:spPr>
          <a:xfrm>
            <a:off x="5989320" y="3968640"/>
            <a:ext cx="2869200" cy="372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121"/>
          <p:cNvSpPr/>
          <p:nvPr/>
        </p:nvSpPr>
        <p:spPr>
          <a:xfrm>
            <a:off x="6080760" y="396864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SQL Plugin —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35"/>
          <p:cNvSpPr/>
          <p:nvPr/>
        </p:nvSpPr>
        <p:spPr>
          <a:xfrm>
            <a:off x="274320" y="4370760"/>
            <a:ext cx="250344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 122"/>
          <p:cNvSpPr/>
          <p:nvPr/>
        </p:nvSpPr>
        <p:spPr>
          <a:xfrm>
            <a:off x="365760" y="4370760"/>
            <a:ext cx="2375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k-NN / Vectoriel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136"/>
          <p:cNvSpPr/>
          <p:nvPr/>
        </p:nvSpPr>
        <p:spPr>
          <a:xfrm>
            <a:off x="2971800" y="437076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123"/>
          <p:cNvSpPr/>
          <p:nvPr/>
        </p:nvSpPr>
        <p:spPr>
          <a:xfrm>
            <a:off x="3063240" y="437076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ESANN (payant)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137"/>
          <p:cNvSpPr/>
          <p:nvPr/>
        </p:nvSpPr>
        <p:spPr>
          <a:xfrm>
            <a:off x="5989320" y="4370760"/>
            <a:ext cx="2869200" cy="372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124"/>
          <p:cNvSpPr/>
          <p:nvPr/>
        </p:nvSpPr>
        <p:spPr>
          <a:xfrm>
            <a:off x="6080760" y="4370760"/>
            <a:ext cx="274104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k-NN Plugin —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138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Shape 139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125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Versions &amp; Compatibilité — Référence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 126"/>
          <p:cNvSpPr/>
          <p:nvPr/>
        </p:nvSpPr>
        <p:spPr>
          <a:xfrm>
            <a:off x="365760" y="777240"/>
            <a:ext cx="8410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Point de départ commun : Elasticsearch 7.10.2 (open source, jan 2021)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140"/>
          <p:cNvSpPr/>
          <p:nvPr/>
        </p:nvSpPr>
        <p:spPr>
          <a:xfrm>
            <a:off x="365760" y="1261800"/>
            <a:ext cx="4112640" cy="3636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127"/>
          <p:cNvSpPr/>
          <p:nvPr/>
        </p:nvSpPr>
        <p:spPr>
          <a:xfrm>
            <a:off x="457200" y="1261800"/>
            <a:ext cx="3929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Elasticsearch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141"/>
          <p:cNvSpPr/>
          <p:nvPr/>
        </p:nvSpPr>
        <p:spPr>
          <a:xfrm>
            <a:off x="365760" y="1737360"/>
            <a:ext cx="4112640" cy="8208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42"/>
          <p:cNvSpPr/>
          <p:nvPr/>
        </p:nvSpPr>
        <p:spPr>
          <a:xfrm>
            <a:off x="365760" y="1737360"/>
            <a:ext cx="61920" cy="8208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 128"/>
          <p:cNvSpPr/>
          <p:nvPr/>
        </p:nvSpPr>
        <p:spPr>
          <a:xfrm>
            <a:off x="548640" y="1792080"/>
            <a:ext cx="3792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ES 7.10 (jan 2021)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129"/>
          <p:cNvSpPr/>
          <p:nvPr/>
        </p:nvSpPr>
        <p:spPr>
          <a:xfrm>
            <a:off x="548640" y="2139840"/>
            <a:ext cx="37926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Dernier commit open source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43"/>
          <p:cNvSpPr/>
          <p:nvPr/>
        </p:nvSpPr>
        <p:spPr>
          <a:xfrm>
            <a:off x="365760" y="2697480"/>
            <a:ext cx="4112640" cy="8208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44"/>
          <p:cNvSpPr/>
          <p:nvPr/>
        </p:nvSpPr>
        <p:spPr>
          <a:xfrm>
            <a:off x="365760" y="2697480"/>
            <a:ext cx="61920" cy="8208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 130"/>
          <p:cNvSpPr/>
          <p:nvPr/>
        </p:nvSpPr>
        <p:spPr>
          <a:xfrm>
            <a:off x="548640" y="2752200"/>
            <a:ext cx="3792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ES 7.11+ (fév 2021)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 131"/>
          <p:cNvSpPr/>
          <p:nvPr/>
        </p:nvSpPr>
        <p:spPr>
          <a:xfrm>
            <a:off x="548640" y="3099960"/>
            <a:ext cx="37926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Passage à Elastic License 2.0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145"/>
          <p:cNvSpPr/>
          <p:nvPr/>
        </p:nvSpPr>
        <p:spPr>
          <a:xfrm>
            <a:off x="365760" y="3657600"/>
            <a:ext cx="4112640" cy="8208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46"/>
          <p:cNvSpPr/>
          <p:nvPr/>
        </p:nvSpPr>
        <p:spPr>
          <a:xfrm>
            <a:off x="365760" y="3657600"/>
            <a:ext cx="61920" cy="8208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132"/>
          <p:cNvSpPr/>
          <p:nvPr/>
        </p:nvSpPr>
        <p:spPr>
          <a:xfrm>
            <a:off x="548640" y="3712320"/>
            <a:ext cx="3792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ES 8.x (2022+)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133"/>
          <p:cNvSpPr/>
          <p:nvPr/>
        </p:nvSpPr>
        <p:spPr>
          <a:xfrm>
            <a:off x="548640" y="4060080"/>
            <a:ext cx="37926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Sécurité activée par défaut, API breaking changes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147"/>
          <p:cNvSpPr/>
          <p:nvPr/>
        </p:nvSpPr>
        <p:spPr>
          <a:xfrm>
            <a:off x="4754880" y="1261800"/>
            <a:ext cx="4112640" cy="363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 134"/>
          <p:cNvSpPr/>
          <p:nvPr/>
        </p:nvSpPr>
        <p:spPr>
          <a:xfrm>
            <a:off x="4846320" y="1261800"/>
            <a:ext cx="3929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148"/>
          <p:cNvSpPr/>
          <p:nvPr/>
        </p:nvSpPr>
        <p:spPr>
          <a:xfrm>
            <a:off x="4754880" y="1737360"/>
            <a:ext cx="4112640" cy="8208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149"/>
          <p:cNvSpPr/>
          <p:nvPr/>
        </p:nvSpPr>
        <p:spPr>
          <a:xfrm>
            <a:off x="4754880" y="1737360"/>
            <a:ext cx="61920" cy="820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Text 135"/>
          <p:cNvSpPr/>
          <p:nvPr/>
        </p:nvSpPr>
        <p:spPr>
          <a:xfrm>
            <a:off x="4937760" y="1792080"/>
            <a:ext cx="3792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OS 1.0 (juil 2021)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136"/>
          <p:cNvSpPr/>
          <p:nvPr/>
        </p:nvSpPr>
        <p:spPr>
          <a:xfrm>
            <a:off x="4937760" y="2139840"/>
            <a:ext cx="37926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Fork ES 7.10, sécurité intégrée gratuite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150"/>
          <p:cNvSpPr/>
          <p:nvPr/>
        </p:nvSpPr>
        <p:spPr>
          <a:xfrm>
            <a:off x="4754880" y="2697480"/>
            <a:ext cx="4112640" cy="8208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151"/>
          <p:cNvSpPr/>
          <p:nvPr/>
        </p:nvSpPr>
        <p:spPr>
          <a:xfrm>
            <a:off x="4754880" y="2697480"/>
            <a:ext cx="61920" cy="820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 137"/>
          <p:cNvSpPr/>
          <p:nvPr/>
        </p:nvSpPr>
        <p:spPr>
          <a:xfrm>
            <a:off x="4937760" y="2752200"/>
            <a:ext cx="3792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OS 1.x (2021-2022)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138"/>
          <p:cNvSpPr/>
          <p:nvPr/>
        </p:nvSpPr>
        <p:spPr>
          <a:xfrm>
            <a:off x="4937760" y="3099960"/>
            <a:ext cx="37926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Stabilisation, plugins, Dashboards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152"/>
          <p:cNvSpPr/>
          <p:nvPr/>
        </p:nvSpPr>
        <p:spPr>
          <a:xfrm>
            <a:off x="4754880" y="3657600"/>
            <a:ext cx="4112640" cy="8208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53"/>
          <p:cNvSpPr/>
          <p:nvPr/>
        </p:nvSpPr>
        <p:spPr>
          <a:xfrm>
            <a:off x="4754880" y="3657600"/>
            <a:ext cx="61920" cy="82080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 139"/>
          <p:cNvSpPr/>
          <p:nvPr/>
        </p:nvSpPr>
        <p:spPr>
          <a:xfrm>
            <a:off x="4937760" y="3712320"/>
            <a:ext cx="3792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OS 2.x (2022+)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140"/>
          <p:cNvSpPr/>
          <p:nvPr/>
        </p:nvSpPr>
        <p:spPr>
          <a:xfrm>
            <a:off x="4937760" y="4060080"/>
            <a:ext cx="37926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Améliorations ML, ISM, alerting, k-NN, SQL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0"/>
          <p:cNvSpPr/>
          <p:nvPr/>
        </p:nvSpPr>
        <p:spPr>
          <a:xfrm>
            <a:off x="0" y="0"/>
            <a:ext cx="162360" cy="51458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1"/>
          <p:cNvSpPr/>
          <p:nvPr/>
        </p:nvSpPr>
        <p:spPr>
          <a:xfrm>
            <a:off x="411480" y="1645920"/>
            <a:ext cx="831888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Composants principaux</a:t>
            </a:r>
            <a:endParaRPr b="0" lang="fr-F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411480" y="2697480"/>
            <a:ext cx="83188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a8d4dc"/>
                </a:solidFill>
                <a:latin typeface="Calibri"/>
                <a:ea typeface="Calibri"/>
              </a:rPr>
              <a:t>OpenSearch · Dashboards · Plugins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154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Shape 155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 141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La pile OpenSearch — Vue d'ensemble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156"/>
          <p:cNvSpPr/>
          <p:nvPr/>
        </p:nvSpPr>
        <p:spPr>
          <a:xfrm>
            <a:off x="274320" y="804600"/>
            <a:ext cx="1460880" cy="8024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142"/>
          <p:cNvSpPr/>
          <p:nvPr/>
        </p:nvSpPr>
        <p:spPr>
          <a:xfrm>
            <a:off x="292680" y="804600"/>
            <a:ext cx="1415160" cy="8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 &amp; Gestion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157"/>
          <p:cNvSpPr/>
          <p:nvPr/>
        </p:nvSpPr>
        <p:spPr>
          <a:xfrm>
            <a:off x="1874520" y="804600"/>
            <a:ext cx="6947280" cy="802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158"/>
          <p:cNvSpPr/>
          <p:nvPr/>
        </p:nvSpPr>
        <p:spPr>
          <a:xfrm>
            <a:off x="1874520" y="804600"/>
            <a:ext cx="61920" cy="8024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 143"/>
          <p:cNvSpPr/>
          <p:nvPr/>
        </p:nvSpPr>
        <p:spPr>
          <a:xfrm>
            <a:off x="2030040" y="859680"/>
            <a:ext cx="6581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OpenSearch Dashboards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144"/>
          <p:cNvSpPr/>
          <p:nvPr/>
        </p:nvSpPr>
        <p:spPr>
          <a:xfrm>
            <a:off x="2030040" y="1216080"/>
            <a:ext cx="6581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Kibana fork — tableaux de bord, DevTools, Index Management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159"/>
          <p:cNvSpPr/>
          <p:nvPr/>
        </p:nvSpPr>
        <p:spPr>
          <a:xfrm>
            <a:off x="274320" y="1764720"/>
            <a:ext cx="1460880" cy="8024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 145"/>
          <p:cNvSpPr/>
          <p:nvPr/>
        </p:nvSpPr>
        <p:spPr>
          <a:xfrm>
            <a:off x="292680" y="1764720"/>
            <a:ext cx="1415160" cy="8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Stockage, Recherche &amp; Analyse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160"/>
          <p:cNvSpPr/>
          <p:nvPr/>
        </p:nvSpPr>
        <p:spPr>
          <a:xfrm>
            <a:off x="1874520" y="1764720"/>
            <a:ext cx="6947280" cy="802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161"/>
          <p:cNvSpPr/>
          <p:nvPr/>
        </p:nvSpPr>
        <p:spPr>
          <a:xfrm>
            <a:off x="1874520" y="1764720"/>
            <a:ext cx="61920" cy="8024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146"/>
          <p:cNvSpPr/>
          <p:nvPr/>
        </p:nvSpPr>
        <p:spPr>
          <a:xfrm>
            <a:off x="2030040" y="1819800"/>
            <a:ext cx="6581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OpenSearch (moteur)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147"/>
          <p:cNvSpPr/>
          <p:nvPr/>
        </p:nvSpPr>
        <p:spPr>
          <a:xfrm>
            <a:off x="2030040" y="2176200"/>
            <a:ext cx="6581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Base documentaire distribuée — API REST — Query DSL — Lucene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162"/>
          <p:cNvSpPr/>
          <p:nvPr/>
        </p:nvSpPr>
        <p:spPr>
          <a:xfrm>
            <a:off x="274320" y="2724840"/>
            <a:ext cx="1460880" cy="802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 148"/>
          <p:cNvSpPr/>
          <p:nvPr/>
        </p:nvSpPr>
        <p:spPr>
          <a:xfrm>
            <a:off x="292680" y="2724840"/>
            <a:ext cx="1415160" cy="8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Ingestion de données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163"/>
          <p:cNvSpPr/>
          <p:nvPr/>
        </p:nvSpPr>
        <p:spPr>
          <a:xfrm>
            <a:off x="1874520" y="2724840"/>
            <a:ext cx="6947280" cy="802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164"/>
          <p:cNvSpPr/>
          <p:nvPr/>
        </p:nvSpPr>
        <p:spPr>
          <a:xfrm>
            <a:off x="1874520" y="2724840"/>
            <a:ext cx="61920" cy="802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 149"/>
          <p:cNvSpPr/>
          <p:nvPr/>
        </p:nvSpPr>
        <p:spPr>
          <a:xfrm>
            <a:off x="2030040" y="2779920"/>
            <a:ext cx="6581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Data Prepper  ·  Logstash (compatible)  ·  OpenTelemetry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 150"/>
          <p:cNvSpPr/>
          <p:nvPr/>
        </p:nvSpPr>
        <p:spPr>
          <a:xfrm>
            <a:off x="2030040" y="3136320"/>
            <a:ext cx="6581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Pipelines d'ingestion, transformation et enrichissement des données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165"/>
          <p:cNvSpPr/>
          <p:nvPr/>
        </p:nvSpPr>
        <p:spPr>
          <a:xfrm>
            <a:off x="274320" y="3684960"/>
            <a:ext cx="1460880" cy="802440"/>
          </a:xfrm>
          <a:prstGeom prst="rect">
            <a:avLst/>
          </a:prstGeom>
          <a:solidFill>
            <a:srgbClr val="4a748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Text 151"/>
          <p:cNvSpPr/>
          <p:nvPr/>
        </p:nvSpPr>
        <p:spPr>
          <a:xfrm>
            <a:off x="292680" y="3684960"/>
            <a:ext cx="1415160" cy="8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Collecte &amp; Agents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166"/>
          <p:cNvSpPr/>
          <p:nvPr/>
        </p:nvSpPr>
        <p:spPr>
          <a:xfrm>
            <a:off x="1874520" y="3684960"/>
            <a:ext cx="6947280" cy="802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67"/>
          <p:cNvSpPr/>
          <p:nvPr/>
        </p:nvSpPr>
        <p:spPr>
          <a:xfrm>
            <a:off x="1874520" y="3684960"/>
            <a:ext cx="61920" cy="802440"/>
          </a:xfrm>
          <a:prstGeom prst="rect">
            <a:avLst/>
          </a:prstGeom>
          <a:solidFill>
            <a:srgbClr val="4a748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 152"/>
          <p:cNvSpPr/>
          <p:nvPr/>
        </p:nvSpPr>
        <p:spPr>
          <a:xfrm>
            <a:off x="2030040" y="3740040"/>
            <a:ext cx="6581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Beats (compatibles)  ·  Fluent Bit  ·  Agents OTel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153"/>
          <p:cNvSpPr/>
          <p:nvPr/>
        </p:nvSpPr>
        <p:spPr>
          <a:xfrm>
            <a:off x="2030040" y="4096440"/>
            <a:ext cx="6581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Collecte logs, métriques, traces aux sources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Shape 168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Shape 169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154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OpenSearch — Caractéristiques principales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170"/>
          <p:cNvSpPr/>
          <p:nvPr/>
        </p:nvSpPr>
        <p:spPr>
          <a:xfrm>
            <a:off x="274320" y="822960"/>
            <a:ext cx="4158360" cy="1095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171"/>
          <p:cNvSpPr/>
          <p:nvPr/>
        </p:nvSpPr>
        <p:spPr>
          <a:xfrm>
            <a:off x="274320" y="822960"/>
            <a:ext cx="61920" cy="10951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Shape 172"/>
          <p:cNvSpPr/>
          <p:nvPr/>
        </p:nvSpPr>
        <p:spPr>
          <a:xfrm>
            <a:off x="274320" y="822960"/>
            <a:ext cx="4158360" cy="3452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155"/>
          <p:cNvSpPr/>
          <p:nvPr/>
        </p:nvSpPr>
        <p:spPr>
          <a:xfrm>
            <a:off x="384120" y="82296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Distribué &amp; Scalable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 156"/>
          <p:cNvSpPr/>
          <p:nvPr/>
        </p:nvSpPr>
        <p:spPr>
          <a:xfrm>
            <a:off x="384120" y="1225440"/>
            <a:ext cx="39297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Architecture massivement distribuée basée sur Lucene. Scaling horizontal natif — adapté au Big Data.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73"/>
          <p:cNvSpPr/>
          <p:nvPr/>
        </p:nvSpPr>
        <p:spPr>
          <a:xfrm>
            <a:off x="4754880" y="822960"/>
            <a:ext cx="4158360" cy="1095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174"/>
          <p:cNvSpPr/>
          <p:nvPr/>
        </p:nvSpPr>
        <p:spPr>
          <a:xfrm>
            <a:off x="4754880" y="822960"/>
            <a:ext cx="61920" cy="10951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Shape 175"/>
          <p:cNvSpPr/>
          <p:nvPr/>
        </p:nvSpPr>
        <p:spPr>
          <a:xfrm>
            <a:off x="4754880" y="822960"/>
            <a:ext cx="4158360" cy="3452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 157"/>
          <p:cNvSpPr/>
          <p:nvPr/>
        </p:nvSpPr>
        <p:spPr>
          <a:xfrm>
            <a:off x="4864680" y="82296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Haute disponibilité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 158"/>
          <p:cNvSpPr/>
          <p:nvPr/>
        </p:nvSpPr>
        <p:spPr>
          <a:xfrm>
            <a:off x="4864680" y="1225440"/>
            <a:ext cx="39297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Réplication des shards sur plusieurs nœuds. Tolérance aux pannes sans interruption de service.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76"/>
          <p:cNvSpPr/>
          <p:nvPr/>
        </p:nvSpPr>
        <p:spPr>
          <a:xfrm>
            <a:off x="274320" y="2121480"/>
            <a:ext cx="4158360" cy="1095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77"/>
          <p:cNvSpPr/>
          <p:nvPr/>
        </p:nvSpPr>
        <p:spPr>
          <a:xfrm>
            <a:off x="274320" y="2121480"/>
            <a:ext cx="61920" cy="10951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Shape 178"/>
          <p:cNvSpPr/>
          <p:nvPr/>
        </p:nvSpPr>
        <p:spPr>
          <a:xfrm>
            <a:off x="274320" y="2121480"/>
            <a:ext cx="4158360" cy="3452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 159"/>
          <p:cNvSpPr/>
          <p:nvPr/>
        </p:nvSpPr>
        <p:spPr>
          <a:xfrm>
            <a:off x="384120" y="212148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Sécurité native gratuite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160"/>
          <p:cNvSpPr/>
          <p:nvPr/>
        </p:nvSpPr>
        <p:spPr>
          <a:xfrm>
            <a:off x="384120" y="2523600"/>
            <a:ext cx="39297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TLS, authentification, RBAC, audit logs — inclus sans licence supplémentaire.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179"/>
          <p:cNvSpPr/>
          <p:nvPr/>
        </p:nvSpPr>
        <p:spPr>
          <a:xfrm>
            <a:off x="4754880" y="2121480"/>
            <a:ext cx="4158360" cy="1095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180"/>
          <p:cNvSpPr/>
          <p:nvPr/>
        </p:nvSpPr>
        <p:spPr>
          <a:xfrm>
            <a:off x="4754880" y="2121480"/>
            <a:ext cx="61920" cy="10951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Shape 181"/>
          <p:cNvSpPr/>
          <p:nvPr/>
        </p:nvSpPr>
        <p:spPr>
          <a:xfrm>
            <a:off x="4754880" y="2121480"/>
            <a:ext cx="4158360" cy="3452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 161"/>
          <p:cNvSpPr/>
          <p:nvPr/>
        </p:nvSpPr>
        <p:spPr>
          <a:xfrm>
            <a:off x="4864680" y="212148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Query DSL complet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 162"/>
          <p:cNvSpPr/>
          <p:nvPr/>
        </p:nvSpPr>
        <p:spPr>
          <a:xfrm>
            <a:off x="4864680" y="2523600"/>
            <a:ext cx="39297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Recherche exacte, full-text, vectorielle (k-NN), géolocalisation, agrégations complexes.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182"/>
          <p:cNvSpPr/>
          <p:nvPr/>
        </p:nvSpPr>
        <p:spPr>
          <a:xfrm>
            <a:off x="274320" y="3420000"/>
            <a:ext cx="4158360" cy="1095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183"/>
          <p:cNvSpPr/>
          <p:nvPr/>
        </p:nvSpPr>
        <p:spPr>
          <a:xfrm>
            <a:off x="274320" y="3420000"/>
            <a:ext cx="61920" cy="10951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Shape 184"/>
          <p:cNvSpPr/>
          <p:nvPr/>
        </p:nvSpPr>
        <p:spPr>
          <a:xfrm>
            <a:off x="274320" y="3420000"/>
            <a:ext cx="4158360" cy="3452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Text 163"/>
          <p:cNvSpPr/>
          <p:nvPr/>
        </p:nvSpPr>
        <p:spPr>
          <a:xfrm>
            <a:off x="384120" y="342000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API REST cohérente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164"/>
          <p:cNvSpPr/>
          <p:nvPr/>
        </p:nvSpPr>
        <p:spPr>
          <a:xfrm>
            <a:off x="384120" y="3822120"/>
            <a:ext cx="39297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API documentaire, index, cluster, cat, search — compatible avec les clients ES existants.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185"/>
          <p:cNvSpPr/>
          <p:nvPr/>
        </p:nvSpPr>
        <p:spPr>
          <a:xfrm>
            <a:off x="4754880" y="3420000"/>
            <a:ext cx="4158360" cy="1095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186"/>
          <p:cNvSpPr/>
          <p:nvPr/>
        </p:nvSpPr>
        <p:spPr>
          <a:xfrm>
            <a:off x="4754880" y="3420000"/>
            <a:ext cx="61920" cy="10951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Shape 187"/>
          <p:cNvSpPr/>
          <p:nvPr/>
        </p:nvSpPr>
        <p:spPr>
          <a:xfrm>
            <a:off x="4754880" y="3420000"/>
            <a:ext cx="4158360" cy="3452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 165"/>
          <p:cNvSpPr/>
          <p:nvPr/>
        </p:nvSpPr>
        <p:spPr>
          <a:xfrm>
            <a:off x="4864680" y="342000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Plugins riches &amp; gratuits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 166"/>
          <p:cNvSpPr/>
          <p:nvPr/>
        </p:nvSpPr>
        <p:spPr>
          <a:xfrm>
            <a:off x="4864680" y="3822120"/>
            <a:ext cx="39297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Alerting, SQL, Anomaly Detection, ML, ISM, Observability — tout gratuit et open source.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OpenSearch — Le moteur (Engine)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 3"/>
          <p:cNvSpPr/>
          <p:nvPr/>
        </p:nvSpPr>
        <p:spPr>
          <a:xfrm>
            <a:off x="320040" y="777240"/>
            <a:ext cx="8501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576b"/>
                </a:solidFill>
                <a:latin typeface="Calibri"/>
                <a:ea typeface="Calibri"/>
              </a:rPr>
              <a:t>Le cœur : indexation + requêtage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4"/>
          <p:cNvSpPr/>
          <p:nvPr/>
        </p:nvSpPr>
        <p:spPr>
          <a:xfrm>
            <a:off x="274320" y="1490400"/>
            <a:ext cx="546480" cy="54648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274320" y="1490400"/>
            <a:ext cx="54648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6"/>
          <p:cNvSpPr/>
          <p:nvPr/>
        </p:nvSpPr>
        <p:spPr>
          <a:xfrm>
            <a:off x="548640" y="2039040"/>
            <a:ext cx="360" cy="548640"/>
          </a:xfrm>
          <a:prstGeom prst="line">
            <a:avLst/>
          </a:prstGeom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7"/>
          <p:cNvSpPr/>
          <p:nvPr/>
        </p:nvSpPr>
        <p:spPr>
          <a:xfrm>
            <a:off x="1005840" y="1261800"/>
            <a:ext cx="7815960" cy="10494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8"/>
          <p:cNvSpPr/>
          <p:nvPr/>
        </p:nvSpPr>
        <p:spPr>
          <a:xfrm>
            <a:off x="1005840" y="1261800"/>
            <a:ext cx="61920" cy="10494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 9"/>
          <p:cNvSpPr/>
          <p:nvPr/>
        </p:nvSpPr>
        <p:spPr>
          <a:xfrm>
            <a:off x="1170360" y="1334880"/>
            <a:ext cx="75416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Réception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10"/>
          <p:cNvSpPr/>
          <p:nvPr/>
        </p:nvSpPr>
        <p:spPr>
          <a:xfrm>
            <a:off x="1170360" y="1673280"/>
            <a:ext cx="75416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Documents JSON reçus via REST API (Index API, Bulk API). Validation et routage vers le shard primaire approprié.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11"/>
          <p:cNvSpPr/>
          <p:nvPr/>
        </p:nvSpPr>
        <p:spPr>
          <a:xfrm>
            <a:off x="274320" y="2697480"/>
            <a:ext cx="546480" cy="54648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12"/>
          <p:cNvSpPr/>
          <p:nvPr/>
        </p:nvSpPr>
        <p:spPr>
          <a:xfrm>
            <a:off x="274320" y="2697480"/>
            <a:ext cx="54648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13"/>
          <p:cNvSpPr/>
          <p:nvPr/>
        </p:nvSpPr>
        <p:spPr>
          <a:xfrm>
            <a:off x="548640" y="3246120"/>
            <a:ext cx="360" cy="548640"/>
          </a:xfrm>
          <a:prstGeom prst="line">
            <a:avLst/>
          </a:prstGeom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14"/>
          <p:cNvSpPr/>
          <p:nvPr/>
        </p:nvSpPr>
        <p:spPr>
          <a:xfrm>
            <a:off x="1005840" y="2468880"/>
            <a:ext cx="7815960" cy="10494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15"/>
          <p:cNvSpPr/>
          <p:nvPr/>
        </p:nvSpPr>
        <p:spPr>
          <a:xfrm>
            <a:off x="1005840" y="2468880"/>
            <a:ext cx="61920" cy="10494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16"/>
          <p:cNvSpPr/>
          <p:nvPr/>
        </p:nvSpPr>
        <p:spPr>
          <a:xfrm>
            <a:off x="1170360" y="2541960"/>
            <a:ext cx="75416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Analyse textuelle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17"/>
          <p:cNvSpPr/>
          <p:nvPr/>
        </p:nvSpPr>
        <p:spPr>
          <a:xfrm>
            <a:off x="1170360" y="2880360"/>
            <a:ext cx="75416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Analyzers / Tokenizers : découpage du texte, lowercasing, stemming, stop words → construction de l'index inversé (Lucene).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18"/>
          <p:cNvSpPr/>
          <p:nvPr/>
        </p:nvSpPr>
        <p:spPr>
          <a:xfrm>
            <a:off x="274320" y="3904560"/>
            <a:ext cx="546480" cy="54648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 19"/>
          <p:cNvSpPr/>
          <p:nvPr/>
        </p:nvSpPr>
        <p:spPr>
          <a:xfrm>
            <a:off x="274320" y="3904560"/>
            <a:ext cx="54648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20"/>
          <p:cNvSpPr/>
          <p:nvPr/>
        </p:nvSpPr>
        <p:spPr>
          <a:xfrm>
            <a:off x="1005840" y="3675960"/>
            <a:ext cx="7815960" cy="10494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21"/>
          <p:cNvSpPr/>
          <p:nvPr/>
        </p:nvSpPr>
        <p:spPr>
          <a:xfrm>
            <a:off x="1005840" y="3675960"/>
            <a:ext cx="61920" cy="10494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Text 22"/>
          <p:cNvSpPr/>
          <p:nvPr/>
        </p:nvSpPr>
        <p:spPr>
          <a:xfrm>
            <a:off x="1170360" y="3749040"/>
            <a:ext cx="75416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Recherche &amp; Scoring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 23"/>
          <p:cNvSpPr/>
          <p:nvPr/>
        </p:nvSpPr>
        <p:spPr>
          <a:xfrm>
            <a:off x="1170360" y="4087440"/>
            <a:ext cx="75416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Query DSL : full-text, exact match, vectoriel. Tri, scoring BM25/TF-IDF, agrégations statistiques et hiérarchiques.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Shape 188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Shape 189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 167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OpenSearch Dashboards — Successeur de Kibana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168"/>
          <p:cNvSpPr/>
          <p:nvPr/>
        </p:nvSpPr>
        <p:spPr>
          <a:xfrm>
            <a:off x="365760" y="749880"/>
            <a:ext cx="8410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4a7480"/>
                </a:solidFill>
                <a:latin typeface="Calibri"/>
                <a:ea typeface="Calibri"/>
              </a:rPr>
              <a:t>Fork de Kibana 7.10 · Licence Apache 2.0 · Développement actif indépendant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90"/>
          <p:cNvSpPr/>
          <p:nvPr/>
        </p:nvSpPr>
        <p:spPr>
          <a:xfrm>
            <a:off x="320040" y="1188720"/>
            <a:ext cx="500760" cy="5007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 169"/>
          <p:cNvSpPr/>
          <p:nvPr/>
        </p:nvSpPr>
        <p:spPr>
          <a:xfrm>
            <a:off x="320040" y="118872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191"/>
          <p:cNvSpPr/>
          <p:nvPr/>
        </p:nvSpPr>
        <p:spPr>
          <a:xfrm>
            <a:off x="932760" y="1188720"/>
            <a:ext cx="7907400" cy="500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192"/>
          <p:cNvSpPr/>
          <p:nvPr/>
        </p:nvSpPr>
        <p:spPr>
          <a:xfrm>
            <a:off x="932760" y="1188720"/>
            <a:ext cx="61920" cy="5007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 170"/>
          <p:cNvSpPr/>
          <p:nvPr/>
        </p:nvSpPr>
        <p:spPr>
          <a:xfrm>
            <a:off x="1097280" y="1216080"/>
            <a:ext cx="2283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DevTools Console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 171"/>
          <p:cNvSpPr/>
          <p:nvPr/>
        </p:nvSpPr>
        <p:spPr>
          <a:xfrm>
            <a:off x="3520440" y="1188720"/>
            <a:ext cx="516420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Interface équivalente à la Dev Console Kibana pour tester les API REST OpenSearch directement dans le navigateur.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193"/>
          <p:cNvSpPr/>
          <p:nvPr/>
        </p:nvSpPr>
        <p:spPr>
          <a:xfrm>
            <a:off x="3383280" y="1280160"/>
            <a:ext cx="34560" cy="3178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194"/>
          <p:cNvSpPr/>
          <p:nvPr/>
        </p:nvSpPr>
        <p:spPr>
          <a:xfrm>
            <a:off x="320040" y="1819800"/>
            <a:ext cx="500760" cy="5007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 172"/>
          <p:cNvSpPr/>
          <p:nvPr/>
        </p:nvSpPr>
        <p:spPr>
          <a:xfrm>
            <a:off x="320040" y="181980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195"/>
          <p:cNvSpPr/>
          <p:nvPr/>
        </p:nvSpPr>
        <p:spPr>
          <a:xfrm>
            <a:off x="932760" y="1819800"/>
            <a:ext cx="7907400" cy="500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196"/>
          <p:cNvSpPr/>
          <p:nvPr/>
        </p:nvSpPr>
        <p:spPr>
          <a:xfrm>
            <a:off x="932760" y="1819800"/>
            <a:ext cx="61920" cy="5007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 173"/>
          <p:cNvSpPr/>
          <p:nvPr/>
        </p:nvSpPr>
        <p:spPr>
          <a:xfrm>
            <a:off x="1097280" y="1847160"/>
            <a:ext cx="2283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Discover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 174"/>
          <p:cNvSpPr/>
          <p:nvPr/>
        </p:nvSpPr>
        <p:spPr>
          <a:xfrm>
            <a:off x="3520440" y="1819800"/>
            <a:ext cx="516420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Exploration des données brutes — filtres, champs, timeline. Équivalent fonctionnel du Discover Kibana.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197"/>
          <p:cNvSpPr/>
          <p:nvPr/>
        </p:nvSpPr>
        <p:spPr>
          <a:xfrm>
            <a:off x="3383280" y="1911240"/>
            <a:ext cx="34560" cy="3178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198"/>
          <p:cNvSpPr/>
          <p:nvPr/>
        </p:nvSpPr>
        <p:spPr>
          <a:xfrm>
            <a:off x="320040" y="2450520"/>
            <a:ext cx="500760" cy="5007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 175"/>
          <p:cNvSpPr/>
          <p:nvPr/>
        </p:nvSpPr>
        <p:spPr>
          <a:xfrm>
            <a:off x="320040" y="245052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199"/>
          <p:cNvSpPr/>
          <p:nvPr/>
        </p:nvSpPr>
        <p:spPr>
          <a:xfrm>
            <a:off x="932760" y="2450520"/>
            <a:ext cx="7907400" cy="500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200"/>
          <p:cNvSpPr/>
          <p:nvPr/>
        </p:nvSpPr>
        <p:spPr>
          <a:xfrm>
            <a:off x="932760" y="2450520"/>
            <a:ext cx="61920" cy="5007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 176"/>
          <p:cNvSpPr/>
          <p:nvPr/>
        </p:nvSpPr>
        <p:spPr>
          <a:xfrm>
            <a:off x="1097280" y="2477880"/>
            <a:ext cx="2283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Visualizations &amp; Dashboards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 177"/>
          <p:cNvSpPr/>
          <p:nvPr/>
        </p:nvSpPr>
        <p:spPr>
          <a:xfrm>
            <a:off x="3520440" y="2450520"/>
            <a:ext cx="516420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Création de graphiques (barres, camemberts, cartes, métriques) et assemblage en tableaux de bord interactifs.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201"/>
          <p:cNvSpPr/>
          <p:nvPr/>
        </p:nvSpPr>
        <p:spPr>
          <a:xfrm>
            <a:off x="3383280" y="2541960"/>
            <a:ext cx="34560" cy="3178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202"/>
          <p:cNvSpPr/>
          <p:nvPr/>
        </p:nvSpPr>
        <p:spPr>
          <a:xfrm>
            <a:off x="320040" y="3081600"/>
            <a:ext cx="500760" cy="5007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 178"/>
          <p:cNvSpPr/>
          <p:nvPr/>
        </p:nvSpPr>
        <p:spPr>
          <a:xfrm>
            <a:off x="320040" y="308160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203"/>
          <p:cNvSpPr/>
          <p:nvPr/>
        </p:nvSpPr>
        <p:spPr>
          <a:xfrm>
            <a:off x="932760" y="3081600"/>
            <a:ext cx="7907400" cy="500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204"/>
          <p:cNvSpPr/>
          <p:nvPr/>
        </p:nvSpPr>
        <p:spPr>
          <a:xfrm>
            <a:off x="932760" y="3081600"/>
            <a:ext cx="61920" cy="5007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 179"/>
          <p:cNvSpPr/>
          <p:nvPr/>
        </p:nvSpPr>
        <p:spPr>
          <a:xfrm>
            <a:off x="1097280" y="3108960"/>
            <a:ext cx="2283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Index Management (ISM)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 180"/>
          <p:cNvSpPr/>
          <p:nvPr/>
        </p:nvSpPr>
        <p:spPr>
          <a:xfrm>
            <a:off x="3520440" y="3081600"/>
            <a:ext cx="516420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Gestion des politiques de cycle de vie des index — équivalent de l'ILM Elasticsearch mais gratuit.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205"/>
          <p:cNvSpPr/>
          <p:nvPr/>
        </p:nvSpPr>
        <p:spPr>
          <a:xfrm>
            <a:off x="3383280" y="3173040"/>
            <a:ext cx="34560" cy="3178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206"/>
          <p:cNvSpPr/>
          <p:nvPr/>
        </p:nvSpPr>
        <p:spPr>
          <a:xfrm>
            <a:off x="320040" y="3712320"/>
            <a:ext cx="500760" cy="5007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 181"/>
          <p:cNvSpPr/>
          <p:nvPr/>
        </p:nvSpPr>
        <p:spPr>
          <a:xfrm>
            <a:off x="320040" y="371232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207"/>
          <p:cNvSpPr/>
          <p:nvPr/>
        </p:nvSpPr>
        <p:spPr>
          <a:xfrm>
            <a:off x="932760" y="3712320"/>
            <a:ext cx="7907400" cy="500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208"/>
          <p:cNvSpPr/>
          <p:nvPr/>
        </p:nvSpPr>
        <p:spPr>
          <a:xfrm>
            <a:off x="932760" y="3712320"/>
            <a:ext cx="61920" cy="5007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 182"/>
          <p:cNvSpPr/>
          <p:nvPr/>
        </p:nvSpPr>
        <p:spPr>
          <a:xfrm>
            <a:off x="1097280" y="3740040"/>
            <a:ext cx="2283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Security UI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 183"/>
          <p:cNvSpPr/>
          <p:nvPr/>
        </p:nvSpPr>
        <p:spPr>
          <a:xfrm>
            <a:off x="3520440" y="3712320"/>
            <a:ext cx="516420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Gestion des utilisateurs, rôles, et permissions directement depuis l'interface — sans plugin payant.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209"/>
          <p:cNvSpPr/>
          <p:nvPr/>
        </p:nvSpPr>
        <p:spPr>
          <a:xfrm>
            <a:off x="3383280" y="3803760"/>
            <a:ext cx="34560" cy="3178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210"/>
          <p:cNvSpPr/>
          <p:nvPr/>
        </p:nvSpPr>
        <p:spPr>
          <a:xfrm>
            <a:off x="320040" y="4343400"/>
            <a:ext cx="500760" cy="5007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184"/>
          <p:cNvSpPr/>
          <p:nvPr/>
        </p:nvSpPr>
        <p:spPr>
          <a:xfrm>
            <a:off x="320040" y="434340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211"/>
          <p:cNvSpPr/>
          <p:nvPr/>
        </p:nvSpPr>
        <p:spPr>
          <a:xfrm>
            <a:off x="932760" y="4343400"/>
            <a:ext cx="7907400" cy="500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212"/>
          <p:cNvSpPr/>
          <p:nvPr/>
        </p:nvSpPr>
        <p:spPr>
          <a:xfrm>
            <a:off x="932760" y="4343400"/>
            <a:ext cx="61920" cy="5007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 185"/>
          <p:cNvSpPr/>
          <p:nvPr/>
        </p:nvSpPr>
        <p:spPr>
          <a:xfrm>
            <a:off x="1097280" y="4370760"/>
            <a:ext cx="2283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Alerting &amp; Anomaly Detection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 186"/>
          <p:cNvSpPr/>
          <p:nvPr/>
        </p:nvSpPr>
        <p:spPr>
          <a:xfrm>
            <a:off x="3520440" y="4343400"/>
            <a:ext cx="516420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Configuration d'alertes et détection d'anomalies ML via une interface dédiée.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213"/>
          <p:cNvSpPr/>
          <p:nvPr/>
        </p:nvSpPr>
        <p:spPr>
          <a:xfrm>
            <a:off x="3383280" y="4434840"/>
            <a:ext cx="34560" cy="3178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Plugins — Extensibilité par design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 3"/>
          <p:cNvSpPr/>
          <p:nvPr/>
        </p:nvSpPr>
        <p:spPr>
          <a:xfrm>
            <a:off x="320040" y="77724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est extensible par design. Les plugins ajoutent des fonctionnalités (mappings, scripts, sécurité, observabilité…).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4"/>
          <p:cNvSpPr/>
          <p:nvPr/>
        </p:nvSpPr>
        <p:spPr>
          <a:xfrm>
            <a:off x="255960" y="1417320"/>
            <a:ext cx="2027880" cy="14608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5"/>
          <p:cNvSpPr/>
          <p:nvPr/>
        </p:nvSpPr>
        <p:spPr>
          <a:xfrm>
            <a:off x="255960" y="1417320"/>
            <a:ext cx="2027880" cy="345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6"/>
          <p:cNvSpPr/>
          <p:nvPr/>
        </p:nvSpPr>
        <p:spPr>
          <a:xfrm>
            <a:off x="329040" y="1417320"/>
            <a:ext cx="1936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Security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 7"/>
          <p:cNvSpPr/>
          <p:nvPr/>
        </p:nvSpPr>
        <p:spPr>
          <a:xfrm>
            <a:off x="347400" y="1828800"/>
            <a:ext cx="1881360" cy="9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TLS, authentification, RBAC, audit logs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8"/>
          <p:cNvSpPr/>
          <p:nvPr/>
        </p:nvSpPr>
        <p:spPr>
          <a:xfrm>
            <a:off x="2432160" y="1417320"/>
            <a:ext cx="2027880" cy="14608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9"/>
          <p:cNvSpPr/>
          <p:nvPr/>
        </p:nvSpPr>
        <p:spPr>
          <a:xfrm>
            <a:off x="2432160" y="1417320"/>
            <a:ext cx="2027880" cy="3452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10"/>
          <p:cNvSpPr/>
          <p:nvPr/>
        </p:nvSpPr>
        <p:spPr>
          <a:xfrm>
            <a:off x="2505600" y="1417320"/>
            <a:ext cx="1936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Alerting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 11"/>
          <p:cNvSpPr/>
          <p:nvPr/>
        </p:nvSpPr>
        <p:spPr>
          <a:xfrm>
            <a:off x="2523600" y="1828800"/>
            <a:ext cx="1881360" cy="9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Notifications sur seuils et conditions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12"/>
          <p:cNvSpPr/>
          <p:nvPr/>
        </p:nvSpPr>
        <p:spPr>
          <a:xfrm>
            <a:off x="4608720" y="1417320"/>
            <a:ext cx="2027880" cy="14608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13"/>
          <p:cNvSpPr/>
          <p:nvPr/>
        </p:nvSpPr>
        <p:spPr>
          <a:xfrm>
            <a:off x="4608720" y="1417320"/>
            <a:ext cx="2027880" cy="34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 14"/>
          <p:cNvSpPr/>
          <p:nvPr/>
        </p:nvSpPr>
        <p:spPr>
          <a:xfrm>
            <a:off x="4681800" y="1417320"/>
            <a:ext cx="1936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Anomaly Detection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 15"/>
          <p:cNvSpPr/>
          <p:nvPr/>
        </p:nvSpPr>
        <p:spPr>
          <a:xfrm>
            <a:off x="4700160" y="1828800"/>
            <a:ext cx="1881360" cy="9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Détection d'anomalies par Machine Learning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16"/>
          <p:cNvSpPr/>
          <p:nvPr/>
        </p:nvSpPr>
        <p:spPr>
          <a:xfrm>
            <a:off x="6784920" y="1417320"/>
            <a:ext cx="2027880" cy="14608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17"/>
          <p:cNvSpPr/>
          <p:nvPr/>
        </p:nvSpPr>
        <p:spPr>
          <a:xfrm>
            <a:off x="6784920" y="1417320"/>
            <a:ext cx="2027880" cy="3452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 18"/>
          <p:cNvSpPr/>
          <p:nvPr/>
        </p:nvSpPr>
        <p:spPr>
          <a:xfrm>
            <a:off x="6858000" y="1417320"/>
            <a:ext cx="1936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k-NN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 19"/>
          <p:cNvSpPr/>
          <p:nvPr/>
        </p:nvSpPr>
        <p:spPr>
          <a:xfrm>
            <a:off x="6876360" y="1828800"/>
            <a:ext cx="1881360" cy="9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Recherche vectorielle pour IA/RAG/LLM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20"/>
          <p:cNvSpPr/>
          <p:nvPr/>
        </p:nvSpPr>
        <p:spPr>
          <a:xfrm>
            <a:off x="255960" y="3017520"/>
            <a:ext cx="2027880" cy="14608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21"/>
          <p:cNvSpPr/>
          <p:nvPr/>
        </p:nvSpPr>
        <p:spPr>
          <a:xfrm>
            <a:off x="255960" y="3017520"/>
            <a:ext cx="2027880" cy="345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Text 22"/>
          <p:cNvSpPr/>
          <p:nvPr/>
        </p:nvSpPr>
        <p:spPr>
          <a:xfrm>
            <a:off x="329040" y="3017520"/>
            <a:ext cx="1936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ISM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 23"/>
          <p:cNvSpPr/>
          <p:nvPr/>
        </p:nvSpPr>
        <p:spPr>
          <a:xfrm>
            <a:off x="347400" y="3429000"/>
            <a:ext cx="1881360" cy="9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Index State Management : gestion cycle de vie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24"/>
          <p:cNvSpPr/>
          <p:nvPr/>
        </p:nvSpPr>
        <p:spPr>
          <a:xfrm>
            <a:off x="2432160" y="3017520"/>
            <a:ext cx="2027880" cy="14608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25"/>
          <p:cNvSpPr/>
          <p:nvPr/>
        </p:nvSpPr>
        <p:spPr>
          <a:xfrm>
            <a:off x="2432160" y="3017520"/>
            <a:ext cx="2027880" cy="3452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Text 26"/>
          <p:cNvSpPr/>
          <p:nvPr/>
        </p:nvSpPr>
        <p:spPr>
          <a:xfrm>
            <a:off x="2505600" y="3017520"/>
            <a:ext cx="1936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SQL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 27"/>
          <p:cNvSpPr/>
          <p:nvPr/>
        </p:nvSpPr>
        <p:spPr>
          <a:xfrm>
            <a:off x="2523600" y="3429000"/>
            <a:ext cx="1881360" cy="9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Requêtes SQL sur les index OpenSearch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28"/>
          <p:cNvSpPr/>
          <p:nvPr/>
        </p:nvSpPr>
        <p:spPr>
          <a:xfrm>
            <a:off x="4608720" y="3017520"/>
            <a:ext cx="2027880" cy="14608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29"/>
          <p:cNvSpPr/>
          <p:nvPr/>
        </p:nvSpPr>
        <p:spPr>
          <a:xfrm>
            <a:off x="4608720" y="3017520"/>
            <a:ext cx="2027880" cy="34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Text 30"/>
          <p:cNvSpPr/>
          <p:nvPr/>
        </p:nvSpPr>
        <p:spPr>
          <a:xfrm>
            <a:off x="4681800" y="3017520"/>
            <a:ext cx="1936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Observabilité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 31"/>
          <p:cNvSpPr/>
          <p:nvPr/>
        </p:nvSpPr>
        <p:spPr>
          <a:xfrm>
            <a:off x="4700160" y="3429000"/>
            <a:ext cx="1881360" cy="9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Logs, traces, métriques (OTel native)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32"/>
          <p:cNvSpPr/>
          <p:nvPr/>
        </p:nvSpPr>
        <p:spPr>
          <a:xfrm>
            <a:off x="6784920" y="3017520"/>
            <a:ext cx="2027880" cy="14608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33"/>
          <p:cNvSpPr/>
          <p:nvPr/>
        </p:nvSpPr>
        <p:spPr>
          <a:xfrm>
            <a:off x="6784920" y="3017520"/>
            <a:ext cx="2027880" cy="3452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Text 34"/>
          <p:cNvSpPr/>
          <p:nvPr/>
        </p:nvSpPr>
        <p:spPr>
          <a:xfrm>
            <a:off x="6858000" y="3017520"/>
            <a:ext cx="1936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ML Commons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 35"/>
          <p:cNvSpPr/>
          <p:nvPr/>
        </p:nvSpPr>
        <p:spPr>
          <a:xfrm>
            <a:off x="6876360" y="3429000"/>
            <a:ext cx="1881360" cy="9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Framework ML intégré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 36"/>
          <p:cNvSpPr/>
          <p:nvPr/>
        </p:nvSpPr>
        <p:spPr>
          <a:xfrm>
            <a:off x="274320" y="4617720"/>
            <a:ext cx="8593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⚠  </a:t>
            </a: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Installation et configuration dépendantes du packaging (self-hosted vs managé). Attention aux compatibilités de versions.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0"/>
          <p:cNvSpPr/>
          <p:nvPr/>
        </p:nvSpPr>
        <p:spPr>
          <a:xfrm>
            <a:off x="0" y="0"/>
            <a:ext cx="162360" cy="51458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Text 1"/>
          <p:cNvSpPr/>
          <p:nvPr/>
        </p:nvSpPr>
        <p:spPr>
          <a:xfrm>
            <a:off x="411480" y="1645920"/>
            <a:ext cx="831888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Architecture du cluster</a:t>
            </a:r>
            <a:endParaRPr b="0" lang="fr-F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Text 2"/>
          <p:cNvSpPr/>
          <p:nvPr/>
        </p:nvSpPr>
        <p:spPr>
          <a:xfrm>
            <a:off x="411480" y="2697480"/>
            <a:ext cx="83188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a8d4dc"/>
                </a:solidFill>
                <a:latin typeface="Calibri"/>
                <a:ea typeface="Calibri"/>
              </a:rPr>
              <a:t>Nœuds · Shards · Réplicas · Indexation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Cluster — Organisation et rôles des nœuds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 3"/>
          <p:cNvSpPr/>
          <p:nvPr/>
        </p:nvSpPr>
        <p:spPr>
          <a:xfrm>
            <a:off x="320040" y="777240"/>
            <a:ext cx="8501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Un cluster = plusieurs nœuds (VM / containers) qui coopèrent pour distribuer stockage et requêtes.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274320" y="1280160"/>
            <a:ext cx="2558160" cy="7110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Text 5"/>
          <p:cNvSpPr/>
          <p:nvPr/>
        </p:nvSpPr>
        <p:spPr>
          <a:xfrm>
            <a:off x="320040" y="1280160"/>
            <a:ext cx="24667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cluster-manager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6"/>
          <p:cNvSpPr/>
          <p:nvPr/>
        </p:nvSpPr>
        <p:spPr>
          <a:xfrm>
            <a:off x="2971800" y="1280160"/>
            <a:ext cx="5895720" cy="7110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7"/>
          <p:cNvSpPr/>
          <p:nvPr/>
        </p:nvSpPr>
        <p:spPr>
          <a:xfrm>
            <a:off x="2971800" y="1280160"/>
            <a:ext cx="61920" cy="7110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Text 8"/>
          <p:cNvSpPr/>
          <p:nvPr/>
        </p:nvSpPr>
        <p:spPr>
          <a:xfrm>
            <a:off x="3127320" y="1371600"/>
            <a:ext cx="5667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Gestion du cluster state, élections, routage des shards. Anciennement « master ».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9"/>
          <p:cNvSpPr/>
          <p:nvPr/>
        </p:nvSpPr>
        <p:spPr>
          <a:xfrm>
            <a:off x="274320" y="2148840"/>
            <a:ext cx="2558160" cy="711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 10"/>
          <p:cNvSpPr/>
          <p:nvPr/>
        </p:nvSpPr>
        <p:spPr>
          <a:xfrm>
            <a:off x="320040" y="2148840"/>
            <a:ext cx="24667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data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11"/>
          <p:cNvSpPr/>
          <p:nvPr/>
        </p:nvSpPr>
        <p:spPr>
          <a:xfrm>
            <a:off x="2971800" y="2148840"/>
            <a:ext cx="5895720" cy="7110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12"/>
          <p:cNvSpPr/>
          <p:nvPr/>
        </p:nvSpPr>
        <p:spPr>
          <a:xfrm>
            <a:off x="2971800" y="2148840"/>
            <a:ext cx="61920" cy="711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 13"/>
          <p:cNvSpPr/>
          <p:nvPr/>
        </p:nvSpPr>
        <p:spPr>
          <a:xfrm>
            <a:off x="3127320" y="2240280"/>
            <a:ext cx="5667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Stockage des shards. Exécute les opérations d'indexation et de recherche localement.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14"/>
          <p:cNvSpPr/>
          <p:nvPr/>
        </p:nvSpPr>
        <p:spPr>
          <a:xfrm>
            <a:off x="274320" y="3017520"/>
            <a:ext cx="2558160" cy="711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 15"/>
          <p:cNvSpPr/>
          <p:nvPr/>
        </p:nvSpPr>
        <p:spPr>
          <a:xfrm>
            <a:off x="320040" y="3017520"/>
            <a:ext cx="24667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ingest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16"/>
          <p:cNvSpPr/>
          <p:nvPr/>
        </p:nvSpPr>
        <p:spPr>
          <a:xfrm>
            <a:off x="2971800" y="3017520"/>
            <a:ext cx="5895720" cy="7110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17"/>
          <p:cNvSpPr/>
          <p:nvPr/>
        </p:nvSpPr>
        <p:spPr>
          <a:xfrm>
            <a:off x="2971800" y="3017520"/>
            <a:ext cx="61920" cy="711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 18"/>
          <p:cNvSpPr/>
          <p:nvPr/>
        </p:nvSpPr>
        <p:spPr>
          <a:xfrm>
            <a:off x="3127320" y="3108960"/>
            <a:ext cx="5667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Pré-traitement des documents avant indexation (pipelines ingest, enrichissement).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19"/>
          <p:cNvSpPr/>
          <p:nvPr/>
        </p:nvSpPr>
        <p:spPr>
          <a:xfrm>
            <a:off x="274320" y="3886200"/>
            <a:ext cx="2558160" cy="711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 20"/>
          <p:cNvSpPr/>
          <p:nvPr/>
        </p:nvSpPr>
        <p:spPr>
          <a:xfrm>
            <a:off x="320040" y="3886200"/>
            <a:ext cx="24667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coordinating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21"/>
          <p:cNvSpPr/>
          <p:nvPr/>
        </p:nvSpPr>
        <p:spPr>
          <a:xfrm>
            <a:off x="2971800" y="3886200"/>
            <a:ext cx="5895720" cy="7110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22"/>
          <p:cNvSpPr/>
          <p:nvPr/>
        </p:nvSpPr>
        <p:spPr>
          <a:xfrm>
            <a:off x="2971800" y="3886200"/>
            <a:ext cx="61920" cy="711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 23"/>
          <p:cNvSpPr/>
          <p:nvPr/>
        </p:nvSpPr>
        <p:spPr>
          <a:xfrm>
            <a:off x="3127320" y="3977640"/>
            <a:ext cx="5667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Reçoit les requêtes client, les distribue aux shards concernés et agrège les résultats.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Shards et Réplicas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 3"/>
          <p:cNvSpPr/>
          <p:nvPr/>
        </p:nvSpPr>
        <p:spPr>
          <a:xfrm>
            <a:off x="274320" y="822960"/>
            <a:ext cx="40212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576b"/>
                </a:solidFill>
                <a:latin typeface="Calibri"/>
                <a:ea typeface="Calibri"/>
              </a:rPr>
              <a:t>Primary Shards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274320" y="1234440"/>
            <a:ext cx="402120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Un index est découpé en N primary shards (partitionnement horizontal).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274320" y="1828800"/>
            <a:ext cx="402120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= instance Lucene indépendante.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 6"/>
          <p:cNvSpPr/>
          <p:nvPr/>
        </p:nvSpPr>
        <p:spPr>
          <a:xfrm>
            <a:off x="274320" y="2423160"/>
            <a:ext cx="402120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Distribués sur les nœuds du cluster pour paralléliser stockage et requêtes.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 7"/>
          <p:cNvSpPr/>
          <p:nvPr/>
        </p:nvSpPr>
        <p:spPr>
          <a:xfrm>
            <a:off x="274320" y="3017520"/>
            <a:ext cx="402120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⚠  </a:t>
            </a: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Nombre de shards fixé à la création — décision structurante.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 8"/>
          <p:cNvSpPr/>
          <p:nvPr/>
        </p:nvSpPr>
        <p:spPr>
          <a:xfrm>
            <a:off x="274320" y="3657600"/>
            <a:ext cx="40212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8834a"/>
                </a:solidFill>
                <a:latin typeface="Calibri"/>
                <a:ea typeface="Calibri"/>
              </a:rPr>
              <a:t>Réplicas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 9"/>
          <p:cNvSpPr/>
          <p:nvPr/>
        </p:nvSpPr>
        <p:spPr>
          <a:xfrm>
            <a:off x="274320" y="4069080"/>
            <a:ext cx="4021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Copies des primary shards → Haute Disponibilité + parallélisme lecture.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274320" y="4526280"/>
            <a:ext cx="4021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Réplication = coût stockage + amélioration perf lecture.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11"/>
          <p:cNvSpPr/>
          <p:nvPr/>
        </p:nvSpPr>
        <p:spPr>
          <a:xfrm>
            <a:off x="4663440" y="822960"/>
            <a:ext cx="4204080" cy="4066920"/>
          </a:xfrm>
          <a:prstGeom prst="rect">
            <a:avLst/>
          </a:prstGeom>
          <a:solidFill>
            <a:srgbClr val="eaf4f6"/>
          </a:solidFill>
          <a:ln w="12700">
            <a:solidFill>
              <a:srgbClr val="c0d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 rot="16200000">
            <a:off x="4681440" y="1007640"/>
            <a:ext cx="290520" cy="32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13"/>
          <p:cNvSpPr/>
          <p:nvPr/>
        </p:nvSpPr>
        <p:spPr>
          <a:xfrm>
            <a:off x="5074920" y="1005840"/>
            <a:ext cx="1140840" cy="3472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14"/>
          <p:cNvSpPr/>
          <p:nvPr/>
        </p:nvSpPr>
        <p:spPr>
          <a:xfrm>
            <a:off x="5074920" y="1005840"/>
            <a:ext cx="1140840" cy="3178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5093280" y="1005840"/>
            <a:ext cx="11041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1 ★ MANAGER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16"/>
          <p:cNvSpPr/>
          <p:nvPr/>
        </p:nvSpPr>
        <p:spPr>
          <a:xfrm>
            <a:off x="5184720" y="1508760"/>
            <a:ext cx="921240" cy="6379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5184720" y="1508760"/>
            <a:ext cx="9212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18"/>
          <p:cNvSpPr/>
          <p:nvPr/>
        </p:nvSpPr>
        <p:spPr>
          <a:xfrm>
            <a:off x="5184720" y="2880360"/>
            <a:ext cx="921240" cy="637920"/>
          </a:xfrm>
          <a:prstGeom prst="rect">
            <a:avLst/>
          </a:prstGeom>
          <a:solidFill>
            <a:srgbClr val="eaf4f6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 19"/>
          <p:cNvSpPr/>
          <p:nvPr/>
        </p:nvSpPr>
        <p:spPr>
          <a:xfrm>
            <a:off x="5184720" y="2880360"/>
            <a:ext cx="9212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20"/>
          <p:cNvSpPr/>
          <p:nvPr/>
        </p:nvSpPr>
        <p:spPr>
          <a:xfrm>
            <a:off x="6309360" y="1005840"/>
            <a:ext cx="1140840" cy="3472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21"/>
          <p:cNvSpPr/>
          <p:nvPr/>
        </p:nvSpPr>
        <p:spPr>
          <a:xfrm>
            <a:off x="6309360" y="1005840"/>
            <a:ext cx="1140840" cy="317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Text 22"/>
          <p:cNvSpPr/>
          <p:nvPr/>
        </p:nvSpPr>
        <p:spPr>
          <a:xfrm>
            <a:off x="6327720" y="1005840"/>
            <a:ext cx="11041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2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23"/>
          <p:cNvSpPr/>
          <p:nvPr/>
        </p:nvSpPr>
        <p:spPr>
          <a:xfrm>
            <a:off x="6419160" y="1508760"/>
            <a:ext cx="921240" cy="637920"/>
          </a:xfrm>
          <a:prstGeom prst="rect">
            <a:avLst/>
          </a:prstGeom>
          <a:solidFill>
            <a:srgbClr val="eaf4f6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 24"/>
          <p:cNvSpPr/>
          <p:nvPr/>
        </p:nvSpPr>
        <p:spPr>
          <a:xfrm>
            <a:off x="6419160" y="1508760"/>
            <a:ext cx="9212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25"/>
          <p:cNvSpPr/>
          <p:nvPr/>
        </p:nvSpPr>
        <p:spPr>
          <a:xfrm>
            <a:off x="6419160" y="2880360"/>
            <a:ext cx="921240" cy="6379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 26"/>
          <p:cNvSpPr/>
          <p:nvPr/>
        </p:nvSpPr>
        <p:spPr>
          <a:xfrm>
            <a:off x="6419160" y="2880360"/>
            <a:ext cx="9212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27"/>
          <p:cNvSpPr/>
          <p:nvPr/>
        </p:nvSpPr>
        <p:spPr>
          <a:xfrm>
            <a:off x="7543800" y="1005840"/>
            <a:ext cx="1140840" cy="3472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28"/>
          <p:cNvSpPr/>
          <p:nvPr/>
        </p:nvSpPr>
        <p:spPr>
          <a:xfrm>
            <a:off x="7543800" y="1005840"/>
            <a:ext cx="1140840" cy="3178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Text 29"/>
          <p:cNvSpPr/>
          <p:nvPr/>
        </p:nvSpPr>
        <p:spPr>
          <a:xfrm>
            <a:off x="7562160" y="1005840"/>
            <a:ext cx="11041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3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30"/>
          <p:cNvSpPr/>
          <p:nvPr/>
        </p:nvSpPr>
        <p:spPr>
          <a:xfrm>
            <a:off x="7653600" y="1508760"/>
            <a:ext cx="921240" cy="637920"/>
          </a:xfrm>
          <a:prstGeom prst="rect">
            <a:avLst/>
          </a:prstGeom>
          <a:solidFill>
            <a:srgbClr val="00576b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 31"/>
          <p:cNvSpPr/>
          <p:nvPr/>
        </p:nvSpPr>
        <p:spPr>
          <a:xfrm>
            <a:off x="7653600" y="1508760"/>
            <a:ext cx="9212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32"/>
          <p:cNvSpPr/>
          <p:nvPr/>
        </p:nvSpPr>
        <p:spPr>
          <a:xfrm>
            <a:off x="7653600" y="2880360"/>
            <a:ext cx="921240" cy="637920"/>
          </a:xfrm>
          <a:prstGeom prst="rect">
            <a:avLst/>
          </a:prstGeom>
          <a:solidFill>
            <a:srgbClr val="eaf4f6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 33"/>
          <p:cNvSpPr/>
          <p:nvPr/>
        </p:nvSpPr>
        <p:spPr>
          <a:xfrm>
            <a:off x="7653600" y="2880360"/>
            <a:ext cx="9212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Cycle d'indexation : du JSON au segment Lucene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3"/>
          <p:cNvSpPr/>
          <p:nvPr/>
        </p:nvSpPr>
        <p:spPr>
          <a:xfrm>
            <a:off x="530280" y="1526760"/>
            <a:ext cx="360" cy="164880"/>
          </a:xfrm>
          <a:prstGeom prst="line">
            <a:avLst/>
          </a:prstGeom>
          <a:ln w="254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4"/>
          <p:cNvSpPr/>
          <p:nvPr/>
        </p:nvSpPr>
        <p:spPr>
          <a:xfrm>
            <a:off x="274320" y="960120"/>
            <a:ext cx="500760" cy="5007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Text 5"/>
          <p:cNvSpPr/>
          <p:nvPr/>
        </p:nvSpPr>
        <p:spPr>
          <a:xfrm>
            <a:off x="274320" y="96012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6"/>
          <p:cNvSpPr/>
          <p:nvPr/>
        </p:nvSpPr>
        <p:spPr>
          <a:xfrm>
            <a:off x="914400" y="868680"/>
            <a:ext cx="7861680" cy="656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7"/>
          <p:cNvSpPr/>
          <p:nvPr/>
        </p:nvSpPr>
        <p:spPr>
          <a:xfrm>
            <a:off x="914400" y="868680"/>
            <a:ext cx="6192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 8"/>
          <p:cNvSpPr/>
          <p:nvPr/>
        </p:nvSpPr>
        <p:spPr>
          <a:xfrm>
            <a:off x="1078920" y="923400"/>
            <a:ext cx="2009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834a"/>
                </a:solidFill>
                <a:latin typeface="Calibri"/>
                <a:ea typeface="Calibri"/>
              </a:rPr>
              <a:t>Réception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 9"/>
          <p:cNvSpPr/>
          <p:nvPr/>
        </p:nvSpPr>
        <p:spPr>
          <a:xfrm>
            <a:off x="3200400" y="941760"/>
            <a:ext cx="548424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Bulk / Index API reçoit le document JSON. Routage vers le shard primaire responsable.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10"/>
          <p:cNvSpPr/>
          <p:nvPr/>
        </p:nvSpPr>
        <p:spPr>
          <a:xfrm>
            <a:off x="3154680" y="96012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11"/>
          <p:cNvSpPr/>
          <p:nvPr/>
        </p:nvSpPr>
        <p:spPr>
          <a:xfrm>
            <a:off x="530280" y="2349720"/>
            <a:ext cx="360" cy="164880"/>
          </a:xfrm>
          <a:prstGeom prst="line">
            <a:avLst/>
          </a:prstGeom>
          <a:ln w="254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12"/>
          <p:cNvSpPr/>
          <p:nvPr/>
        </p:nvSpPr>
        <p:spPr>
          <a:xfrm>
            <a:off x="274320" y="1783080"/>
            <a:ext cx="500760" cy="5007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13"/>
          <p:cNvSpPr/>
          <p:nvPr/>
        </p:nvSpPr>
        <p:spPr>
          <a:xfrm>
            <a:off x="274320" y="178308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14"/>
          <p:cNvSpPr/>
          <p:nvPr/>
        </p:nvSpPr>
        <p:spPr>
          <a:xfrm>
            <a:off x="914400" y="1691640"/>
            <a:ext cx="7861680" cy="656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15"/>
          <p:cNvSpPr/>
          <p:nvPr/>
        </p:nvSpPr>
        <p:spPr>
          <a:xfrm>
            <a:off x="914400" y="1691640"/>
            <a:ext cx="61920" cy="656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 16"/>
          <p:cNvSpPr/>
          <p:nvPr/>
        </p:nvSpPr>
        <p:spPr>
          <a:xfrm>
            <a:off x="1078920" y="1746360"/>
            <a:ext cx="2009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7a8a"/>
                </a:solidFill>
                <a:latin typeface="Calibri"/>
                <a:ea typeface="Calibri"/>
              </a:rPr>
              <a:t>Ingest Pipeline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 17"/>
          <p:cNvSpPr/>
          <p:nvPr/>
        </p:nvSpPr>
        <p:spPr>
          <a:xfrm>
            <a:off x="3200400" y="1764720"/>
            <a:ext cx="548424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Optionnel : transformation, enrichissement, grok, date parsing, géolocalisation…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18"/>
          <p:cNvSpPr/>
          <p:nvPr/>
        </p:nvSpPr>
        <p:spPr>
          <a:xfrm>
            <a:off x="3154680" y="178308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19"/>
          <p:cNvSpPr/>
          <p:nvPr/>
        </p:nvSpPr>
        <p:spPr>
          <a:xfrm>
            <a:off x="530280" y="3172680"/>
            <a:ext cx="360" cy="164880"/>
          </a:xfrm>
          <a:prstGeom prst="line">
            <a:avLst/>
          </a:prstGeom>
          <a:ln w="254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20"/>
          <p:cNvSpPr/>
          <p:nvPr/>
        </p:nvSpPr>
        <p:spPr>
          <a:xfrm>
            <a:off x="274320" y="2606040"/>
            <a:ext cx="500760" cy="50076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21"/>
          <p:cNvSpPr/>
          <p:nvPr/>
        </p:nvSpPr>
        <p:spPr>
          <a:xfrm>
            <a:off x="274320" y="260604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22"/>
          <p:cNvSpPr/>
          <p:nvPr/>
        </p:nvSpPr>
        <p:spPr>
          <a:xfrm>
            <a:off x="914400" y="2514600"/>
            <a:ext cx="7861680" cy="656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23"/>
          <p:cNvSpPr/>
          <p:nvPr/>
        </p:nvSpPr>
        <p:spPr>
          <a:xfrm>
            <a:off x="914400" y="2514600"/>
            <a:ext cx="6192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24"/>
          <p:cNvSpPr/>
          <p:nvPr/>
        </p:nvSpPr>
        <p:spPr>
          <a:xfrm>
            <a:off x="1078920" y="2569320"/>
            <a:ext cx="2009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576b"/>
                </a:solidFill>
                <a:latin typeface="Calibri"/>
                <a:ea typeface="Calibri"/>
              </a:rPr>
              <a:t>Analyse textuelle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 25"/>
          <p:cNvSpPr/>
          <p:nvPr/>
        </p:nvSpPr>
        <p:spPr>
          <a:xfrm>
            <a:off x="3200400" y="2587680"/>
            <a:ext cx="548424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Tokenisation, lowercasing, stemming, suppression stop words → termes indexés.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26"/>
          <p:cNvSpPr/>
          <p:nvPr/>
        </p:nvSpPr>
        <p:spPr>
          <a:xfrm>
            <a:off x="3154680" y="260604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27"/>
          <p:cNvSpPr/>
          <p:nvPr/>
        </p:nvSpPr>
        <p:spPr>
          <a:xfrm>
            <a:off x="530280" y="3995640"/>
            <a:ext cx="360" cy="164880"/>
          </a:xfrm>
          <a:prstGeom prst="line">
            <a:avLst/>
          </a:prstGeom>
          <a:ln w="254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28"/>
          <p:cNvSpPr/>
          <p:nvPr/>
        </p:nvSpPr>
        <p:spPr>
          <a:xfrm>
            <a:off x="274320" y="3429000"/>
            <a:ext cx="500760" cy="50076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Text 29"/>
          <p:cNvSpPr/>
          <p:nvPr/>
        </p:nvSpPr>
        <p:spPr>
          <a:xfrm>
            <a:off x="274320" y="342900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30"/>
          <p:cNvSpPr/>
          <p:nvPr/>
        </p:nvSpPr>
        <p:spPr>
          <a:xfrm>
            <a:off x="914400" y="3337560"/>
            <a:ext cx="7861680" cy="656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31"/>
          <p:cNvSpPr/>
          <p:nvPr/>
        </p:nvSpPr>
        <p:spPr>
          <a:xfrm>
            <a:off x="914400" y="3337560"/>
            <a:ext cx="6192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Text 32"/>
          <p:cNvSpPr/>
          <p:nvPr/>
        </p:nvSpPr>
        <p:spPr>
          <a:xfrm>
            <a:off x="1078920" y="3392280"/>
            <a:ext cx="2009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576b"/>
                </a:solidFill>
                <a:latin typeface="Calibri"/>
                <a:ea typeface="Calibri"/>
              </a:rPr>
              <a:t>Écriture Lucene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 33"/>
          <p:cNvSpPr/>
          <p:nvPr/>
        </p:nvSpPr>
        <p:spPr>
          <a:xfrm>
            <a:off x="3200400" y="3410640"/>
            <a:ext cx="548424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Écriture dans segments Lucene en mémoire (buffer). Flush → segment sur disque.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34"/>
          <p:cNvSpPr/>
          <p:nvPr/>
        </p:nvSpPr>
        <p:spPr>
          <a:xfrm>
            <a:off x="3154680" y="342900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35"/>
          <p:cNvSpPr/>
          <p:nvPr/>
        </p:nvSpPr>
        <p:spPr>
          <a:xfrm>
            <a:off x="274320" y="4251960"/>
            <a:ext cx="500760" cy="500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Text 36"/>
          <p:cNvSpPr/>
          <p:nvPr/>
        </p:nvSpPr>
        <p:spPr>
          <a:xfrm>
            <a:off x="274320" y="4251960"/>
            <a:ext cx="500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37"/>
          <p:cNvSpPr/>
          <p:nvPr/>
        </p:nvSpPr>
        <p:spPr>
          <a:xfrm>
            <a:off x="914400" y="4160520"/>
            <a:ext cx="7861680" cy="656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38"/>
          <p:cNvSpPr/>
          <p:nvPr/>
        </p:nvSpPr>
        <p:spPr>
          <a:xfrm>
            <a:off x="914400" y="4160520"/>
            <a:ext cx="61920" cy="656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 39"/>
          <p:cNvSpPr/>
          <p:nvPr/>
        </p:nvSpPr>
        <p:spPr>
          <a:xfrm>
            <a:off x="1078920" y="4215240"/>
            <a:ext cx="20095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2e7d32"/>
                </a:solidFill>
                <a:latin typeface="Calibri"/>
                <a:ea typeface="Calibri"/>
              </a:rPr>
              <a:t>Refresh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 40"/>
          <p:cNvSpPr/>
          <p:nvPr/>
        </p:nvSpPr>
        <p:spPr>
          <a:xfrm>
            <a:off x="3200400" y="4233600"/>
            <a:ext cx="548424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Refresh (défaut 1s) : nouveau segment devient visible → document « searchable ».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41"/>
          <p:cNvSpPr/>
          <p:nvPr/>
        </p:nvSpPr>
        <p:spPr>
          <a:xfrm>
            <a:off x="3154680" y="425196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8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Séquence d'une mise à jour (write path)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3"/>
          <p:cNvSpPr/>
          <p:nvPr/>
        </p:nvSpPr>
        <p:spPr>
          <a:xfrm>
            <a:off x="228600" y="822960"/>
            <a:ext cx="4935600" cy="3675240"/>
          </a:xfrm>
          <a:prstGeom prst="rect">
            <a:avLst/>
          </a:prstGeom>
          <a:solidFill>
            <a:srgbClr val="eaf4f6"/>
          </a:solidFill>
          <a:ln w="12700">
            <a:solidFill>
              <a:srgbClr val="c0d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 4"/>
          <p:cNvSpPr/>
          <p:nvPr/>
        </p:nvSpPr>
        <p:spPr>
          <a:xfrm rot="16200000">
            <a:off x="244800" y="1556640"/>
            <a:ext cx="317880" cy="255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5"/>
          <p:cNvSpPr/>
          <p:nvPr/>
        </p:nvSpPr>
        <p:spPr>
          <a:xfrm>
            <a:off x="640080" y="1325880"/>
            <a:ext cx="1323720" cy="301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6"/>
          <p:cNvSpPr/>
          <p:nvPr/>
        </p:nvSpPr>
        <p:spPr>
          <a:xfrm>
            <a:off x="640080" y="1325880"/>
            <a:ext cx="1323720" cy="290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 7"/>
          <p:cNvSpPr/>
          <p:nvPr/>
        </p:nvSpPr>
        <p:spPr>
          <a:xfrm>
            <a:off x="658440" y="1325880"/>
            <a:ext cx="12870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1 ★ MANAGER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8"/>
          <p:cNvSpPr/>
          <p:nvPr/>
        </p:nvSpPr>
        <p:spPr>
          <a:xfrm>
            <a:off x="749880" y="1783080"/>
            <a:ext cx="1104120" cy="592200"/>
          </a:xfrm>
          <a:prstGeom prst="rect">
            <a:avLst/>
          </a:prstGeom>
          <a:solidFill>
            <a:srgbClr val="e8edef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 9"/>
          <p:cNvSpPr/>
          <p:nvPr/>
        </p:nvSpPr>
        <p:spPr>
          <a:xfrm>
            <a:off x="749880" y="1783080"/>
            <a:ext cx="1104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0"/>
          <p:cNvSpPr/>
          <p:nvPr/>
        </p:nvSpPr>
        <p:spPr>
          <a:xfrm>
            <a:off x="749880" y="2971800"/>
            <a:ext cx="1104120" cy="5922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 11"/>
          <p:cNvSpPr/>
          <p:nvPr/>
        </p:nvSpPr>
        <p:spPr>
          <a:xfrm>
            <a:off x="749880" y="2971800"/>
            <a:ext cx="1104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2"/>
          <p:cNvSpPr/>
          <p:nvPr/>
        </p:nvSpPr>
        <p:spPr>
          <a:xfrm>
            <a:off x="2057400" y="1325880"/>
            <a:ext cx="1323720" cy="301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3"/>
          <p:cNvSpPr/>
          <p:nvPr/>
        </p:nvSpPr>
        <p:spPr>
          <a:xfrm>
            <a:off x="2057400" y="1325880"/>
            <a:ext cx="1323720" cy="290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 14"/>
          <p:cNvSpPr/>
          <p:nvPr/>
        </p:nvSpPr>
        <p:spPr>
          <a:xfrm>
            <a:off x="2075760" y="1325880"/>
            <a:ext cx="12870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2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15"/>
          <p:cNvSpPr/>
          <p:nvPr/>
        </p:nvSpPr>
        <p:spPr>
          <a:xfrm>
            <a:off x="2167200" y="1783080"/>
            <a:ext cx="1104120" cy="592200"/>
          </a:xfrm>
          <a:prstGeom prst="rect">
            <a:avLst/>
          </a:prstGeom>
          <a:solidFill>
            <a:srgbClr val="e8ede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 16"/>
          <p:cNvSpPr/>
          <p:nvPr/>
        </p:nvSpPr>
        <p:spPr>
          <a:xfrm>
            <a:off x="2167200" y="1783080"/>
            <a:ext cx="1104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17"/>
          <p:cNvSpPr/>
          <p:nvPr/>
        </p:nvSpPr>
        <p:spPr>
          <a:xfrm>
            <a:off x="2167200" y="2971800"/>
            <a:ext cx="1104120" cy="592200"/>
          </a:xfrm>
          <a:prstGeom prst="rect">
            <a:avLst/>
          </a:prstGeom>
          <a:solidFill>
            <a:srgbClr val="e8ede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 18"/>
          <p:cNvSpPr/>
          <p:nvPr/>
        </p:nvSpPr>
        <p:spPr>
          <a:xfrm>
            <a:off x="2167200" y="2971800"/>
            <a:ext cx="1104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19"/>
          <p:cNvSpPr/>
          <p:nvPr/>
        </p:nvSpPr>
        <p:spPr>
          <a:xfrm>
            <a:off x="3474720" y="1325880"/>
            <a:ext cx="1323720" cy="301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0"/>
          <p:cNvSpPr/>
          <p:nvPr/>
        </p:nvSpPr>
        <p:spPr>
          <a:xfrm>
            <a:off x="3474720" y="1325880"/>
            <a:ext cx="1323720" cy="290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Text 21"/>
          <p:cNvSpPr/>
          <p:nvPr/>
        </p:nvSpPr>
        <p:spPr>
          <a:xfrm>
            <a:off x="3493080" y="1325880"/>
            <a:ext cx="12870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3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2"/>
          <p:cNvSpPr/>
          <p:nvPr/>
        </p:nvSpPr>
        <p:spPr>
          <a:xfrm>
            <a:off x="3584520" y="1783080"/>
            <a:ext cx="1104120" cy="592200"/>
          </a:xfrm>
          <a:prstGeom prst="rect">
            <a:avLst/>
          </a:prstGeom>
          <a:solidFill>
            <a:srgbClr val="00576b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23"/>
          <p:cNvSpPr/>
          <p:nvPr/>
        </p:nvSpPr>
        <p:spPr>
          <a:xfrm>
            <a:off x="3584520" y="1783080"/>
            <a:ext cx="1104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4"/>
          <p:cNvSpPr/>
          <p:nvPr/>
        </p:nvSpPr>
        <p:spPr>
          <a:xfrm>
            <a:off x="3584520" y="2971800"/>
            <a:ext cx="1104120" cy="592200"/>
          </a:xfrm>
          <a:prstGeom prst="rect">
            <a:avLst/>
          </a:prstGeom>
          <a:solidFill>
            <a:srgbClr val="e8edef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 25"/>
          <p:cNvSpPr/>
          <p:nvPr/>
        </p:nvSpPr>
        <p:spPr>
          <a:xfrm>
            <a:off x="3584520" y="2971800"/>
            <a:ext cx="1104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26"/>
          <p:cNvSpPr/>
          <p:nvPr/>
        </p:nvSpPr>
        <p:spPr>
          <a:xfrm>
            <a:off x="5394960" y="932760"/>
            <a:ext cx="409320" cy="4093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 27"/>
          <p:cNvSpPr/>
          <p:nvPr/>
        </p:nvSpPr>
        <p:spPr>
          <a:xfrm>
            <a:off x="5394960" y="93276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①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28"/>
          <p:cNvSpPr/>
          <p:nvPr/>
        </p:nvSpPr>
        <p:spPr>
          <a:xfrm>
            <a:off x="5897880" y="822960"/>
            <a:ext cx="2969640" cy="8208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29"/>
          <p:cNvSpPr/>
          <p:nvPr/>
        </p:nvSpPr>
        <p:spPr>
          <a:xfrm>
            <a:off x="5897880" y="822960"/>
            <a:ext cx="5256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Text 30"/>
          <p:cNvSpPr/>
          <p:nvPr/>
        </p:nvSpPr>
        <p:spPr>
          <a:xfrm>
            <a:off x="6016680" y="877680"/>
            <a:ext cx="27867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Le client envoie la requête vers le nœud 1 (coordinating).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31"/>
          <p:cNvSpPr/>
          <p:nvPr/>
        </p:nvSpPr>
        <p:spPr>
          <a:xfrm>
            <a:off x="5394960" y="1892880"/>
            <a:ext cx="409320" cy="4093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32"/>
          <p:cNvSpPr/>
          <p:nvPr/>
        </p:nvSpPr>
        <p:spPr>
          <a:xfrm>
            <a:off x="5394960" y="189288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②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33"/>
          <p:cNvSpPr/>
          <p:nvPr/>
        </p:nvSpPr>
        <p:spPr>
          <a:xfrm>
            <a:off x="5897880" y="1783080"/>
            <a:ext cx="2969640" cy="8208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34"/>
          <p:cNvSpPr/>
          <p:nvPr/>
        </p:nvSpPr>
        <p:spPr>
          <a:xfrm>
            <a:off x="5897880" y="1783080"/>
            <a:ext cx="5256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Text 35"/>
          <p:cNvSpPr/>
          <p:nvPr/>
        </p:nvSpPr>
        <p:spPr>
          <a:xfrm>
            <a:off x="6016680" y="1837800"/>
            <a:ext cx="27867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Nœud 1 déduit le shard cible (hash de _id) et transfère vers nœud 3 (shard P0 primaire).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36"/>
          <p:cNvSpPr/>
          <p:nvPr/>
        </p:nvSpPr>
        <p:spPr>
          <a:xfrm>
            <a:off x="5394960" y="2853000"/>
            <a:ext cx="409320" cy="4093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 37"/>
          <p:cNvSpPr/>
          <p:nvPr/>
        </p:nvSpPr>
        <p:spPr>
          <a:xfrm>
            <a:off x="5394960" y="285300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③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38"/>
          <p:cNvSpPr/>
          <p:nvPr/>
        </p:nvSpPr>
        <p:spPr>
          <a:xfrm>
            <a:off x="5897880" y="2743200"/>
            <a:ext cx="2969640" cy="8208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39"/>
          <p:cNvSpPr/>
          <p:nvPr/>
        </p:nvSpPr>
        <p:spPr>
          <a:xfrm>
            <a:off x="5897880" y="2743200"/>
            <a:ext cx="5256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 40"/>
          <p:cNvSpPr/>
          <p:nvPr/>
        </p:nvSpPr>
        <p:spPr>
          <a:xfrm>
            <a:off x="6016680" y="2797920"/>
            <a:ext cx="27867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Nœud 3 exécute sur le shard primaire, puis réplique en parallèle vers nœud 1 et nœud 2.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41"/>
          <p:cNvSpPr/>
          <p:nvPr/>
        </p:nvSpPr>
        <p:spPr>
          <a:xfrm>
            <a:off x="5394960" y="3813120"/>
            <a:ext cx="409320" cy="4093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 42"/>
          <p:cNvSpPr/>
          <p:nvPr/>
        </p:nvSpPr>
        <p:spPr>
          <a:xfrm>
            <a:off x="5394960" y="381312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④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43"/>
          <p:cNvSpPr/>
          <p:nvPr/>
        </p:nvSpPr>
        <p:spPr>
          <a:xfrm>
            <a:off x="5897880" y="3703320"/>
            <a:ext cx="2969640" cy="8208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44"/>
          <p:cNvSpPr/>
          <p:nvPr/>
        </p:nvSpPr>
        <p:spPr>
          <a:xfrm>
            <a:off x="5897880" y="3703320"/>
            <a:ext cx="5256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 45"/>
          <p:cNvSpPr/>
          <p:nvPr/>
        </p:nvSpPr>
        <p:spPr>
          <a:xfrm>
            <a:off x="6016680" y="3758040"/>
            <a:ext cx="27867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Après confirmation des réplicas, nœud 3 répond à nœud 1 qui répond au client.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214"/>
          <p:cNvSpPr/>
          <p:nvPr/>
        </p:nvSpPr>
        <p:spPr>
          <a:xfrm>
            <a:off x="180000" y="4641120"/>
            <a:ext cx="8593200" cy="50076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 187"/>
          <p:cNvSpPr/>
          <p:nvPr/>
        </p:nvSpPr>
        <p:spPr>
          <a:xfrm>
            <a:off x="454320" y="4622040"/>
            <a:ext cx="83188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8834a"/>
                </a:solidFill>
                <a:latin typeface="Consolas"/>
                <a:ea typeface="Consolas"/>
              </a:rPr>
              <a:t>Formule de routing :   shard = hash(routing_key) % nombre_de_shards_primaires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Requête : coordination &amp; exécution distribuée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 3"/>
          <p:cNvSpPr/>
          <p:nvPr/>
        </p:nvSpPr>
        <p:spPr>
          <a:xfrm>
            <a:off x="320040" y="777240"/>
            <a:ext cx="8501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576b"/>
                </a:solidFill>
                <a:latin typeface="Calibri"/>
                <a:ea typeface="Calibri"/>
              </a:rPr>
              <a:t>Deux phases principales : QUERY puis FETCH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4"/>
          <p:cNvSpPr/>
          <p:nvPr/>
        </p:nvSpPr>
        <p:spPr>
          <a:xfrm>
            <a:off x="274320" y="1261800"/>
            <a:ext cx="4158360" cy="35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5"/>
          <p:cNvSpPr/>
          <p:nvPr/>
        </p:nvSpPr>
        <p:spPr>
          <a:xfrm>
            <a:off x="274320" y="1261800"/>
            <a:ext cx="4158360" cy="4093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Text 6"/>
          <p:cNvSpPr/>
          <p:nvPr/>
        </p:nvSpPr>
        <p:spPr>
          <a:xfrm>
            <a:off x="384120" y="1261800"/>
            <a:ext cx="4021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Phase QUERY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7"/>
          <p:cNvSpPr/>
          <p:nvPr/>
        </p:nvSpPr>
        <p:spPr>
          <a:xfrm>
            <a:off x="274320" y="1673280"/>
            <a:ext cx="61920" cy="3152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Shape 8"/>
          <p:cNvSpPr/>
          <p:nvPr/>
        </p:nvSpPr>
        <p:spPr>
          <a:xfrm>
            <a:off x="438840" y="1865520"/>
            <a:ext cx="253800" cy="2538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Text 9"/>
          <p:cNvSpPr/>
          <p:nvPr/>
        </p:nvSpPr>
        <p:spPr>
          <a:xfrm>
            <a:off x="438840" y="1865520"/>
            <a:ext cx="253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 10"/>
          <p:cNvSpPr/>
          <p:nvPr/>
        </p:nvSpPr>
        <p:spPr>
          <a:xfrm>
            <a:off x="777240" y="1810440"/>
            <a:ext cx="35640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nœud recevant la requête devient coordinateur.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11"/>
          <p:cNvSpPr/>
          <p:nvPr/>
        </p:nvSpPr>
        <p:spPr>
          <a:xfrm>
            <a:off x="438840" y="2578680"/>
            <a:ext cx="253800" cy="2538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 12"/>
          <p:cNvSpPr/>
          <p:nvPr/>
        </p:nvSpPr>
        <p:spPr>
          <a:xfrm>
            <a:off x="438840" y="2578680"/>
            <a:ext cx="253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 13"/>
          <p:cNvSpPr/>
          <p:nvPr/>
        </p:nvSpPr>
        <p:spPr>
          <a:xfrm>
            <a:off x="777240" y="2523600"/>
            <a:ext cx="35640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Il diffuse la requête à UNE copie (primaire ou réplique) de CHAQUE shard.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14"/>
          <p:cNvSpPr/>
          <p:nvPr/>
        </p:nvSpPr>
        <p:spPr>
          <a:xfrm>
            <a:off x="438840" y="3291840"/>
            <a:ext cx="253800" cy="2538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 15"/>
          <p:cNvSpPr/>
          <p:nvPr/>
        </p:nvSpPr>
        <p:spPr>
          <a:xfrm>
            <a:off x="438840" y="3291840"/>
            <a:ext cx="253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 16"/>
          <p:cNvSpPr/>
          <p:nvPr/>
        </p:nvSpPr>
        <p:spPr>
          <a:xfrm>
            <a:off x="777240" y="3237120"/>
            <a:ext cx="35640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exécute la recherche localement et construit une file de priorité (IDs + scores).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17"/>
          <p:cNvSpPr/>
          <p:nvPr/>
        </p:nvSpPr>
        <p:spPr>
          <a:xfrm>
            <a:off x="438840" y="4005000"/>
            <a:ext cx="253800" cy="2538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 18"/>
          <p:cNvSpPr/>
          <p:nvPr/>
        </p:nvSpPr>
        <p:spPr>
          <a:xfrm>
            <a:off x="438840" y="4005000"/>
            <a:ext cx="253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 19"/>
          <p:cNvSpPr/>
          <p:nvPr/>
        </p:nvSpPr>
        <p:spPr>
          <a:xfrm>
            <a:off x="777240" y="3950280"/>
            <a:ext cx="35640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Les résultats partiels remontent au coordinateur.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20"/>
          <p:cNvSpPr/>
          <p:nvPr/>
        </p:nvSpPr>
        <p:spPr>
          <a:xfrm>
            <a:off x="4754880" y="1261800"/>
            <a:ext cx="4158360" cy="35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21"/>
          <p:cNvSpPr/>
          <p:nvPr/>
        </p:nvSpPr>
        <p:spPr>
          <a:xfrm>
            <a:off x="4754880" y="1261800"/>
            <a:ext cx="4158360" cy="4093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Text 22"/>
          <p:cNvSpPr/>
          <p:nvPr/>
        </p:nvSpPr>
        <p:spPr>
          <a:xfrm>
            <a:off x="4864680" y="1261800"/>
            <a:ext cx="4021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Phase FETCH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23"/>
          <p:cNvSpPr/>
          <p:nvPr/>
        </p:nvSpPr>
        <p:spPr>
          <a:xfrm>
            <a:off x="4754880" y="1673280"/>
            <a:ext cx="61920" cy="3152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Shape 24"/>
          <p:cNvSpPr/>
          <p:nvPr/>
        </p:nvSpPr>
        <p:spPr>
          <a:xfrm>
            <a:off x="4919400" y="1865520"/>
            <a:ext cx="253800" cy="25380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 25"/>
          <p:cNvSpPr/>
          <p:nvPr/>
        </p:nvSpPr>
        <p:spPr>
          <a:xfrm>
            <a:off x="4919400" y="1865520"/>
            <a:ext cx="253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 26"/>
          <p:cNvSpPr/>
          <p:nvPr/>
        </p:nvSpPr>
        <p:spPr>
          <a:xfrm>
            <a:off x="5257800" y="1810440"/>
            <a:ext cx="35640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agrège tous les résultats partiels.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27"/>
          <p:cNvSpPr/>
          <p:nvPr/>
        </p:nvSpPr>
        <p:spPr>
          <a:xfrm>
            <a:off x="4919400" y="2578680"/>
            <a:ext cx="253800" cy="25380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 28"/>
          <p:cNvSpPr/>
          <p:nvPr/>
        </p:nvSpPr>
        <p:spPr>
          <a:xfrm>
            <a:off x="4919400" y="2578680"/>
            <a:ext cx="253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 29"/>
          <p:cNvSpPr/>
          <p:nvPr/>
        </p:nvSpPr>
        <p:spPr>
          <a:xfrm>
            <a:off x="5257800" y="2523600"/>
            <a:ext cx="35640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Tri global, application de la pagination (from/size).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30"/>
          <p:cNvSpPr/>
          <p:nvPr/>
        </p:nvSpPr>
        <p:spPr>
          <a:xfrm>
            <a:off x="4919400" y="3291840"/>
            <a:ext cx="253800" cy="25380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Text 31"/>
          <p:cNvSpPr/>
          <p:nvPr/>
        </p:nvSpPr>
        <p:spPr>
          <a:xfrm>
            <a:off x="4919400" y="3291840"/>
            <a:ext cx="253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 32"/>
          <p:cNvSpPr/>
          <p:nvPr/>
        </p:nvSpPr>
        <p:spPr>
          <a:xfrm>
            <a:off x="5257800" y="3237120"/>
            <a:ext cx="35640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Récupération des documents complets via leurs IDs (_source).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33"/>
          <p:cNvSpPr/>
          <p:nvPr/>
        </p:nvSpPr>
        <p:spPr>
          <a:xfrm>
            <a:off x="4919400" y="4005000"/>
            <a:ext cx="253800" cy="25380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Text 34"/>
          <p:cNvSpPr/>
          <p:nvPr/>
        </p:nvSpPr>
        <p:spPr>
          <a:xfrm>
            <a:off x="4919400" y="4005000"/>
            <a:ext cx="253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Text 35"/>
          <p:cNvSpPr/>
          <p:nvPr/>
        </p:nvSpPr>
        <p:spPr>
          <a:xfrm>
            <a:off x="5257800" y="3950280"/>
            <a:ext cx="35640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Renvoi de la réponse finale au client.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36"/>
          <p:cNvSpPr/>
          <p:nvPr/>
        </p:nvSpPr>
        <p:spPr>
          <a:xfrm>
            <a:off x="274320" y="4663440"/>
            <a:ext cx="8593200" cy="363600"/>
          </a:xfrm>
          <a:prstGeom prst="rect">
            <a:avLst/>
          </a:prstGeom>
          <a:solidFill>
            <a:srgbClr val="fff3e8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Text 37"/>
          <p:cNvSpPr/>
          <p:nvPr/>
        </p:nvSpPr>
        <p:spPr>
          <a:xfrm>
            <a:off x="411480" y="4681800"/>
            <a:ext cx="831888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⚠  </a:t>
            </a:r>
            <a:r>
              <a:rPr b="0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Impact perf : latence = shard le plus lent. Caches, filtres, tri, agrégations → coût CPU/mémoire.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Phase Query — Détail d'exécution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 3"/>
          <p:cNvSpPr/>
          <p:nvPr/>
        </p:nvSpPr>
        <p:spPr>
          <a:xfrm>
            <a:off x="320040" y="77724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Durant la 1ère phase, le coordinateur diffuse la requête à une copie (primaire ou réplique) de tous les shards.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 4"/>
          <p:cNvSpPr/>
          <p:nvPr/>
        </p:nvSpPr>
        <p:spPr>
          <a:xfrm>
            <a:off x="320040" y="1188720"/>
            <a:ext cx="8501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exécute la recherche et construit une file à priorité des documents qui matchent.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5"/>
          <p:cNvSpPr/>
          <p:nvPr/>
        </p:nvSpPr>
        <p:spPr>
          <a:xfrm>
            <a:off x="320040" y="1691640"/>
            <a:ext cx="4752720" cy="3106800"/>
          </a:xfrm>
          <a:prstGeom prst="rect">
            <a:avLst/>
          </a:prstGeom>
          <a:solidFill>
            <a:srgbClr val="eaf4f6"/>
          </a:solidFill>
          <a:ln w="12700">
            <a:solidFill>
              <a:srgbClr val="c0d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 6"/>
          <p:cNvSpPr/>
          <p:nvPr/>
        </p:nvSpPr>
        <p:spPr>
          <a:xfrm rot="16200000">
            <a:off x="336240" y="2242080"/>
            <a:ext cx="29052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7"/>
          <p:cNvSpPr/>
          <p:nvPr/>
        </p:nvSpPr>
        <p:spPr>
          <a:xfrm>
            <a:off x="731520" y="2011680"/>
            <a:ext cx="1186560" cy="2649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8"/>
          <p:cNvSpPr/>
          <p:nvPr/>
        </p:nvSpPr>
        <p:spPr>
          <a:xfrm>
            <a:off x="731520" y="2011680"/>
            <a:ext cx="1186560" cy="2721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Text 9"/>
          <p:cNvSpPr/>
          <p:nvPr/>
        </p:nvSpPr>
        <p:spPr>
          <a:xfrm>
            <a:off x="731520" y="2011680"/>
            <a:ext cx="1186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1 ★ MGR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10"/>
          <p:cNvSpPr/>
          <p:nvPr/>
        </p:nvSpPr>
        <p:spPr>
          <a:xfrm>
            <a:off x="822960" y="2450520"/>
            <a:ext cx="1003680" cy="500760"/>
          </a:xfrm>
          <a:prstGeom prst="rect">
            <a:avLst/>
          </a:prstGeom>
          <a:solidFill>
            <a:srgbClr val="e8edef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Text 11"/>
          <p:cNvSpPr/>
          <p:nvPr/>
        </p:nvSpPr>
        <p:spPr>
          <a:xfrm>
            <a:off x="822960" y="2450520"/>
            <a:ext cx="10036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12"/>
          <p:cNvSpPr/>
          <p:nvPr/>
        </p:nvSpPr>
        <p:spPr>
          <a:xfrm>
            <a:off x="822960" y="3474720"/>
            <a:ext cx="1003680" cy="500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 13"/>
          <p:cNvSpPr/>
          <p:nvPr/>
        </p:nvSpPr>
        <p:spPr>
          <a:xfrm>
            <a:off x="822960" y="3474720"/>
            <a:ext cx="10036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14"/>
          <p:cNvSpPr/>
          <p:nvPr/>
        </p:nvSpPr>
        <p:spPr>
          <a:xfrm>
            <a:off x="2103120" y="2011680"/>
            <a:ext cx="1186560" cy="2649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15"/>
          <p:cNvSpPr/>
          <p:nvPr/>
        </p:nvSpPr>
        <p:spPr>
          <a:xfrm>
            <a:off x="2103120" y="2011680"/>
            <a:ext cx="1186560" cy="272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 16"/>
          <p:cNvSpPr/>
          <p:nvPr/>
        </p:nvSpPr>
        <p:spPr>
          <a:xfrm>
            <a:off x="2103120" y="2011680"/>
            <a:ext cx="1186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2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17"/>
          <p:cNvSpPr/>
          <p:nvPr/>
        </p:nvSpPr>
        <p:spPr>
          <a:xfrm>
            <a:off x="2194560" y="2450520"/>
            <a:ext cx="1003680" cy="500760"/>
          </a:xfrm>
          <a:prstGeom prst="rect">
            <a:avLst/>
          </a:prstGeom>
          <a:solidFill>
            <a:srgbClr val="e8ede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 18"/>
          <p:cNvSpPr/>
          <p:nvPr/>
        </p:nvSpPr>
        <p:spPr>
          <a:xfrm>
            <a:off x="2194560" y="2450520"/>
            <a:ext cx="10036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19"/>
          <p:cNvSpPr/>
          <p:nvPr/>
        </p:nvSpPr>
        <p:spPr>
          <a:xfrm>
            <a:off x="2194560" y="3474720"/>
            <a:ext cx="1003680" cy="500760"/>
          </a:xfrm>
          <a:prstGeom prst="rect">
            <a:avLst/>
          </a:prstGeom>
          <a:solidFill>
            <a:srgbClr val="e8ede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 20"/>
          <p:cNvSpPr/>
          <p:nvPr/>
        </p:nvSpPr>
        <p:spPr>
          <a:xfrm>
            <a:off x="2194560" y="3474720"/>
            <a:ext cx="10036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21"/>
          <p:cNvSpPr/>
          <p:nvPr/>
        </p:nvSpPr>
        <p:spPr>
          <a:xfrm>
            <a:off x="3474720" y="2011680"/>
            <a:ext cx="1186560" cy="2649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22"/>
          <p:cNvSpPr/>
          <p:nvPr/>
        </p:nvSpPr>
        <p:spPr>
          <a:xfrm>
            <a:off x="3474720" y="2011680"/>
            <a:ext cx="1186560" cy="2721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Text 23"/>
          <p:cNvSpPr/>
          <p:nvPr/>
        </p:nvSpPr>
        <p:spPr>
          <a:xfrm>
            <a:off x="3474720" y="2011680"/>
            <a:ext cx="1186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3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24"/>
          <p:cNvSpPr/>
          <p:nvPr/>
        </p:nvSpPr>
        <p:spPr>
          <a:xfrm>
            <a:off x="3566160" y="2450520"/>
            <a:ext cx="1003680" cy="5007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Text 25"/>
          <p:cNvSpPr/>
          <p:nvPr/>
        </p:nvSpPr>
        <p:spPr>
          <a:xfrm>
            <a:off x="3566160" y="2450520"/>
            <a:ext cx="10036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26"/>
          <p:cNvSpPr/>
          <p:nvPr/>
        </p:nvSpPr>
        <p:spPr>
          <a:xfrm>
            <a:off x="3566160" y="3474720"/>
            <a:ext cx="1003680" cy="500760"/>
          </a:xfrm>
          <a:prstGeom prst="rect">
            <a:avLst/>
          </a:prstGeom>
          <a:solidFill>
            <a:srgbClr val="e8edef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 27"/>
          <p:cNvSpPr/>
          <p:nvPr/>
        </p:nvSpPr>
        <p:spPr>
          <a:xfrm>
            <a:off x="3566160" y="3474720"/>
            <a:ext cx="10036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28"/>
          <p:cNvSpPr/>
          <p:nvPr/>
        </p:nvSpPr>
        <p:spPr>
          <a:xfrm>
            <a:off x="5303520" y="1856160"/>
            <a:ext cx="409320" cy="4093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 29"/>
          <p:cNvSpPr/>
          <p:nvPr/>
        </p:nvSpPr>
        <p:spPr>
          <a:xfrm>
            <a:off x="5303520" y="185616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①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30"/>
          <p:cNvSpPr/>
          <p:nvPr/>
        </p:nvSpPr>
        <p:spPr>
          <a:xfrm>
            <a:off x="5806440" y="1719000"/>
            <a:ext cx="3061080" cy="8208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31"/>
          <p:cNvSpPr/>
          <p:nvPr/>
        </p:nvSpPr>
        <p:spPr>
          <a:xfrm>
            <a:off x="5806440" y="1719000"/>
            <a:ext cx="5256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 32"/>
          <p:cNvSpPr/>
          <p:nvPr/>
        </p:nvSpPr>
        <p:spPr>
          <a:xfrm>
            <a:off x="5925240" y="1774080"/>
            <a:ext cx="287820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envoie la requête en parallèle vers une copie de chaque shard.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33"/>
          <p:cNvSpPr/>
          <p:nvPr/>
        </p:nvSpPr>
        <p:spPr>
          <a:xfrm>
            <a:off x="5303520" y="2843640"/>
            <a:ext cx="409320" cy="4093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 34"/>
          <p:cNvSpPr/>
          <p:nvPr/>
        </p:nvSpPr>
        <p:spPr>
          <a:xfrm>
            <a:off x="5303520" y="28436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②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35"/>
          <p:cNvSpPr/>
          <p:nvPr/>
        </p:nvSpPr>
        <p:spPr>
          <a:xfrm>
            <a:off x="5806440" y="2706480"/>
            <a:ext cx="3061080" cy="8208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36"/>
          <p:cNvSpPr/>
          <p:nvPr/>
        </p:nvSpPr>
        <p:spPr>
          <a:xfrm>
            <a:off x="5806440" y="2706480"/>
            <a:ext cx="5256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37"/>
          <p:cNvSpPr/>
          <p:nvPr/>
        </p:nvSpPr>
        <p:spPr>
          <a:xfrm>
            <a:off x="5925240" y="2761560"/>
            <a:ext cx="287820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exécute localement : scoring, tri, construction de la priority queue.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38"/>
          <p:cNvSpPr/>
          <p:nvPr/>
        </p:nvSpPr>
        <p:spPr>
          <a:xfrm>
            <a:off x="5303520" y="3831480"/>
            <a:ext cx="409320" cy="4093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 39"/>
          <p:cNvSpPr/>
          <p:nvPr/>
        </p:nvSpPr>
        <p:spPr>
          <a:xfrm>
            <a:off x="5303520" y="383148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③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40"/>
          <p:cNvSpPr/>
          <p:nvPr/>
        </p:nvSpPr>
        <p:spPr>
          <a:xfrm>
            <a:off x="5806440" y="3694320"/>
            <a:ext cx="3061080" cy="8208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41"/>
          <p:cNvSpPr/>
          <p:nvPr/>
        </p:nvSpPr>
        <p:spPr>
          <a:xfrm>
            <a:off x="5806440" y="3694320"/>
            <a:ext cx="5256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Text 42"/>
          <p:cNvSpPr/>
          <p:nvPr/>
        </p:nvSpPr>
        <p:spPr>
          <a:xfrm>
            <a:off x="5925240" y="3749040"/>
            <a:ext cx="287820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retourne ses top-N résultats (IDs + scores) au coordinateur.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Shape 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Shape 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 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Phase Fetch — Récupération et retour des résultats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Text 3"/>
          <p:cNvSpPr/>
          <p:nvPr/>
        </p:nvSpPr>
        <p:spPr>
          <a:xfrm>
            <a:off x="320040" y="77724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agrège les résultats des différents shards en fonction des paramètres de pagination et de tri.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Text 4"/>
          <p:cNvSpPr/>
          <p:nvPr/>
        </p:nvSpPr>
        <p:spPr>
          <a:xfrm>
            <a:off x="320040" y="1188720"/>
            <a:ext cx="8501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Il récupère ensuite les documents via leur _id et retourne la réponse au client.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5"/>
          <p:cNvSpPr/>
          <p:nvPr/>
        </p:nvSpPr>
        <p:spPr>
          <a:xfrm>
            <a:off x="274320" y="1737360"/>
            <a:ext cx="4158360" cy="1415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6"/>
          <p:cNvSpPr/>
          <p:nvPr/>
        </p:nvSpPr>
        <p:spPr>
          <a:xfrm>
            <a:off x="274320" y="1737360"/>
            <a:ext cx="61920" cy="14151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Shape 7"/>
          <p:cNvSpPr/>
          <p:nvPr/>
        </p:nvSpPr>
        <p:spPr>
          <a:xfrm>
            <a:off x="438840" y="1847160"/>
            <a:ext cx="345240" cy="34524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Text 8"/>
          <p:cNvSpPr/>
          <p:nvPr/>
        </p:nvSpPr>
        <p:spPr>
          <a:xfrm>
            <a:off x="438840" y="1847160"/>
            <a:ext cx="3452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①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Text 9"/>
          <p:cNvSpPr/>
          <p:nvPr/>
        </p:nvSpPr>
        <p:spPr>
          <a:xfrm>
            <a:off x="868680" y="1828800"/>
            <a:ext cx="34999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576b"/>
                </a:solidFill>
                <a:latin typeface="Calibri"/>
                <a:ea typeface="Calibri"/>
              </a:rPr>
              <a:t>Agrégation des résultats partiels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Text 10"/>
          <p:cNvSpPr/>
          <p:nvPr/>
        </p:nvSpPr>
        <p:spPr>
          <a:xfrm>
            <a:off x="457200" y="2267640"/>
            <a:ext cx="388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collecte les priority queues de tous les shards et réalise un tri global.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11"/>
          <p:cNvSpPr/>
          <p:nvPr/>
        </p:nvSpPr>
        <p:spPr>
          <a:xfrm>
            <a:off x="4754880" y="1737360"/>
            <a:ext cx="4158360" cy="1415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12"/>
          <p:cNvSpPr/>
          <p:nvPr/>
        </p:nvSpPr>
        <p:spPr>
          <a:xfrm>
            <a:off x="4754880" y="1737360"/>
            <a:ext cx="61920" cy="1415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Shape 13"/>
          <p:cNvSpPr/>
          <p:nvPr/>
        </p:nvSpPr>
        <p:spPr>
          <a:xfrm>
            <a:off x="4919400" y="1847160"/>
            <a:ext cx="345240" cy="34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Text 14"/>
          <p:cNvSpPr/>
          <p:nvPr/>
        </p:nvSpPr>
        <p:spPr>
          <a:xfrm>
            <a:off x="4919400" y="1847160"/>
            <a:ext cx="3452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②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 15"/>
          <p:cNvSpPr/>
          <p:nvPr/>
        </p:nvSpPr>
        <p:spPr>
          <a:xfrm>
            <a:off x="5349240" y="1828800"/>
            <a:ext cx="34999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7a8a"/>
                </a:solidFill>
                <a:latin typeface="Calibri"/>
                <a:ea typeface="Calibri"/>
              </a:rPr>
              <a:t>Pagination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 16"/>
          <p:cNvSpPr/>
          <p:nvPr/>
        </p:nvSpPr>
        <p:spPr>
          <a:xfrm>
            <a:off x="4937760" y="2267640"/>
            <a:ext cx="388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Application des paramètres from / size. Sélection des N documents à retourner.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17"/>
          <p:cNvSpPr/>
          <p:nvPr/>
        </p:nvSpPr>
        <p:spPr>
          <a:xfrm>
            <a:off x="274320" y="3291840"/>
            <a:ext cx="4158360" cy="1415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18"/>
          <p:cNvSpPr/>
          <p:nvPr/>
        </p:nvSpPr>
        <p:spPr>
          <a:xfrm>
            <a:off x="274320" y="3291840"/>
            <a:ext cx="61920" cy="14151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Shape 19"/>
          <p:cNvSpPr/>
          <p:nvPr/>
        </p:nvSpPr>
        <p:spPr>
          <a:xfrm>
            <a:off x="438840" y="3401640"/>
            <a:ext cx="345240" cy="3452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 20"/>
          <p:cNvSpPr/>
          <p:nvPr/>
        </p:nvSpPr>
        <p:spPr>
          <a:xfrm>
            <a:off x="438840" y="3401640"/>
            <a:ext cx="3452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③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 21"/>
          <p:cNvSpPr/>
          <p:nvPr/>
        </p:nvSpPr>
        <p:spPr>
          <a:xfrm>
            <a:off x="868680" y="3383280"/>
            <a:ext cx="34999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834a"/>
                </a:solidFill>
                <a:latin typeface="Calibri"/>
                <a:ea typeface="Calibri"/>
              </a:rPr>
              <a:t>Multi-get (_mget)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Text 22"/>
          <p:cNvSpPr/>
          <p:nvPr/>
        </p:nvSpPr>
        <p:spPr>
          <a:xfrm>
            <a:off x="457200" y="3822120"/>
            <a:ext cx="388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interroge les shards qui hébergent les documents sélectionnés pour récupérer leur _source.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23"/>
          <p:cNvSpPr/>
          <p:nvPr/>
        </p:nvSpPr>
        <p:spPr>
          <a:xfrm>
            <a:off x="4754880" y="3291840"/>
            <a:ext cx="4158360" cy="1415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24"/>
          <p:cNvSpPr/>
          <p:nvPr/>
        </p:nvSpPr>
        <p:spPr>
          <a:xfrm>
            <a:off x="4754880" y="3291840"/>
            <a:ext cx="61920" cy="14151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Shape 25"/>
          <p:cNvSpPr/>
          <p:nvPr/>
        </p:nvSpPr>
        <p:spPr>
          <a:xfrm>
            <a:off x="4919400" y="3401640"/>
            <a:ext cx="345240" cy="3452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Text 26"/>
          <p:cNvSpPr/>
          <p:nvPr/>
        </p:nvSpPr>
        <p:spPr>
          <a:xfrm>
            <a:off x="4919400" y="3401640"/>
            <a:ext cx="3452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④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ext 27"/>
          <p:cNvSpPr/>
          <p:nvPr/>
        </p:nvSpPr>
        <p:spPr>
          <a:xfrm>
            <a:off x="5349240" y="3383280"/>
            <a:ext cx="34999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2e7d32"/>
                </a:solidFill>
                <a:latin typeface="Calibri"/>
                <a:ea typeface="Calibri"/>
              </a:rPr>
              <a:t>Réponse au client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 28"/>
          <p:cNvSpPr/>
          <p:nvPr/>
        </p:nvSpPr>
        <p:spPr>
          <a:xfrm>
            <a:off x="4937760" y="3822120"/>
            <a:ext cx="388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Assemblage de la réponse finale : hits, _score, _source, agrégations. Retour HTTP 200 au client.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Shape 215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Shape 216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 188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Installation &amp; Distributions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217"/>
          <p:cNvSpPr/>
          <p:nvPr/>
        </p:nvSpPr>
        <p:spPr>
          <a:xfrm>
            <a:off x="274320" y="822960"/>
            <a:ext cx="4158360" cy="4093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 189"/>
          <p:cNvSpPr/>
          <p:nvPr/>
        </p:nvSpPr>
        <p:spPr>
          <a:xfrm>
            <a:off x="384120" y="822960"/>
            <a:ext cx="39297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Tarball / ZIP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218"/>
          <p:cNvSpPr/>
          <p:nvPr/>
        </p:nvSpPr>
        <p:spPr>
          <a:xfrm>
            <a:off x="274320" y="1234440"/>
            <a:ext cx="4158360" cy="1415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219"/>
          <p:cNvSpPr/>
          <p:nvPr/>
        </p:nvSpPr>
        <p:spPr>
          <a:xfrm>
            <a:off x="274320" y="1234440"/>
            <a:ext cx="61920" cy="14151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 190"/>
          <p:cNvSpPr/>
          <p:nvPr/>
        </p:nvSpPr>
        <p:spPr>
          <a:xfrm>
            <a:off x="457200" y="1280160"/>
            <a:ext cx="3838320" cy="13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Téléchargement depuis opensearch.org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amazon : tar -xzf opensearch-2.x.x.tar.gz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220"/>
          <p:cNvSpPr/>
          <p:nvPr/>
        </p:nvSpPr>
        <p:spPr>
          <a:xfrm>
            <a:off x="4754880" y="822960"/>
            <a:ext cx="4158360" cy="4093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 191"/>
          <p:cNvSpPr/>
          <p:nvPr/>
        </p:nvSpPr>
        <p:spPr>
          <a:xfrm>
            <a:off x="4864680" y="822960"/>
            <a:ext cx="39297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Packages DEB / RPM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221"/>
          <p:cNvSpPr/>
          <p:nvPr/>
        </p:nvSpPr>
        <p:spPr>
          <a:xfrm>
            <a:off x="4754880" y="1234440"/>
            <a:ext cx="4158360" cy="1415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222"/>
          <p:cNvSpPr/>
          <p:nvPr/>
        </p:nvSpPr>
        <p:spPr>
          <a:xfrm>
            <a:off x="4754880" y="1234440"/>
            <a:ext cx="61920" cy="14151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 192"/>
          <p:cNvSpPr/>
          <p:nvPr/>
        </p:nvSpPr>
        <p:spPr>
          <a:xfrm>
            <a:off x="4937760" y="1280160"/>
            <a:ext cx="3838320" cy="13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apt install opensearch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yum install opensearch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223"/>
          <p:cNvSpPr/>
          <p:nvPr/>
        </p:nvSpPr>
        <p:spPr>
          <a:xfrm>
            <a:off x="274320" y="2880360"/>
            <a:ext cx="4158360" cy="40932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 193"/>
          <p:cNvSpPr/>
          <p:nvPr/>
        </p:nvSpPr>
        <p:spPr>
          <a:xfrm>
            <a:off x="384120" y="2880360"/>
            <a:ext cx="39297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Docker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224"/>
          <p:cNvSpPr/>
          <p:nvPr/>
        </p:nvSpPr>
        <p:spPr>
          <a:xfrm>
            <a:off x="274320" y="3291840"/>
            <a:ext cx="4158360" cy="1415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225"/>
          <p:cNvSpPr/>
          <p:nvPr/>
        </p:nvSpPr>
        <p:spPr>
          <a:xfrm>
            <a:off x="274320" y="3291840"/>
            <a:ext cx="61920" cy="14151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 194"/>
          <p:cNvSpPr/>
          <p:nvPr/>
        </p:nvSpPr>
        <p:spPr>
          <a:xfrm>
            <a:off x="457200" y="3337560"/>
            <a:ext cx="3838320" cy="13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docker pull opensearchproject/opensearch:latest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docker-compose (recommandé pour cluster)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226"/>
          <p:cNvSpPr/>
          <p:nvPr/>
        </p:nvSpPr>
        <p:spPr>
          <a:xfrm>
            <a:off x="4754880" y="2880360"/>
            <a:ext cx="4158360" cy="40932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 195"/>
          <p:cNvSpPr/>
          <p:nvPr/>
        </p:nvSpPr>
        <p:spPr>
          <a:xfrm>
            <a:off x="4864680" y="2880360"/>
            <a:ext cx="39297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Kubernetes / Helm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227"/>
          <p:cNvSpPr/>
          <p:nvPr/>
        </p:nvSpPr>
        <p:spPr>
          <a:xfrm>
            <a:off x="4754880" y="3291840"/>
            <a:ext cx="4158360" cy="1415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228"/>
          <p:cNvSpPr/>
          <p:nvPr/>
        </p:nvSpPr>
        <p:spPr>
          <a:xfrm>
            <a:off x="4754880" y="3291840"/>
            <a:ext cx="61920" cy="14151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Text 196"/>
          <p:cNvSpPr/>
          <p:nvPr/>
        </p:nvSpPr>
        <p:spPr>
          <a:xfrm>
            <a:off x="4937760" y="3337560"/>
            <a:ext cx="3838320" cy="13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Helm chart officiel OpenSearch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Opensearch Operator (k8s natif)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29"/>
          <p:cNvSpPr/>
          <p:nvPr/>
        </p:nvSpPr>
        <p:spPr>
          <a:xfrm>
            <a:off x="274320" y="4617720"/>
            <a:ext cx="8593200" cy="381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230"/>
          <p:cNvSpPr/>
          <p:nvPr/>
        </p:nvSpPr>
        <p:spPr>
          <a:xfrm>
            <a:off x="274320" y="4617720"/>
            <a:ext cx="61920" cy="381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Text 197"/>
          <p:cNvSpPr/>
          <p:nvPr/>
        </p:nvSpPr>
        <p:spPr>
          <a:xfrm>
            <a:off x="457200" y="4617720"/>
            <a:ext cx="822744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Atelier 1 — Installation cluster OpenSearch et premier démarrage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Shape 539"/>
          <p:cNvSpPr/>
          <p:nvPr/>
        </p:nvSpPr>
        <p:spPr>
          <a:xfrm>
            <a:off x="5943600" y="0"/>
            <a:ext cx="3198960" cy="51422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Shape 540"/>
          <p:cNvSpPr/>
          <p:nvPr/>
        </p:nvSpPr>
        <p:spPr>
          <a:xfrm>
            <a:off x="5806440" y="0"/>
            <a:ext cx="163080" cy="5142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Text 519"/>
          <p:cNvSpPr/>
          <p:nvPr/>
        </p:nvSpPr>
        <p:spPr>
          <a:xfrm>
            <a:off x="457200" y="822960"/>
            <a:ext cx="53020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200" spc="-1" strike="noStrike">
                <a:solidFill>
                  <a:srgbClr val="a8d4dc"/>
                </a:solidFill>
                <a:latin typeface="Calibri"/>
                <a:ea typeface="Calibri"/>
              </a:rPr>
              <a:t>Module 2.1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Text 520"/>
          <p:cNvSpPr/>
          <p:nvPr/>
        </p:nvSpPr>
        <p:spPr>
          <a:xfrm>
            <a:off x="457200" y="1371600"/>
            <a:ext cx="52106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Indexation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et Documents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Shape 541"/>
          <p:cNvSpPr/>
          <p:nvPr/>
        </p:nvSpPr>
        <p:spPr>
          <a:xfrm>
            <a:off x="457200" y="2834640"/>
            <a:ext cx="2284560" cy="44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Text 521"/>
          <p:cNvSpPr/>
          <p:nvPr/>
        </p:nvSpPr>
        <p:spPr>
          <a:xfrm>
            <a:off x="457200" y="2971800"/>
            <a:ext cx="5302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7aafba"/>
                </a:solidFill>
                <a:latin typeface="Calibri"/>
                <a:ea typeface="Calibri"/>
              </a:rPr>
              <a:t>Formation OpenSearch · 2025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Shape 542"/>
          <p:cNvSpPr/>
          <p:nvPr/>
        </p:nvSpPr>
        <p:spPr>
          <a:xfrm>
            <a:off x="6080760" y="822960"/>
            <a:ext cx="2833200" cy="8215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Text 522"/>
          <p:cNvSpPr/>
          <p:nvPr/>
        </p:nvSpPr>
        <p:spPr>
          <a:xfrm>
            <a:off x="6172200" y="841320"/>
            <a:ext cx="2696040" cy="78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Structure d'un document JSON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Shape 543"/>
          <p:cNvSpPr/>
          <p:nvPr/>
        </p:nvSpPr>
        <p:spPr>
          <a:xfrm>
            <a:off x="6080760" y="1828800"/>
            <a:ext cx="2833200" cy="8215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 523"/>
          <p:cNvSpPr/>
          <p:nvPr/>
        </p:nvSpPr>
        <p:spPr>
          <a:xfrm>
            <a:off x="6172200" y="1847160"/>
            <a:ext cx="2696040" cy="78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Document API (CRUD)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Shape 544"/>
          <p:cNvSpPr/>
          <p:nvPr/>
        </p:nvSpPr>
        <p:spPr>
          <a:xfrm>
            <a:off x="6080760" y="2834640"/>
            <a:ext cx="2833200" cy="8215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Text 524"/>
          <p:cNvSpPr/>
          <p:nvPr/>
        </p:nvSpPr>
        <p:spPr>
          <a:xfrm>
            <a:off x="6172200" y="2853000"/>
            <a:ext cx="2696040" cy="78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Bulk API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Shape 545"/>
          <p:cNvSpPr/>
          <p:nvPr/>
        </p:nvSpPr>
        <p:spPr>
          <a:xfrm>
            <a:off x="6080760" y="3840480"/>
            <a:ext cx="2833200" cy="8215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 525"/>
          <p:cNvSpPr/>
          <p:nvPr/>
        </p:nvSpPr>
        <p:spPr>
          <a:xfrm>
            <a:off x="6172200" y="3858840"/>
            <a:ext cx="2696040" cy="78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Routing &amp; Distribution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Shape 546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Shape 547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Text 526"/>
          <p:cNvSpPr/>
          <p:nvPr/>
        </p:nvSpPr>
        <p:spPr>
          <a:xfrm>
            <a:off x="347400" y="54720"/>
            <a:ext cx="8411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Structure d'un document OpenSearch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548"/>
          <p:cNvSpPr/>
          <p:nvPr/>
        </p:nvSpPr>
        <p:spPr>
          <a:xfrm>
            <a:off x="274320" y="822960"/>
            <a:ext cx="4113360" cy="1187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549"/>
          <p:cNvSpPr/>
          <p:nvPr/>
        </p:nvSpPr>
        <p:spPr>
          <a:xfrm>
            <a:off x="274320" y="822960"/>
            <a:ext cx="62640" cy="1187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Text 527"/>
          <p:cNvSpPr/>
          <p:nvPr/>
        </p:nvSpPr>
        <p:spPr>
          <a:xfrm>
            <a:off x="457200" y="896040"/>
            <a:ext cx="3747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Champs typés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Text 528"/>
          <p:cNvSpPr/>
          <p:nvPr/>
        </p:nvSpPr>
        <p:spPr>
          <a:xfrm>
            <a:off x="457200" y="1243440"/>
            <a:ext cx="374760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Chaque champ a un type détecté automatiquement ou défini dans le mapping : text, keyword, integer, date, boolean, geo_point, object…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550"/>
          <p:cNvSpPr/>
          <p:nvPr/>
        </p:nvSpPr>
        <p:spPr>
          <a:xfrm>
            <a:off x="274320" y="2212920"/>
            <a:ext cx="4113360" cy="1187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551"/>
          <p:cNvSpPr/>
          <p:nvPr/>
        </p:nvSpPr>
        <p:spPr>
          <a:xfrm>
            <a:off x="274320" y="2212920"/>
            <a:ext cx="62640" cy="1187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4" name="Text 529"/>
          <p:cNvSpPr/>
          <p:nvPr/>
        </p:nvSpPr>
        <p:spPr>
          <a:xfrm>
            <a:off x="457200" y="2286000"/>
            <a:ext cx="3747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Imbrication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 530"/>
          <p:cNvSpPr/>
          <p:nvPr/>
        </p:nvSpPr>
        <p:spPr>
          <a:xfrm>
            <a:off x="457200" y="2633400"/>
            <a:ext cx="374760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Un champ peut contenir un objet JSON imbriqué (object) ou un tableau de valeurs.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552"/>
          <p:cNvSpPr/>
          <p:nvPr/>
        </p:nvSpPr>
        <p:spPr>
          <a:xfrm>
            <a:off x="274320" y="3602880"/>
            <a:ext cx="4113360" cy="1187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553"/>
          <p:cNvSpPr/>
          <p:nvPr/>
        </p:nvSpPr>
        <p:spPr>
          <a:xfrm>
            <a:off x="274320" y="3602880"/>
            <a:ext cx="62640" cy="1187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 531"/>
          <p:cNvSpPr/>
          <p:nvPr/>
        </p:nvSpPr>
        <p:spPr>
          <a:xfrm>
            <a:off x="457200" y="3675960"/>
            <a:ext cx="3747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Méta-données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 532"/>
          <p:cNvSpPr/>
          <p:nvPr/>
        </p:nvSpPr>
        <p:spPr>
          <a:xfrm>
            <a:off x="457200" y="4023360"/>
            <a:ext cx="374760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_index, _id, _version, _seq_no, _primary_term — associées automatiquement à chaque document.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554"/>
          <p:cNvSpPr/>
          <p:nvPr/>
        </p:nvSpPr>
        <p:spPr>
          <a:xfrm>
            <a:off x="4663440" y="822960"/>
            <a:ext cx="4204800" cy="35647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Text 533"/>
          <p:cNvSpPr/>
          <p:nvPr/>
        </p:nvSpPr>
        <p:spPr>
          <a:xfrm>
            <a:off x="4773240" y="896040"/>
            <a:ext cx="3976200" cy="34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 /clients/_doc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"name"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"John Smith"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,  // keyword/text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"age"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b5cea8"/>
                </a:solidFill>
                <a:latin typeface="Consolas"/>
                <a:ea typeface="Consolas"/>
              </a:rPr>
              <a:t>42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,        // integer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"actif"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569cd6"/>
                </a:solidFill>
                <a:latin typeface="Consolas"/>
                <a:ea typeface="Consolas"/>
              </a:rPr>
              <a:t>true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     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// boolean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"inscription"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"2024-01-15"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 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// date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"adresse"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{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// object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"ville"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"Paris"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"cp"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"75001"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"tags"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[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"vip"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"premium"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]  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// tableau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555"/>
          <p:cNvSpPr/>
          <p:nvPr/>
        </p:nvSpPr>
        <p:spPr>
          <a:xfrm>
            <a:off x="274320" y="4617720"/>
            <a:ext cx="859392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556"/>
          <p:cNvSpPr/>
          <p:nvPr/>
        </p:nvSpPr>
        <p:spPr>
          <a:xfrm>
            <a:off x="274320" y="4617720"/>
            <a:ext cx="62640" cy="345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Text 534"/>
          <p:cNvSpPr/>
          <p:nvPr/>
        </p:nvSpPr>
        <p:spPr>
          <a:xfrm>
            <a:off x="457200" y="461772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  <a:ea typeface="Calibri"/>
              </a:rPr>
              <a:t>⚠️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  <a:ea typeface="Calibri"/>
              </a:rPr>
              <a:t>OpenSearch : le champ _type (_doc) est déprécié depuis la v2 — un index = un type de document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Shape 557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Shape 558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7" name="Text 535"/>
          <p:cNvSpPr/>
          <p:nvPr/>
        </p:nvSpPr>
        <p:spPr>
          <a:xfrm>
            <a:off x="347400" y="54720"/>
            <a:ext cx="8411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Document API — Opérations CRUD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559"/>
          <p:cNvSpPr/>
          <p:nvPr/>
        </p:nvSpPr>
        <p:spPr>
          <a:xfrm>
            <a:off x="274320" y="804600"/>
            <a:ext cx="912960" cy="47412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Text 536"/>
          <p:cNvSpPr/>
          <p:nvPr/>
        </p:nvSpPr>
        <p:spPr>
          <a:xfrm>
            <a:off x="274320" y="804600"/>
            <a:ext cx="912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POST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Text 537"/>
          <p:cNvSpPr/>
          <p:nvPr/>
        </p:nvSpPr>
        <p:spPr>
          <a:xfrm>
            <a:off x="1298520" y="804600"/>
            <a:ext cx="18273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Créer (ID auto)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560"/>
          <p:cNvSpPr/>
          <p:nvPr/>
        </p:nvSpPr>
        <p:spPr>
          <a:xfrm>
            <a:off x="3246120" y="804600"/>
            <a:ext cx="3198960" cy="4741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 538"/>
          <p:cNvSpPr/>
          <p:nvPr/>
        </p:nvSpPr>
        <p:spPr>
          <a:xfrm>
            <a:off x="3337560" y="804600"/>
            <a:ext cx="30160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 /mon-index/_doc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561"/>
          <p:cNvSpPr/>
          <p:nvPr/>
        </p:nvSpPr>
        <p:spPr>
          <a:xfrm>
            <a:off x="6537960" y="804600"/>
            <a:ext cx="2330280" cy="4741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Text 539"/>
          <p:cNvSpPr/>
          <p:nvPr/>
        </p:nvSpPr>
        <p:spPr>
          <a:xfrm>
            <a:off x="6629400" y="804600"/>
            <a:ext cx="21747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7480"/>
                </a:solidFill>
                <a:latin typeface="Calibri"/>
                <a:ea typeface="Calibri"/>
              </a:rPr>
              <a:t>ID généré automatiquement par OpenSearch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562"/>
          <p:cNvSpPr/>
          <p:nvPr/>
        </p:nvSpPr>
        <p:spPr>
          <a:xfrm>
            <a:off x="274320" y="1280160"/>
            <a:ext cx="8593920" cy="352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563"/>
          <p:cNvSpPr/>
          <p:nvPr/>
        </p:nvSpPr>
        <p:spPr>
          <a:xfrm>
            <a:off x="274320" y="1856160"/>
            <a:ext cx="912960" cy="4741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Text 540"/>
          <p:cNvSpPr/>
          <p:nvPr/>
        </p:nvSpPr>
        <p:spPr>
          <a:xfrm>
            <a:off x="274320" y="1856160"/>
            <a:ext cx="912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PUT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Text 541"/>
          <p:cNvSpPr/>
          <p:nvPr/>
        </p:nvSpPr>
        <p:spPr>
          <a:xfrm>
            <a:off x="1298520" y="1856160"/>
            <a:ext cx="18273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Créer / Remplacer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564"/>
          <p:cNvSpPr/>
          <p:nvPr/>
        </p:nvSpPr>
        <p:spPr>
          <a:xfrm>
            <a:off x="3246120" y="1856160"/>
            <a:ext cx="3198960" cy="4741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Text 542"/>
          <p:cNvSpPr/>
          <p:nvPr/>
        </p:nvSpPr>
        <p:spPr>
          <a:xfrm>
            <a:off x="3337560" y="1856160"/>
            <a:ext cx="30160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PUT /mon-index/_doc/{id}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565"/>
          <p:cNvSpPr/>
          <p:nvPr/>
        </p:nvSpPr>
        <p:spPr>
          <a:xfrm>
            <a:off x="6537960" y="1856160"/>
            <a:ext cx="2330280" cy="47412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Text 543"/>
          <p:cNvSpPr/>
          <p:nvPr/>
        </p:nvSpPr>
        <p:spPr>
          <a:xfrm>
            <a:off x="6629400" y="1856160"/>
            <a:ext cx="21747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7480"/>
                </a:solidFill>
                <a:latin typeface="Calibri"/>
                <a:ea typeface="Calibri"/>
              </a:rPr>
              <a:t>Crée ou remplace le document entier — _version incrémenté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566"/>
          <p:cNvSpPr/>
          <p:nvPr/>
        </p:nvSpPr>
        <p:spPr>
          <a:xfrm>
            <a:off x="274320" y="2331720"/>
            <a:ext cx="8593920" cy="352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567"/>
          <p:cNvSpPr/>
          <p:nvPr/>
        </p:nvSpPr>
        <p:spPr>
          <a:xfrm>
            <a:off x="274320" y="2907720"/>
            <a:ext cx="912960" cy="4741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Text 544"/>
          <p:cNvSpPr/>
          <p:nvPr/>
        </p:nvSpPr>
        <p:spPr>
          <a:xfrm>
            <a:off x="274320" y="2907720"/>
            <a:ext cx="912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GET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 545"/>
          <p:cNvSpPr/>
          <p:nvPr/>
        </p:nvSpPr>
        <p:spPr>
          <a:xfrm>
            <a:off x="1298520" y="2907720"/>
            <a:ext cx="18273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Récupérer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568"/>
          <p:cNvSpPr/>
          <p:nvPr/>
        </p:nvSpPr>
        <p:spPr>
          <a:xfrm>
            <a:off x="3246120" y="2907720"/>
            <a:ext cx="3198960" cy="4741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Text 546"/>
          <p:cNvSpPr/>
          <p:nvPr/>
        </p:nvSpPr>
        <p:spPr>
          <a:xfrm>
            <a:off x="3337560" y="2907720"/>
            <a:ext cx="30160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/mon-index/_doc/{id}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569"/>
          <p:cNvSpPr/>
          <p:nvPr/>
        </p:nvSpPr>
        <p:spPr>
          <a:xfrm>
            <a:off x="6537960" y="2907720"/>
            <a:ext cx="2330280" cy="4741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Text 547"/>
          <p:cNvSpPr/>
          <p:nvPr/>
        </p:nvSpPr>
        <p:spPr>
          <a:xfrm>
            <a:off x="6629400" y="2907720"/>
            <a:ext cx="21747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7480"/>
                </a:solidFill>
                <a:latin typeface="Calibri"/>
                <a:ea typeface="Calibri"/>
              </a:rPr>
              <a:t>Retourne le document et ses méta-données (_index, _id, _version, _source)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570"/>
          <p:cNvSpPr/>
          <p:nvPr/>
        </p:nvSpPr>
        <p:spPr>
          <a:xfrm>
            <a:off x="274320" y="3383280"/>
            <a:ext cx="8593920" cy="3528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571"/>
          <p:cNvSpPr/>
          <p:nvPr/>
        </p:nvSpPr>
        <p:spPr>
          <a:xfrm>
            <a:off x="274320" y="3959280"/>
            <a:ext cx="912960" cy="47412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Text 548"/>
          <p:cNvSpPr/>
          <p:nvPr/>
        </p:nvSpPr>
        <p:spPr>
          <a:xfrm>
            <a:off x="274320" y="3959280"/>
            <a:ext cx="912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DELETE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Text 549"/>
          <p:cNvSpPr/>
          <p:nvPr/>
        </p:nvSpPr>
        <p:spPr>
          <a:xfrm>
            <a:off x="1298520" y="3959280"/>
            <a:ext cx="18273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Supprimer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572"/>
          <p:cNvSpPr/>
          <p:nvPr/>
        </p:nvSpPr>
        <p:spPr>
          <a:xfrm>
            <a:off x="3246120" y="3959280"/>
            <a:ext cx="3198960" cy="4741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Text 550"/>
          <p:cNvSpPr/>
          <p:nvPr/>
        </p:nvSpPr>
        <p:spPr>
          <a:xfrm>
            <a:off x="3337560" y="3959280"/>
            <a:ext cx="30160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DELETE /mon-index/_doc/{id}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573"/>
          <p:cNvSpPr/>
          <p:nvPr/>
        </p:nvSpPr>
        <p:spPr>
          <a:xfrm>
            <a:off x="6537960" y="3959280"/>
            <a:ext cx="2330280" cy="47412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Text 551"/>
          <p:cNvSpPr/>
          <p:nvPr/>
        </p:nvSpPr>
        <p:spPr>
          <a:xfrm>
            <a:off x="6629400" y="3959280"/>
            <a:ext cx="21747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7480"/>
                </a:solidFill>
                <a:latin typeface="Calibri"/>
                <a:ea typeface="Calibri"/>
              </a:rPr>
              <a:t>Suppression asynchrone — répliques supprimées en batch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Shape 576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Shape 577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1" name="Text 553"/>
          <p:cNvSpPr/>
          <p:nvPr/>
        </p:nvSpPr>
        <p:spPr>
          <a:xfrm>
            <a:off x="347400" y="54720"/>
            <a:ext cx="8411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Mise à jour partielle — _update &amp; Scripts Painless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578"/>
          <p:cNvSpPr/>
          <p:nvPr/>
        </p:nvSpPr>
        <p:spPr>
          <a:xfrm>
            <a:off x="274320" y="804600"/>
            <a:ext cx="4113360" cy="3826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3" name="Text 554"/>
          <p:cNvSpPr/>
          <p:nvPr/>
        </p:nvSpPr>
        <p:spPr>
          <a:xfrm>
            <a:off x="365760" y="8046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Principe — documents immuables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579"/>
          <p:cNvSpPr/>
          <p:nvPr/>
        </p:nvSpPr>
        <p:spPr>
          <a:xfrm>
            <a:off x="274320" y="1243440"/>
            <a:ext cx="4113360" cy="4741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580"/>
          <p:cNvSpPr/>
          <p:nvPr/>
        </p:nvSpPr>
        <p:spPr>
          <a:xfrm>
            <a:off x="347400" y="1362600"/>
            <a:ext cx="181440" cy="18144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Text 555"/>
          <p:cNvSpPr/>
          <p:nvPr/>
        </p:nvSpPr>
        <p:spPr>
          <a:xfrm>
            <a:off x="640080" y="1243440"/>
            <a:ext cx="3656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Les documents OpenSearch sont immuables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581"/>
          <p:cNvSpPr/>
          <p:nvPr/>
        </p:nvSpPr>
        <p:spPr>
          <a:xfrm>
            <a:off x="274320" y="1774080"/>
            <a:ext cx="4113360" cy="474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582"/>
          <p:cNvSpPr/>
          <p:nvPr/>
        </p:nvSpPr>
        <p:spPr>
          <a:xfrm>
            <a:off x="347400" y="1892880"/>
            <a:ext cx="181440" cy="18144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9" name="Text 556"/>
          <p:cNvSpPr/>
          <p:nvPr/>
        </p:nvSpPr>
        <p:spPr>
          <a:xfrm>
            <a:off x="640080" y="1774080"/>
            <a:ext cx="3656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Une mise à jour = récupération + fusion + réindexation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583"/>
          <p:cNvSpPr/>
          <p:nvPr/>
        </p:nvSpPr>
        <p:spPr>
          <a:xfrm>
            <a:off x="274320" y="2304360"/>
            <a:ext cx="4113360" cy="4741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584"/>
          <p:cNvSpPr/>
          <p:nvPr/>
        </p:nvSpPr>
        <p:spPr>
          <a:xfrm>
            <a:off x="347400" y="2423160"/>
            <a:ext cx="181440" cy="18144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Text 557"/>
          <p:cNvSpPr/>
          <p:nvPr/>
        </p:nvSpPr>
        <p:spPr>
          <a:xfrm>
            <a:off x="640080" y="2304360"/>
            <a:ext cx="3656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_update fusionne les champs fournis avec les champs existants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585"/>
          <p:cNvSpPr/>
          <p:nvPr/>
        </p:nvSpPr>
        <p:spPr>
          <a:xfrm>
            <a:off x="274320" y="2834640"/>
            <a:ext cx="4113360" cy="474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586"/>
          <p:cNvSpPr/>
          <p:nvPr/>
        </p:nvSpPr>
        <p:spPr>
          <a:xfrm>
            <a:off x="347400" y="2953440"/>
            <a:ext cx="181440" cy="18144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Text 558"/>
          <p:cNvSpPr/>
          <p:nvPr/>
        </p:nvSpPr>
        <p:spPr>
          <a:xfrm>
            <a:off x="640080" y="2834640"/>
            <a:ext cx="3656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Seuls les champs modifiés sont envoyés dans la requête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587"/>
          <p:cNvSpPr/>
          <p:nvPr/>
        </p:nvSpPr>
        <p:spPr>
          <a:xfrm>
            <a:off x="4572000" y="804600"/>
            <a:ext cx="4296240" cy="38268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7" name="Text 559"/>
          <p:cNvSpPr/>
          <p:nvPr/>
        </p:nvSpPr>
        <p:spPr>
          <a:xfrm>
            <a:off x="4663440" y="80460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Exemples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588"/>
          <p:cNvSpPr/>
          <p:nvPr/>
        </p:nvSpPr>
        <p:spPr>
          <a:xfrm>
            <a:off x="4572000" y="1243440"/>
            <a:ext cx="4296240" cy="144324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9" name="Text 560"/>
          <p:cNvSpPr/>
          <p:nvPr/>
        </p:nvSpPr>
        <p:spPr>
          <a:xfrm>
            <a:off x="4663440" y="1298520"/>
            <a:ext cx="4113360" cy="13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Mise à jour partielle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/clients/_update/1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"doc": { "tags": ["vip"], "score": 99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589"/>
          <p:cNvSpPr/>
          <p:nvPr/>
        </p:nvSpPr>
        <p:spPr>
          <a:xfrm>
            <a:off x="4572000" y="2761560"/>
            <a:ext cx="4296240" cy="201024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" name="Text 561"/>
          <p:cNvSpPr/>
          <p:nvPr/>
        </p:nvSpPr>
        <p:spPr>
          <a:xfrm>
            <a:off x="4663440" y="2816280"/>
            <a:ext cx="4113360" cy="190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Script Painless — incrément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/clients/_update/1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"script"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{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"source"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"ctx._source.score += params.inc"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"params"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{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"inc"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b5cea8"/>
                </a:solidFill>
                <a:latin typeface="Consolas"/>
                <a:ea typeface="Consolas"/>
              </a:rPr>
              <a:t>10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Shape 59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Shape 591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Text 562"/>
          <p:cNvSpPr/>
          <p:nvPr/>
        </p:nvSpPr>
        <p:spPr>
          <a:xfrm>
            <a:off x="347400" y="54720"/>
            <a:ext cx="8411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Bulk API — Opérations en lot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592"/>
          <p:cNvSpPr/>
          <p:nvPr/>
        </p:nvSpPr>
        <p:spPr>
          <a:xfrm>
            <a:off x="274320" y="804600"/>
            <a:ext cx="4159080" cy="8146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593"/>
          <p:cNvSpPr/>
          <p:nvPr/>
        </p:nvSpPr>
        <p:spPr>
          <a:xfrm>
            <a:off x="274320" y="660600"/>
            <a:ext cx="62640" cy="1004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Text 563"/>
          <p:cNvSpPr/>
          <p:nvPr/>
        </p:nvSpPr>
        <p:spPr>
          <a:xfrm>
            <a:off x="457200" y="706320"/>
            <a:ext cx="38390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Mode batch d'OpenSearch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Text 564"/>
          <p:cNvSpPr/>
          <p:nvPr/>
        </p:nvSpPr>
        <p:spPr>
          <a:xfrm>
            <a:off x="457200" y="1026360"/>
            <a:ext cx="3839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00" spc="-1" strike="noStrike">
                <a:solidFill>
                  <a:srgbClr val="1a2b2f"/>
                </a:solidFill>
                <a:latin typeface="Calibri"/>
                <a:ea typeface="Calibri"/>
              </a:rPr>
              <a:t>Regroupe plusieurs opérations (create, index, update, delete) en une seule requête HTTP — réduit drastiquement la charge réseau.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594"/>
          <p:cNvSpPr/>
          <p:nvPr/>
        </p:nvSpPr>
        <p:spPr>
          <a:xfrm>
            <a:off x="4754880" y="804600"/>
            <a:ext cx="4159080" cy="8146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595"/>
          <p:cNvSpPr/>
          <p:nvPr/>
        </p:nvSpPr>
        <p:spPr>
          <a:xfrm>
            <a:off x="4754880" y="660600"/>
            <a:ext cx="62640" cy="1004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Text 565"/>
          <p:cNvSpPr/>
          <p:nvPr/>
        </p:nvSpPr>
        <p:spPr>
          <a:xfrm>
            <a:off x="4937760" y="706320"/>
            <a:ext cx="38390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Traitement indépendant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 566"/>
          <p:cNvSpPr/>
          <p:nvPr/>
        </p:nvSpPr>
        <p:spPr>
          <a:xfrm>
            <a:off x="4937760" y="1026360"/>
            <a:ext cx="3839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00" spc="-1" strike="noStrike">
                <a:solidFill>
                  <a:srgbClr val="1a2b2f"/>
                </a:solidFill>
                <a:latin typeface="Calibri"/>
                <a:ea typeface="Calibri"/>
              </a:rPr>
              <a:t>Chaque opération est traitée séparément. L'échec d'une n'affecte pas les autres. ⚠️ La Bulk API ne supporte pas les transactions.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596"/>
          <p:cNvSpPr/>
          <p:nvPr/>
        </p:nvSpPr>
        <p:spPr>
          <a:xfrm>
            <a:off x="274320" y="1704240"/>
            <a:ext cx="2741760" cy="3643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Text 567"/>
          <p:cNvSpPr/>
          <p:nvPr/>
        </p:nvSpPr>
        <p:spPr>
          <a:xfrm>
            <a:off x="365760" y="1704240"/>
            <a:ext cx="2558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Format NDJSON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597"/>
          <p:cNvSpPr/>
          <p:nvPr/>
        </p:nvSpPr>
        <p:spPr>
          <a:xfrm>
            <a:off x="274320" y="2124720"/>
            <a:ext cx="2741760" cy="3276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Text 568"/>
          <p:cNvSpPr/>
          <p:nvPr/>
        </p:nvSpPr>
        <p:spPr>
          <a:xfrm>
            <a:off x="365760" y="2124720"/>
            <a:ext cx="2604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{ action: { _index, _id } }  ← ligne action/metadata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598"/>
          <p:cNvSpPr/>
          <p:nvPr/>
        </p:nvSpPr>
        <p:spPr>
          <a:xfrm>
            <a:off x="274320" y="2472480"/>
            <a:ext cx="2741760" cy="327600"/>
          </a:xfrm>
          <a:prstGeom prst="rect">
            <a:avLst/>
          </a:prstGeom>
          <a:solidFill>
            <a:srgbClr val="0d3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Text 569"/>
          <p:cNvSpPr/>
          <p:nvPr/>
        </p:nvSpPr>
        <p:spPr>
          <a:xfrm>
            <a:off x="365760" y="2472480"/>
            <a:ext cx="2604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corps du document }         ← ligne corps (sauf delete)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599"/>
          <p:cNvSpPr/>
          <p:nvPr/>
        </p:nvSpPr>
        <p:spPr>
          <a:xfrm>
            <a:off x="274320" y="2819880"/>
            <a:ext cx="2741760" cy="3276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Text 570"/>
          <p:cNvSpPr/>
          <p:nvPr/>
        </p:nvSpPr>
        <p:spPr>
          <a:xfrm>
            <a:off x="365760" y="2819880"/>
            <a:ext cx="2604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{ action: { ... } }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600"/>
          <p:cNvSpPr/>
          <p:nvPr/>
        </p:nvSpPr>
        <p:spPr>
          <a:xfrm>
            <a:off x="274320" y="3167280"/>
            <a:ext cx="2741760" cy="327600"/>
          </a:xfrm>
          <a:prstGeom prst="rect">
            <a:avLst/>
          </a:prstGeom>
          <a:solidFill>
            <a:srgbClr val="0d3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2" name="Text 571"/>
          <p:cNvSpPr/>
          <p:nvPr/>
        </p:nvSpPr>
        <p:spPr>
          <a:xfrm>
            <a:off x="365760" y="3167280"/>
            <a:ext cx="2604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corps ... }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601"/>
          <p:cNvSpPr/>
          <p:nvPr/>
        </p:nvSpPr>
        <p:spPr>
          <a:xfrm>
            <a:off x="274320" y="3551400"/>
            <a:ext cx="274176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602"/>
          <p:cNvSpPr/>
          <p:nvPr/>
        </p:nvSpPr>
        <p:spPr>
          <a:xfrm>
            <a:off x="347400" y="3661200"/>
            <a:ext cx="181440" cy="18144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Text 572"/>
          <p:cNvSpPr/>
          <p:nvPr/>
        </p:nvSpPr>
        <p:spPr>
          <a:xfrm>
            <a:off x="621720" y="3551400"/>
            <a:ext cx="2330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Chaque ligne se termine par \n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603"/>
          <p:cNvSpPr/>
          <p:nvPr/>
        </p:nvSpPr>
        <p:spPr>
          <a:xfrm>
            <a:off x="274320" y="3935520"/>
            <a:ext cx="2741760" cy="3459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604"/>
          <p:cNvSpPr/>
          <p:nvPr/>
        </p:nvSpPr>
        <p:spPr>
          <a:xfrm>
            <a:off x="347400" y="4044960"/>
            <a:ext cx="181440" cy="18144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Text 573"/>
          <p:cNvSpPr/>
          <p:nvPr/>
        </p:nvSpPr>
        <p:spPr>
          <a:xfrm>
            <a:off x="621720" y="3935520"/>
            <a:ext cx="2330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Pas de formatage JSON multi-lignes — tout sur une seule ligne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605"/>
          <p:cNvSpPr/>
          <p:nvPr/>
        </p:nvSpPr>
        <p:spPr>
          <a:xfrm>
            <a:off x="274320" y="4391280"/>
            <a:ext cx="274176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606"/>
          <p:cNvSpPr/>
          <p:nvPr/>
        </p:nvSpPr>
        <p:spPr>
          <a:xfrm>
            <a:off x="347400" y="4429080"/>
            <a:ext cx="181440" cy="18144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1" name="Text 574"/>
          <p:cNvSpPr/>
          <p:nvPr/>
        </p:nvSpPr>
        <p:spPr>
          <a:xfrm>
            <a:off x="621720" y="4391280"/>
            <a:ext cx="2330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delete n'a pas de ligne corps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607"/>
          <p:cNvSpPr/>
          <p:nvPr/>
        </p:nvSpPr>
        <p:spPr>
          <a:xfrm>
            <a:off x="3200400" y="1704240"/>
            <a:ext cx="5667840" cy="3643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Text 575"/>
          <p:cNvSpPr/>
          <p:nvPr/>
        </p:nvSpPr>
        <p:spPr>
          <a:xfrm>
            <a:off x="3291840" y="1704240"/>
            <a:ext cx="5484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Exemple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608"/>
          <p:cNvSpPr/>
          <p:nvPr/>
        </p:nvSpPr>
        <p:spPr>
          <a:xfrm>
            <a:off x="3200400" y="2124720"/>
            <a:ext cx="5667840" cy="21582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Text 576"/>
          <p:cNvSpPr/>
          <p:nvPr/>
        </p:nvSpPr>
        <p:spPr>
          <a:xfrm>
            <a:off x="3310200" y="2179800"/>
            <a:ext cx="5439240" cy="24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 /mon-index/_bulk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"delete":  { "_id": "1"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"create":  { "_id": "2"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{ "titre": "Premier article"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"index":   { "_id": "3"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{ "titre": "Deuxième article"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"update":  { "_id": "2"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{ "doc": { "titre": "Article mis à jour"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574"/>
          <p:cNvSpPr/>
          <p:nvPr/>
        </p:nvSpPr>
        <p:spPr>
          <a:xfrm>
            <a:off x="274320" y="4753080"/>
            <a:ext cx="859392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575"/>
          <p:cNvSpPr/>
          <p:nvPr/>
        </p:nvSpPr>
        <p:spPr>
          <a:xfrm>
            <a:off x="274320" y="4753080"/>
            <a:ext cx="62640" cy="345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Text 552"/>
          <p:cNvSpPr/>
          <p:nvPr/>
        </p:nvSpPr>
        <p:spPr>
          <a:xfrm>
            <a:off x="457200" y="47530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Atelier 2.1 — Document API : CRUD sur un index OpenSearch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Shape 632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Shape 633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Text 606"/>
          <p:cNvSpPr/>
          <p:nvPr/>
        </p:nvSpPr>
        <p:spPr>
          <a:xfrm>
            <a:off x="347400" y="54720"/>
            <a:ext cx="8411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API de recherche — Search Lite &amp; Query DSL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634"/>
          <p:cNvSpPr/>
          <p:nvPr/>
        </p:nvSpPr>
        <p:spPr>
          <a:xfrm>
            <a:off x="274320" y="696600"/>
            <a:ext cx="4159080" cy="3826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Text 607"/>
          <p:cNvSpPr/>
          <p:nvPr/>
        </p:nvSpPr>
        <p:spPr>
          <a:xfrm>
            <a:off x="365760" y="696600"/>
            <a:ext cx="39762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Search Lite (URI Search)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635"/>
          <p:cNvSpPr/>
          <p:nvPr/>
        </p:nvSpPr>
        <p:spPr>
          <a:xfrm>
            <a:off x="274320" y="1188720"/>
            <a:ext cx="4159080" cy="1370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636"/>
          <p:cNvSpPr/>
          <p:nvPr/>
        </p:nvSpPr>
        <p:spPr>
          <a:xfrm>
            <a:off x="274320" y="1080720"/>
            <a:ext cx="62640" cy="13701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Text 608"/>
          <p:cNvSpPr/>
          <p:nvPr/>
        </p:nvSpPr>
        <p:spPr>
          <a:xfrm>
            <a:off x="457200" y="1153800"/>
            <a:ext cx="388476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Paramètres passés directement dans l'URL via ?q=. Syntaxe Lucene Query String.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⚠️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À éviter en production : risque de sécurité, pas de contrôle fin des droits.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637"/>
          <p:cNvSpPr/>
          <p:nvPr/>
        </p:nvSpPr>
        <p:spPr>
          <a:xfrm>
            <a:off x="274320" y="2123280"/>
            <a:ext cx="4159080" cy="141588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8" name="Text 609"/>
          <p:cNvSpPr/>
          <p:nvPr/>
        </p:nvSpPr>
        <p:spPr>
          <a:xfrm>
            <a:off x="384120" y="2178000"/>
            <a:ext cx="3930480" cy="129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/mon-index/_search?q=titre:opensearch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638"/>
          <p:cNvSpPr/>
          <p:nvPr/>
        </p:nvSpPr>
        <p:spPr>
          <a:xfrm>
            <a:off x="4709160" y="696600"/>
            <a:ext cx="4159080" cy="3826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Text 610"/>
          <p:cNvSpPr/>
          <p:nvPr/>
        </p:nvSpPr>
        <p:spPr>
          <a:xfrm>
            <a:off x="4800600" y="696600"/>
            <a:ext cx="39762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Query DSL (corps JSON)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639"/>
          <p:cNvSpPr/>
          <p:nvPr/>
        </p:nvSpPr>
        <p:spPr>
          <a:xfrm>
            <a:off x="4709160" y="1080720"/>
            <a:ext cx="4159080" cy="1370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640"/>
          <p:cNvSpPr/>
          <p:nvPr/>
        </p:nvSpPr>
        <p:spPr>
          <a:xfrm>
            <a:off x="4709160" y="1080720"/>
            <a:ext cx="62640" cy="13701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Text 611"/>
          <p:cNvSpPr/>
          <p:nvPr/>
        </p:nvSpPr>
        <p:spPr>
          <a:xfrm>
            <a:off x="4892040" y="1153800"/>
            <a:ext cx="388476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Langage riche de requête passé dans le corps de la requête. C'est l'approche recommandée en production pour la précision, la lisibilité et la sécurité.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641"/>
          <p:cNvSpPr/>
          <p:nvPr/>
        </p:nvSpPr>
        <p:spPr>
          <a:xfrm>
            <a:off x="4709160" y="2123280"/>
            <a:ext cx="4159080" cy="141588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Text 612"/>
          <p:cNvSpPr/>
          <p:nvPr/>
        </p:nvSpPr>
        <p:spPr>
          <a:xfrm>
            <a:off x="4818960" y="2178000"/>
            <a:ext cx="3930480" cy="129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/mon-index/_search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{ "query": { "match": { "titre": "opensearch" }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642"/>
          <p:cNvSpPr/>
          <p:nvPr/>
        </p:nvSpPr>
        <p:spPr>
          <a:xfrm>
            <a:off x="274320" y="3586680"/>
            <a:ext cx="8593920" cy="3643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Text 613"/>
          <p:cNvSpPr/>
          <p:nvPr/>
        </p:nvSpPr>
        <p:spPr>
          <a:xfrm>
            <a:off x="365760" y="3586680"/>
            <a:ext cx="8319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Champs de la réponse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643"/>
          <p:cNvSpPr/>
          <p:nvPr/>
        </p:nvSpPr>
        <p:spPr>
          <a:xfrm>
            <a:off x="274320" y="4016520"/>
            <a:ext cx="4159080" cy="327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 614"/>
          <p:cNvSpPr/>
          <p:nvPr/>
        </p:nvSpPr>
        <p:spPr>
          <a:xfrm>
            <a:off x="365760" y="4016520"/>
            <a:ext cx="11872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hits.total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Text 615"/>
          <p:cNvSpPr/>
          <p:nvPr/>
        </p:nvSpPr>
        <p:spPr>
          <a:xfrm>
            <a:off x="1645920" y="4016520"/>
            <a:ext cx="2741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Nombre de documents correspondants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644"/>
          <p:cNvSpPr/>
          <p:nvPr/>
        </p:nvSpPr>
        <p:spPr>
          <a:xfrm>
            <a:off x="274320" y="4382280"/>
            <a:ext cx="4159080" cy="327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Text 616"/>
          <p:cNvSpPr/>
          <p:nvPr/>
        </p:nvSpPr>
        <p:spPr>
          <a:xfrm>
            <a:off x="365760" y="4382280"/>
            <a:ext cx="11872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hits.hits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 617"/>
          <p:cNvSpPr/>
          <p:nvPr/>
        </p:nvSpPr>
        <p:spPr>
          <a:xfrm>
            <a:off x="1645920" y="4382280"/>
            <a:ext cx="2741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Tableau des 10 premiers résultats (configurable via size)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645"/>
          <p:cNvSpPr/>
          <p:nvPr/>
        </p:nvSpPr>
        <p:spPr>
          <a:xfrm>
            <a:off x="274320" y="4748040"/>
            <a:ext cx="4159080" cy="327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 618"/>
          <p:cNvSpPr/>
          <p:nvPr/>
        </p:nvSpPr>
        <p:spPr>
          <a:xfrm>
            <a:off x="365760" y="4748040"/>
            <a:ext cx="11872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_score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 619"/>
          <p:cNvSpPr/>
          <p:nvPr/>
        </p:nvSpPr>
        <p:spPr>
          <a:xfrm>
            <a:off x="1645920" y="4748040"/>
            <a:ext cx="2741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Score de pertinence — tri par défaut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646"/>
          <p:cNvSpPr/>
          <p:nvPr/>
        </p:nvSpPr>
        <p:spPr>
          <a:xfrm>
            <a:off x="4709160" y="4016520"/>
            <a:ext cx="4159080" cy="327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 620"/>
          <p:cNvSpPr/>
          <p:nvPr/>
        </p:nvSpPr>
        <p:spPr>
          <a:xfrm>
            <a:off x="4800600" y="4016520"/>
            <a:ext cx="11872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took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 621"/>
          <p:cNvSpPr/>
          <p:nvPr/>
        </p:nvSpPr>
        <p:spPr>
          <a:xfrm>
            <a:off x="6080760" y="4016520"/>
            <a:ext cx="2741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Durée d'exécution en ms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647"/>
          <p:cNvSpPr/>
          <p:nvPr/>
        </p:nvSpPr>
        <p:spPr>
          <a:xfrm>
            <a:off x="4709160" y="4382280"/>
            <a:ext cx="4159080" cy="327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Text 622"/>
          <p:cNvSpPr/>
          <p:nvPr/>
        </p:nvSpPr>
        <p:spPr>
          <a:xfrm>
            <a:off x="4800600" y="4382280"/>
            <a:ext cx="11872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_shards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Text 623"/>
          <p:cNvSpPr/>
          <p:nvPr/>
        </p:nvSpPr>
        <p:spPr>
          <a:xfrm>
            <a:off x="6080760" y="4382280"/>
            <a:ext cx="2741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Nombre de shards ayant participé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Shape 648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Shape 649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Text 624"/>
          <p:cNvSpPr/>
          <p:nvPr/>
        </p:nvSpPr>
        <p:spPr>
          <a:xfrm>
            <a:off x="347400" y="54720"/>
            <a:ext cx="8411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Paramètres de recherche — Pagination &amp; Options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650"/>
          <p:cNvSpPr/>
          <p:nvPr/>
        </p:nvSpPr>
        <p:spPr>
          <a:xfrm>
            <a:off x="274320" y="804600"/>
            <a:ext cx="4113360" cy="3826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Text 625"/>
          <p:cNvSpPr/>
          <p:nvPr/>
        </p:nvSpPr>
        <p:spPr>
          <a:xfrm>
            <a:off x="365760" y="8046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Pagination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651"/>
          <p:cNvSpPr/>
          <p:nvPr/>
        </p:nvSpPr>
        <p:spPr>
          <a:xfrm>
            <a:off x="274320" y="1243440"/>
            <a:ext cx="4113360" cy="201024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Text 626"/>
          <p:cNvSpPr/>
          <p:nvPr/>
        </p:nvSpPr>
        <p:spPr>
          <a:xfrm>
            <a:off x="384120" y="1298520"/>
            <a:ext cx="3893760" cy="190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Page 1 (défaut : 10 résultats)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/mon-index/_search?size=10&amp;from=0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Page 2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/mon-index/_search?size=10&amp;from=10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Ou dans le corps DSL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"from": 20, "size": 10,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"query": { ...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652"/>
          <p:cNvSpPr/>
          <p:nvPr/>
        </p:nvSpPr>
        <p:spPr>
          <a:xfrm>
            <a:off x="274320" y="3310200"/>
            <a:ext cx="4113360" cy="7484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653"/>
          <p:cNvSpPr/>
          <p:nvPr/>
        </p:nvSpPr>
        <p:spPr>
          <a:xfrm>
            <a:off x="274320" y="3310200"/>
            <a:ext cx="62640" cy="7484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Text 627"/>
          <p:cNvSpPr/>
          <p:nvPr/>
        </p:nvSpPr>
        <p:spPr>
          <a:xfrm>
            <a:off x="457200" y="3337560"/>
            <a:ext cx="3747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⚠️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Deep pagination (from &gt; 10 000) : éviter — utiliser l'API scroll ou search_after pour les grands volumes.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654"/>
          <p:cNvSpPr/>
          <p:nvPr/>
        </p:nvSpPr>
        <p:spPr>
          <a:xfrm>
            <a:off x="4663440" y="804600"/>
            <a:ext cx="4204800" cy="38268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Text 628"/>
          <p:cNvSpPr/>
          <p:nvPr/>
        </p:nvSpPr>
        <p:spPr>
          <a:xfrm>
            <a:off x="4754880" y="804600"/>
            <a:ext cx="40219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Options courantes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655"/>
          <p:cNvSpPr/>
          <p:nvPr/>
        </p:nvSpPr>
        <p:spPr>
          <a:xfrm>
            <a:off x="4663440" y="1243440"/>
            <a:ext cx="4204800" cy="4557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 629"/>
          <p:cNvSpPr/>
          <p:nvPr/>
        </p:nvSpPr>
        <p:spPr>
          <a:xfrm>
            <a:off x="4754880" y="1243440"/>
            <a:ext cx="1553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?pretty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 630"/>
          <p:cNvSpPr/>
          <p:nvPr/>
        </p:nvSpPr>
        <p:spPr>
          <a:xfrm>
            <a:off x="6400800" y="124344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Formate le JSON pour la lisibilité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656"/>
          <p:cNvSpPr/>
          <p:nvPr/>
        </p:nvSpPr>
        <p:spPr>
          <a:xfrm>
            <a:off x="4663440" y="1755720"/>
            <a:ext cx="4204800" cy="455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 631"/>
          <p:cNvSpPr/>
          <p:nvPr/>
        </p:nvSpPr>
        <p:spPr>
          <a:xfrm>
            <a:off x="4754880" y="1755720"/>
            <a:ext cx="1553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?_source=false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Text 632"/>
          <p:cNvSpPr/>
          <p:nvPr/>
        </p:nvSpPr>
        <p:spPr>
          <a:xfrm>
            <a:off x="6400800" y="175572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Exclut le document source de la réponse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657"/>
          <p:cNvSpPr/>
          <p:nvPr/>
        </p:nvSpPr>
        <p:spPr>
          <a:xfrm>
            <a:off x="4663440" y="2267640"/>
            <a:ext cx="4204800" cy="4557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Text 633"/>
          <p:cNvSpPr/>
          <p:nvPr/>
        </p:nvSpPr>
        <p:spPr>
          <a:xfrm>
            <a:off x="4754880" y="2267640"/>
            <a:ext cx="1553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?_source_includes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 634"/>
          <p:cNvSpPr/>
          <p:nvPr/>
        </p:nvSpPr>
        <p:spPr>
          <a:xfrm>
            <a:off x="6400800" y="226764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Sélectionne des champs spécifiques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658"/>
          <p:cNvSpPr/>
          <p:nvPr/>
        </p:nvSpPr>
        <p:spPr>
          <a:xfrm>
            <a:off x="4663440" y="2779920"/>
            <a:ext cx="4204800" cy="455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Text 635"/>
          <p:cNvSpPr/>
          <p:nvPr/>
        </p:nvSpPr>
        <p:spPr>
          <a:xfrm>
            <a:off x="4754880" y="2779920"/>
            <a:ext cx="1553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?sort=champ:desc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 636"/>
          <p:cNvSpPr/>
          <p:nvPr/>
        </p:nvSpPr>
        <p:spPr>
          <a:xfrm>
            <a:off x="6400800" y="277992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Tri personnalisé (ex: date:desc)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659"/>
          <p:cNvSpPr/>
          <p:nvPr/>
        </p:nvSpPr>
        <p:spPr>
          <a:xfrm>
            <a:off x="4663440" y="3291840"/>
            <a:ext cx="4204800" cy="4557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Text 637"/>
          <p:cNvSpPr/>
          <p:nvPr/>
        </p:nvSpPr>
        <p:spPr>
          <a:xfrm>
            <a:off x="4754880" y="3291840"/>
            <a:ext cx="1553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?timeout=5s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 638"/>
          <p:cNvSpPr/>
          <p:nvPr/>
        </p:nvSpPr>
        <p:spPr>
          <a:xfrm>
            <a:off x="6400800" y="329184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Timeout — retourne les hits trouvés à expiration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660"/>
          <p:cNvSpPr/>
          <p:nvPr/>
        </p:nvSpPr>
        <p:spPr>
          <a:xfrm>
            <a:off x="4663440" y="3803760"/>
            <a:ext cx="4204800" cy="455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Text 639"/>
          <p:cNvSpPr/>
          <p:nvPr/>
        </p:nvSpPr>
        <p:spPr>
          <a:xfrm>
            <a:off x="4754880" y="3803760"/>
            <a:ext cx="1553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?explain=true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Text 640"/>
          <p:cNvSpPr/>
          <p:nvPr/>
        </p:nvSpPr>
        <p:spPr>
          <a:xfrm>
            <a:off x="6400800" y="380376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Explication du score de pertinence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661"/>
          <p:cNvSpPr/>
          <p:nvPr/>
        </p:nvSpPr>
        <p:spPr>
          <a:xfrm>
            <a:off x="4663440" y="4316040"/>
            <a:ext cx="4204800" cy="4557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 641"/>
          <p:cNvSpPr/>
          <p:nvPr/>
        </p:nvSpPr>
        <p:spPr>
          <a:xfrm>
            <a:off x="4754880" y="4316040"/>
            <a:ext cx="1553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?filter_path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 642"/>
          <p:cNvSpPr/>
          <p:nvPr/>
        </p:nvSpPr>
        <p:spPr>
          <a:xfrm>
            <a:off x="6400800" y="431604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Filtre les champs de la réponse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662"/>
          <p:cNvSpPr/>
          <p:nvPr/>
        </p:nvSpPr>
        <p:spPr>
          <a:xfrm>
            <a:off x="274320" y="4745160"/>
            <a:ext cx="8593920" cy="3643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Text 643"/>
          <p:cNvSpPr/>
          <p:nvPr/>
        </p:nvSpPr>
        <p:spPr>
          <a:xfrm>
            <a:off x="365760" y="4781160"/>
            <a:ext cx="841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GET /_search  </a:t>
            </a:r>
            <a:r>
              <a:rPr b="0" lang="en-US" sz="1000" spc="-1" strike="noStrike">
                <a:solidFill>
                  <a:srgbClr val="6a9955"/>
                </a:solidFill>
                <a:latin typeface="Consolas"/>
                <a:ea typeface="Consolas"/>
              </a:rPr>
              <a:t># tous index     </a:t>
            </a: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GET /index1/_search  </a:t>
            </a:r>
            <a:r>
              <a:rPr b="0" lang="en-US" sz="1000" spc="-1" strike="noStrike">
                <a:solidFill>
                  <a:srgbClr val="6a9955"/>
                </a:solidFill>
                <a:latin typeface="Consolas"/>
                <a:ea typeface="Consolas"/>
              </a:rPr>
              <a:t># index unique     </a:t>
            </a: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GET /idx1,idx2/_search    </a:t>
            </a:r>
            <a:r>
              <a:rPr b="0" lang="en-US" sz="1000" spc="-1" strike="noStrike">
                <a:solidFill>
                  <a:srgbClr val="6a9955"/>
                </a:solidFill>
                <a:latin typeface="Consolas"/>
                <a:ea typeface="Consolas"/>
              </a:rPr>
              <a:t># multi-index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Shape 609"/>
          <p:cNvSpPr/>
          <p:nvPr/>
        </p:nvSpPr>
        <p:spPr>
          <a:xfrm>
            <a:off x="0" y="0"/>
            <a:ext cx="9142920" cy="8218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9" name="Shape 610"/>
          <p:cNvSpPr/>
          <p:nvPr/>
        </p:nvSpPr>
        <p:spPr>
          <a:xfrm>
            <a:off x="0" y="0"/>
            <a:ext cx="501840" cy="821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 577"/>
          <p:cNvSpPr/>
          <p:nvPr/>
        </p:nvSpPr>
        <p:spPr>
          <a:xfrm>
            <a:off x="640080" y="0"/>
            <a:ext cx="722268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Pagination avancée — Scroll API &amp; search_after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613"/>
          <p:cNvSpPr/>
          <p:nvPr/>
        </p:nvSpPr>
        <p:spPr>
          <a:xfrm>
            <a:off x="274320" y="860760"/>
            <a:ext cx="53640" cy="3830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 579"/>
          <p:cNvSpPr/>
          <p:nvPr/>
        </p:nvSpPr>
        <p:spPr>
          <a:xfrm>
            <a:off x="420480" y="860760"/>
            <a:ext cx="83199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⚠  </a:t>
            </a:r>
            <a:r>
              <a:rPr b="0" i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Deep pagination  : coût mémoire exponentiel — OpenSearch doit charger et trier TOUS les résultats précédents.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Shape 614"/>
          <p:cNvSpPr/>
          <p:nvPr/>
        </p:nvSpPr>
        <p:spPr>
          <a:xfrm>
            <a:off x="274320" y="1264680"/>
            <a:ext cx="4159440" cy="3830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Text 580"/>
          <p:cNvSpPr/>
          <p:nvPr/>
        </p:nvSpPr>
        <p:spPr>
          <a:xfrm>
            <a:off x="365760" y="1264680"/>
            <a:ext cx="40222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Scroll API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Shape 615"/>
          <p:cNvSpPr/>
          <p:nvPr/>
        </p:nvSpPr>
        <p:spPr>
          <a:xfrm>
            <a:off x="274320" y="1721880"/>
            <a:ext cx="776160" cy="291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Text 581"/>
          <p:cNvSpPr/>
          <p:nvPr/>
        </p:nvSpPr>
        <p:spPr>
          <a:xfrm>
            <a:off x="274320" y="1721880"/>
            <a:ext cx="77616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USAGE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Text 582"/>
          <p:cNvSpPr/>
          <p:nvPr/>
        </p:nvSpPr>
        <p:spPr>
          <a:xfrm>
            <a:off x="1115640" y="1721880"/>
            <a:ext cx="3272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a2b2f"/>
                </a:solidFill>
                <a:latin typeface="Calibri"/>
                <a:ea typeface="Calibri"/>
              </a:rPr>
              <a:t>Export massif, traitement batch (ETL, réindexation)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Shape 616"/>
          <p:cNvSpPr/>
          <p:nvPr/>
        </p:nvSpPr>
        <p:spPr>
          <a:xfrm>
            <a:off x="274320" y="2106000"/>
            <a:ext cx="273240" cy="273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Text 583"/>
          <p:cNvSpPr/>
          <p:nvPr/>
        </p:nvSpPr>
        <p:spPr>
          <a:xfrm>
            <a:off x="274320" y="2106000"/>
            <a:ext cx="273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 584"/>
          <p:cNvSpPr/>
          <p:nvPr/>
        </p:nvSpPr>
        <p:spPr>
          <a:xfrm>
            <a:off x="621720" y="2106000"/>
            <a:ext cx="3775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576b"/>
                </a:solidFill>
                <a:latin typeface="Calibri"/>
                <a:ea typeface="Calibri"/>
              </a:rPr>
              <a:t>Initialiser le contexte :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Shape 617"/>
          <p:cNvSpPr/>
          <p:nvPr/>
        </p:nvSpPr>
        <p:spPr>
          <a:xfrm>
            <a:off x="274320" y="2398680"/>
            <a:ext cx="4159440" cy="51084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Text 585"/>
          <p:cNvSpPr/>
          <p:nvPr/>
        </p:nvSpPr>
        <p:spPr>
          <a:xfrm>
            <a:off x="365760" y="2398680"/>
            <a:ext cx="402228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834a"/>
                </a:solidFill>
                <a:latin typeface="Courier New"/>
                <a:ea typeface="Courier New"/>
              </a:rPr>
              <a:t>GET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/mon-index/_search?scroll=</a:t>
            </a:r>
            <a:r>
              <a:rPr b="0" lang="en-US" sz="900" spc="-1" strike="noStrike">
                <a:solidFill>
                  <a:srgbClr val="98e4c8"/>
                </a:solidFill>
                <a:latin typeface="Courier New"/>
                <a:ea typeface="Courier New"/>
              </a:rPr>
              <a:t>1m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{ "size": 1000, "query": { "match_all": {} } 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618"/>
          <p:cNvSpPr/>
          <p:nvPr/>
        </p:nvSpPr>
        <p:spPr>
          <a:xfrm>
            <a:off x="274320" y="2983680"/>
            <a:ext cx="273240" cy="273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Text 586"/>
          <p:cNvSpPr/>
          <p:nvPr/>
        </p:nvSpPr>
        <p:spPr>
          <a:xfrm>
            <a:off x="274320" y="2983680"/>
            <a:ext cx="273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Text 587"/>
          <p:cNvSpPr/>
          <p:nvPr/>
        </p:nvSpPr>
        <p:spPr>
          <a:xfrm>
            <a:off x="621720" y="2983680"/>
            <a:ext cx="3775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576b"/>
                </a:solidFill>
                <a:latin typeface="Calibri"/>
                <a:ea typeface="Calibri"/>
              </a:rPr>
              <a:t>Paginer avec le _scroll_id :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Shape 619"/>
          <p:cNvSpPr/>
          <p:nvPr/>
        </p:nvSpPr>
        <p:spPr>
          <a:xfrm>
            <a:off x="274320" y="3276360"/>
            <a:ext cx="4159440" cy="51084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Text 588"/>
          <p:cNvSpPr/>
          <p:nvPr/>
        </p:nvSpPr>
        <p:spPr>
          <a:xfrm>
            <a:off x="365760" y="3276360"/>
            <a:ext cx="402228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e8834a"/>
                </a:solidFill>
                <a:latin typeface="Courier New"/>
                <a:ea typeface="Courier New"/>
              </a:rPr>
              <a:t>POST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/_search/scroll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{ "scroll": "1m", "scroll_id": "&lt;id&gt;" 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Shape 620"/>
          <p:cNvSpPr/>
          <p:nvPr/>
        </p:nvSpPr>
        <p:spPr>
          <a:xfrm>
            <a:off x="274320" y="3861720"/>
            <a:ext cx="4159440" cy="327960"/>
          </a:xfrm>
          <a:prstGeom prst="rect">
            <a:avLst/>
          </a:prstGeom>
          <a:solidFill>
            <a:srgbClr val="fff3e8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Shape 621"/>
          <p:cNvSpPr/>
          <p:nvPr/>
        </p:nvSpPr>
        <p:spPr>
          <a:xfrm>
            <a:off x="274320" y="3861720"/>
            <a:ext cx="44640" cy="3279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 589"/>
          <p:cNvSpPr/>
          <p:nvPr/>
        </p:nvSpPr>
        <p:spPr>
          <a:xfrm>
            <a:off x="384120" y="3861720"/>
            <a:ext cx="400392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a04010"/>
                </a:solidFill>
                <a:latin typeface="Calibri"/>
                <a:ea typeface="Calibri"/>
              </a:rPr>
              <a:t>Contexte maintenu en mémoire côté serveur · Déconseillé pour requêtes temps réel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622"/>
          <p:cNvSpPr/>
          <p:nvPr/>
        </p:nvSpPr>
        <p:spPr>
          <a:xfrm>
            <a:off x="4754880" y="1264680"/>
            <a:ext cx="4159440" cy="3830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Text 590"/>
          <p:cNvSpPr/>
          <p:nvPr/>
        </p:nvSpPr>
        <p:spPr>
          <a:xfrm>
            <a:off x="4846320" y="1264680"/>
            <a:ext cx="40222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search_after  ✓  Recommandé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623"/>
          <p:cNvSpPr/>
          <p:nvPr/>
        </p:nvSpPr>
        <p:spPr>
          <a:xfrm>
            <a:off x="4754880" y="1721880"/>
            <a:ext cx="776160" cy="291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4" name="Text 591"/>
          <p:cNvSpPr/>
          <p:nvPr/>
        </p:nvSpPr>
        <p:spPr>
          <a:xfrm>
            <a:off x="4754880" y="1721880"/>
            <a:ext cx="77616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USAGE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Text 592"/>
          <p:cNvSpPr/>
          <p:nvPr/>
        </p:nvSpPr>
        <p:spPr>
          <a:xfrm>
            <a:off x="5596200" y="1721880"/>
            <a:ext cx="3272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a2b2f"/>
                </a:solidFill>
                <a:latin typeface="Calibri"/>
                <a:ea typeface="Calibri"/>
              </a:rPr>
              <a:t>Pagination profonde temps réel, UI infinite scroll, APIs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624"/>
          <p:cNvSpPr/>
          <p:nvPr/>
        </p:nvSpPr>
        <p:spPr>
          <a:xfrm>
            <a:off x="4754880" y="2106000"/>
            <a:ext cx="273240" cy="2732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Text 593"/>
          <p:cNvSpPr/>
          <p:nvPr/>
        </p:nvSpPr>
        <p:spPr>
          <a:xfrm>
            <a:off x="4754880" y="2106000"/>
            <a:ext cx="273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Text 594"/>
          <p:cNvSpPr/>
          <p:nvPr/>
        </p:nvSpPr>
        <p:spPr>
          <a:xfrm>
            <a:off x="5102280" y="2106000"/>
            <a:ext cx="3775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e7d32"/>
                </a:solidFill>
                <a:latin typeface="Calibri"/>
                <a:ea typeface="Calibri"/>
              </a:rPr>
              <a:t>Première requête (avec sort obligatoire) :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625"/>
          <p:cNvSpPr/>
          <p:nvPr/>
        </p:nvSpPr>
        <p:spPr>
          <a:xfrm>
            <a:off x="4754880" y="2398680"/>
            <a:ext cx="4159440" cy="62064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Text 595"/>
          <p:cNvSpPr/>
          <p:nvPr/>
        </p:nvSpPr>
        <p:spPr>
          <a:xfrm>
            <a:off x="4846320" y="2398680"/>
            <a:ext cx="402228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e8834a"/>
                </a:solidFill>
                <a:latin typeface="Courier New"/>
                <a:ea typeface="Courier New"/>
              </a:rPr>
              <a:t>GET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/mon-index/_search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{ "size": 1000,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"sort": [ { "@timestamp": "asc" }, { "_id": "asc" } ] 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626"/>
          <p:cNvSpPr/>
          <p:nvPr/>
        </p:nvSpPr>
        <p:spPr>
          <a:xfrm>
            <a:off x="4754880" y="3093480"/>
            <a:ext cx="273240" cy="2732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Text 596"/>
          <p:cNvSpPr/>
          <p:nvPr/>
        </p:nvSpPr>
        <p:spPr>
          <a:xfrm>
            <a:off x="4754880" y="3093480"/>
            <a:ext cx="273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Text 597"/>
          <p:cNvSpPr/>
          <p:nvPr/>
        </p:nvSpPr>
        <p:spPr>
          <a:xfrm>
            <a:off x="5102280" y="3093480"/>
            <a:ext cx="3775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e7d32"/>
                </a:solidFill>
                <a:latin typeface="Calibri"/>
                <a:ea typeface="Calibri"/>
              </a:rPr>
              <a:t>Page suivante — utiliser sort values du dernier hit :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Shape 627"/>
          <p:cNvSpPr/>
          <p:nvPr/>
        </p:nvSpPr>
        <p:spPr>
          <a:xfrm>
            <a:off x="4754880" y="3386160"/>
            <a:ext cx="4159440" cy="4194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5" name="Text 598"/>
          <p:cNvSpPr/>
          <p:nvPr/>
        </p:nvSpPr>
        <p:spPr>
          <a:xfrm>
            <a:off x="4846320" y="3386160"/>
            <a:ext cx="402228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{ "search_after": [</a:t>
            </a:r>
            <a:r>
              <a:rPr b="0" lang="en-US" sz="900" spc="-1" strike="noStrike">
                <a:solidFill>
                  <a:srgbClr val="98e4c8"/>
                </a:solidFill>
                <a:latin typeface="Courier New"/>
                <a:ea typeface="Courier New"/>
              </a:rPr>
              <a:t>"2024-01-15T10:00:00"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, </a:t>
            </a:r>
            <a:r>
              <a:rPr b="0" lang="en-US" sz="900" spc="-1" strike="noStrike">
                <a:solidFill>
                  <a:srgbClr val="98e4c8"/>
                </a:solidFill>
                <a:latin typeface="Courier New"/>
                <a:ea typeface="Courier New"/>
              </a:rPr>
              <a:t>"abc123"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],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"sort": [ { "@timestamp": "asc" }, { "_id": "asc" } ] 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628"/>
          <p:cNvSpPr/>
          <p:nvPr/>
        </p:nvSpPr>
        <p:spPr>
          <a:xfrm>
            <a:off x="4754880" y="3861720"/>
            <a:ext cx="4159440" cy="327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Shape 629"/>
          <p:cNvSpPr/>
          <p:nvPr/>
        </p:nvSpPr>
        <p:spPr>
          <a:xfrm>
            <a:off x="4754880" y="3861720"/>
            <a:ext cx="44640" cy="3279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Text 599"/>
          <p:cNvSpPr/>
          <p:nvPr/>
        </p:nvSpPr>
        <p:spPr>
          <a:xfrm>
            <a:off x="4864680" y="3861720"/>
            <a:ext cx="400392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2e7d32"/>
                </a:solidFill>
                <a:latin typeface="Calibri"/>
                <a:ea typeface="Calibri"/>
              </a:rPr>
              <a:t>Stateless — aucun contexte serveur · Stable avec index actif · PIT (Point In Time) recommandé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630"/>
          <p:cNvSpPr/>
          <p:nvPr/>
        </p:nvSpPr>
        <p:spPr>
          <a:xfrm>
            <a:off x="274320" y="4246200"/>
            <a:ext cx="8594280" cy="3463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Text 600"/>
          <p:cNvSpPr/>
          <p:nvPr/>
        </p:nvSpPr>
        <p:spPr>
          <a:xfrm>
            <a:off x="384120" y="4246200"/>
            <a:ext cx="84114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⚡  </a:t>
            </a: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Scroll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= export batch &amp; ETL  |  </a:t>
            </a: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search_after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= pagination temps réel  |  Sort sur champ unique + </a:t>
            </a:r>
            <a:r>
              <a:rPr b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_id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pour garantir l'ordre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611"/>
          <p:cNvSpPr/>
          <p:nvPr/>
        </p:nvSpPr>
        <p:spPr>
          <a:xfrm>
            <a:off x="274320" y="4753080"/>
            <a:ext cx="859392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631"/>
          <p:cNvSpPr/>
          <p:nvPr/>
        </p:nvSpPr>
        <p:spPr>
          <a:xfrm>
            <a:off x="274320" y="4753080"/>
            <a:ext cx="62640" cy="345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Text 578"/>
          <p:cNvSpPr/>
          <p:nvPr/>
        </p:nvSpPr>
        <p:spPr>
          <a:xfrm>
            <a:off x="457200" y="47530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Atelier 2.2 — Search Lite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Shape 231"/>
          <p:cNvSpPr/>
          <p:nvPr/>
        </p:nvSpPr>
        <p:spPr>
          <a:xfrm>
            <a:off x="0" y="0"/>
            <a:ext cx="455040" cy="5141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Shape 232"/>
          <p:cNvSpPr/>
          <p:nvPr/>
        </p:nvSpPr>
        <p:spPr>
          <a:xfrm>
            <a:off x="1097280" y="1188720"/>
            <a:ext cx="6947280" cy="2741040"/>
          </a:xfrm>
          <a:prstGeom prst="rect">
            <a:avLst/>
          </a:prstGeom>
          <a:solidFill>
            <a:srgbClr val="00404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" name="Text 198"/>
          <p:cNvSpPr/>
          <p:nvPr/>
        </p:nvSpPr>
        <p:spPr>
          <a:xfrm>
            <a:off x="1280160" y="1371600"/>
            <a:ext cx="65815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7a8a"/>
                </a:solidFill>
                <a:latin typeface="Calibri"/>
                <a:ea typeface="Calibri"/>
              </a:rPr>
              <a:t>Module 2.2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7" name="Text 199"/>
          <p:cNvSpPr/>
          <p:nvPr/>
        </p:nvSpPr>
        <p:spPr>
          <a:xfrm>
            <a:off x="1280160" y="1828800"/>
            <a:ext cx="658152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  <a:ea typeface="Calibri"/>
              </a:rPr>
              <a:t>Mapping des données</a:t>
            </a:r>
            <a:endParaRPr b="0" lang="fr-FR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8" name="Text 200"/>
          <p:cNvSpPr/>
          <p:nvPr/>
        </p:nvSpPr>
        <p:spPr>
          <a:xfrm>
            <a:off x="1280160" y="3429000"/>
            <a:ext cx="65815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a8d4dc"/>
                </a:solidFill>
                <a:latin typeface="Calibri"/>
                <a:ea typeface="Calibri"/>
              </a:rPr>
              <a:t>Formation OpenSearch · 2026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Shape 233"/>
          <p:cNvSpPr/>
          <p:nvPr/>
        </p:nvSpPr>
        <p:spPr>
          <a:xfrm>
            <a:off x="594360" y="4389120"/>
            <a:ext cx="1323720" cy="500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0" name="Text 201"/>
          <p:cNvSpPr/>
          <p:nvPr/>
        </p:nvSpPr>
        <p:spPr>
          <a:xfrm>
            <a:off x="594360" y="4389120"/>
            <a:ext cx="13237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Types de données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1" name="Shape 234"/>
          <p:cNvSpPr/>
          <p:nvPr/>
        </p:nvSpPr>
        <p:spPr>
          <a:xfrm>
            <a:off x="2039040" y="4389120"/>
            <a:ext cx="1323720" cy="500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Text 202"/>
          <p:cNvSpPr/>
          <p:nvPr/>
        </p:nvSpPr>
        <p:spPr>
          <a:xfrm>
            <a:off x="2039040" y="4389120"/>
            <a:ext cx="13237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Index inversé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Shape 235"/>
          <p:cNvSpPr/>
          <p:nvPr/>
        </p:nvSpPr>
        <p:spPr>
          <a:xfrm>
            <a:off x="3483720" y="4389120"/>
            <a:ext cx="1323720" cy="500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Text 203"/>
          <p:cNvSpPr/>
          <p:nvPr/>
        </p:nvSpPr>
        <p:spPr>
          <a:xfrm>
            <a:off x="3483720" y="4389120"/>
            <a:ext cx="13237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Analyseurs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5" name="Shape 236"/>
          <p:cNvSpPr/>
          <p:nvPr/>
        </p:nvSpPr>
        <p:spPr>
          <a:xfrm>
            <a:off x="4928760" y="4389120"/>
            <a:ext cx="1323720" cy="500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 204"/>
          <p:cNvSpPr/>
          <p:nvPr/>
        </p:nvSpPr>
        <p:spPr>
          <a:xfrm>
            <a:off x="4928760" y="4389120"/>
            <a:ext cx="13237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Mapping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7" name="Shape 237"/>
          <p:cNvSpPr/>
          <p:nvPr/>
        </p:nvSpPr>
        <p:spPr>
          <a:xfrm>
            <a:off x="6373440" y="4389120"/>
            <a:ext cx="1323720" cy="500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Text 205"/>
          <p:cNvSpPr/>
          <p:nvPr/>
        </p:nvSpPr>
        <p:spPr>
          <a:xfrm>
            <a:off x="6373440" y="4389120"/>
            <a:ext cx="13237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Dynamic Mapping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Shape 238"/>
          <p:cNvSpPr/>
          <p:nvPr/>
        </p:nvSpPr>
        <p:spPr>
          <a:xfrm>
            <a:off x="7818120" y="4389120"/>
            <a:ext cx="1323720" cy="500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Text 206"/>
          <p:cNvSpPr/>
          <p:nvPr/>
        </p:nvSpPr>
        <p:spPr>
          <a:xfrm>
            <a:off x="7818120" y="4389120"/>
            <a:ext cx="13237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Index Templates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Shape 264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Shape 265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Text 230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Index inversé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Shape 266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Text 231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Text 232"/>
          <p:cNvSpPr/>
          <p:nvPr/>
        </p:nvSpPr>
        <p:spPr>
          <a:xfrm>
            <a:off x="320040" y="914400"/>
            <a:ext cx="4112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Afin d'accélérer les recherches, OpenSearch utilise une structure de données nommée </a:t>
            </a:r>
            <a:r>
              <a:rPr b="1" lang="en-US" sz="1100" spc="-1" strike="noStrike">
                <a:solidFill>
                  <a:srgbClr val="007a8a"/>
                </a:solidFill>
                <a:latin typeface="Calibri"/>
              </a:rPr>
              <a:t>index inversé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. Cela consiste en une liste de mots uniques où chaque terme est associé aux documents dans lesquels il apparaît.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Text 233"/>
          <p:cNvSpPr/>
          <p:nvPr/>
        </p:nvSpPr>
        <p:spPr>
          <a:xfrm>
            <a:off x="320040" y="1783080"/>
            <a:ext cx="4021200" cy="24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Principe :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1. Le texte est analysé → tokenisé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2. Chaque token est ajouté à l'index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3. La recherche consulte l'index inversé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(pas les documents directement)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</a:rPr>
              <a:t>→ </a:t>
            </a:r>
            <a:r>
              <a:rPr b="0" i="1" lang="en-US" sz="1100" spc="-1" strike="noStrike">
                <a:solidFill>
                  <a:srgbClr val="4a7480"/>
                </a:solidFill>
                <a:latin typeface="Calibri"/>
              </a:rPr>
              <a:t>Recherche en O(1) quelle que soit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</a:rPr>
              <a:t>   </a:t>
            </a:r>
            <a:r>
              <a:rPr b="0" i="1" lang="en-US" sz="1100" spc="-1" strike="noStrike">
                <a:solidFill>
                  <a:srgbClr val="4a7480"/>
                </a:solidFill>
                <a:latin typeface="Calibri"/>
              </a:rPr>
              <a:t>la taille du corpus.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Shape 267"/>
          <p:cNvSpPr/>
          <p:nvPr/>
        </p:nvSpPr>
        <p:spPr>
          <a:xfrm>
            <a:off x="4709160" y="960120"/>
            <a:ext cx="4112640" cy="333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Shape 268"/>
          <p:cNvSpPr/>
          <p:nvPr/>
        </p:nvSpPr>
        <p:spPr>
          <a:xfrm>
            <a:off x="4709160" y="960120"/>
            <a:ext cx="4112640" cy="3819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0" name="Text 234"/>
          <p:cNvSpPr/>
          <p:nvPr/>
        </p:nvSpPr>
        <p:spPr>
          <a:xfrm>
            <a:off x="4782240" y="960120"/>
            <a:ext cx="39297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Index inversé — exemple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Shape 269"/>
          <p:cNvSpPr/>
          <p:nvPr/>
        </p:nvSpPr>
        <p:spPr>
          <a:xfrm>
            <a:off x="4709160" y="1344240"/>
            <a:ext cx="2055240" cy="290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2" name="Shape 270"/>
          <p:cNvSpPr/>
          <p:nvPr/>
        </p:nvSpPr>
        <p:spPr>
          <a:xfrm>
            <a:off x="6766560" y="1344240"/>
            <a:ext cx="2055240" cy="290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3" name="Text 235"/>
          <p:cNvSpPr/>
          <p:nvPr/>
        </p:nvSpPr>
        <p:spPr>
          <a:xfrm>
            <a:off x="4754880" y="1344240"/>
            <a:ext cx="1963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Terme (token)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 236"/>
          <p:cNvSpPr/>
          <p:nvPr/>
        </p:nvSpPr>
        <p:spPr>
          <a:xfrm>
            <a:off x="6812280" y="1344240"/>
            <a:ext cx="1963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Documents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Shape 271"/>
          <p:cNvSpPr/>
          <p:nvPr/>
        </p:nvSpPr>
        <p:spPr>
          <a:xfrm>
            <a:off x="4709160" y="163692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272"/>
          <p:cNvSpPr/>
          <p:nvPr/>
        </p:nvSpPr>
        <p:spPr>
          <a:xfrm>
            <a:off x="6766560" y="163692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Text 237"/>
          <p:cNvSpPr/>
          <p:nvPr/>
        </p:nvSpPr>
        <p:spPr>
          <a:xfrm>
            <a:off x="4754880" y="163692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pizza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Text 238"/>
          <p:cNvSpPr/>
          <p:nvPr/>
        </p:nvSpPr>
        <p:spPr>
          <a:xfrm>
            <a:off x="6812280" y="163692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3, 5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Shape 273"/>
          <p:cNvSpPr/>
          <p:nvPr/>
        </p:nvSpPr>
        <p:spPr>
          <a:xfrm>
            <a:off x="4709160" y="188820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Shape 274"/>
          <p:cNvSpPr/>
          <p:nvPr/>
        </p:nvSpPr>
        <p:spPr>
          <a:xfrm>
            <a:off x="6766560" y="188820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Text 239"/>
          <p:cNvSpPr/>
          <p:nvPr/>
        </p:nvSpPr>
        <p:spPr>
          <a:xfrm>
            <a:off x="4754880" y="188820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paris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Text 240"/>
          <p:cNvSpPr/>
          <p:nvPr/>
        </p:nvSpPr>
        <p:spPr>
          <a:xfrm>
            <a:off x="6812280" y="188820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1, 10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Shape 275"/>
          <p:cNvSpPr/>
          <p:nvPr/>
        </p:nvSpPr>
        <p:spPr>
          <a:xfrm>
            <a:off x="4709160" y="213984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Shape 276"/>
          <p:cNvSpPr/>
          <p:nvPr/>
        </p:nvSpPr>
        <p:spPr>
          <a:xfrm>
            <a:off x="6766560" y="213984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 241"/>
          <p:cNvSpPr/>
          <p:nvPr/>
        </p:nvSpPr>
        <p:spPr>
          <a:xfrm>
            <a:off x="4754880" y="213984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lucene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Text 242"/>
          <p:cNvSpPr/>
          <p:nvPr/>
        </p:nvSpPr>
        <p:spPr>
          <a:xfrm>
            <a:off x="6812280" y="213984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2, 3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Shape 277"/>
          <p:cNvSpPr/>
          <p:nvPr/>
        </p:nvSpPr>
        <p:spPr>
          <a:xfrm>
            <a:off x="4709160" y="239112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Shape 278"/>
          <p:cNvSpPr/>
          <p:nvPr/>
        </p:nvSpPr>
        <p:spPr>
          <a:xfrm>
            <a:off x="6766560" y="239112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 243"/>
          <p:cNvSpPr/>
          <p:nvPr/>
        </p:nvSpPr>
        <p:spPr>
          <a:xfrm>
            <a:off x="4754880" y="239112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opensearch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Text 244"/>
          <p:cNvSpPr/>
          <p:nvPr/>
        </p:nvSpPr>
        <p:spPr>
          <a:xfrm>
            <a:off x="6812280" y="239112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2, 4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Shape 279"/>
          <p:cNvSpPr/>
          <p:nvPr/>
        </p:nvSpPr>
        <p:spPr>
          <a:xfrm>
            <a:off x="4709160" y="264276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Shape 280"/>
          <p:cNvSpPr/>
          <p:nvPr/>
        </p:nvSpPr>
        <p:spPr>
          <a:xfrm>
            <a:off x="6766560" y="264276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 245"/>
          <p:cNvSpPr/>
          <p:nvPr/>
        </p:nvSpPr>
        <p:spPr>
          <a:xfrm>
            <a:off x="4754880" y="264276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tomorrow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 246"/>
          <p:cNvSpPr/>
          <p:nvPr/>
        </p:nvSpPr>
        <p:spPr>
          <a:xfrm>
            <a:off x="6812280" y="264276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1, 2, 4, 10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Shape 281"/>
          <p:cNvSpPr/>
          <p:nvPr/>
        </p:nvSpPr>
        <p:spPr>
          <a:xfrm>
            <a:off x="4709160" y="289404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Shape 282"/>
          <p:cNvSpPr/>
          <p:nvPr/>
        </p:nvSpPr>
        <p:spPr>
          <a:xfrm>
            <a:off x="6766560" y="289404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Text 247"/>
          <p:cNvSpPr/>
          <p:nvPr/>
        </p:nvSpPr>
        <p:spPr>
          <a:xfrm>
            <a:off x="4754880" y="289404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caffè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Text 248"/>
          <p:cNvSpPr/>
          <p:nvPr/>
        </p:nvSpPr>
        <p:spPr>
          <a:xfrm>
            <a:off x="6812280" y="289404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3, 5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Shape 283"/>
          <p:cNvSpPr/>
          <p:nvPr/>
        </p:nvSpPr>
        <p:spPr>
          <a:xfrm>
            <a:off x="4709160" y="314568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Shape 284"/>
          <p:cNvSpPr/>
          <p:nvPr/>
        </p:nvSpPr>
        <p:spPr>
          <a:xfrm>
            <a:off x="6766560" y="314568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Text 249"/>
          <p:cNvSpPr/>
          <p:nvPr/>
        </p:nvSpPr>
        <p:spPr>
          <a:xfrm>
            <a:off x="4754880" y="314568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big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Text 250"/>
          <p:cNvSpPr/>
          <p:nvPr/>
        </p:nvSpPr>
        <p:spPr>
          <a:xfrm>
            <a:off x="6812280" y="314568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Shape 285"/>
          <p:cNvSpPr/>
          <p:nvPr/>
        </p:nvSpPr>
        <p:spPr>
          <a:xfrm>
            <a:off x="4709160" y="339696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Shape 286"/>
          <p:cNvSpPr/>
          <p:nvPr/>
        </p:nvSpPr>
        <p:spPr>
          <a:xfrm>
            <a:off x="6766560" y="339696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 251"/>
          <p:cNvSpPr/>
          <p:nvPr/>
        </p:nvSpPr>
        <p:spPr>
          <a:xfrm>
            <a:off x="4754880" y="339696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brown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Text 252"/>
          <p:cNvSpPr/>
          <p:nvPr/>
        </p:nvSpPr>
        <p:spPr>
          <a:xfrm>
            <a:off x="6812280" y="339696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Shape 287"/>
          <p:cNvSpPr/>
          <p:nvPr/>
        </p:nvSpPr>
        <p:spPr>
          <a:xfrm>
            <a:off x="4709160" y="364860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Shape 288"/>
          <p:cNvSpPr/>
          <p:nvPr/>
        </p:nvSpPr>
        <p:spPr>
          <a:xfrm>
            <a:off x="6766560" y="364860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Text 253"/>
          <p:cNvSpPr/>
          <p:nvPr/>
        </p:nvSpPr>
        <p:spPr>
          <a:xfrm>
            <a:off x="4754880" y="364860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fox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Text 254"/>
          <p:cNvSpPr/>
          <p:nvPr/>
        </p:nvSpPr>
        <p:spPr>
          <a:xfrm>
            <a:off x="6812280" y="364860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Shape 289"/>
          <p:cNvSpPr/>
          <p:nvPr/>
        </p:nvSpPr>
        <p:spPr>
          <a:xfrm>
            <a:off x="4709160" y="389988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Shape 290"/>
          <p:cNvSpPr/>
          <p:nvPr/>
        </p:nvSpPr>
        <p:spPr>
          <a:xfrm>
            <a:off x="6766560" y="3899880"/>
            <a:ext cx="2055240" cy="2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Text 255"/>
          <p:cNvSpPr/>
          <p:nvPr/>
        </p:nvSpPr>
        <p:spPr>
          <a:xfrm>
            <a:off x="4754880" y="389988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jump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 256"/>
          <p:cNvSpPr/>
          <p:nvPr/>
        </p:nvSpPr>
        <p:spPr>
          <a:xfrm>
            <a:off x="6812280" y="389988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291"/>
          <p:cNvSpPr/>
          <p:nvPr/>
        </p:nvSpPr>
        <p:spPr>
          <a:xfrm>
            <a:off x="4709160" y="415152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Shape 292"/>
          <p:cNvSpPr/>
          <p:nvPr/>
        </p:nvSpPr>
        <p:spPr>
          <a:xfrm>
            <a:off x="6766560" y="4151520"/>
            <a:ext cx="2055240" cy="2494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Text 257"/>
          <p:cNvSpPr/>
          <p:nvPr/>
        </p:nvSpPr>
        <p:spPr>
          <a:xfrm>
            <a:off x="4754880" y="415152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the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Text 258"/>
          <p:cNvSpPr/>
          <p:nvPr/>
        </p:nvSpPr>
        <p:spPr>
          <a:xfrm>
            <a:off x="6812280" y="4151520"/>
            <a:ext cx="196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1,2,4,5,6,8,9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Shape 293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Text 259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Les champs keyword utilisent doc_values (index colonne) — non l'index inversé. Optimisé pour le tri, l'agrégation, et le filtrage exact.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239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Shape 240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Text 207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Types de données — Types simples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Shape 241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5" name="Text 208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Shape 242"/>
          <p:cNvSpPr/>
          <p:nvPr/>
        </p:nvSpPr>
        <p:spPr>
          <a:xfrm>
            <a:off x="274320" y="960120"/>
            <a:ext cx="2695320" cy="1598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Shape 243"/>
          <p:cNvSpPr/>
          <p:nvPr/>
        </p:nvSpPr>
        <p:spPr>
          <a:xfrm>
            <a:off x="274320" y="960120"/>
            <a:ext cx="2695320" cy="345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8" name="Text 209"/>
          <p:cNvSpPr/>
          <p:nvPr/>
        </p:nvSpPr>
        <p:spPr>
          <a:xfrm>
            <a:off x="347400" y="96012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Texte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Text 210"/>
          <p:cNvSpPr/>
          <p:nvPr/>
        </p:nvSpPr>
        <p:spPr>
          <a:xfrm>
            <a:off x="384120" y="1362600"/>
            <a:ext cx="251244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text  — full-text analysé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keyword  — valeur exacte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Shape 244"/>
          <p:cNvSpPr/>
          <p:nvPr/>
        </p:nvSpPr>
        <p:spPr>
          <a:xfrm>
            <a:off x="3246120" y="960120"/>
            <a:ext cx="2695320" cy="1598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Shape 245"/>
          <p:cNvSpPr/>
          <p:nvPr/>
        </p:nvSpPr>
        <p:spPr>
          <a:xfrm>
            <a:off x="3246120" y="960120"/>
            <a:ext cx="2695320" cy="34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Text 211"/>
          <p:cNvSpPr/>
          <p:nvPr/>
        </p:nvSpPr>
        <p:spPr>
          <a:xfrm>
            <a:off x="3319200" y="96012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Numériques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Text 212"/>
          <p:cNvSpPr/>
          <p:nvPr/>
        </p:nvSpPr>
        <p:spPr>
          <a:xfrm>
            <a:off x="3355920" y="1362600"/>
            <a:ext cx="251244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byte, short, integer, long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float, double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token_count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Shape 246"/>
          <p:cNvSpPr/>
          <p:nvPr/>
        </p:nvSpPr>
        <p:spPr>
          <a:xfrm>
            <a:off x="6217920" y="960120"/>
            <a:ext cx="2695320" cy="1598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Shape 247"/>
          <p:cNvSpPr/>
          <p:nvPr/>
        </p:nvSpPr>
        <p:spPr>
          <a:xfrm>
            <a:off x="6217920" y="960120"/>
            <a:ext cx="2695320" cy="34524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Text 213"/>
          <p:cNvSpPr/>
          <p:nvPr/>
        </p:nvSpPr>
        <p:spPr>
          <a:xfrm>
            <a:off x="6291000" y="96012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Dates &amp; Booléens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Text 214"/>
          <p:cNvSpPr/>
          <p:nvPr/>
        </p:nvSpPr>
        <p:spPr>
          <a:xfrm>
            <a:off x="6327720" y="1362600"/>
            <a:ext cx="251244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date  (ISO8601, epoch ms)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boolean  (true/false)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binary  (base64)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Shape 248"/>
          <p:cNvSpPr/>
          <p:nvPr/>
        </p:nvSpPr>
        <p:spPr>
          <a:xfrm>
            <a:off x="274320" y="2834640"/>
            <a:ext cx="2695320" cy="1598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Shape 249"/>
          <p:cNvSpPr/>
          <p:nvPr/>
        </p:nvSpPr>
        <p:spPr>
          <a:xfrm>
            <a:off x="274320" y="2834640"/>
            <a:ext cx="2695320" cy="34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Text 215"/>
          <p:cNvSpPr/>
          <p:nvPr/>
        </p:nvSpPr>
        <p:spPr>
          <a:xfrm>
            <a:off x="347400" y="283464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Intervalles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Text 216"/>
          <p:cNvSpPr/>
          <p:nvPr/>
        </p:nvSpPr>
        <p:spPr>
          <a:xfrm>
            <a:off x="384120" y="3237120"/>
            <a:ext cx="251244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integer_range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float_range / long_range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date_range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Shape 250"/>
          <p:cNvSpPr/>
          <p:nvPr/>
        </p:nvSpPr>
        <p:spPr>
          <a:xfrm>
            <a:off x="3246120" y="2834640"/>
            <a:ext cx="2695320" cy="1598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Shape 251"/>
          <p:cNvSpPr/>
          <p:nvPr/>
        </p:nvSpPr>
        <p:spPr>
          <a:xfrm>
            <a:off x="3246120" y="2834640"/>
            <a:ext cx="2695320" cy="3452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Text 217"/>
          <p:cNvSpPr/>
          <p:nvPr/>
        </p:nvSpPr>
        <p:spPr>
          <a:xfrm>
            <a:off x="3319200" y="283464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Géolocalisation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Text 218"/>
          <p:cNvSpPr/>
          <p:nvPr/>
        </p:nvSpPr>
        <p:spPr>
          <a:xfrm>
            <a:off x="3355920" y="3237120"/>
            <a:ext cx="251244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geo_point  (lat/lon)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geo_shape  (polygones)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Shape 252"/>
          <p:cNvSpPr/>
          <p:nvPr/>
        </p:nvSpPr>
        <p:spPr>
          <a:xfrm>
            <a:off x="6217920" y="2834640"/>
            <a:ext cx="2695320" cy="1598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Shape 253"/>
          <p:cNvSpPr/>
          <p:nvPr/>
        </p:nvSpPr>
        <p:spPr>
          <a:xfrm>
            <a:off x="6217920" y="2834640"/>
            <a:ext cx="2695320" cy="3452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Text 219"/>
          <p:cNvSpPr/>
          <p:nvPr/>
        </p:nvSpPr>
        <p:spPr>
          <a:xfrm>
            <a:off x="6291000" y="283464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Spéciaux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Text 220"/>
          <p:cNvSpPr/>
          <p:nvPr/>
        </p:nvSpPr>
        <p:spPr>
          <a:xfrm>
            <a:off x="6327720" y="3237120"/>
            <a:ext cx="251244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ip  (IPv4 ou IPv6)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percolator  (requête JSON)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Shape 254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Text 221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Le type string n'existe plus dans OpenSearch. Utiliser text (recherche full-text) ou keyword (valeur exacte, tri, agrégation) selon l'usage.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Shape 255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Shape 256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4" name="Text 222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keyword vs text — Valeur exacte ou Full-text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Shape 257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6" name="Text 223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Shape 258"/>
          <p:cNvSpPr/>
          <p:nvPr/>
        </p:nvSpPr>
        <p:spPr>
          <a:xfrm>
            <a:off x="274320" y="960120"/>
            <a:ext cx="4021200" cy="338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Shape 259"/>
          <p:cNvSpPr/>
          <p:nvPr/>
        </p:nvSpPr>
        <p:spPr>
          <a:xfrm>
            <a:off x="274320" y="960120"/>
            <a:ext cx="4021200" cy="4093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9" name="Text 224"/>
          <p:cNvSpPr/>
          <p:nvPr/>
        </p:nvSpPr>
        <p:spPr>
          <a:xfrm>
            <a:off x="347400" y="960120"/>
            <a:ext cx="38840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keyword  — Valeur exacte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Text 225"/>
          <p:cNvSpPr/>
          <p:nvPr/>
        </p:nvSpPr>
        <p:spPr>
          <a:xfrm>
            <a:off x="411480" y="1463040"/>
            <a:ext cx="3746880" cy="17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Stockée telle quelle — aucune analyse.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Opérateurs :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term, terms, filter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Usages :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IDs, codes, emails, statuts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Tri et agrégations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f4444"/>
                </a:solidFill>
                <a:latin typeface="Consolas"/>
                <a:ea typeface="Consolas"/>
              </a:rPr>
              <a:t>Sensible à la casse :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f4444"/>
                </a:solidFill>
                <a:latin typeface="Consolas"/>
                <a:ea typeface="Consolas"/>
              </a:rPr>
              <a:t>"Foo"  ≠  "foo"  ≠  "FOO"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Shape 260"/>
          <p:cNvSpPr/>
          <p:nvPr/>
        </p:nvSpPr>
        <p:spPr>
          <a:xfrm>
            <a:off x="347400" y="3063240"/>
            <a:ext cx="3838320" cy="11408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Text 226"/>
          <p:cNvSpPr/>
          <p:nvPr/>
        </p:nvSpPr>
        <p:spPr>
          <a:xfrm>
            <a:off x="457200" y="3136320"/>
            <a:ext cx="3618720" cy="99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/clients/_search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"query":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"term": { "status": "actif" 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Shape 261"/>
          <p:cNvSpPr/>
          <p:nvPr/>
        </p:nvSpPr>
        <p:spPr>
          <a:xfrm>
            <a:off x="4846320" y="960120"/>
            <a:ext cx="4021200" cy="338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Shape 262"/>
          <p:cNvSpPr/>
          <p:nvPr/>
        </p:nvSpPr>
        <p:spPr>
          <a:xfrm>
            <a:off x="4846320" y="960120"/>
            <a:ext cx="4021200" cy="409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5" name="Text 227"/>
          <p:cNvSpPr/>
          <p:nvPr/>
        </p:nvSpPr>
        <p:spPr>
          <a:xfrm>
            <a:off x="4987800" y="1073520"/>
            <a:ext cx="2090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text  — Full-text analysé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Text 228"/>
          <p:cNvSpPr/>
          <p:nvPr/>
        </p:nvSpPr>
        <p:spPr>
          <a:xfrm>
            <a:off x="4919400" y="1463040"/>
            <a:ext cx="3746880" cy="17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Analysée et découpée en tokens.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Opérateurs :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match, match_phrase, query_string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Usages :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Textes, articles, commentaires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Recherche en langage naturel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"Paris"  →  token: "paris"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Shape 263"/>
          <p:cNvSpPr/>
          <p:nvPr/>
        </p:nvSpPr>
        <p:spPr>
          <a:xfrm>
            <a:off x="4919400" y="3063240"/>
            <a:ext cx="3838320" cy="11408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8" name="Text 229"/>
          <p:cNvSpPr/>
          <p:nvPr/>
        </p:nvSpPr>
        <p:spPr>
          <a:xfrm>
            <a:off x="5029200" y="3136320"/>
            <a:ext cx="3618720" cy="99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/articles/_search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"query":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"match": { "titre": "moteur recherche" 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Shape 294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0" name="Shape 295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" name="Text 260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Types complexes — array, object, nested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Shape 296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3" name="Text 261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Shape 297"/>
          <p:cNvSpPr/>
          <p:nvPr/>
        </p:nvSpPr>
        <p:spPr>
          <a:xfrm>
            <a:off x="255960" y="960120"/>
            <a:ext cx="2832480" cy="374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Shape 298"/>
          <p:cNvSpPr/>
          <p:nvPr/>
        </p:nvSpPr>
        <p:spPr>
          <a:xfrm>
            <a:off x="255960" y="960120"/>
            <a:ext cx="2832480" cy="3819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6" name="Text 262"/>
          <p:cNvSpPr/>
          <p:nvPr/>
        </p:nvSpPr>
        <p:spPr>
          <a:xfrm>
            <a:off x="329040" y="960120"/>
            <a:ext cx="2695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[ ]  Tableaux (array)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Text 263"/>
          <p:cNvSpPr/>
          <p:nvPr/>
        </p:nvSpPr>
        <p:spPr>
          <a:xfrm>
            <a:off x="347400" y="1417320"/>
            <a:ext cx="264960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Pas de type de mapping spécial.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Chaque champ accepte 0, 1 ou n valeurs.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Les valeurs doivent être du même type.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Un champ null ≡ tableau vide.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Shape 299"/>
          <p:cNvSpPr/>
          <p:nvPr/>
        </p:nvSpPr>
        <p:spPr>
          <a:xfrm>
            <a:off x="329040" y="3063240"/>
            <a:ext cx="2686320" cy="141516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Text 264"/>
          <p:cNvSpPr/>
          <p:nvPr/>
        </p:nvSpPr>
        <p:spPr>
          <a:xfrm>
            <a:off x="438840" y="3136320"/>
            <a:ext cx="2466720" cy="12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 "tags": ["search", "nosql", "api"]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Shape 300"/>
          <p:cNvSpPr/>
          <p:nvPr/>
        </p:nvSpPr>
        <p:spPr>
          <a:xfrm>
            <a:off x="3227760" y="960120"/>
            <a:ext cx="2832480" cy="374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Shape 301"/>
          <p:cNvSpPr/>
          <p:nvPr/>
        </p:nvSpPr>
        <p:spPr>
          <a:xfrm>
            <a:off x="3227760" y="960120"/>
            <a:ext cx="2832480" cy="381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2" name="Text 265"/>
          <p:cNvSpPr/>
          <p:nvPr/>
        </p:nvSpPr>
        <p:spPr>
          <a:xfrm>
            <a:off x="3300840" y="960120"/>
            <a:ext cx="2695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{ }  Objets imbriqués (object)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Text 266"/>
          <p:cNvSpPr/>
          <p:nvPr/>
        </p:nvSpPr>
        <p:spPr>
          <a:xfrm>
            <a:off x="3319200" y="1417320"/>
            <a:ext cx="264960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Structure JSON embarquée.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OpenSearch aplatit les objets en interne.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Accès par chemin pointé : adresse.ville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Mapping auto sous properties.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Shape 302"/>
          <p:cNvSpPr/>
          <p:nvPr/>
        </p:nvSpPr>
        <p:spPr>
          <a:xfrm>
            <a:off x="3300840" y="3063240"/>
            <a:ext cx="2686320" cy="141516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5" name="Text 267"/>
          <p:cNvSpPr/>
          <p:nvPr/>
        </p:nvSpPr>
        <p:spPr>
          <a:xfrm>
            <a:off x="3410640" y="3136320"/>
            <a:ext cx="2466720" cy="12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 "adresse":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"ville": "Paris",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"cp": "75001"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Shape 303"/>
          <p:cNvSpPr/>
          <p:nvPr/>
        </p:nvSpPr>
        <p:spPr>
          <a:xfrm>
            <a:off x="6199560" y="960120"/>
            <a:ext cx="2832480" cy="374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Shape 304"/>
          <p:cNvSpPr/>
          <p:nvPr/>
        </p:nvSpPr>
        <p:spPr>
          <a:xfrm>
            <a:off x="6199560" y="960120"/>
            <a:ext cx="2832480" cy="3819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Text 268"/>
          <p:cNvSpPr/>
          <p:nvPr/>
        </p:nvSpPr>
        <p:spPr>
          <a:xfrm>
            <a:off x="6272640" y="960120"/>
            <a:ext cx="2695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⊞ 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Nested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Text 269"/>
          <p:cNvSpPr/>
          <p:nvPr/>
        </p:nvSpPr>
        <p:spPr>
          <a:xfrm>
            <a:off x="6291000" y="1417320"/>
            <a:ext cx="264960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Tableau de structures embarquées.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Chaque élément = document Lucene caché.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Permet des requêtes corrélées sur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les sous-objets.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Shape 305"/>
          <p:cNvSpPr/>
          <p:nvPr/>
        </p:nvSpPr>
        <p:spPr>
          <a:xfrm>
            <a:off x="6272640" y="3063240"/>
            <a:ext cx="2686320" cy="141516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1" name="Text 270"/>
          <p:cNvSpPr/>
          <p:nvPr/>
        </p:nvSpPr>
        <p:spPr>
          <a:xfrm>
            <a:off x="6382440" y="3136320"/>
            <a:ext cx="2466720" cy="12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 "tags": [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{"nom":"Alice","role":"admin"},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{"nom":"Bob","role":"user"}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]}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Shape 306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Text 271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Nested génère beaucoup de documents Lucene internes — à utiliser avec parcimonie sur les champs à très haut volume.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Shape 307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5" name="Shape 308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6" name="Text 272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Mapping des objets embarqués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Shape 309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8" name="Text 273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Text 274"/>
          <p:cNvSpPr/>
          <p:nvPr/>
        </p:nvSpPr>
        <p:spPr>
          <a:xfrm>
            <a:off x="320040" y="91440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OpenSearch détecte dynamiquement les champs objets et les mappe comme </a:t>
            </a:r>
            <a:r>
              <a:rPr b="1" lang="en-US" sz="1150" spc="-1" strike="noStrike">
                <a:solidFill>
                  <a:srgbClr val="007a8a"/>
                </a:solidFill>
                <a:latin typeface="Consolas"/>
                <a:ea typeface="Consolas"/>
              </a:rPr>
              <a:t>object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onsolas"/>
              </a:rPr>
              <a:t>. Chaque sous-champ est listé sous </a:t>
            </a:r>
            <a:r>
              <a:rPr b="1" lang="en-US" sz="1150" spc="-1" strike="noStrike">
                <a:solidFill>
                  <a:srgbClr val="007a8a"/>
                </a:solidFill>
                <a:latin typeface="Consolas"/>
                <a:ea typeface="Consolas"/>
              </a:rPr>
              <a:t>properties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onsolas"/>
              </a:rPr>
              <a:t>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Shape 310"/>
          <p:cNvSpPr/>
          <p:nvPr/>
        </p:nvSpPr>
        <p:spPr>
          <a:xfrm>
            <a:off x="274320" y="1508760"/>
            <a:ext cx="3975480" cy="287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Shape 311"/>
          <p:cNvSpPr/>
          <p:nvPr/>
        </p:nvSpPr>
        <p:spPr>
          <a:xfrm>
            <a:off x="274320" y="1508760"/>
            <a:ext cx="3975480" cy="345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2" name="Text 275"/>
          <p:cNvSpPr/>
          <p:nvPr/>
        </p:nvSpPr>
        <p:spPr>
          <a:xfrm>
            <a:off x="347400" y="1508760"/>
            <a:ext cx="3838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Document JSON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Shape 312"/>
          <p:cNvSpPr/>
          <p:nvPr/>
        </p:nvSpPr>
        <p:spPr>
          <a:xfrm>
            <a:off x="347400" y="1920240"/>
            <a:ext cx="3792600" cy="235692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4" name="Text 276"/>
          <p:cNvSpPr/>
          <p:nvPr/>
        </p:nvSpPr>
        <p:spPr>
          <a:xfrm>
            <a:off x="457200" y="1993320"/>
            <a:ext cx="3573000" cy="22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POST /social/_doc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"tweet": "Je cherche avec OpenSearch",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"user":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"id": "u001",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"age": 28,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"name":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"first": "Alice",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"last":  "Dupont"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Shape 313"/>
          <p:cNvSpPr/>
          <p:nvPr/>
        </p:nvSpPr>
        <p:spPr>
          <a:xfrm>
            <a:off x="4572000" y="1508760"/>
            <a:ext cx="4249800" cy="287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Shape 314"/>
          <p:cNvSpPr/>
          <p:nvPr/>
        </p:nvSpPr>
        <p:spPr>
          <a:xfrm>
            <a:off x="4572000" y="1508760"/>
            <a:ext cx="4249800" cy="34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7" name="Text 277"/>
          <p:cNvSpPr/>
          <p:nvPr/>
        </p:nvSpPr>
        <p:spPr>
          <a:xfrm>
            <a:off x="4645080" y="1508760"/>
            <a:ext cx="4112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Mapping généré automatiquement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Shape 315"/>
          <p:cNvSpPr/>
          <p:nvPr/>
        </p:nvSpPr>
        <p:spPr>
          <a:xfrm>
            <a:off x="4645080" y="1920240"/>
            <a:ext cx="4066920" cy="235692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9" name="Text 278"/>
          <p:cNvSpPr/>
          <p:nvPr/>
        </p:nvSpPr>
        <p:spPr>
          <a:xfrm>
            <a:off x="4754880" y="1993320"/>
            <a:ext cx="3847320" cy="22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GET /social/_mapping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"tweet": { "type": "text"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"user":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"object",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"id":  { "type": "text"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"age": { "type": "long"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"name":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"object",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"first": { "type": "text"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"last":  { "type": "text"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Shape 316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Text 279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En interne, OpenSearch aplatit user.name.first — il n'y a pas de JSON imbriqué stocké, mais des champs à chemin pointé (dot notation).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Shape 317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3" name="Shape 318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" name="Text 280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Analyseurs — Principe et pipeline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Shape 319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" name="Text 281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Text 282"/>
          <p:cNvSpPr/>
          <p:nvPr/>
        </p:nvSpPr>
        <p:spPr>
          <a:xfrm>
            <a:off x="320040" y="91440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Les analyseurs transforment un champ </a:t>
            </a:r>
            <a:r>
              <a:rPr b="1" lang="en-US" sz="1150" spc="-1" strike="noStrike">
                <a:solidFill>
                  <a:srgbClr val="007a8a"/>
                </a:solidFill>
                <a:latin typeface="Consolas"/>
                <a:ea typeface="Consolas"/>
              </a:rPr>
              <a:t>text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onsolas"/>
              </a:rPr>
              <a:t> en un flux de tokens qui constituent l'</a:t>
            </a:r>
            <a:r>
              <a:rPr b="1" lang="en-US" sz="1150" spc="-1" strike="noStrike">
                <a:solidFill>
                  <a:srgbClr val="007a8a"/>
                </a:solidFill>
                <a:latin typeface="Calibri"/>
                <a:ea typeface="Consolas"/>
              </a:rPr>
              <a:t>index inversé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onsolas"/>
              </a:rPr>
              <a:t>. Ils s'appliquent à l'indexation ET à la recherche.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Shape 320"/>
          <p:cNvSpPr/>
          <p:nvPr/>
        </p:nvSpPr>
        <p:spPr>
          <a:xfrm>
            <a:off x="1371600" y="1508760"/>
            <a:ext cx="455040" cy="4550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Text 283"/>
          <p:cNvSpPr/>
          <p:nvPr/>
        </p:nvSpPr>
        <p:spPr>
          <a:xfrm>
            <a:off x="1371600" y="150876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Shape 321"/>
          <p:cNvSpPr/>
          <p:nvPr/>
        </p:nvSpPr>
        <p:spPr>
          <a:xfrm>
            <a:off x="457200" y="2057400"/>
            <a:ext cx="2375280" cy="10036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Text 284"/>
          <p:cNvSpPr/>
          <p:nvPr/>
        </p:nvSpPr>
        <p:spPr>
          <a:xfrm>
            <a:off x="502920" y="2057400"/>
            <a:ext cx="22838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Character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Filters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Text 285"/>
          <p:cNvSpPr/>
          <p:nvPr/>
        </p:nvSpPr>
        <p:spPr>
          <a:xfrm>
            <a:off x="502920" y="2532960"/>
            <a:ext cx="228384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Pré-traitement du texte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(strip HTML, remplacements)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Shape 322"/>
          <p:cNvSpPr/>
          <p:nvPr/>
        </p:nvSpPr>
        <p:spPr>
          <a:xfrm>
            <a:off x="4206240" y="1508760"/>
            <a:ext cx="455040" cy="4550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4" name="Text 286"/>
          <p:cNvSpPr/>
          <p:nvPr/>
        </p:nvSpPr>
        <p:spPr>
          <a:xfrm>
            <a:off x="4206240" y="150876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Shape 323"/>
          <p:cNvSpPr/>
          <p:nvPr/>
        </p:nvSpPr>
        <p:spPr>
          <a:xfrm>
            <a:off x="3291840" y="2057400"/>
            <a:ext cx="2375280" cy="1003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6" name="Text 287"/>
          <p:cNvSpPr/>
          <p:nvPr/>
        </p:nvSpPr>
        <p:spPr>
          <a:xfrm>
            <a:off x="3337560" y="2057400"/>
            <a:ext cx="22838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Tokenizer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Text 288"/>
          <p:cNvSpPr/>
          <p:nvPr/>
        </p:nvSpPr>
        <p:spPr>
          <a:xfrm>
            <a:off x="3337560" y="2532960"/>
            <a:ext cx="228384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Découpe en tokens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(standard, whitespace, ngram)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Shape 324"/>
          <p:cNvSpPr/>
          <p:nvPr/>
        </p:nvSpPr>
        <p:spPr>
          <a:xfrm>
            <a:off x="7040880" y="1508760"/>
            <a:ext cx="455040" cy="4550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9" name="Text 289"/>
          <p:cNvSpPr/>
          <p:nvPr/>
        </p:nvSpPr>
        <p:spPr>
          <a:xfrm>
            <a:off x="7040880" y="150876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Shape 325"/>
          <p:cNvSpPr/>
          <p:nvPr/>
        </p:nvSpPr>
        <p:spPr>
          <a:xfrm>
            <a:off x="6126480" y="2057400"/>
            <a:ext cx="2375280" cy="10036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1" name="Text 290"/>
          <p:cNvSpPr/>
          <p:nvPr/>
        </p:nvSpPr>
        <p:spPr>
          <a:xfrm>
            <a:off x="6172200" y="2057400"/>
            <a:ext cx="22838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Token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Filters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Text 291"/>
          <p:cNvSpPr/>
          <p:nvPr/>
        </p:nvSpPr>
        <p:spPr>
          <a:xfrm>
            <a:off x="6172200" y="2532960"/>
            <a:ext cx="228384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Normalise les tokens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(lowercase, stop words, stem)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Text 292"/>
          <p:cNvSpPr/>
          <p:nvPr/>
        </p:nvSpPr>
        <p:spPr>
          <a:xfrm>
            <a:off x="2834640" y="2331720"/>
            <a:ext cx="455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Text 293"/>
          <p:cNvSpPr/>
          <p:nvPr/>
        </p:nvSpPr>
        <p:spPr>
          <a:xfrm>
            <a:off x="5669280" y="2331720"/>
            <a:ext cx="455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Shape 326"/>
          <p:cNvSpPr/>
          <p:nvPr/>
        </p:nvSpPr>
        <p:spPr>
          <a:xfrm>
            <a:off x="274320" y="3200400"/>
            <a:ext cx="8593200" cy="1140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Shape 327"/>
          <p:cNvSpPr/>
          <p:nvPr/>
        </p:nvSpPr>
        <p:spPr>
          <a:xfrm>
            <a:off x="274320" y="3200400"/>
            <a:ext cx="8593200" cy="34524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Text 294"/>
          <p:cNvSpPr/>
          <p:nvPr/>
        </p:nvSpPr>
        <p:spPr>
          <a:xfrm>
            <a:off x="365760" y="3200400"/>
            <a:ext cx="8410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Exemple avec l'analyseur french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Shape 328"/>
          <p:cNvSpPr/>
          <p:nvPr/>
        </p:nvSpPr>
        <p:spPr>
          <a:xfrm>
            <a:off x="384120" y="3593520"/>
            <a:ext cx="1570680" cy="6379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Text 295"/>
          <p:cNvSpPr/>
          <p:nvPr/>
        </p:nvSpPr>
        <p:spPr>
          <a:xfrm>
            <a:off x="420480" y="3611880"/>
            <a:ext cx="149760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00576b"/>
                </a:solidFill>
                <a:latin typeface="Calibri"/>
              </a:rPr>
              <a:t>Original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Text 296"/>
          <p:cNvSpPr/>
          <p:nvPr/>
        </p:nvSpPr>
        <p:spPr>
          <a:xfrm>
            <a:off x="420480" y="3822120"/>
            <a:ext cx="14976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"Les données sont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analysées"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Text 297"/>
          <p:cNvSpPr/>
          <p:nvPr/>
        </p:nvSpPr>
        <p:spPr>
          <a:xfrm>
            <a:off x="1956960" y="3703320"/>
            <a:ext cx="1260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→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Shape 329"/>
          <p:cNvSpPr/>
          <p:nvPr/>
        </p:nvSpPr>
        <p:spPr>
          <a:xfrm>
            <a:off x="2084760" y="3593520"/>
            <a:ext cx="1570680" cy="6379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Text 298"/>
          <p:cNvSpPr/>
          <p:nvPr/>
        </p:nvSpPr>
        <p:spPr>
          <a:xfrm>
            <a:off x="2121480" y="3611880"/>
            <a:ext cx="149760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007a8a"/>
                </a:solidFill>
                <a:latin typeface="Calibri"/>
              </a:rPr>
              <a:t>Tokenizer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Text 299"/>
          <p:cNvSpPr/>
          <p:nvPr/>
        </p:nvSpPr>
        <p:spPr>
          <a:xfrm>
            <a:off x="2121480" y="3822120"/>
            <a:ext cx="14976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"Les" "données"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"sont" "analysées"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Text 300"/>
          <p:cNvSpPr/>
          <p:nvPr/>
        </p:nvSpPr>
        <p:spPr>
          <a:xfrm>
            <a:off x="3657600" y="3703320"/>
            <a:ext cx="1260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→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Shape 330"/>
          <p:cNvSpPr/>
          <p:nvPr/>
        </p:nvSpPr>
        <p:spPr>
          <a:xfrm>
            <a:off x="3785760" y="3593520"/>
            <a:ext cx="1570680" cy="6379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Text 301"/>
          <p:cNvSpPr/>
          <p:nvPr/>
        </p:nvSpPr>
        <p:spPr>
          <a:xfrm>
            <a:off x="3822120" y="3611880"/>
            <a:ext cx="149760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</a:rPr>
              <a:t>Lowercase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Text 302"/>
          <p:cNvSpPr/>
          <p:nvPr/>
        </p:nvSpPr>
        <p:spPr>
          <a:xfrm>
            <a:off x="3822120" y="3822120"/>
            <a:ext cx="14976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"les" "données"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"sont" "analysées"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Text 303"/>
          <p:cNvSpPr/>
          <p:nvPr/>
        </p:nvSpPr>
        <p:spPr>
          <a:xfrm>
            <a:off x="5358240" y="3703320"/>
            <a:ext cx="1260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→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Shape 331"/>
          <p:cNvSpPr/>
          <p:nvPr/>
        </p:nvSpPr>
        <p:spPr>
          <a:xfrm>
            <a:off x="5486400" y="3593520"/>
            <a:ext cx="1570680" cy="6379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Text 304"/>
          <p:cNvSpPr/>
          <p:nvPr/>
        </p:nvSpPr>
        <p:spPr>
          <a:xfrm>
            <a:off x="5523120" y="3611880"/>
            <a:ext cx="149760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2e7d32"/>
                </a:solidFill>
                <a:latin typeface="Calibri"/>
              </a:rPr>
              <a:t>Stop words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Text 305"/>
          <p:cNvSpPr/>
          <p:nvPr/>
        </p:nvSpPr>
        <p:spPr>
          <a:xfrm>
            <a:off x="5523120" y="3822120"/>
            <a:ext cx="14976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"données"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"analysées"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Text 306"/>
          <p:cNvSpPr/>
          <p:nvPr/>
        </p:nvSpPr>
        <p:spPr>
          <a:xfrm>
            <a:off x="7059240" y="3703320"/>
            <a:ext cx="1260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→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" name="Shape 332"/>
          <p:cNvSpPr/>
          <p:nvPr/>
        </p:nvSpPr>
        <p:spPr>
          <a:xfrm>
            <a:off x="7187040" y="3593520"/>
            <a:ext cx="1570680" cy="6379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Text 307"/>
          <p:cNvSpPr/>
          <p:nvPr/>
        </p:nvSpPr>
        <p:spPr>
          <a:xfrm>
            <a:off x="7223760" y="3611880"/>
            <a:ext cx="149760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007a8a"/>
                </a:solidFill>
                <a:latin typeface="Calibri"/>
              </a:rPr>
              <a:t>Stemming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Text 308"/>
          <p:cNvSpPr/>
          <p:nvPr/>
        </p:nvSpPr>
        <p:spPr>
          <a:xfrm>
            <a:off x="7223760" y="3822120"/>
            <a:ext cx="14976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"donn"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"analys"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Shape 333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8" name="Shape 334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Text 309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Analyseurs intégrés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" name="Shape 335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1" name="Text 310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Shape 336"/>
          <p:cNvSpPr/>
          <p:nvPr/>
        </p:nvSpPr>
        <p:spPr>
          <a:xfrm>
            <a:off x="274320" y="960120"/>
            <a:ext cx="2283840" cy="3178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Text 311"/>
          <p:cNvSpPr/>
          <p:nvPr/>
        </p:nvSpPr>
        <p:spPr>
          <a:xfrm>
            <a:off x="329040" y="960120"/>
            <a:ext cx="21740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Analyseur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Shape 337"/>
          <p:cNvSpPr/>
          <p:nvPr/>
        </p:nvSpPr>
        <p:spPr>
          <a:xfrm>
            <a:off x="2560320" y="960120"/>
            <a:ext cx="4386960" cy="3178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Text 312"/>
          <p:cNvSpPr/>
          <p:nvPr/>
        </p:nvSpPr>
        <p:spPr>
          <a:xfrm>
            <a:off x="2615040" y="960120"/>
            <a:ext cx="4277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Description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Shape 338"/>
          <p:cNvSpPr/>
          <p:nvPr/>
        </p:nvSpPr>
        <p:spPr>
          <a:xfrm>
            <a:off x="6949440" y="960120"/>
            <a:ext cx="1918080" cy="3178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" name="Text 313"/>
          <p:cNvSpPr/>
          <p:nvPr/>
        </p:nvSpPr>
        <p:spPr>
          <a:xfrm>
            <a:off x="7004160" y="960120"/>
            <a:ext cx="18082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Usage typique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Shape 339"/>
          <p:cNvSpPr/>
          <p:nvPr/>
        </p:nvSpPr>
        <p:spPr>
          <a:xfrm>
            <a:off x="274320" y="1280160"/>
            <a:ext cx="228384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Shape 340"/>
          <p:cNvSpPr/>
          <p:nvPr/>
        </p:nvSpPr>
        <p:spPr>
          <a:xfrm>
            <a:off x="2560320" y="1280160"/>
            <a:ext cx="438696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Shape 341"/>
          <p:cNvSpPr/>
          <p:nvPr/>
        </p:nvSpPr>
        <p:spPr>
          <a:xfrm>
            <a:off x="6949440" y="1280160"/>
            <a:ext cx="191808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Shape 342"/>
          <p:cNvSpPr/>
          <p:nvPr/>
        </p:nvSpPr>
        <p:spPr>
          <a:xfrm>
            <a:off x="347400" y="1380600"/>
            <a:ext cx="180720" cy="1807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Text 314"/>
          <p:cNvSpPr/>
          <p:nvPr/>
        </p:nvSpPr>
        <p:spPr>
          <a:xfrm>
            <a:off x="576000" y="1280160"/>
            <a:ext cx="19364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576b"/>
                </a:solidFill>
                <a:latin typeface="Consolas"/>
                <a:ea typeface="Consolas"/>
              </a:rPr>
              <a:t>standard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Text 315"/>
          <p:cNvSpPr/>
          <p:nvPr/>
        </p:nvSpPr>
        <p:spPr>
          <a:xfrm>
            <a:off x="2633400" y="1280160"/>
            <a:ext cx="42498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Sépare en mots, supprime la ponctuation, passe en minuscule. (défaut)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Text 316"/>
          <p:cNvSpPr/>
          <p:nvPr/>
        </p:nvSpPr>
        <p:spPr>
          <a:xfrm>
            <a:off x="6995160" y="1280160"/>
            <a:ext cx="18266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Usage général, multilingue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Shape 343"/>
          <p:cNvSpPr/>
          <p:nvPr/>
        </p:nvSpPr>
        <p:spPr>
          <a:xfrm>
            <a:off x="274320" y="1682640"/>
            <a:ext cx="228384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Shape 344"/>
          <p:cNvSpPr/>
          <p:nvPr/>
        </p:nvSpPr>
        <p:spPr>
          <a:xfrm>
            <a:off x="2560320" y="1682640"/>
            <a:ext cx="438696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Shape 345"/>
          <p:cNvSpPr/>
          <p:nvPr/>
        </p:nvSpPr>
        <p:spPr>
          <a:xfrm>
            <a:off x="6949440" y="1682640"/>
            <a:ext cx="191808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Shape 346"/>
          <p:cNvSpPr/>
          <p:nvPr/>
        </p:nvSpPr>
        <p:spPr>
          <a:xfrm>
            <a:off x="347400" y="1783080"/>
            <a:ext cx="180720" cy="1807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9" name="Text 317"/>
          <p:cNvSpPr/>
          <p:nvPr/>
        </p:nvSpPr>
        <p:spPr>
          <a:xfrm>
            <a:off x="576000" y="1682640"/>
            <a:ext cx="19364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7a8a"/>
                </a:solidFill>
                <a:latin typeface="Consolas"/>
                <a:ea typeface="Consolas"/>
              </a:rPr>
              <a:t>french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Text 318"/>
          <p:cNvSpPr/>
          <p:nvPr/>
        </p:nvSpPr>
        <p:spPr>
          <a:xfrm>
            <a:off x="2633400" y="1682640"/>
            <a:ext cx="42498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Stemming français, élision (l', d'…), stop words français.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Text 319"/>
          <p:cNvSpPr/>
          <p:nvPr/>
        </p:nvSpPr>
        <p:spPr>
          <a:xfrm>
            <a:off x="6995160" y="1682640"/>
            <a:ext cx="18266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Textes en français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Shape 347"/>
          <p:cNvSpPr/>
          <p:nvPr/>
        </p:nvSpPr>
        <p:spPr>
          <a:xfrm>
            <a:off x="274320" y="2084760"/>
            <a:ext cx="228384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Shape 348"/>
          <p:cNvSpPr/>
          <p:nvPr/>
        </p:nvSpPr>
        <p:spPr>
          <a:xfrm>
            <a:off x="2560320" y="2084760"/>
            <a:ext cx="438696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Shape 349"/>
          <p:cNvSpPr/>
          <p:nvPr/>
        </p:nvSpPr>
        <p:spPr>
          <a:xfrm>
            <a:off x="6949440" y="2084760"/>
            <a:ext cx="191808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Shape 350"/>
          <p:cNvSpPr/>
          <p:nvPr/>
        </p:nvSpPr>
        <p:spPr>
          <a:xfrm>
            <a:off x="347400" y="2185560"/>
            <a:ext cx="180720" cy="1807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6" name="Text 320"/>
          <p:cNvSpPr/>
          <p:nvPr/>
        </p:nvSpPr>
        <p:spPr>
          <a:xfrm>
            <a:off x="576000" y="2084760"/>
            <a:ext cx="19364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7a8a"/>
                </a:solidFill>
                <a:latin typeface="Consolas"/>
                <a:ea typeface="Consolas"/>
              </a:rPr>
              <a:t>english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Text 321"/>
          <p:cNvSpPr/>
          <p:nvPr/>
        </p:nvSpPr>
        <p:spPr>
          <a:xfrm>
            <a:off x="2633400" y="2084760"/>
            <a:ext cx="42498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Stemming anglais (Snowball), stop words anglais.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Text 322"/>
          <p:cNvSpPr/>
          <p:nvPr/>
        </p:nvSpPr>
        <p:spPr>
          <a:xfrm>
            <a:off x="6995160" y="2084760"/>
            <a:ext cx="18266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Textes en anglais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Shape 351"/>
          <p:cNvSpPr/>
          <p:nvPr/>
        </p:nvSpPr>
        <p:spPr>
          <a:xfrm>
            <a:off x="274320" y="2487240"/>
            <a:ext cx="228384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Shape 352"/>
          <p:cNvSpPr/>
          <p:nvPr/>
        </p:nvSpPr>
        <p:spPr>
          <a:xfrm>
            <a:off x="2560320" y="2487240"/>
            <a:ext cx="438696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Shape 353"/>
          <p:cNvSpPr/>
          <p:nvPr/>
        </p:nvSpPr>
        <p:spPr>
          <a:xfrm>
            <a:off x="6949440" y="2487240"/>
            <a:ext cx="191808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Shape 354"/>
          <p:cNvSpPr/>
          <p:nvPr/>
        </p:nvSpPr>
        <p:spPr>
          <a:xfrm>
            <a:off x="347400" y="2587680"/>
            <a:ext cx="180720" cy="18072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Text 323"/>
          <p:cNvSpPr/>
          <p:nvPr/>
        </p:nvSpPr>
        <p:spPr>
          <a:xfrm>
            <a:off x="576000" y="2487240"/>
            <a:ext cx="19364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nsolas"/>
                <a:ea typeface="Consolas"/>
              </a:rPr>
              <a:t>whitespace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Text 324"/>
          <p:cNvSpPr/>
          <p:nvPr/>
        </p:nvSpPr>
        <p:spPr>
          <a:xfrm>
            <a:off x="2633400" y="2487240"/>
            <a:ext cx="42498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Découpe uniquement sur les espaces. Préserve la casse et la ponctuation.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Text 325"/>
          <p:cNvSpPr/>
          <p:nvPr/>
        </p:nvSpPr>
        <p:spPr>
          <a:xfrm>
            <a:off x="6995160" y="2487240"/>
            <a:ext cx="18266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Codes avec séparateurs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Shape 355"/>
          <p:cNvSpPr/>
          <p:nvPr/>
        </p:nvSpPr>
        <p:spPr>
          <a:xfrm>
            <a:off x="274320" y="2889360"/>
            <a:ext cx="228384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Shape 356"/>
          <p:cNvSpPr/>
          <p:nvPr/>
        </p:nvSpPr>
        <p:spPr>
          <a:xfrm>
            <a:off x="2560320" y="2889360"/>
            <a:ext cx="438696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Shape 357"/>
          <p:cNvSpPr/>
          <p:nvPr/>
        </p:nvSpPr>
        <p:spPr>
          <a:xfrm>
            <a:off x="6949440" y="2889360"/>
            <a:ext cx="191808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Shape 358"/>
          <p:cNvSpPr/>
          <p:nvPr/>
        </p:nvSpPr>
        <p:spPr>
          <a:xfrm>
            <a:off x="347400" y="2990160"/>
            <a:ext cx="180720" cy="180720"/>
          </a:xfrm>
          <a:prstGeom prst="ellipse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0" name="Text 326"/>
          <p:cNvSpPr/>
          <p:nvPr/>
        </p:nvSpPr>
        <p:spPr>
          <a:xfrm>
            <a:off x="576000" y="2889360"/>
            <a:ext cx="19364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404f"/>
                </a:solidFill>
                <a:latin typeface="Consolas"/>
                <a:ea typeface="Consolas"/>
              </a:rPr>
              <a:t>keyword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Text 327"/>
          <p:cNvSpPr/>
          <p:nvPr/>
        </p:nvSpPr>
        <p:spPr>
          <a:xfrm>
            <a:off x="2633400" y="2889360"/>
            <a:ext cx="42498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Aucune analyse. La valeur entière est un seul token.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Text 328"/>
          <p:cNvSpPr/>
          <p:nvPr/>
        </p:nvSpPr>
        <p:spPr>
          <a:xfrm>
            <a:off x="6995160" y="2889360"/>
            <a:ext cx="18266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Champs non analysés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Shape 359"/>
          <p:cNvSpPr/>
          <p:nvPr/>
        </p:nvSpPr>
        <p:spPr>
          <a:xfrm>
            <a:off x="274320" y="3291840"/>
            <a:ext cx="228384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Shape 360"/>
          <p:cNvSpPr/>
          <p:nvPr/>
        </p:nvSpPr>
        <p:spPr>
          <a:xfrm>
            <a:off x="2560320" y="3291840"/>
            <a:ext cx="438696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Shape 361"/>
          <p:cNvSpPr/>
          <p:nvPr/>
        </p:nvSpPr>
        <p:spPr>
          <a:xfrm>
            <a:off x="6949440" y="3291840"/>
            <a:ext cx="191808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Shape 362"/>
          <p:cNvSpPr/>
          <p:nvPr/>
        </p:nvSpPr>
        <p:spPr>
          <a:xfrm>
            <a:off x="347400" y="3392280"/>
            <a:ext cx="180720" cy="1807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7" name="Text 329"/>
          <p:cNvSpPr/>
          <p:nvPr/>
        </p:nvSpPr>
        <p:spPr>
          <a:xfrm>
            <a:off x="576000" y="3291840"/>
            <a:ext cx="19364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e7d32"/>
                </a:solidFill>
                <a:latin typeface="Consolas"/>
                <a:ea typeface="Consolas"/>
              </a:rPr>
              <a:t>simple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Text 330"/>
          <p:cNvSpPr/>
          <p:nvPr/>
        </p:nvSpPr>
        <p:spPr>
          <a:xfrm>
            <a:off x="2633400" y="3291840"/>
            <a:ext cx="42498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Découpe sur les non-lettres, passe en minuscule.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Text 331"/>
          <p:cNvSpPr/>
          <p:nvPr/>
        </p:nvSpPr>
        <p:spPr>
          <a:xfrm>
            <a:off x="6995160" y="3291840"/>
            <a:ext cx="18266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Texte simple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Shape 363"/>
          <p:cNvSpPr/>
          <p:nvPr/>
        </p:nvSpPr>
        <p:spPr>
          <a:xfrm>
            <a:off x="274320" y="3694320"/>
            <a:ext cx="228384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Shape 364"/>
          <p:cNvSpPr/>
          <p:nvPr/>
        </p:nvSpPr>
        <p:spPr>
          <a:xfrm>
            <a:off x="2560320" y="3694320"/>
            <a:ext cx="438696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Shape 365"/>
          <p:cNvSpPr/>
          <p:nvPr/>
        </p:nvSpPr>
        <p:spPr>
          <a:xfrm>
            <a:off x="6949440" y="3694320"/>
            <a:ext cx="1918080" cy="4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Shape 366"/>
          <p:cNvSpPr/>
          <p:nvPr/>
        </p:nvSpPr>
        <p:spPr>
          <a:xfrm>
            <a:off x="347400" y="3794760"/>
            <a:ext cx="180720" cy="1807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4" name="Text 332"/>
          <p:cNvSpPr/>
          <p:nvPr/>
        </p:nvSpPr>
        <p:spPr>
          <a:xfrm>
            <a:off x="576000" y="3694320"/>
            <a:ext cx="19364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c3aed"/>
                </a:solidFill>
                <a:latin typeface="Consolas"/>
                <a:ea typeface="Consolas"/>
              </a:rPr>
              <a:t>stop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Text 333"/>
          <p:cNvSpPr/>
          <p:nvPr/>
        </p:nvSpPr>
        <p:spPr>
          <a:xfrm>
            <a:off x="2633400" y="3694320"/>
            <a:ext cx="42498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Comme simple + suppression des mots courants (stop words).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Text 334"/>
          <p:cNvSpPr/>
          <p:nvPr/>
        </p:nvSpPr>
        <p:spPr>
          <a:xfrm>
            <a:off x="6995160" y="3694320"/>
            <a:ext cx="18266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Textes avec mots courants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Shape 367"/>
          <p:cNvSpPr/>
          <p:nvPr/>
        </p:nvSpPr>
        <p:spPr>
          <a:xfrm>
            <a:off x="274320" y="4096440"/>
            <a:ext cx="228384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Shape 368"/>
          <p:cNvSpPr/>
          <p:nvPr/>
        </p:nvSpPr>
        <p:spPr>
          <a:xfrm>
            <a:off x="2560320" y="4096440"/>
            <a:ext cx="438696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Shape 369"/>
          <p:cNvSpPr/>
          <p:nvPr/>
        </p:nvSpPr>
        <p:spPr>
          <a:xfrm>
            <a:off x="6949440" y="4096440"/>
            <a:ext cx="1918080" cy="4003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Shape 370"/>
          <p:cNvSpPr/>
          <p:nvPr/>
        </p:nvSpPr>
        <p:spPr>
          <a:xfrm>
            <a:off x="347400" y="4197240"/>
            <a:ext cx="180720" cy="18072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1" name="Text 335"/>
          <p:cNvSpPr/>
          <p:nvPr/>
        </p:nvSpPr>
        <p:spPr>
          <a:xfrm>
            <a:off x="576000" y="4096440"/>
            <a:ext cx="19364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b45309"/>
                </a:solidFill>
                <a:latin typeface="Consolas"/>
                <a:ea typeface="Consolas"/>
              </a:rPr>
              <a:t>pattern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 336"/>
          <p:cNvSpPr/>
          <p:nvPr/>
        </p:nvSpPr>
        <p:spPr>
          <a:xfrm>
            <a:off x="2633400" y="4096440"/>
            <a:ext cx="42498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Découpe selon une expression régulière (défaut : \W+).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Text 337"/>
          <p:cNvSpPr/>
          <p:nvPr/>
        </p:nvSpPr>
        <p:spPr>
          <a:xfrm>
            <a:off x="6995160" y="4096440"/>
            <a:ext cx="18266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Logs, CSV, formats structurés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Shape 371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Text 338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L'analyseur à l'indexation DOIT être identique à celui de la recherche — sinon les tokens ne correspondent pas et les résultats sont vides.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Shape 372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7" name="Shape 373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8" name="Text 339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Test des analyseurs — API _analyze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Shape 374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0" name="Text 340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Text 341"/>
          <p:cNvSpPr/>
          <p:nvPr/>
        </p:nvSpPr>
        <p:spPr>
          <a:xfrm>
            <a:off x="320040" y="914400"/>
            <a:ext cx="85017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OpenSearch expose l'API </a:t>
            </a:r>
            <a:r>
              <a:rPr b="1" i="1" lang="fr-FR" sz="1150" spc="-1" strike="noStrike">
                <a:solidFill>
                  <a:srgbClr val="1a2b2f"/>
                </a:solidFill>
                <a:latin typeface="Calibri"/>
              </a:rPr>
              <a:t>_analyze</a:t>
            </a: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 pour tester le comportement d'un analyseur sur un texte, sans indexer de document.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Shape 375"/>
          <p:cNvSpPr/>
          <p:nvPr/>
        </p:nvSpPr>
        <p:spPr>
          <a:xfrm>
            <a:off x="274320" y="1417320"/>
            <a:ext cx="4066920" cy="2923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Shape 376"/>
          <p:cNvSpPr/>
          <p:nvPr/>
        </p:nvSpPr>
        <p:spPr>
          <a:xfrm>
            <a:off x="274320" y="1417320"/>
            <a:ext cx="4066920" cy="345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4" name="Text 342"/>
          <p:cNvSpPr/>
          <p:nvPr/>
        </p:nvSpPr>
        <p:spPr>
          <a:xfrm>
            <a:off x="347400" y="141732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Requête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Shape 377"/>
          <p:cNvSpPr/>
          <p:nvPr/>
        </p:nvSpPr>
        <p:spPr>
          <a:xfrm>
            <a:off x="347400" y="1828800"/>
            <a:ext cx="3884040" cy="237528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6" name="Text 343"/>
          <p:cNvSpPr/>
          <p:nvPr/>
        </p:nvSpPr>
        <p:spPr>
          <a:xfrm>
            <a:off x="457200" y="1901880"/>
            <a:ext cx="3664440" cy="22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850" spc="-1" strike="noStrike">
                <a:solidFill>
                  <a:srgbClr val="a8d4dc"/>
                </a:solidFill>
                <a:latin typeface="Consolas"/>
                <a:ea typeface="Consolas"/>
              </a:rPr>
              <a:t># Sur l'index (avec son analyzer déclaré)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/mon-index/_analyze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"analyzer": "french",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fr-FR" sz="850" spc="-1" strike="noStrike">
                <a:solidFill>
                  <a:srgbClr val="a8d4dc"/>
                </a:solidFill>
                <a:latin typeface="Consolas"/>
                <a:ea typeface="Consolas"/>
              </a:rPr>
              <a:t>"text": "Les données sont analysées"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# Sur un analyzer global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/_analyze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"analyzer": "standard",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"text": "Text to analyze"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Shape 378"/>
          <p:cNvSpPr/>
          <p:nvPr/>
        </p:nvSpPr>
        <p:spPr>
          <a:xfrm>
            <a:off x="4617720" y="1417320"/>
            <a:ext cx="4204080" cy="2923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Shape 379"/>
          <p:cNvSpPr/>
          <p:nvPr/>
        </p:nvSpPr>
        <p:spPr>
          <a:xfrm>
            <a:off x="4617720" y="1417320"/>
            <a:ext cx="4204080" cy="34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9" name="Text 344"/>
          <p:cNvSpPr/>
          <p:nvPr/>
        </p:nvSpPr>
        <p:spPr>
          <a:xfrm>
            <a:off x="4690800" y="1417320"/>
            <a:ext cx="40669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Réponse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Shape 380"/>
          <p:cNvSpPr/>
          <p:nvPr/>
        </p:nvSpPr>
        <p:spPr>
          <a:xfrm>
            <a:off x="4690800" y="1828800"/>
            <a:ext cx="4021200" cy="237528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1" name="Text 345"/>
          <p:cNvSpPr/>
          <p:nvPr/>
        </p:nvSpPr>
        <p:spPr>
          <a:xfrm>
            <a:off x="4800600" y="1901880"/>
            <a:ext cx="3801600" cy="22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"tokens": [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"token":        "text",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"start_offset": 0,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"end_offset":   4,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"type":         "&lt;ALPHANUM&gt;",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"position":     1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"token":        "analyz",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"start_offset": 8,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"end_offset":   15,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"type":         "&lt;ALPHANUM&gt;",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"position":     3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]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Shape 381"/>
          <p:cNvSpPr/>
          <p:nvPr/>
        </p:nvSpPr>
        <p:spPr>
          <a:xfrm>
            <a:off x="274320" y="4382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Text 346"/>
          <p:cNvSpPr/>
          <p:nvPr/>
        </p:nvSpPr>
        <p:spPr>
          <a:xfrm>
            <a:off x="384120" y="4382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start_offset / end_offset / position permettent de comprendre le highlighting et les recherches de proximité (phrase queries).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Shape 612"/>
          <p:cNvSpPr/>
          <p:nvPr/>
        </p:nvSpPr>
        <p:spPr>
          <a:xfrm>
            <a:off x="274320" y="4753080"/>
            <a:ext cx="859392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Shape 663"/>
          <p:cNvSpPr/>
          <p:nvPr/>
        </p:nvSpPr>
        <p:spPr>
          <a:xfrm>
            <a:off x="274320" y="4753080"/>
            <a:ext cx="62640" cy="345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6" name="Text 601"/>
          <p:cNvSpPr/>
          <p:nvPr/>
        </p:nvSpPr>
        <p:spPr>
          <a:xfrm>
            <a:off x="457200" y="47530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Atelier 3.1 — Test des analyseurs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Shape 417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8" name="Shape 418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9" name="Text 381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Dynamic Mapping — true / false / strict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Shape 419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1" name="Text 382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Text 383"/>
          <p:cNvSpPr/>
          <p:nvPr/>
        </p:nvSpPr>
        <p:spPr>
          <a:xfrm>
            <a:off x="320040" y="91440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La propriété </a:t>
            </a:r>
            <a:r>
              <a:rPr b="1" lang="fr-FR" sz="1150" spc="-1" strike="noStrike">
                <a:solidFill>
                  <a:srgbClr val="007a8a"/>
                </a:solidFill>
                <a:latin typeface="Consolas"/>
                <a:ea typeface="Consolas"/>
              </a:rPr>
              <a:t>dynamic</a:t>
            </a:r>
            <a:r>
              <a:rPr b="0" lang="fr-FR" sz="1150" spc="-1" strike="noStrike">
                <a:solidFill>
                  <a:srgbClr val="1a2b2f"/>
                </a:solidFill>
                <a:latin typeface="Calibri"/>
                <a:ea typeface="Consolas"/>
              </a:rPr>
              <a:t> contrôle le comportement lors de l'apparition d'un nouveau champ non connu dans un document indexé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Shape 420"/>
          <p:cNvSpPr/>
          <p:nvPr/>
        </p:nvSpPr>
        <p:spPr>
          <a:xfrm>
            <a:off x="274320" y="1463040"/>
            <a:ext cx="2832480" cy="287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Shape 421"/>
          <p:cNvSpPr/>
          <p:nvPr/>
        </p:nvSpPr>
        <p:spPr>
          <a:xfrm>
            <a:off x="274320" y="1463040"/>
            <a:ext cx="2832480" cy="473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5" name="Text 384"/>
          <p:cNvSpPr/>
          <p:nvPr/>
        </p:nvSpPr>
        <p:spPr>
          <a:xfrm>
            <a:off x="347400" y="1463040"/>
            <a:ext cx="26953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dynamic: true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Text 385"/>
          <p:cNvSpPr/>
          <p:nvPr/>
        </p:nvSpPr>
        <p:spPr>
          <a:xfrm>
            <a:off x="365760" y="1993320"/>
            <a:ext cx="2649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e7d32"/>
                </a:solidFill>
                <a:latin typeface="Calibri"/>
              </a:rPr>
              <a:t>Ajout automatique (défaut)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Text 386"/>
          <p:cNvSpPr/>
          <p:nvPr/>
        </p:nvSpPr>
        <p:spPr>
          <a:xfrm>
            <a:off x="365760" y="2331720"/>
            <a:ext cx="264960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Tout nouveau champ est automatiquement détecté et ajouté au mapping.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Shape 422"/>
          <p:cNvSpPr/>
          <p:nvPr/>
        </p:nvSpPr>
        <p:spPr>
          <a:xfrm>
            <a:off x="347400" y="3310200"/>
            <a:ext cx="2686320" cy="8938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Text 387"/>
          <p:cNvSpPr/>
          <p:nvPr/>
        </p:nvSpPr>
        <p:spPr>
          <a:xfrm>
            <a:off x="402480" y="3337560"/>
            <a:ext cx="255816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Risque de mapping explosion si les documents ont des structures très variables.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Shape 423"/>
          <p:cNvSpPr/>
          <p:nvPr/>
        </p:nvSpPr>
        <p:spPr>
          <a:xfrm>
            <a:off x="3246120" y="1463040"/>
            <a:ext cx="2832480" cy="287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Shape 424"/>
          <p:cNvSpPr/>
          <p:nvPr/>
        </p:nvSpPr>
        <p:spPr>
          <a:xfrm>
            <a:off x="3246120" y="1463040"/>
            <a:ext cx="2832480" cy="4734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Text 388"/>
          <p:cNvSpPr/>
          <p:nvPr/>
        </p:nvSpPr>
        <p:spPr>
          <a:xfrm>
            <a:off x="3319200" y="1463040"/>
            <a:ext cx="26953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⏭️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dynamic: false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Text 389"/>
          <p:cNvSpPr/>
          <p:nvPr/>
        </p:nvSpPr>
        <p:spPr>
          <a:xfrm>
            <a:off x="3337560" y="1993320"/>
            <a:ext cx="2649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</a:rPr>
              <a:t>Ignoré silencieusement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Text 390"/>
          <p:cNvSpPr/>
          <p:nvPr/>
        </p:nvSpPr>
        <p:spPr>
          <a:xfrm>
            <a:off x="3337560" y="2331720"/>
            <a:ext cx="264960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Les nouveaux champs sont acceptés dans _source mais ne sont pas indexés ni interrogeables.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Shape 425"/>
          <p:cNvSpPr/>
          <p:nvPr/>
        </p:nvSpPr>
        <p:spPr>
          <a:xfrm>
            <a:off x="3319200" y="3310200"/>
            <a:ext cx="2686320" cy="8938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Text 391"/>
          <p:cNvSpPr/>
          <p:nvPr/>
        </p:nvSpPr>
        <p:spPr>
          <a:xfrm>
            <a:off x="3374280" y="3337560"/>
            <a:ext cx="255816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Utile pour les champs volatils à stocker sans indexer.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Shape 426"/>
          <p:cNvSpPr/>
          <p:nvPr/>
        </p:nvSpPr>
        <p:spPr>
          <a:xfrm>
            <a:off x="6217920" y="1463040"/>
            <a:ext cx="2832480" cy="287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Shape 427"/>
          <p:cNvSpPr/>
          <p:nvPr/>
        </p:nvSpPr>
        <p:spPr>
          <a:xfrm>
            <a:off x="6217920" y="1463040"/>
            <a:ext cx="2832480" cy="473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9" name="Text 392"/>
          <p:cNvSpPr/>
          <p:nvPr/>
        </p:nvSpPr>
        <p:spPr>
          <a:xfrm>
            <a:off x="6291000" y="1463040"/>
            <a:ext cx="26953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🚫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dynamic: "strict"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Text 393"/>
          <p:cNvSpPr/>
          <p:nvPr/>
        </p:nvSpPr>
        <p:spPr>
          <a:xfrm>
            <a:off x="6309360" y="1993320"/>
            <a:ext cx="2649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f4444"/>
                </a:solidFill>
                <a:latin typeface="Calibri"/>
              </a:rPr>
              <a:t>Exception levée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Text 394"/>
          <p:cNvSpPr/>
          <p:nvPr/>
        </p:nvSpPr>
        <p:spPr>
          <a:xfrm>
            <a:off x="6309360" y="2331720"/>
            <a:ext cx="264960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Tout nouveau champ inconnu déclenche une erreur 400 à l'indexation.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Shape 428"/>
          <p:cNvSpPr/>
          <p:nvPr/>
        </p:nvSpPr>
        <p:spPr>
          <a:xfrm>
            <a:off x="6291000" y="3310200"/>
            <a:ext cx="2686320" cy="89388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Text 395"/>
          <p:cNvSpPr/>
          <p:nvPr/>
        </p:nvSpPr>
        <p:spPr>
          <a:xfrm>
            <a:off x="6346080" y="3337560"/>
            <a:ext cx="255816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Recommandé en production pour garantir la cohérence du schéma.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Shape 429"/>
          <p:cNvSpPr/>
          <p:nvPr/>
        </p:nvSpPr>
        <p:spPr>
          <a:xfrm>
            <a:off x="274320" y="4316040"/>
            <a:ext cx="8593200" cy="5648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5" name="Text 396"/>
          <p:cNvSpPr/>
          <p:nvPr/>
        </p:nvSpPr>
        <p:spPr>
          <a:xfrm>
            <a:off x="384120" y="4389120"/>
            <a:ext cx="837360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PUT /my_index { "mappings": { "dynamic": "strict", "properties": { "title": {"type":"text"}, "stash": {"type":"object","dynamic":true}}}}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Shape 382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7" name="Shape 383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8" name="Text 347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Comportement par défaut du mapping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Shape 384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0" name="Text 348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Text 349"/>
          <p:cNvSpPr/>
          <p:nvPr/>
        </p:nvSpPr>
        <p:spPr>
          <a:xfrm>
            <a:off x="320040" y="91440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</a:rPr>
              <a:t>Lorsqu'OpenSearch détecte un nouveau champ </a:t>
            </a:r>
            <a:r>
              <a:rPr b="1" lang="en-US" sz="1200" spc="-1" strike="noStrike">
                <a:solidFill>
                  <a:srgbClr val="007a8a"/>
                </a:solidFill>
                <a:latin typeface="Consolas"/>
                <a:ea typeface="Consolas"/>
              </a:rPr>
              <a:t>string</a:t>
            </a: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onsolas"/>
              </a:rPr>
              <a:t>, il le configure automatiquement comme </a:t>
            </a:r>
            <a:r>
              <a:rPr b="1" lang="en-US" sz="1200" spc="-1" strike="noStrike">
                <a:solidFill>
                  <a:srgbClr val="007a8a"/>
                </a:solidFill>
                <a:latin typeface="Calibri"/>
                <a:ea typeface="Consolas"/>
              </a:rPr>
              <a:t>2 champs</a:t>
            </a: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onsolas"/>
              </a:rPr>
              <a:t> 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Shape 385"/>
          <p:cNvSpPr/>
          <p:nvPr/>
        </p:nvSpPr>
        <p:spPr>
          <a:xfrm>
            <a:off x="914400" y="1463040"/>
            <a:ext cx="3198240" cy="1643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Shape 386"/>
          <p:cNvSpPr/>
          <p:nvPr/>
        </p:nvSpPr>
        <p:spPr>
          <a:xfrm>
            <a:off x="914400" y="1463040"/>
            <a:ext cx="3198240" cy="381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4" name="Text 350"/>
          <p:cNvSpPr/>
          <p:nvPr/>
        </p:nvSpPr>
        <p:spPr>
          <a:xfrm>
            <a:off x="987480" y="1463040"/>
            <a:ext cx="30610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</a:rPr>
              <a:t>Champ text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Text 351"/>
          <p:cNvSpPr/>
          <p:nvPr/>
        </p:nvSpPr>
        <p:spPr>
          <a:xfrm>
            <a:off x="1005840" y="1920240"/>
            <a:ext cx="301536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Analyseur standard appliqué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Utilisable pour les recherches full-text (match)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Non utilisable pour le tri ou les agrégations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Text 352"/>
          <p:cNvSpPr/>
          <p:nvPr/>
        </p:nvSpPr>
        <p:spPr>
          <a:xfrm>
            <a:off x="4206240" y="1783080"/>
            <a:ext cx="72936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00576b"/>
                </a:solidFill>
                <a:latin typeface="Calibri"/>
              </a:rPr>
              <a:t>+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Shape 387"/>
          <p:cNvSpPr/>
          <p:nvPr/>
        </p:nvSpPr>
        <p:spPr>
          <a:xfrm>
            <a:off x="5029200" y="1463040"/>
            <a:ext cx="3198240" cy="1643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Shape 388"/>
          <p:cNvSpPr/>
          <p:nvPr/>
        </p:nvSpPr>
        <p:spPr>
          <a:xfrm>
            <a:off x="5029200" y="1463040"/>
            <a:ext cx="3198240" cy="3819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9" name="Text 353"/>
          <p:cNvSpPr/>
          <p:nvPr/>
        </p:nvSpPr>
        <p:spPr>
          <a:xfrm>
            <a:off x="5102280" y="1463040"/>
            <a:ext cx="30610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Sous-champ keyword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Text 354"/>
          <p:cNvSpPr/>
          <p:nvPr/>
        </p:nvSpPr>
        <p:spPr>
          <a:xfrm>
            <a:off x="5120640" y="1920240"/>
            <a:ext cx="301536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Valeur exacte, non analysée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Tri, agrégations, filtres exacts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af-ZA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af-ZA" sz="1050" spc="-1" strike="noStrike">
                <a:solidFill>
                  <a:srgbClr val="1a2b2f"/>
                </a:solidFill>
                <a:latin typeface="Calibri"/>
              </a:rPr>
              <a:t>Accès via </a:t>
            </a:r>
            <a:r>
              <a:rPr b="0" lang="af-ZA" sz="1050" spc="-1" strike="noStrike">
                <a:solidFill>
                  <a:srgbClr val="007a8a"/>
                </a:solidFill>
                <a:latin typeface="Consolas"/>
                <a:ea typeface="Consolas"/>
              </a:rPr>
              <a:t>nom.keyword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Shape 389"/>
          <p:cNvSpPr/>
          <p:nvPr/>
        </p:nvSpPr>
        <p:spPr>
          <a:xfrm>
            <a:off x="320040" y="3246120"/>
            <a:ext cx="8501760" cy="107676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2" name="Text 355"/>
          <p:cNvSpPr/>
          <p:nvPr/>
        </p:nvSpPr>
        <p:spPr>
          <a:xfrm>
            <a:off x="429840" y="3319200"/>
            <a:ext cx="8282160" cy="9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# "city" génère : city (text) + city.keyword (keyword)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GET /clients/_search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"query": { "match":  { "city": "paris" }},               ← full-text (text)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"aggs":  { "villes": { "terms": { "field": "city.keyword" }}}  ← agrégation (keyword)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Shape 390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Text 356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Pour éviter ce double mapping automatique, spécifier le mapping explicitement à la création de l'index.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Shape 430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6" name="Shape 431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7" name="Text 397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Règles de détection par défaut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Shape 432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9" name="Text 398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Shape 433"/>
          <p:cNvSpPr/>
          <p:nvPr/>
        </p:nvSpPr>
        <p:spPr>
          <a:xfrm>
            <a:off x="274320" y="921960"/>
            <a:ext cx="3198240" cy="3178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1" name="Text 400"/>
          <p:cNvSpPr/>
          <p:nvPr/>
        </p:nvSpPr>
        <p:spPr>
          <a:xfrm>
            <a:off x="347400" y="921960"/>
            <a:ext cx="30884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Type JSON détecté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Shape 434"/>
          <p:cNvSpPr/>
          <p:nvPr/>
        </p:nvSpPr>
        <p:spPr>
          <a:xfrm>
            <a:off x="3520440" y="921960"/>
            <a:ext cx="5347080" cy="3178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3" name="Text 401"/>
          <p:cNvSpPr/>
          <p:nvPr/>
        </p:nvSpPr>
        <p:spPr>
          <a:xfrm>
            <a:off x="3593520" y="921960"/>
            <a:ext cx="52372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Type OpenSearch assigné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Shape 435"/>
          <p:cNvSpPr/>
          <p:nvPr/>
        </p:nvSpPr>
        <p:spPr>
          <a:xfrm>
            <a:off x="274320" y="1242000"/>
            <a:ext cx="319824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Shape 436"/>
          <p:cNvSpPr/>
          <p:nvPr/>
        </p:nvSpPr>
        <p:spPr>
          <a:xfrm>
            <a:off x="3520440" y="1242000"/>
            <a:ext cx="534708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Shape 437"/>
          <p:cNvSpPr/>
          <p:nvPr/>
        </p:nvSpPr>
        <p:spPr>
          <a:xfrm>
            <a:off x="347400" y="1315080"/>
            <a:ext cx="180720" cy="180720"/>
          </a:xfrm>
          <a:prstGeom prst="ellipse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7" name="Text 402"/>
          <p:cNvSpPr/>
          <p:nvPr/>
        </p:nvSpPr>
        <p:spPr>
          <a:xfrm>
            <a:off x="576000" y="124200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null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 403"/>
          <p:cNvSpPr/>
          <p:nvPr/>
        </p:nvSpPr>
        <p:spPr>
          <a:xfrm>
            <a:off x="3584520" y="124200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Champ ignoré — non ajouté au mapping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Shape 438"/>
          <p:cNvSpPr/>
          <p:nvPr/>
        </p:nvSpPr>
        <p:spPr>
          <a:xfrm>
            <a:off x="274320" y="1580400"/>
            <a:ext cx="3198240" cy="33624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Shape 439"/>
          <p:cNvSpPr/>
          <p:nvPr/>
        </p:nvSpPr>
        <p:spPr>
          <a:xfrm>
            <a:off x="3520440" y="1580400"/>
            <a:ext cx="5347080" cy="33624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Shape 440"/>
          <p:cNvSpPr/>
          <p:nvPr/>
        </p:nvSpPr>
        <p:spPr>
          <a:xfrm>
            <a:off x="347400" y="1653480"/>
            <a:ext cx="180720" cy="1807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2" name="Text 404"/>
          <p:cNvSpPr/>
          <p:nvPr/>
        </p:nvSpPr>
        <p:spPr>
          <a:xfrm>
            <a:off x="576000" y="158040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true / false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Text 405"/>
          <p:cNvSpPr/>
          <p:nvPr/>
        </p:nvSpPr>
        <p:spPr>
          <a:xfrm>
            <a:off x="3584520" y="158040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boolean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Shape 441"/>
          <p:cNvSpPr/>
          <p:nvPr/>
        </p:nvSpPr>
        <p:spPr>
          <a:xfrm>
            <a:off x="274320" y="1918440"/>
            <a:ext cx="319824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Shape 442"/>
          <p:cNvSpPr/>
          <p:nvPr/>
        </p:nvSpPr>
        <p:spPr>
          <a:xfrm>
            <a:off x="3520440" y="1918440"/>
            <a:ext cx="534708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Shape 443"/>
          <p:cNvSpPr/>
          <p:nvPr/>
        </p:nvSpPr>
        <p:spPr>
          <a:xfrm>
            <a:off x="347400" y="1991880"/>
            <a:ext cx="180720" cy="1807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7" name="Text 406"/>
          <p:cNvSpPr/>
          <p:nvPr/>
        </p:nvSpPr>
        <p:spPr>
          <a:xfrm>
            <a:off x="576000" y="191844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Entier (42)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Text 407"/>
          <p:cNvSpPr/>
          <p:nvPr/>
        </p:nvSpPr>
        <p:spPr>
          <a:xfrm>
            <a:off x="3584520" y="191844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long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Shape 444"/>
          <p:cNvSpPr/>
          <p:nvPr/>
        </p:nvSpPr>
        <p:spPr>
          <a:xfrm>
            <a:off x="274320" y="2256840"/>
            <a:ext cx="3198240" cy="33624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Shape 445"/>
          <p:cNvSpPr/>
          <p:nvPr/>
        </p:nvSpPr>
        <p:spPr>
          <a:xfrm>
            <a:off x="3520440" y="2256840"/>
            <a:ext cx="5347080" cy="33624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Shape 446"/>
          <p:cNvSpPr/>
          <p:nvPr/>
        </p:nvSpPr>
        <p:spPr>
          <a:xfrm>
            <a:off x="347400" y="2329920"/>
            <a:ext cx="180720" cy="1807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2" name="Text 408"/>
          <p:cNvSpPr/>
          <p:nvPr/>
        </p:nvSpPr>
        <p:spPr>
          <a:xfrm>
            <a:off x="576000" y="225684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Décimal (3.14)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Text 409"/>
          <p:cNvSpPr/>
          <p:nvPr/>
        </p:nvSpPr>
        <p:spPr>
          <a:xfrm>
            <a:off x="3584520" y="225684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float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Shape 447"/>
          <p:cNvSpPr/>
          <p:nvPr/>
        </p:nvSpPr>
        <p:spPr>
          <a:xfrm>
            <a:off x="274320" y="2595240"/>
            <a:ext cx="319824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Shape 448"/>
          <p:cNvSpPr/>
          <p:nvPr/>
        </p:nvSpPr>
        <p:spPr>
          <a:xfrm>
            <a:off x="3520440" y="2595240"/>
            <a:ext cx="534708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Shape 449"/>
          <p:cNvSpPr/>
          <p:nvPr/>
        </p:nvSpPr>
        <p:spPr>
          <a:xfrm>
            <a:off x="347400" y="2668320"/>
            <a:ext cx="180720" cy="18072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Text 410"/>
          <p:cNvSpPr/>
          <p:nvPr/>
        </p:nvSpPr>
        <p:spPr>
          <a:xfrm>
            <a:off x="576000" y="259524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{ ...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Text 411"/>
          <p:cNvSpPr/>
          <p:nvPr/>
        </p:nvSpPr>
        <p:spPr>
          <a:xfrm>
            <a:off x="3584520" y="259524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object (sous-champs dans properties)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9" name="Shape 450"/>
          <p:cNvSpPr/>
          <p:nvPr/>
        </p:nvSpPr>
        <p:spPr>
          <a:xfrm>
            <a:off x="274320" y="2933640"/>
            <a:ext cx="3198240" cy="33624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Shape 451"/>
          <p:cNvSpPr/>
          <p:nvPr/>
        </p:nvSpPr>
        <p:spPr>
          <a:xfrm>
            <a:off x="3520440" y="2933640"/>
            <a:ext cx="5347080" cy="33624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Shape 452"/>
          <p:cNvSpPr/>
          <p:nvPr/>
        </p:nvSpPr>
        <p:spPr>
          <a:xfrm>
            <a:off x="347400" y="3006720"/>
            <a:ext cx="180720" cy="1807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2" name="Text 412"/>
          <p:cNvSpPr/>
          <p:nvPr/>
        </p:nvSpPr>
        <p:spPr>
          <a:xfrm>
            <a:off x="576000" y="293364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[ ... ]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Text 413"/>
          <p:cNvSpPr/>
          <p:nvPr/>
        </p:nvSpPr>
        <p:spPr>
          <a:xfrm>
            <a:off x="3584520" y="293364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Dépend du type de la première valeur non-nulle du tableau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Shape 453"/>
          <p:cNvSpPr/>
          <p:nvPr/>
        </p:nvSpPr>
        <p:spPr>
          <a:xfrm>
            <a:off x="274320" y="3272040"/>
            <a:ext cx="319824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Shape 454"/>
          <p:cNvSpPr/>
          <p:nvPr/>
        </p:nvSpPr>
        <p:spPr>
          <a:xfrm>
            <a:off x="3520440" y="3272040"/>
            <a:ext cx="534708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Shape 455"/>
          <p:cNvSpPr/>
          <p:nvPr/>
        </p:nvSpPr>
        <p:spPr>
          <a:xfrm>
            <a:off x="347400" y="3345120"/>
            <a:ext cx="180720" cy="1807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7" name="Text 414"/>
          <p:cNvSpPr/>
          <p:nvPr/>
        </p:nvSpPr>
        <p:spPr>
          <a:xfrm>
            <a:off x="576000" y="327204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"2024-01-15"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Text 415"/>
          <p:cNvSpPr/>
          <p:nvPr/>
        </p:nvSpPr>
        <p:spPr>
          <a:xfrm>
            <a:off x="3584520" y="327204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date (si le format correspond aux formats configurés)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Shape 456"/>
          <p:cNvSpPr/>
          <p:nvPr/>
        </p:nvSpPr>
        <p:spPr>
          <a:xfrm>
            <a:off x="274320" y="3610080"/>
            <a:ext cx="3198240" cy="33624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Shape 457"/>
          <p:cNvSpPr/>
          <p:nvPr/>
        </p:nvSpPr>
        <p:spPr>
          <a:xfrm>
            <a:off x="3520440" y="3610080"/>
            <a:ext cx="5347080" cy="33624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Shape 458"/>
          <p:cNvSpPr/>
          <p:nvPr/>
        </p:nvSpPr>
        <p:spPr>
          <a:xfrm>
            <a:off x="347400" y="3683520"/>
            <a:ext cx="180720" cy="18072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2" name="Text 416"/>
          <p:cNvSpPr/>
          <p:nvPr/>
        </p:nvSpPr>
        <p:spPr>
          <a:xfrm>
            <a:off x="576000" y="361008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"42" / "3.14"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Text 417"/>
          <p:cNvSpPr/>
          <p:nvPr/>
        </p:nvSpPr>
        <p:spPr>
          <a:xfrm>
            <a:off x="3584520" y="361008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long ou float (si numeric_detection: true)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Shape 459"/>
          <p:cNvSpPr/>
          <p:nvPr/>
        </p:nvSpPr>
        <p:spPr>
          <a:xfrm>
            <a:off x="274320" y="3948480"/>
            <a:ext cx="319824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Shape 460"/>
          <p:cNvSpPr/>
          <p:nvPr/>
        </p:nvSpPr>
        <p:spPr>
          <a:xfrm>
            <a:off x="3520440" y="3948480"/>
            <a:ext cx="5347080" cy="33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Shape 461"/>
          <p:cNvSpPr/>
          <p:nvPr/>
        </p:nvSpPr>
        <p:spPr>
          <a:xfrm>
            <a:off x="347400" y="4057560"/>
            <a:ext cx="180720" cy="1807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7" name="Text 418"/>
          <p:cNvSpPr/>
          <p:nvPr/>
        </p:nvSpPr>
        <p:spPr>
          <a:xfrm>
            <a:off x="576000" y="3948480"/>
            <a:ext cx="28324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"Paris"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Text 419"/>
          <p:cNvSpPr/>
          <p:nvPr/>
        </p:nvSpPr>
        <p:spPr>
          <a:xfrm>
            <a:off x="3584520" y="3948480"/>
            <a:ext cx="5209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text (analyseur standard) + sous-champ keyword (.raw)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Shape 462"/>
          <p:cNvSpPr/>
          <p:nvPr/>
        </p:nvSpPr>
        <p:spPr>
          <a:xfrm>
            <a:off x="274320" y="4310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Text 420"/>
          <p:cNvSpPr/>
          <p:nvPr/>
        </p:nvSpPr>
        <p:spPr>
          <a:xfrm>
            <a:off x="384120" y="4238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Configurer dynamic_date_formats et numeric_detection: true pour adapter la détection automatique à votre format de données.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Shape 510"/>
          <p:cNvSpPr/>
          <p:nvPr/>
        </p:nvSpPr>
        <p:spPr>
          <a:xfrm>
            <a:off x="274320" y="4753080"/>
            <a:ext cx="859392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Shape 511"/>
          <p:cNvSpPr/>
          <p:nvPr/>
        </p:nvSpPr>
        <p:spPr>
          <a:xfrm>
            <a:off x="274320" y="4753080"/>
            <a:ext cx="62640" cy="345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3" name="Text 399"/>
          <p:cNvSpPr/>
          <p:nvPr/>
        </p:nvSpPr>
        <p:spPr>
          <a:xfrm>
            <a:off x="457200" y="47530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Atelier 3.2 — Mapping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dynamique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Shape 478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5" name="Shape 479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6" name="Text 440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Création d'index — settings, mappings, aliases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Shape 480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8" name="Text 441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Text 442"/>
          <p:cNvSpPr/>
          <p:nvPr/>
        </p:nvSpPr>
        <p:spPr>
          <a:xfrm>
            <a:off x="320040" y="914400"/>
            <a:ext cx="8501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Lors de la création d'un index, 3 blocs peuvent être configurés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Shape 481"/>
          <p:cNvSpPr/>
          <p:nvPr/>
        </p:nvSpPr>
        <p:spPr>
          <a:xfrm>
            <a:off x="457200" y="1353240"/>
            <a:ext cx="2558160" cy="5464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 443"/>
          <p:cNvSpPr/>
          <p:nvPr/>
        </p:nvSpPr>
        <p:spPr>
          <a:xfrm>
            <a:off x="457200" y="1353240"/>
            <a:ext cx="2558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aliases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 444"/>
          <p:cNvSpPr/>
          <p:nvPr/>
        </p:nvSpPr>
        <p:spPr>
          <a:xfrm>
            <a:off x="457200" y="1673280"/>
            <a:ext cx="25581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Noms secondaires pour l'index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Shape 482"/>
          <p:cNvSpPr/>
          <p:nvPr/>
        </p:nvSpPr>
        <p:spPr>
          <a:xfrm>
            <a:off x="3383280" y="1353240"/>
            <a:ext cx="2558160" cy="5464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4" name="Text 445"/>
          <p:cNvSpPr/>
          <p:nvPr/>
        </p:nvSpPr>
        <p:spPr>
          <a:xfrm>
            <a:off x="3383280" y="1353240"/>
            <a:ext cx="2558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settings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Text 446"/>
          <p:cNvSpPr/>
          <p:nvPr/>
        </p:nvSpPr>
        <p:spPr>
          <a:xfrm>
            <a:off x="3383280" y="1673280"/>
            <a:ext cx="25581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Shards, répliques, analyzers...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Shape 483"/>
          <p:cNvSpPr/>
          <p:nvPr/>
        </p:nvSpPr>
        <p:spPr>
          <a:xfrm>
            <a:off x="6309360" y="1353240"/>
            <a:ext cx="2558160" cy="5464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7" name="Text 447"/>
          <p:cNvSpPr/>
          <p:nvPr/>
        </p:nvSpPr>
        <p:spPr>
          <a:xfrm>
            <a:off x="6309360" y="1353240"/>
            <a:ext cx="2558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mappings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Text 448"/>
          <p:cNvSpPr/>
          <p:nvPr/>
        </p:nvSpPr>
        <p:spPr>
          <a:xfrm>
            <a:off x="6309360" y="1673280"/>
            <a:ext cx="25581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Types de champs, analyzers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Shape 484"/>
          <p:cNvSpPr/>
          <p:nvPr/>
        </p:nvSpPr>
        <p:spPr>
          <a:xfrm>
            <a:off x="274320" y="1993320"/>
            <a:ext cx="8593200" cy="235692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0" name="Text 449"/>
          <p:cNvSpPr/>
          <p:nvPr/>
        </p:nvSpPr>
        <p:spPr>
          <a:xfrm>
            <a:off x="384120" y="2066400"/>
            <a:ext cx="8373600" cy="22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PUT /mon_index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"aliases":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"logs": {},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"logs_recent": { "filter": { "range": { "date": { "gte": "now-7d" }}}}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"settings":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"number_of_shards":   3,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"number_of_replicas": 1,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"refresh_interval":   "1s",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"analysis":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"analyzer":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"mon_fr": { "type": "custom", "tokenizer": "standard", "filter": ["french"]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"mappings":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"dynamic": "strict",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"titre":     { "type": "text",    "analyzer": "mon_fr"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"categorie": { "type": "keyword"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"date":      { "type": "date",    "format": "yyyy-MM-dd"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"score":     { "type": "float",   "index": false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Shape 485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Text 450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number_of_shards est immuable après création. Anticiper la volumétrie ! number_of_replicas peut être modifié à tout moment.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Shape 391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4" name="Shape 392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5" name="Text 357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Mapping personnalisé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Shape 393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7" name="Text 358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Text 359"/>
          <p:cNvSpPr/>
          <p:nvPr/>
        </p:nvSpPr>
        <p:spPr>
          <a:xfrm>
            <a:off x="320040" y="914400"/>
            <a:ext cx="85017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Un mapping personnalisé permet de contrôler précisément la structure et le comportement de chaque champ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Shape 394"/>
          <p:cNvSpPr/>
          <p:nvPr/>
        </p:nvSpPr>
        <p:spPr>
          <a:xfrm>
            <a:off x="274320" y="1463040"/>
            <a:ext cx="2695320" cy="1140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Shape 395"/>
          <p:cNvSpPr/>
          <p:nvPr/>
        </p:nvSpPr>
        <p:spPr>
          <a:xfrm>
            <a:off x="274320" y="1463040"/>
            <a:ext cx="70920" cy="1140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1" name="Text 360"/>
          <p:cNvSpPr/>
          <p:nvPr/>
        </p:nvSpPr>
        <p:spPr>
          <a:xfrm>
            <a:off x="438840" y="1536120"/>
            <a:ext cx="2466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🎯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Type de champ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Text 361"/>
          <p:cNvSpPr/>
          <p:nvPr/>
        </p:nvSpPr>
        <p:spPr>
          <a:xfrm>
            <a:off x="438840" y="1901880"/>
            <a:ext cx="24667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</a:rPr>
              <a:t>Forcer geo_point, ip, date avec format custom, nested...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Shape 396"/>
          <p:cNvSpPr/>
          <p:nvPr/>
        </p:nvSpPr>
        <p:spPr>
          <a:xfrm>
            <a:off x="3246120" y="1463040"/>
            <a:ext cx="2695320" cy="1140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Shape 397"/>
          <p:cNvSpPr/>
          <p:nvPr/>
        </p:nvSpPr>
        <p:spPr>
          <a:xfrm>
            <a:off x="3246120" y="1463040"/>
            <a:ext cx="70920" cy="1140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5" name="Text 362"/>
          <p:cNvSpPr/>
          <p:nvPr/>
        </p:nvSpPr>
        <p:spPr>
          <a:xfrm>
            <a:off x="3410640" y="1536120"/>
            <a:ext cx="2466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🔍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Analyseur spécifique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Text 363"/>
          <p:cNvSpPr/>
          <p:nvPr/>
        </p:nvSpPr>
        <p:spPr>
          <a:xfrm>
            <a:off x="3410640" y="1901880"/>
            <a:ext cx="24667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</a:rPr>
              <a:t>Assigner french, english ou un analyseur custom à un champ text.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Shape 398"/>
          <p:cNvSpPr/>
          <p:nvPr/>
        </p:nvSpPr>
        <p:spPr>
          <a:xfrm>
            <a:off x="6217920" y="1463040"/>
            <a:ext cx="2695320" cy="1140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Shape 399"/>
          <p:cNvSpPr/>
          <p:nvPr/>
        </p:nvSpPr>
        <p:spPr>
          <a:xfrm>
            <a:off x="6217920" y="1463040"/>
            <a:ext cx="70920" cy="1140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9" name="Text 364"/>
          <p:cNvSpPr/>
          <p:nvPr/>
        </p:nvSpPr>
        <p:spPr>
          <a:xfrm>
            <a:off x="6382440" y="1536120"/>
            <a:ext cx="2466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🔑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Exact vs Full-text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Text 365"/>
          <p:cNvSpPr/>
          <p:nvPr/>
        </p:nvSpPr>
        <p:spPr>
          <a:xfrm>
            <a:off x="6382440" y="1901880"/>
            <a:ext cx="24667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950" spc="-1" strike="noStrike">
                <a:solidFill>
                  <a:srgbClr val="4a7480"/>
                </a:solidFill>
                <a:latin typeface="Calibri"/>
              </a:rPr>
              <a:t>Décider si un champ est keyword (exact) ou text (analysé).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Shape 400"/>
          <p:cNvSpPr/>
          <p:nvPr/>
        </p:nvSpPr>
        <p:spPr>
          <a:xfrm>
            <a:off x="274320" y="2834640"/>
            <a:ext cx="2695320" cy="1140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Shape 401"/>
          <p:cNvSpPr/>
          <p:nvPr/>
        </p:nvSpPr>
        <p:spPr>
          <a:xfrm>
            <a:off x="274320" y="2834640"/>
            <a:ext cx="70920" cy="1140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3" name="Text 366"/>
          <p:cNvSpPr/>
          <p:nvPr/>
        </p:nvSpPr>
        <p:spPr>
          <a:xfrm>
            <a:off x="438840" y="2907720"/>
            <a:ext cx="2466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📅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Format de date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Text 367"/>
          <p:cNvSpPr/>
          <p:nvPr/>
        </p:nvSpPr>
        <p:spPr>
          <a:xfrm>
            <a:off x="438840" y="3273480"/>
            <a:ext cx="24667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950" spc="-1" strike="noStrike">
                <a:solidFill>
                  <a:srgbClr val="4a7480"/>
                </a:solidFill>
                <a:latin typeface="Calibri"/>
              </a:rPr>
              <a:t>Spécifier le format attendu : yyyy-MM-dd, epoch_millis, etc.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Shape 402"/>
          <p:cNvSpPr/>
          <p:nvPr/>
        </p:nvSpPr>
        <p:spPr>
          <a:xfrm>
            <a:off x="3246120" y="2834640"/>
            <a:ext cx="2695320" cy="1140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Shape 403"/>
          <p:cNvSpPr/>
          <p:nvPr/>
        </p:nvSpPr>
        <p:spPr>
          <a:xfrm>
            <a:off x="3246120" y="2834640"/>
            <a:ext cx="70920" cy="1140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7" name="Text 368"/>
          <p:cNvSpPr/>
          <p:nvPr/>
        </p:nvSpPr>
        <p:spPr>
          <a:xfrm>
            <a:off x="3410640" y="2907720"/>
            <a:ext cx="2466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🚫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Désactiver l'index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Text 369"/>
          <p:cNvSpPr/>
          <p:nvPr/>
        </p:nvSpPr>
        <p:spPr>
          <a:xfrm>
            <a:off x="3410640" y="3273480"/>
            <a:ext cx="24667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950" spc="-1" strike="noStrike">
                <a:solidFill>
                  <a:srgbClr val="4a7480"/>
                </a:solidFill>
                <a:latin typeface="Calibri"/>
              </a:rPr>
              <a:t>"index": false pour stocker sans permettre la recherche.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Shape 404"/>
          <p:cNvSpPr/>
          <p:nvPr/>
        </p:nvSpPr>
        <p:spPr>
          <a:xfrm>
            <a:off x="6217920" y="2834640"/>
            <a:ext cx="2695320" cy="1140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Shape 405"/>
          <p:cNvSpPr/>
          <p:nvPr/>
        </p:nvSpPr>
        <p:spPr>
          <a:xfrm>
            <a:off x="6217920" y="2834640"/>
            <a:ext cx="70920" cy="1140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1" name="Text 370"/>
          <p:cNvSpPr/>
          <p:nvPr/>
        </p:nvSpPr>
        <p:spPr>
          <a:xfrm>
            <a:off x="6382440" y="2907720"/>
            <a:ext cx="2466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Multi-fields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Text 371"/>
          <p:cNvSpPr/>
          <p:nvPr/>
        </p:nvSpPr>
        <p:spPr>
          <a:xfrm>
            <a:off x="6382440" y="3273480"/>
            <a:ext cx="24667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950" spc="-1" strike="noStrike">
                <a:solidFill>
                  <a:srgbClr val="4a7480"/>
                </a:solidFill>
                <a:latin typeface="Calibri"/>
              </a:rPr>
              <a:t>Un même champ avec plusieurs types (text + keyword + analyzer dédié).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Shape 406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Text 372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Le mapping d'un champ existant ne peut </a:t>
            </a:r>
            <a:r>
              <a:rPr b="1" i="1" lang="fr-FR" sz="900" spc="-1" strike="noStrike">
                <a:solidFill>
                  <a:srgbClr val="00576b"/>
                </a:solidFill>
                <a:latin typeface="Calibri"/>
              </a:rPr>
              <a:t>PAS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 être modifié. Seul l'ajout de nouveaux champs est possible via PUT /index/_mapping.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Shape 407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6" name="Shape 408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7" name="Text 373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Spécification du mapping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Shape 409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9" name="Text 374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Text 375"/>
          <p:cNvSpPr/>
          <p:nvPr/>
        </p:nvSpPr>
        <p:spPr>
          <a:xfrm>
            <a:off x="320040" y="914400"/>
            <a:ext cx="85017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On peut spécifier le mapping lors de la création d'un index, ou lors de l'ajout d'un nouveau champ dans un index existant.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Shape 410"/>
          <p:cNvSpPr/>
          <p:nvPr/>
        </p:nvSpPr>
        <p:spPr>
          <a:xfrm>
            <a:off x="274320" y="1417320"/>
            <a:ext cx="4066920" cy="2969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Shape 411"/>
          <p:cNvSpPr/>
          <p:nvPr/>
        </p:nvSpPr>
        <p:spPr>
          <a:xfrm>
            <a:off x="274320" y="1417320"/>
            <a:ext cx="4066920" cy="345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3" name="Text 376"/>
          <p:cNvSpPr/>
          <p:nvPr/>
        </p:nvSpPr>
        <p:spPr>
          <a:xfrm>
            <a:off x="347400" y="141732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Création de l'index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Shape 412"/>
          <p:cNvSpPr/>
          <p:nvPr/>
        </p:nvSpPr>
        <p:spPr>
          <a:xfrm>
            <a:off x="347400" y="1828800"/>
            <a:ext cx="3884040" cy="242100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5" name="Text 377"/>
          <p:cNvSpPr/>
          <p:nvPr/>
        </p:nvSpPr>
        <p:spPr>
          <a:xfrm>
            <a:off x="457200" y="1901880"/>
            <a:ext cx="3664440" cy="22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PUT /gb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"mappings":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"tweet":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    "text",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"analyzer": "french"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"date":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  "date",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"format": "yyyy-MM-dd"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"name":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"keyword"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"user_id":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"long"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Shape 413"/>
          <p:cNvSpPr/>
          <p:nvPr/>
        </p:nvSpPr>
        <p:spPr>
          <a:xfrm>
            <a:off x="4800600" y="1417320"/>
            <a:ext cx="4066920" cy="2969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Shape 414"/>
          <p:cNvSpPr/>
          <p:nvPr/>
        </p:nvSpPr>
        <p:spPr>
          <a:xfrm>
            <a:off x="4800600" y="1417320"/>
            <a:ext cx="4066920" cy="34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8" name="Text 378"/>
          <p:cNvSpPr/>
          <p:nvPr/>
        </p:nvSpPr>
        <p:spPr>
          <a:xfrm>
            <a:off x="4873680" y="1417320"/>
            <a:ext cx="39297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Ajout sur index existant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Shape 415"/>
          <p:cNvSpPr/>
          <p:nvPr/>
        </p:nvSpPr>
        <p:spPr>
          <a:xfrm>
            <a:off x="4873680" y="1828800"/>
            <a:ext cx="3884040" cy="164376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0" name="Text 379"/>
          <p:cNvSpPr/>
          <p:nvPr/>
        </p:nvSpPr>
        <p:spPr>
          <a:xfrm>
            <a:off x="4983480" y="1901880"/>
            <a:ext cx="3664440" cy="149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PUT /gb/_mapping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"tag":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"type":  "keyword"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"score":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"type":  "float",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"index": false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Shape 416"/>
          <p:cNvSpPr/>
          <p:nvPr/>
        </p:nvSpPr>
        <p:spPr>
          <a:xfrm>
            <a:off x="4873680" y="3547800"/>
            <a:ext cx="3884040" cy="82080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Text 380"/>
          <p:cNvSpPr/>
          <p:nvPr/>
        </p:nvSpPr>
        <p:spPr>
          <a:xfrm>
            <a:off x="4956120" y="3566160"/>
            <a:ext cx="370116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ef4444"/>
                </a:solidFill>
                <a:latin typeface="Calibri"/>
              </a:rPr>
              <a:t>⚠️  </a:t>
            </a:r>
            <a:r>
              <a:rPr b="1" lang="en-US" sz="950" spc="-1" strike="noStrike">
                <a:solidFill>
                  <a:srgbClr val="ef4444"/>
                </a:solidFill>
                <a:latin typeface="Calibri"/>
              </a:rPr>
              <a:t>Champ déjà indexé = immuable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Pour modifier un type : créer un nouvel index + </a:t>
            </a:r>
            <a:r>
              <a:rPr b="0" lang="en-US" sz="950" spc="-1" strike="noStrike">
                <a:solidFill>
                  <a:srgbClr val="00576b"/>
                </a:solidFill>
                <a:latin typeface="Consolas"/>
                <a:ea typeface="Consolas"/>
              </a:rPr>
              <a:t>POST /_reindex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onsolas"/>
              </a:rPr>
              <a:t>, puis basculer l'alias.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Shape 512"/>
          <p:cNvSpPr/>
          <p:nvPr/>
        </p:nvSpPr>
        <p:spPr>
          <a:xfrm>
            <a:off x="274320" y="4753080"/>
            <a:ext cx="859392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Shape 513"/>
          <p:cNvSpPr/>
          <p:nvPr/>
        </p:nvSpPr>
        <p:spPr>
          <a:xfrm>
            <a:off x="274320" y="4753080"/>
            <a:ext cx="62640" cy="345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5" name="Text 477"/>
          <p:cNvSpPr/>
          <p:nvPr/>
        </p:nvSpPr>
        <p:spPr>
          <a:xfrm>
            <a:off x="457200" y="47530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Atelier 3.3 — Mapping explicite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Shape 463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7" name="Shape 464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8" name="Text 421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Gabarits dynamiques — dynamic_templates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Shape 465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0" name="Text 422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Text 423"/>
          <p:cNvSpPr/>
          <p:nvPr/>
        </p:nvSpPr>
        <p:spPr>
          <a:xfrm>
            <a:off x="320040" y="914400"/>
            <a:ext cx="8501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Les </a:t>
            </a:r>
            <a:r>
              <a:rPr b="1" lang="fr-FR" sz="1150" spc="-1" strike="noStrike">
                <a:solidFill>
                  <a:srgbClr val="007a8a"/>
                </a:solidFill>
                <a:latin typeface="Consolas"/>
                <a:ea typeface="Consolas"/>
              </a:rPr>
              <a:t>dynamic_templates</a:t>
            </a:r>
            <a:r>
              <a:rPr b="0" lang="fr-FR" sz="1150" spc="-1" strike="noStrike">
                <a:solidFill>
                  <a:srgbClr val="1a2b2f"/>
                </a:solidFill>
                <a:latin typeface="Calibri"/>
                <a:ea typeface="Consolas"/>
              </a:rPr>
              <a:t> définissent des règles de mapping personnalisées appliquées automatiquement aux nouveaux champs détectés. Les règles sont traitées dans l'ordre — la première qui correspond est appliquée.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Shape 466"/>
          <p:cNvSpPr/>
          <p:nvPr/>
        </p:nvSpPr>
        <p:spPr>
          <a:xfrm>
            <a:off x="274320" y="1508760"/>
            <a:ext cx="2832480" cy="2832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Shape 467"/>
          <p:cNvSpPr/>
          <p:nvPr/>
        </p:nvSpPr>
        <p:spPr>
          <a:xfrm>
            <a:off x="274320" y="1508760"/>
            <a:ext cx="2832480" cy="363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4" name="Text 424"/>
          <p:cNvSpPr/>
          <p:nvPr/>
        </p:nvSpPr>
        <p:spPr>
          <a:xfrm>
            <a:off x="347400" y="1508760"/>
            <a:ext cx="26953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Critères de matching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Shape 468"/>
          <p:cNvSpPr/>
          <p:nvPr/>
        </p:nvSpPr>
        <p:spPr>
          <a:xfrm>
            <a:off x="347400" y="1947600"/>
            <a:ext cx="1460880" cy="2905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6" name="Text 425"/>
          <p:cNvSpPr/>
          <p:nvPr/>
        </p:nvSpPr>
        <p:spPr>
          <a:xfrm>
            <a:off x="347400" y="1947600"/>
            <a:ext cx="1460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match_mapping_type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Text 426"/>
          <p:cNvSpPr/>
          <p:nvPr/>
        </p:nvSpPr>
        <p:spPr>
          <a:xfrm>
            <a:off x="1847160" y="1947600"/>
            <a:ext cx="1186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Type JSON détecté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Shape 469"/>
          <p:cNvSpPr/>
          <p:nvPr/>
        </p:nvSpPr>
        <p:spPr>
          <a:xfrm>
            <a:off x="347400" y="2304360"/>
            <a:ext cx="1460880" cy="2905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9" name="Text 427"/>
          <p:cNvSpPr/>
          <p:nvPr/>
        </p:nvSpPr>
        <p:spPr>
          <a:xfrm>
            <a:off x="347400" y="2304360"/>
            <a:ext cx="1460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match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Text 428"/>
          <p:cNvSpPr/>
          <p:nvPr/>
        </p:nvSpPr>
        <p:spPr>
          <a:xfrm>
            <a:off x="1847160" y="2304360"/>
            <a:ext cx="1186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Pattern sur le nom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Shape 470"/>
          <p:cNvSpPr/>
          <p:nvPr/>
        </p:nvSpPr>
        <p:spPr>
          <a:xfrm>
            <a:off x="347400" y="2660760"/>
            <a:ext cx="1460880" cy="2905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2" name="Text 429"/>
          <p:cNvSpPr/>
          <p:nvPr/>
        </p:nvSpPr>
        <p:spPr>
          <a:xfrm>
            <a:off x="347400" y="2660760"/>
            <a:ext cx="1460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unmatch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Text 430"/>
          <p:cNvSpPr/>
          <p:nvPr/>
        </p:nvSpPr>
        <p:spPr>
          <a:xfrm>
            <a:off x="1847160" y="2660760"/>
            <a:ext cx="1186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Exclusion de nom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Shape 471"/>
          <p:cNvSpPr/>
          <p:nvPr/>
        </p:nvSpPr>
        <p:spPr>
          <a:xfrm>
            <a:off x="347400" y="3017520"/>
            <a:ext cx="1460880" cy="2905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5" name="Text 431"/>
          <p:cNvSpPr/>
          <p:nvPr/>
        </p:nvSpPr>
        <p:spPr>
          <a:xfrm>
            <a:off x="347400" y="3017520"/>
            <a:ext cx="1460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match_pattern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 432"/>
          <p:cNvSpPr/>
          <p:nvPr/>
        </p:nvSpPr>
        <p:spPr>
          <a:xfrm>
            <a:off x="1847160" y="3017520"/>
            <a:ext cx="1186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Regex sur le nom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Shape 472"/>
          <p:cNvSpPr/>
          <p:nvPr/>
        </p:nvSpPr>
        <p:spPr>
          <a:xfrm>
            <a:off x="347400" y="3374280"/>
            <a:ext cx="1460880" cy="2905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8" name="Text 433"/>
          <p:cNvSpPr/>
          <p:nvPr/>
        </p:nvSpPr>
        <p:spPr>
          <a:xfrm>
            <a:off x="347400" y="3374280"/>
            <a:ext cx="1460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path_match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Text 434"/>
          <p:cNvSpPr/>
          <p:nvPr/>
        </p:nvSpPr>
        <p:spPr>
          <a:xfrm>
            <a:off x="1847160" y="3374280"/>
            <a:ext cx="1186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Chemin complet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Shape 473"/>
          <p:cNvSpPr/>
          <p:nvPr/>
        </p:nvSpPr>
        <p:spPr>
          <a:xfrm>
            <a:off x="347400" y="3730680"/>
            <a:ext cx="1460880" cy="2905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1" name="Text 435"/>
          <p:cNvSpPr/>
          <p:nvPr/>
        </p:nvSpPr>
        <p:spPr>
          <a:xfrm>
            <a:off x="347400" y="3730680"/>
            <a:ext cx="1460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path_unmatch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Text 436"/>
          <p:cNvSpPr/>
          <p:nvPr/>
        </p:nvSpPr>
        <p:spPr>
          <a:xfrm>
            <a:off x="1847160" y="3730680"/>
            <a:ext cx="1186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Exclusion de chemin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Shape 474"/>
          <p:cNvSpPr/>
          <p:nvPr/>
        </p:nvSpPr>
        <p:spPr>
          <a:xfrm>
            <a:off x="3337560" y="1508760"/>
            <a:ext cx="5484240" cy="2832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Shape 475"/>
          <p:cNvSpPr/>
          <p:nvPr/>
        </p:nvSpPr>
        <p:spPr>
          <a:xfrm>
            <a:off x="3337560" y="1508760"/>
            <a:ext cx="5484240" cy="363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5" name="Text 437"/>
          <p:cNvSpPr/>
          <p:nvPr/>
        </p:nvSpPr>
        <p:spPr>
          <a:xfrm>
            <a:off x="3410640" y="1508760"/>
            <a:ext cx="53470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Exemple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Shape 476"/>
          <p:cNvSpPr/>
          <p:nvPr/>
        </p:nvSpPr>
        <p:spPr>
          <a:xfrm>
            <a:off x="3410640" y="1938600"/>
            <a:ext cx="5301360" cy="226548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7" name="Text 438"/>
          <p:cNvSpPr/>
          <p:nvPr/>
        </p:nvSpPr>
        <p:spPr>
          <a:xfrm>
            <a:off x="3520440" y="2011680"/>
            <a:ext cx="5081760" cy="21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PUT my_index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"mappings":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"dynamic_templates": [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"integers":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"match_mapping_type": "long",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"mapping": { "type": "integer" 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"strings":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"match_mapping_type": "string",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"mapping":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"type": "text",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"fields":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"raw": { "type": "keyword", "ignore_above": 256 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]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Shape 477"/>
          <p:cNvSpPr/>
          <p:nvPr/>
        </p:nvSpPr>
        <p:spPr>
          <a:xfrm>
            <a:off x="274320" y="4382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Text 439"/>
          <p:cNvSpPr/>
          <p:nvPr/>
        </p:nvSpPr>
        <p:spPr>
          <a:xfrm>
            <a:off x="384120" y="4382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Les gabarits d'index (index templates) définissent en général des dynamic_templates réutilisables sur tous les index du pattern.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Shape 514"/>
          <p:cNvSpPr/>
          <p:nvPr/>
        </p:nvSpPr>
        <p:spPr>
          <a:xfrm>
            <a:off x="274320" y="4753080"/>
            <a:ext cx="859392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Shape 515"/>
          <p:cNvSpPr/>
          <p:nvPr/>
        </p:nvSpPr>
        <p:spPr>
          <a:xfrm>
            <a:off x="274320" y="4753080"/>
            <a:ext cx="62640" cy="345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2" name="Text 478"/>
          <p:cNvSpPr/>
          <p:nvPr/>
        </p:nvSpPr>
        <p:spPr>
          <a:xfrm>
            <a:off x="457200" y="47530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Atelier 3.4 — Dynamic templates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Shape 499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4" name="Shape 500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5" name="Text 464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Gabarits d'index — Index 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Shape 501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7" name="Text 465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Text 466"/>
          <p:cNvSpPr/>
          <p:nvPr/>
        </p:nvSpPr>
        <p:spPr>
          <a:xfrm>
            <a:off x="320040" y="91440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Un index template définit automatiquement les </a:t>
            </a:r>
            <a:r>
              <a:rPr b="1" lang="en-US" sz="1150" spc="-1" strike="noStrike">
                <a:solidFill>
                  <a:srgbClr val="007a8a"/>
                </a:solidFill>
                <a:latin typeface="Calibri"/>
              </a:rPr>
              <a:t>settings, mappings et aliases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 appliqués à chaque nouvel index dont le nom correspond au pattern défini.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Shape 502"/>
          <p:cNvSpPr/>
          <p:nvPr/>
        </p:nvSpPr>
        <p:spPr>
          <a:xfrm>
            <a:off x="320040" y="1417320"/>
            <a:ext cx="1918080" cy="775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0" name="Text 467"/>
          <p:cNvSpPr/>
          <p:nvPr/>
        </p:nvSpPr>
        <p:spPr>
          <a:xfrm>
            <a:off x="365760" y="1417320"/>
            <a:ext cx="182664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Nouveau doc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vers logs-2025-03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Text 468"/>
          <p:cNvSpPr/>
          <p:nvPr/>
        </p:nvSpPr>
        <p:spPr>
          <a:xfrm>
            <a:off x="2240280" y="1572840"/>
            <a:ext cx="2905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Shape 503"/>
          <p:cNvSpPr/>
          <p:nvPr/>
        </p:nvSpPr>
        <p:spPr>
          <a:xfrm>
            <a:off x="2532960" y="1417320"/>
            <a:ext cx="1918080" cy="775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3" name="Text 469"/>
          <p:cNvSpPr/>
          <p:nvPr/>
        </p:nvSpPr>
        <p:spPr>
          <a:xfrm>
            <a:off x="2578680" y="1417320"/>
            <a:ext cx="182664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Pattern match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logs-*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Text 470"/>
          <p:cNvSpPr/>
          <p:nvPr/>
        </p:nvSpPr>
        <p:spPr>
          <a:xfrm>
            <a:off x="4453200" y="1572840"/>
            <a:ext cx="2905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5" name="Shape 504"/>
          <p:cNvSpPr/>
          <p:nvPr/>
        </p:nvSpPr>
        <p:spPr>
          <a:xfrm>
            <a:off x="4745880" y="1417320"/>
            <a:ext cx="1918080" cy="7750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Text 471"/>
          <p:cNvSpPr/>
          <p:nvPr/>
        </p:nvSpPr>
        <p:spPr>
          <a:xfrm>
            <a:off x="4791600" y="1417320"/>
            <a:ext cx="182664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Template appliqué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automatiquement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 472"/>
          <p:cNvSpPr/>
          <p:nvPr/>
        </p:nvSpPr>
        <p:spPr>
          <a:xfrm>
            <a:off x="6666120" y="1572840"/>
            <a:ext cx="2905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Shape 505"/>
          <p:cNvSpPr/>
          <p:nvPr/>
        </p:nvSpPr>
        <p:spPr>
          <a:xfrm>
            <a:off x="6958440" y="1417320"/>
            <a:ext cx="1918080" cy="7750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9" name="Text 473"/>
          <p:cNvSpPr/>
          <p:nvPr/>
        </p:nvSpPr>
        <p:spPr>
          <a:xfrm>
            <a:off x="7004160" y="1417320"/>
            <a:ext cx="182664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Index créé avec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le bon mapping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Shape 506"/>
          <p:cNvSpPr/>
          <p:nvPr/>
        </p:nvSpPr>
        <p:spPr>
          <a:xfrm>
            <a:off x="274320" y="2286000"/>
            <a:ext cx="8593200" cy="20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Shape 507"/>
          <p:cNvSpPr/>
          <p:nvPr/>
        </p:nvSpPr>
        <p:spPr>
          <a:xfrm>
            <a:off x="274320" y="2286000"/>
            <a:ext cx="8593200" cy="34524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2" name="Text 474"/>
          <p:cNvSpPr/>
          <p:nvPr/>
        </p:nvSpPr>
        <p:spPr>
          <a:xfrm>
            <a:off x="365760" y="2286000"/>
            <a:ext cx="8410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Création d'un index template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Shape 508"/>
          <p:cNvSpPr/>
          <p:nvPr/>
        </p:nvSpPr>
        <p:spPr>
          <a:xfrm>
            <a:off x="347400" y="2697480"/>
            <a:ext cx="8318880" cy="234252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4" name="Text 475"/>
          <p:cNvSpPr/>
          <p:nvPr/>
        </p:nvSpPr>
        <p:spPr>
          <a:xfrm>
            <a:off x="457200" y="2770560"/>
            <a:ext cx="8099280" cy="13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PUT _index_template/template_logs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"index_patterns": ["logs-*"],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"priority": 500,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"template":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"settings": { "number_of_shards": 1, "number_of_replicas": 1, "refresh_interval": "5s"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"mappings":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"dynamic": "strict",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"@timestamp": { "type": "date"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"level":      { "type": "keyword"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"message":    { "type": "text", "analyzer": "standard"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"service":    { "type": "keyword"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"aliases": { "all_logs": {}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Shape 509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6" name="Shape 516"/>
          <p:cNvSpPr/>
          <p:nvPr/>
        </p:nvSpPr>
        <p:spPr>
          <a:xfrm>
            <a:off x="0" y="0"/>
            <a:ext cx="502560" cy="822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7" name="Text 476"/>
          <p:cNvSpPr/>
          <p:nvPr/>
        </p:nvSpPr>
        <p:spPr>
          <a:xfrm>
            <a:off x="640080" y="0"/>
            <a:ext cx="7223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Component Templates — Blocs réutilisables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Shape 517"/>
          <p:cNvSpPr/>
          <p:nvPr/>
        </p:nvSpPr>
        <p:spPr>
          <a:xfrm>
            <a:off x="7955280" y="155520"/>
            <a:ext cx="1005480" cy="456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9" name="Text 479"/>
          <p:cNvSpPr/>
          <p:nvPr/>
        </p:nvSpPr>
        <p:spPr>
          <a:xfrm>
            <a:off x="7955280" y="15552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  <a:ea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 480"/>
          <p:cNvSpPr/>
          <p:nvPr/>
        </p:nvSpPr>
        <p:spPr>
          <a:xfrm>
            <a:off x="320040" y="914400"/>
            <a:ext cx="8503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Un </a:t>
            </a:r>
            <a:r>
              <a:rPr b="0" lang="en-US" sz="1150" spc="-1" strike="noStrike">
                <a:solidFill>
                  <a:srgbClr val="007a8a"/>
                </a:solidFill>
                <a:latin typeface="Calibri"/>
                <a:ea typeface="Calibri"/>
              </a:rPr>
              <a:t>component template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 est un bloc de </a:t>
            </a:r>
            <a:r>
              <a:rPr b="0" lang="en-US" sz="1150" spc="-1" strike="noStrike">
                <a:solidFill>
                  <a:srgbClr val="007a8a"/>
                </a:solidFill>
                <a:latin typeface="Calibri"/>
                <a:ea typeface="Calibri"/>
              </a:rPr>
              <a:t>settings, mappings ou aliases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 réutilisable dans plusieurs index templates via </a:t>
            </a:r>
            <a:r>
              <a:rPr b="0" lang="en-US" sz="1150" spc="-1" strike="noStrike">
                <a:solidFill>
                  <a:srgbClr val="007a8a"/>
                </a:solidFill>
                <a:latin typeface="Calibri"/>
                <a:ea typeface="Calibri"/>
              </a:rPr>
              <a:t>composed_of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Shape 518"/>
          <p:cNvSpPr/>
          <p:nvPr/>
        </p:nvSpPr>
        <p:spPr>
          <a:xfrm>
            <a:off x="274320" y="1444680"/>
            <a:ext cx="2011320" cy="6397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2" name="Text 481"/>
          <p:cNvSpPr/>
          <p:nvPr/>
        </p:nvSpPr>
        <p:spPr>
          <a:xfrm>
            <a:off x="274320" y="1444680"/>
            <a:ext cx="2011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mappings_logs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_component_template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Shape 519"/>
          <p:cNvSpPr/>
          <p:nvPr/>
        </p:nvSpPr>
        <p:spPr>
          <a:xfrm>
            <a:off x="274320" y="2221920"/>
            <a:ext cx="2011320" cy="6397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4" name="Text 482"/>
          <p:cNvSpPr/>
          <p:nvPr/>
        </p:nvSpPr>
        <p:spPr>
          <a:xfrm>
            <a:off x="274320" y="2221920"/>
            <a:ext cx="2011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settings_prod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_component_template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Shape 520"/>
          <p:cNvSpPr/>
          <p:nvPr/>
        </p:nvSpPr>
        <p:spPr>
          <a:xfrm>
            <a:off x="274320" y="2999160"/>
            <a:ext cx="2011320" cy="6397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6" name="Text 483"/>
          <p:cNvSpPr/>
          <p:nvPr/>
        </p:nvSpPr>
        <p:spPr>
          <a:xfrm>
            <a:off x="274320" y="2999160"/>
            <a:ext cx="2011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aliases_logs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_component_template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Text 484"/>
          <p:cNvSpPr/>
          <p:nvPr/>
        </p:nvSpPr>
        <p:spPr>
          <a:xfrm>
            <a:off x="2331720" y="2267640"/>
            <a:ext cx="1096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00576b"/>
                </a:solidFill>
                <a:latin typeface="Calibri"/>
                <a:ea typeface="Calibri"/>
              </a:rPr>
              <a:t>composed_of →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Shape 521"/>
          <p:cNvSpPr/>
          <p:nvPr/>
        </p:nvSpPr>
        <p:spPr>
          <a:xfrm>
            <a:off x="3493080" y="1947600"/>
            <a:ext cx="2102760" cy="1279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9" name="Text 485"/>
          <p:cNvSpPr/>
          <p:nvPr/>
        </p:nvSpPr>
        <p:spPr>
          <a:xfrm>
            <a:off x="3493080" y="194760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template_logs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3e8"/>
                </a:solidFill>
                <a:latin typeface="Courier New"/>
                <a:ea typeface="Courier New"/>
              </a:rPr>
              <a:t>_index_template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Text 486"/>
          <p:cNvSpPr/>
          <p:nvPr/>
        </p:nvSpPr>
        <p:spPr>
          <a:xfrm>
            <a:off x="5641920" y="2267640"/>
            <a:ext cx="822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00576b"/>
                </a:solidFill>
                <a:latin typeface="Calibri"/>
                <a:ea typeface="Calibri"/>
              </a:rPr>
              <a:t>→ </a:t>
            </a:r>
            <a:r>
              <a:rPr b="0" i="1" lang="en-US" sz="1000" spc="-1" strike="noStrike">
                <a:solidFill>
                  <a:srgbClr val="00576b"/>
                </a:solidFill>
                <a:latin typeface="Calibri"/>
                <a:ea typeface="Calibri"/>
              </a:rPr>
              <a:t>crée →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Shape 522"/>
          <p:cNvSpPr/>
          <p:nvPr/>
        </p:nvSpPr>
        <p:spPr>
          <a:xfrm>
            <a:off x="6510600" y="1947600"/>
            <a:ext cx="2011320" cy="1279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2" name="Text 487"/>
          <p:cNvSpPr/>
          <p:nvPr/>
        </p:nvSpPr>
        <p:spPr>
          <a:xfrm>
            <a:off x="6510600" y="1947600"/>
            <a:ext cx="20113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logs-2025-03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avec le bon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mapping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Shape 523"/>
          <p:cNvSpPr/>
          <p:nvPr/>
        </p:nvSpPr>
        <p:spPr>
          <a:xfrm>
            <a:off x="274320" y="3520440"/>
            <a:ext cx="8595000" cy="3196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4" name="Text 488"/>
          <p:cNvSpPr/>
          <p:nvPr/>
        </p:nvSpPr>
        <p:spPr>
          <a:xfrm>
            <a:off x="365760" y="3520440"/>
            <a:ext cx="8485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x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m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p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l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—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c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o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m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p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o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n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n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t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t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m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p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l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t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d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m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p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p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i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n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g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Shape 524"/>
          <p:cNvSpPr/>
          <p:nvPr/>
        </p:nvSpPr>
        <p:spPr>
          <a:xfrm>
            <a:off x="274320" y="3840480"/>
            <a:ext cx="8595000" cy="62136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6" name="Text 489"/>
          <p:cNvSpPr/>
          <p:nvPr/>
        </p:nvSpPr>
        <p:spPr>
          <a:xfrm>
            <a:off x="384120" y="3931920"/>
            <a:ext cx="84304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PUT _component_template/mappings_logs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{ "template": { "mappings": { "dynamic": "strict",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"properties": { "@timestamp": { "type": "date" }, "level": { "type": "keyword"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"message": { "type": "text", "analyzer": "french" } } } }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Shape 525"/>
          <p:cNvSpPr/>
          <p:nvPr/>
        </p:nvSpPr>
        <p:spPr>
          <a:xfrm>
            <a:off x="274320" y="4526280"/>
            <a:ext cx="8595000" cy="383760"/>
          </a:xfrm>
          <a:prstGeom prst="rect">
            <a:avLst/>
          </a:prstGeom>
          <a:solidFill>
            <a:srgbClr val="f5f9fa"/>
          </a:solidFill>
          <a:ln w="12700">
            <a:solidFill>
              <a:srgbClr val="f5f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Text 490"/>
          <p:cNvSpPr/>
          <p:nvPr/>
        </p:nvSpPr>
        <p:spPr>
          <a:xfrm>
            <a:off x="384120" y="4526280"/>
            <a:ext cx="841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💡  </a:t>
            </a:r>
            <a:r>
              <a:rPr b="0" lang="en-US" sz="900" spc="-1" strike="noStrike">
                <a:solidFill>
                  <a:srgbClr val="00576b"/>
                </a:solidFill>
                <a:latin typeface="Calibri"/>
                <a:ea typeface="Calibri"/>
              </a:rPr>
              <a:t>Un même component template peut être partagé entre plusieurs index templates. </a:t>
            </a:r>
            <a:r>
              <a:rPr b="0" lang="en-US" sz="900" spc="-1" strike="noStrike">
                <a:solidFill>
                  <a:srgbClr val="00576b"/>
                </a:solidFill>
                <a:latin typeface="Calibri"/>
                <a:ea typeface="Calibri"/>
              </a:rPr>
              <a:t>Modifier le component met à jour tous les templates qui l'utilisent au prochain rollover.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Shape 526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0" name="Shape 527"/>
          <p:cNvSpPr/>
          <p:nvPr/>
        </p:nvSpPr>
        <p:spPr>
          <a:xfrm>
            <a:off x="0" y="0"/>
            <a:ext cx="502560" cy="822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1" name="Text 491"/>
          <p:cNvSpPr/>
          <p:nvPr/>
        </p:nvSpPr>
        <p:spPr>
          <a:xfrm>
            <a:off x="640080" y="0"/>
            <a:ext cx="7223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ISM — Index State Management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Shape 528"/>
          <p:cNvSpPr/>
          <p:nvPr/>
        </p:nvSpPr>
        <p:spPr>
          <a:xfrm>
            <a:off x="7955280" y="155520"/>
            <a:ext cx="1005480" cy="456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3" name="Text 492"/>
          <p:cNvSpPr/>
          <p:nvPr/>
        </p:nvSpPr>
        <p:spPr>
          <a:xfrm>
            <a:off x="7955280" y="15552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  <a:ea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Text 493"/>
          <p:cNvSpPr/>
          <p:nvPr/>
        </p:nvSpPr>
        <p:spPr>
          <a:xfrm>
            <a:off x="320040" y="914400"/>
            <a:ext cx="850356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L'</a:t>
            </a:r>
            <a:r>
              <a:rPr b="0" lang="en-US" sz="1150" spc="-1" strike="noStrike">
                <a:solidFill>
                  <a:srgbClr val="007a8a"/>
                </a:solidFill>
                <a:latin typeface="Calibri"/>
                <a:ea typeface="Calibri"/>
              </a:rPr>
              <a:t>ISM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  automatise le </a:t>
            </a:r>
            <a:r>
              <a:rPr b="0" lang="en-US" sz="1150" spc="-1" strike="noStrike">
                <a:solidFill>
                  <a:srgbClr val="007a8a"/>
                </a:solidFill>
                <a:latin typeface="Calibri"/>
                <a:ea typeface="Calibri"/>
              </a:rPr>
              <a:t>cycle de vie </a:t>
            </a:r>
            <a:r>
              <a:rPr b="0" lang="en-US" sz="1150" spc="-1" strike="noStrike">
                <a:solidFill>
                  <a:srgbClr val="007a8a"/>
                </a:solidFill>
                <a:latin typeface="Calibri"/>
                <a:ea typeface="Calibri"/>
              </a:rPr>
              <a:t>des index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 : rollover, migration, 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suppression.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Shape 529"/>
          <p:cNvSpPr/>
          <p:nvPr/>
        </p:nvSpPr>
        <p:spPr>
          <a:xfrm>
            <a:off x="274320" y="1192680"/>
            <a:ext cx="1462680" cy="621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6" name="Text 494"/>
          <p:cNvSpPr/>
          <p:nvPr/>
        </p:nvSpPr>
        <p:spPr>
          <a:xfrm>
            <a:off x="274320" y="119268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hot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 495"/>
          <p:cNvSpPr/>
          <p:nvPr/>
        </p:nvSpPr>
        <p:spPr>
          <a:xfrm>
            <a:off x="1755720" y="1329840"/>
            <a:ext cx="32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576b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Shape 664"/>
          <p:cNvSpPr/>
          <p:nvPr/>
        </p:nvSpPr>
        <p:spPr>
          <a:xfrm>
            <a:off x="2103120" y="1192680"/>
            <a:ext cx="1462680" cy="621360"/>
          </a:xfrm>
          <a:prstGeom prst="rect">
            <a:avLst/>
          </a:prstGeom>
          <a:solidFill>
            <a:srgbClr val="e8a030"/>
          </a:solidFill>
          <a:ln w="12700">
            <a:solidFill>
              <a:srgbClr val="e8a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Text 496"/>
          <p:cNvSpPr/>
          <p:nvPr/>
        </p:nvSpPr>
        <p:spPr>
          <a:xfrm>
            <a:off x="2103120" y="119268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warm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Text 497"/>
          <p:cNvSpPr/>
          <p:nvPr/>
        </p:nvSpPr>
        <p:spPr>
          <a:xfrm>
            <a:off x="3584520" y="1329840"/>
            <a:ext cx="32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576b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Shape 665"/>
          <p:cNvSpPr/>
          <p:nvPr/>
        </p:nvSpPr>
        <p:spPr>
          <a:xfrm>
            <a:off x="3931920" y="1192680"/>
            <a:ext cx="1462680" cy="621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2" name="Text 498"/>
          <p:cNvSpPr/>
          <p:nvPr/>
        </p:nvSpPr>
        <p:spPr>
          <a:xfrm>
            <a:off x="3931920" y="119268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cold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Text 499"/>
          <p:cNvSpPr/>
          <p:nvPr/>
        </p:nvSpPr>
        <p:spPr>
          <a:xfrm>
            <a:off x="5413320" y="1329840"/>
            <a:ext cx="32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576b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Shape 666"/>
          <p:cNvSpPr/>
          <p:nvPr/>
        </p:nvSpPr>
        <p:spPr>
          <a:xfrm>
            <a:off x="5760720" y="1192680"/>
            <a:ext cx="1462680" cy="621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5" name="Text 500"/>
          <p:cNvSpPr/>
          <p:nvPr/>
        </p:nvSpPr>
        <p:spPr>
          <a:xfrm>
            <a:off x="5760720" y="119268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delete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Text 602"/>
          <p:cNvSpPr/>
          <p:nvPr/>
        </p:nvSpPr>
        <p:spPr>
          <a:xfrm>
            <a:off x="1755720" y="1878480"/>
            <a:ext cx="694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min_size 50gb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ou min_age 7d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Text 603"/>
          <p:cNvSpPr/>
          <p:nvPr/>
        </p:nvSpPr>
        <p:spPr>
          <a:xfrm>
            <a:off x="3584520" y="1878480"/>
            <a:ext cx="694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min_age 30d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Text 604"/>
          <p:cNvSpPr/>
          <p:nvPr/>
        </p:nvSpPr>
        <p:spPr>
          <a:xfrm>
            <a:off x="5413320" y="1878480"/>
            <a:ext cx="694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min_age 90d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Shape 667"/>
          <p:cNvSpPr/>
          <p:nvPr/>
        </p:nvSpPr>
        <p:spPr>
          <a:xfrm>
            <a:off x="274320" y="2291040"/>
            <a:ext cx="1462680" cy="62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Text 605"/>
          <p:cNvSpPr/>
          <p:nvPr/>
        </p:nvSpPr>
        <p:spPr>
          <a:xfrm>
            <a:off x="347400" y="2309400"/>
            <a:ext cx="1352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576b"/>
                </a:solidFill>
                <a:latin typeface="Calibri"/>
                <a:ea typeface="Calibri"/>
              </a:rPr>
              <a:t>🔁 </a:t>
            </a:r>
            <a:r>
              <a:rPr b="1" lang="en-US" sz="950" spc="-1" strike="noStrike">
                <a:solidFill>
                  <a:srgbClr val="00576b"/>
                </a:solidFill>
                <a:latin typeface="Calibri"/>
                <a:ea typeface="Calibri"/>
              </a:rPr>
              <a:t>rollover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" name="Text 644"/>
          <p:cNvSpPr/>
          <p:nvPr/>
        </p:nvSpPr>
        <p:spPr>
          <a:xfrm>
            <a:off x="347400" y="2547360"/>
            <a:ext cx="1352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max_size, max_age, max_docs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Shape 668"/>
          <p:cNvSpPr/>
          <p:nvPr/>
        </p:nvSpPr>
        <p:spPr>
          <a:xfrm>
            <a:off x="2103120" y="2291040"/>
            <a:ext cx="1462680" cy="62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Text 645"/>
          <p:cNvSpPr/>
          <p:nvPr/>
        </p:nvSpPr>
        <p:spPr>
          <a:xfrm>
            <a:off x="2176200" y="2309400"/>
            <a:ext cx="1352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576b"/>
                </a:solidFill>
                <a:latin typeface="Calibri"/>
                <a:ea typeface="Calibri"/>
              </a:rPr>
              <a:t>🔽 </a:t>
            </a:r>
            <a:r>
              <a:rPr b="1" lang="en-US" sz="950" spc="-1" strike="noStrike">
                <a:solidFill>
                  <a:srgbClr val="00576b"/>
                </a:solidFill>
                <a:latin typeface="Calibri"/>
                <a:ea typeface="Calibri"/>
              </a:rPr>
              <a:t>force_merge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Text 646"/>
          <p:cNvSpPr/>
          <p:nvPr/>
        </p:nvSpPr>
        <p:spPr>
          <a:xfrm>
            <a:off x="2176200" y="2547360"/>
            <a:ext cx="1352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max_num_segments: 1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Shape 669"/>
          <p:cNvSpPr/>
          <p:nvPr/>
        </p:nvSpPr>
        <p:spPr>
          <a:xfrm>
            <a:off x="3931920" y="2291040"/>
            <a:ext cx="1462680" cy="62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Text 647"/>
          <p:cNvSpPr/>
          <p:nvPr/>
        </p:nvSpPr>
        <p:spPr>
          <a:xfrm>
            <a:off x="4005000" y="2309400"/>
            <a:ext cx="1352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576b"/>
                </a:solidFill>
                <a:latin typeface="Calibri"/>
                <a:ea typeface="Calibri"/>
              </a:rPr>
              <a:t>❄️  </a:t>
            </a:r>
            <a:r>
              <a:rPr b="1" lang="en-US" sz="950" spc="-1" strike="noStrike">
                <a:solidFill>
                  <a:srgbClr val="00576b"/>
                </a:solidFill>
                <a:latin typeface="Calibri"/>
                <a:ea typeface="Calibri"/>
              </a:rPr>
              <a:t>replica_count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Text 648"/>
          <p:cNvSpPr/>
          <p:nvPr/>
        </p:nvSpPr>
        <p:spPr>
          <a:xfrm>
            <a:off x="4005000" y="2547360"/>
            <a:ext cx="1352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number_of_replicas: 0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8" name="Shape 670"/>
          <p:cNvSpPr/>
          <p:nvPr/>
        </p:nvSpPr>
        <p:spPr>
          <a:xfrm>
            <a:off x="5760720" y="2291040"/>
            <a:ext cx="1462680" cy="62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Text 649"/>
          <p:cNvSpPr/>
          <p:nvPr/>
        </p:nvSpPr>
        <p:spPr>
          <a:xfrm>
            <a:off x="5833800" y="2309400"/>
            <a:ext cx="1352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576b"/>
                </a:solidFill>
                <a:latin typeface="Calibri"/>
                <a:ea typeface="Calibri"/>
              </a:rPr>
              <a:t>🗑️  </a:t>
            </a:r>
            <a:r>
              <a:rPr b="1" lang="en-US" sz="950" spc="-1" strike="noStrike">
                <a:solidFill>
                  <a:srgbClr val="00576b"/>
                </a:solidFill>
                <a:latin typeface="Calibri"/>
                <a:ea typeface="Calibri"/>
              </a:rPr>
              <a:t>delete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Text 650"/>
          <p:cNvSpPr/>
          <p:nvPr/>
        </p:nvSpPr>
        <p:spPr>
          <a:xfrm>
            <a:off x="5833800" y="2547360"/>
            <a:ext cx="1352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suppression de l'index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Shape 671"/>
          <p:cNvSpPr/>
          <p:nvPr/>
        </p:nvSpPr>
        <p:spPr>
          <a:xfrm>
            <a:off x="274320" y="2982600"/>
            <a:ext cx="8595000" cy="3196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2" name="Text 651"/>
          <p:cNvSpPr/>
          <p:nvPr/>
        </p:nvSpPr>
        <p:spPr>
          <a:xfrm>
            <a:off x="365760" y="2982600"/>
            <a:ext cx="8485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Création d'une politique ISM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Shape 672"/>
          <p:cNvSpPr/>
          <p:nvPr/>
        </p:nvSpPr>
        <p:spPr>
          <a:xfrm>
            <a:off x="274320" y="3302640"/>
            <a:ext cx="8595000" cy="10512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4" name="Text 652"/>
          <p:cNvSpPr/>
          <p:nvPr/>
        </p:nvSpPr>
        <p:spPr>
          <a:xfrm>
            <a:off x="384120" y="3394080"/>
            <a:ext cx="84304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PUT _plugins/_ism/policies/ma_politique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{ "policy": { "default_state": "hot", "states": [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{ "name": "hot",  "actions": [{ "rollover": { "min_size": "50gb", "min_index_age": "7d" } }],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"transitions": [{ "state_name": "warm", "conditions": { "min_index_age": "7d" } }]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{ "name": "warm", "actions": [{ "force_merge": { "max_num_segments": 1 } }],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"transitions": [{ "state_name": "delete", "conditions": { "min_index_age": "90d" } }]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{ "name": "delete", "actions": [{ "delete": {} }], "transitions": []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] }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Shape 673"/>
          <p:cNvSpPr/>
          <p:nvPr/>
        </p:nvSpPr>
        <p:spPr>
          <a:xfrm>
            <a:off x="274320" y="4418280"/>
            <a:ext cx="8595000" cy="383760"/>
          </a:xfrm>
          <a:prstGeom prst="rect">
            <a:avLst/>
          </a:prstGeom>
          <a:solidFill>
            <a:srgbClr val="f5f9fa"/>
          </a:solidFill>
          <a:ln w="12700">
            <a:solidFill>
              <a:srgbClr val="f5f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Text 653"/>
          <p:cNvSpPr/>
          <p:nvPr/>
        </p:nvSpPr>
        <p:spPr>
          <a:xfrm>
            <a:off x="384120" y="4418280"/>
            <a:ext cx="841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💡  </a:t>
            </a:r>
            <a:r>
              <a:rPr b="0" lang="en-US" sz="900" spc="-1" strike="noStrike">
                <a:solidFill>
                  <a:srgbClr val="00576b"/>
                </a:solidFill>
                <a:latin typeface="Calibri"/>
                <a:ea typeface="Calibri"/>
              </a:rPr>
              <a:t>Attacher une politique ISM à un index template via plugins.index_state_management.policy_id dans les settings. Vérifier l'état avec GET _plugins/_ism/explain/&lt;index&gt;.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7" name="Shape 674"/>
          <p:cNvSpPr/>
          <p:nvPr/>
        </p:nvSpPr>
        <p:spPr>
          <a:xfrm>
            <a:off x="274320" y="4753080"/>
            <a:ext cx="8593920" cy="34596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Shape 675"/>
          <p:cNvSpPr/>
          <p:nvPr/>
        </p:nvSpPr>
        <p:spPr>
          <a:xfrm>
            <a:off x="274320" y="4753080"/>
            <a:ext cx="62640" cy="345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9" name="Text 654"/>
          <p:cNvSpPr/>
          <p:nvPr/>
        </p:nvSpPr>
        <p:spPr>
          <a:xfrm>
            <a:off x="457200" y="47530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Atelier 3.6 — Index tempalte et ISM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0" name="Shape 486"/>
          <p:cNvSpPr/>
          <p:nvPr/>
        </p:nvSpPr>
        <p:spPr>
          <a:xfrm>
            <a:off x="0" y="0"/>
            <a:ext cx="9141840" cy="820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1" name="Shape 487"/>
          <p:cNvSpPr/>
          <p:nvPr/>
        </p:nvSpPr>
        <p:spPr>
          <a:xfrm>
            <a:off x="0" y="0"/>
            <a:ext cx="500760" cy="820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2" name="Text 451"/>
          <p:cNvSpPr/>
          <p:nvPr/>
        </p:nvSpPr>
        <p:spPr>
          <a:xfrm>
            <a:off x="640080" y="0"/>
            <a:ext cx="7953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Alias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Shape 488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4" name="Text 452"/>
          <p:cNvSpPr/>
          <p:nvPr/>
        </p:nvSpPr>
        <p:spPr>
          <a:xfrm>
            <a:off x="7955280" y="155520"/>
            <a:ext cx="100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" name="Text 453"/>
          <p:cNvSpPr/>
          <p:nvPr/>
        </p:nvSpPr>
        <p:spPr>
          <a:xfrm>
            <a:off x="320040" y="914400"/>
            <a:ext cx="85017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Un alias est un </a:t>
            </a:r>
            <a:r>
              <a:rPr b="1" lang="en-US" sz="1150" spc="-1" strike="noStrike">
                <a:solidFill>
                  <a:srgbClr val="007a8a"/>
                </a:solidFill>
                <a:latin typeface="Calibri"/>
              </a:rPr>
              <a:t>nom secondaire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 pour un groupe d'index ou de datastreams. Toutes les API OpenSearch acceptent un alias à la place d'un nom d'index.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Shape 489"/>
          <p:cNvSpPr/>
          <p:nvPr/>
        </p:nvSpPr>
        <p:spPr>
          <a:xfrm>
            <a:off x="274320" y="1463040"/>
            <a:ext cx="4158360" cy="775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Shape 490"/>
          <p:cNvSpPr/>
          <p:nvPr/>
        </p:nvSpPr>
        <p:spPr>
          <a:xfrm>
            <a:off x="274320" y="1463040"/>
            <a:ext cx="70920" cy="775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8" name="Text 454"/>
          <p:cNvSpPr/>
          <p:nvPr/>
        </p:nvSpPr>
        <p:spPr>
          <a:xfrm>
            <a:off x="438840" y="1517760"/>
            <a:ext cx="388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576b"/>
                </a:solidFill>
                <a:latin typeface="Calibri"/>
              </a:rPr>
              <a:t>🔄  </a:t>
            </a:r>
            <a:r>
              <a:rPr b="1" lang="en-US" sz="1050" spc="-1" strike="noStrike">
                <a:solidFill>
                  <a:srgbClr val="00576b"/>
                </a:solidFill>
                <a:latin typeface="Calibri"/>
              </a:rPr>
              <a:t>Zero-downtime reindex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 455"/>
          <p:cNvSpPr/>
          <p:nvPr/>
        </p:nvSpPr>
        <p:spPr>
          <a:xfrm>
            <a:off x="438840" y="1810440"/>
            <a:ext cx="3884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</a:rPr>
              <a:t>Pointer l'alias vers le nouvel index après réindexation, sans changer le code applicatif.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Shape 491"/>
          <p:cNvSpPr/>
          <p:nvPr/>
        </p:nvSpPr>
        <p:spPr>
          <a:xfrm>
            <a:off x="4709160" y="1463040"/>
            <a:ext cx="4158360" cy="775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Shape 492"/>
          <p:cNvSpPr/>
          <p:nvPr/>
        </p:nvSpPr>
        <p:spPr>
          <a:xfrm>
            <a:off x="4709160" y="1463040"/>
            <a:ext cx="70920" cy="775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2" name="Text 456"/>
          <p:cNvSpPr/>
          <p:nvPr/>
        </p:nvSpPr>
        <p:spPr>
          <a:xfrm>
            <a:off x="4873680" y="1517760"/>
            <a:ext cx="388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576b"/>
                </a:solidFill>
                <a:latin typeface="Calibri"/>
              </a:rPr>
              <a:t>🗂️  </a:t>
            </a:r>
            <a:r>
              <a:rPr b="1" lang="en-US" sz="1050" spc="-1" strike="noStrike">
                <a:solidFill>
                  <a:srgbClr val="00576b"/>
                </a:solidFill>
                <a:latin typeface="Calibri"/>
              </a:rPr>
              <a:t>Abstraction multi-index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Text 457"/>
          <p:cNvSpPr/>
          <p:nvPr/>
        </p:nvSpPr>
        <p:spPr>
          <a:xfrm>
            <a:off x="4873680" y="1810440"/>
            <a:ext cx="3884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</a:rPr>
              <a:t>logs-* → alias logs : écrire/lire sur tous les index via un seul nom.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Shape 493"/>
          <p:cNvSpPr/>
          <p:nvPr/>
        </p:nvSpPr>
        <p:spPr>
          <a:xfrm>
            <a:off x="274320" y="2377440"/>
            <a:ext cx="4158360" cy="775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Shape 494"/>
          <p:cNvSpPr/>
          <p:nvPr/>
        </p:nvSpPr>
        <p:spPr>
          <a:xfrm>
            <a:off x="274320" y="2377440"/>
            <a:ext cx="70920" cy="775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6" name="Text 458"/>
          <p:cNvSpPr/>
          <p:nvPr/>
        </p:nvSpPr>
        <p:spPr>
          <a:xfrm>
            <a:off x="438840" y="2432160"/>
            <a:ext cx="388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576b"/>
                </a:solidFill>
                <a:latin typeface="Calibri"/>
              </a:rPr>
              <a:t>🔍  </a:t>
            </a:r>
            <a:r>
              <a:rPr b="1" lang="en-US" sz="1050" spc="-1" strike="noStrike">
                <a:solidFill>
                  <a:srgbClr val="00576b"/>
                </a:solidFill>
                <a:latin typeface="Calibri"/>
              </a:rPr>
              <a:t>Alias filtré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Text 459"/>
          <p:cNvSpPr/>
          <p:nvPr/>
        </p:nvSpPr>
        <p:spPr>
          <a:xfrm>
            <a:off x="438840" y="2724840"/>
            <a:ext cx="3884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</a:rPr>
              <a:t>Exposer une vue partielle d'un index (ex : uniquement les docs d'un tenant).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Shape 495"/>
          <p:cNvSpPr/>
          <p:nvPr/>
        </p:nvSpPr>
        <p:spPr>
          <a:xfrm>
            <a:off x="4709160" y="2377440"/>
            <a:ext cx="4158360" cy="775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Shape 496"/>
          <p:cNvSpPr/>
          <p:nvPr/>
        </p:nvSpPr>
        <p:spPr>
          <a:xfrm>
            <a:off x="4709160" y="2377440"/>
            <a:ext cx="70920" cy="775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0" name="Text 460"/>
          <p:cNvSpPr/>
          <p:nvPr/>
        </p:nvSpPr>
        <p:spPr>
          <a:xfrm>
            <a:off x="4873680" y="2432160"/>
            <a:ext cx="388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576b"/>
                </a:solidFill>
                <a:latin typeface="Calibri"/>
              </a:rPr>
              <a:t>✏️  </a:t>
            </a:r>
            <a:r>
              <a:rPr b="1" lang="en-US" sz="1050" spc="-1" strike="noStrike">
                <a:solidFill>
                  <a:srgbClr val="00576b"/>
                </a:solidFill>
                <a:latin typeface="Calibri"/>
              </a:rPr>
              <a:t>Alias d'écriture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Text 461"/>
          <p:cNvSpPr/>
          <p:nvPr/>
        </p:nvSpPr>
        <p:spPr>
          <a:xfrm>
            <a:off x="4873680" y="2724840"/>
            <a:ext cx="3884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</a:rPr>
              <a:t>Désigner un seul index actif en écriture parmi plusieurs (is_write_index: true).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Shape 497"/>
          <p:cNvSpPr/>
          <p:nvPr/>
        </p:nvSpPr>
        <p:spPr>
          <a:xfrm>
            <a:off x="274320" y="3364920"/>
            <a:ext cx="8593200" cy="98532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3" name="Text 462"/>
          <p:cNvSpPr/>
          <p:nvPr/>
        </p:nvSpPr>
        <p:spPr>
          <a:xfrm>
            <a:off x="384120" y="3438000"/>
            <a:ext cx="837360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POST _aliases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"actions": [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 "add":    { "index": "logs-2025-01", "alias": "logs" }},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 "add":    { "index": "logs-2025-*",  "alias": "logs_recent", "filter": { "range": { "@timestamp": { "gte": "now-30d" }}}}},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 "remove": { "index": "logs-2024-12", "alias": "logs" }},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 "add":    { "index": "logs-2025-01", "alias": "logs_write", "is_write_index": true }}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]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Shape 498"/>
          <p:cNvSpPr/>
          <p:nvPr/>
        </p:nvSpPr>
        <p:spPr>
          <a:xfrm>
            <a:off x="274320" y="4526280"/>
            <a:ext cx="8593200" cy="38196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Text 463"/>
          <p:cNvSpPr/>
          <p:nvPr/>
        </p:nvSpPr>
        <p:spPr>
          <a:xfrm>
            <a:off x="384120" y="4526280"/>
            <a:ext cx="8410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Bonne pratique : les applications ne référencent jamais un index directement — toujours via un alias. Facilite les migrations et rolling upgrades.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Shape 678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7" name="Shape 679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8" name="Text 663"/>
          <p:cNvSpPr/>
          <p:nvPr/>
        </p:nvSpPr>
        <p:spPr>
          <a:xfrm>
            <a:off x="320040" y="0"/>
            <a:ext cx="8503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Pourquoi migrer un mapping ?</a:t>
            </a:r>
            <a:endParaRPr b="0" lang="fr-F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Shape 680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0" name="Text 664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rial"/>
                <a:ea typeface="Arial"/>
              </a:rPr>
              <a:t>ANNEXES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Text 665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7c93"/>
                </a:solidFill>
                <a:latin typeface="Calibri"/>
                <a:ea typeface="Calibri"/>
              </a:rPr>
              <a:t>Un mapping OpenSearch n'est pas librement modifiable après création. Certains changements imposent une réindexation complète des données.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Text 666"/>
          <p:cNvSpPr/>
          <p:nvPr/>
        </p:nvSpPr>
        <p:spPr>
          <a:xfrm>
            <a:off x="320040" y="11887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7ae60"/>
                </a:solidFill>
                <a:latin typeface="Arial"/>
                <a:ea typeface="Arial"/>
              </a:rPr>
              <a:t>✅  </a:t>
            </a:r>
            <a:r>
              <a:rPr b="1" lang="en-US" sz="1300" spc="-1" strike="noStrike">
                <a:solidFill>
                  <a:srgbClr val="27ae60"/>
                </a:solidFill>
                <a:latin typeface="Arial"/>
                <a:ea typeface="Arial"/>
              </a:rPr>
              <a:t>Possible sans reindex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Shape 681"/>
          <p:cNvSpPr/>
          <p:nvPr/>
        </p:nvSpPr>
        <p:spPr>
          <a:xfrm>
            <a:off x="320040" y="1572840"/>
            <a:ext cx="237240" cy="23724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4" name="Text 667"/>
          <p:cNvSpPr/>
          <p:nvPr/>
        </p:nvSpPr>
        <p:spPr>
          <a:xfrm>
            <a:off x="320040" y="157284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Text 668"/>
          <p:cNvSpPr/>
          <p:nvPr/>
        </p:nvSpPr>
        <p:spPr>
          <a:xfrm>
            <a:off x="640080" y="1591200"/>
            <a:ext cx="3565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Ajouter un nouveau champ (dynamique ou explicite)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Shape 682"/>
          <p:cNvSpPr/>
          <p:nvPr/>
        </p:nvSpPr>
        <p:spPr>
          <a:xfrm>
            <a:off x="320040" y="1901880"/>
            <a:ext cx="237240" cy="23724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7" name="Text 669"/>
          <p:cNvSpPr/>
          <p:nvPr/>
        </p:nvSpPr>
        <p:spPr>
          <a:xfrm>
            <a:off x="320040" y="190188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Text 670"/>
          <p:cNvSpPr/>
          <p:nvPr/>
        </p:nvSpPr>
        <p:spPr>
          <a:xfrm>
            <a:off x="640080" y="1920240"/>
            <a:ext cx="3565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Ajouter un sous-champ (.keyword, .ngram…)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Shape 683"/>
          <p:cNvSpPr/>
          <p:nvPr/>
        </p:nvSpPr>
        <p:spPr>
          <a:xfrm>
            <a:off x="320040" y="2231280"/>
            <a:ext cx="237240" cy="23724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0" name="Text 671"/>
          <p:cNvSpPr/>
          <p:nvPr/>
        </p:nvSpPr>
        <p:spPr>
          <a:xfrm>
            <a:off x="320040" y="223128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Text 672"/>
          <p:cNvSpPr/>
          <p:nvPr/>
        </p:nvSpPr>
        <p:spPr>
          <a:xfrm>
            <a:off x="640080" y="2249280"/>
            <a:ext cx="3565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Modifier index: false sur un champ text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Shape 684"/>
          <p:cNvSpPr/>
          <p:nvPr/>
        </p:nvSpPr>
        <p:spPr>
          <a:xfrm>
            <a:off x="320040" y="2560320"/>
            <a:ext cx="237240" cy="23724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3" name="Text 673"/>
          <p:cNvSpPr/>
          <p:nvPr/>
        </p:nvSpPr>
        <p:spPr>
          <a:xfrm>
            <a:off x="320040" y="256032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Text 674"/>
          <p:cNvSpPr/>
          <p:nvPr/>
        </p:nvSpPr>
        <p:spPr>
          <a:xfrm>
            <a:off x="640080" y="2578680"/>
            <a:ext cx="3565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Changer ignore_malformed, ignore_above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Shape 685"/>
          <p:cNvSpPr/>
          <p:nvPr/>
        </p:nvSpPr>
        <p:spPr>
          <a:xfrm>
            <a:off x="320040" y="2889360"/>
            <a:ext cx="237240" cy="23724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6" name="Text 675"/>
          <p:cNvSpPr/>
          <p:nvPr/>
        </p:nvSpPr>
        <p:spPr>
          <a:xfrm>
            <a:off x="320040" y="288936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Text 676"/>
          <p:cNvSpPr/>
          <p:nvPr/>
        </p:nvSpPr>
        <p:spPr>
          <a:xfrm>
            <a:off x="640080" y="2907720"/>
            <a:ext cx="3565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Ajouter copy_to vers un nouveau champ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Shape 686"/>
          <p:cNvSpPr/>
          <p:nvPr/>
        </p:nvSpPr>
        <p:spPr>
          <a:xfrm>
            <a:off x="320040" y="3218760"/>
            <a:ext cx="237240" cy="23724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9" name="Text 677"/>
          <p:cNvSpPr/>
          <p:nvPr/>
        </p:nvSpPr>
        <p:spPr>
          <a:xfrm>
            <a:off x="320040" y="321876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Text 678"/>
          <p:cNvSpPr/>
          <p:nvPr/>
        </p:nvSpPr>
        <p:spPr>
          <a:xfrm>
            <a:off x="640080" y="3237120"/>
            <a:ext cx="3565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Étendre un analyzer existant (puis _close/_open)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Text 679"/>
          <p:cNvSpPr/>
          <p:nvPr/>
        </p:nvSpPr>
        <p:spPr>
          <a:xfrm>
            <a:off x="4754880" y="11887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✗  </a:t>
            </a: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Nécessite un reindex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Shape 687"/>
          <p:cNvSpPr/>
          <p:nvPr/>
        </p:nvSpPr>
        <p:spPr>
          <a:xfrm>
            <a:off x="4754880" y="1572840"/>
            <a:ext cx="237240" cy="2372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3" name="Text 680"/>
          <p:cNvSpPr/>
          <p:nvPr/>
        </p:nvSpPr>
        <p:spPr>
          <a:xfrm>
            <a:off x="4754880" y="157284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Text 681"/>
          <p:cNvSpPr/>
          <p:nvPr/>
        </p:nvSpPr>
        <p:spPr>
          <a:xfrm>
            <a:off x="5065920" y="1591200"/>
            <a:ext cx="3748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Changer le type d'un champ (text→keyword, long→double…)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Shape 688"/>
          <p:cNvSpPr/>
          <p:nvPr/>
        </p:nvSpPr>
        <p:spPr>
          <a:xfrm>
            <a:off x="4754880" y="1901880"/>
            <a:ext cx="237240" cy="2372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6" name="Text 682"/>
          <p:cNvSpPr/>
          <p:nvPr/>
        </p:nvSpPr>
        <p:spPr>
          <a:xfrm>
            <a:off x="4754880" y="190188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Text 683"/>
          <p:cNvSpPr/>
          <p:nvPr/>
        </p:nvSpPr>
        <p:spPr>
          <a:xfrm>
            <a:off x="5065920" y="1920240"/>
            <a:ext cx="3748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Changer l'analyzer d'un champ déjà indexé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Shape 689"/>
          <p:cNvSpPr/>
          <p:nvPr/>
        </p:nvSpPr>
        <p:spPr>
          <a:xfrm>
            <a:off x="4754880" y="2231280"/>
            <a:ext cx="237240" cy="2372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9" name="Text 684"/>
          <p:cNvSpPr/>
          <p:nvPr/>
        </p:nvSpPr>
        <p:spPr>
          <a:xfrm>
            <a:off x="4754880" y="223128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Text 685"/>
          <p:cNvSpPr/>
          <p:nvPr/>
        </p:nvSpPr>
        <p:spPr>
          <a:xfrm>
            <a:off x="5065920" y="2249280"/>
            <a:ext cx="3748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Modifier le nombre de shards primaires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Shape 690"/>
          <p:cNvSpPr/>
          <p:nvPr/>
        </p:nvSpPr>
        <p:spPr>
          <a:xfrm>
            <a:off x="4754880" y="2560320"/>
            <a:ext cx="237240" cy="2372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2" name="Text 686"/>
          <p:cNvSpPr/>
          <p:nvPr/>
        </p:nvSpPr>
        <p:spPr>
          <a:xfrm>
            <a:off x="4754880" y="256032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Text 687"/>
          <p:cNvSpPr/>
          <p:nvPr/>
        </p:nvSpPr>
        <p:spPr>
          <a:xfrm>
            <a:off x="5065920" y="2578680"/>
            <a:ext cx="3748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Supprimer un champ du mapping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Shape 691"/>
          <p:cNvSpPr/>
          <p:nvPr/>
        </p:nvSpPr>
        <p:spPr>
          <a:xfrm>
            <a:off x="4754880" y="2889360"/>
            <a:ext cx="237240" cy="2372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5" name="Text 688"/>
          <p:cNvSpPr/>
          <p:nvPr/>
        </p:nvSpPr>
        <p:spPr>
          <a:xfrm>
            <a:off x="4754880" y="288936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Text 689"/>
          <p:cNvSpPr/>
          <p:nvPr/>
        </p:nvSpPr>
        <p:spPr>
          <a:xfrm>
            <a:off x="5065920" y="2907720"/>
            <a:ext cx="3748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Changer la stratégie de date detection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Shape 692"/>
          <p:cNvSpPr/>
          <p:nvPr/>
        </p:nvSpPr>
        <p:spPr>
          <a:xfrm>
            <a:off x="4754880" y="3218760"/>
            <a:ext cx="237240" cy="2372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8" name="Text 690"/>
          <p:cNvSpPr/>
          <p:nvPr/>
        </p:nvSpPr>
        <p:spPr>
          <a:xfrm>
            <a:off x="4754880" y="3218760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Text 691"/>
          <p:cNvSpPr/>
          <p:nvPr/>
        </p:nvSpPr>
        <p:spPr>
          <a:xfrm>
            <a:off x="5065920" y="3237120"/>
            <a:ext cx="3748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1b2a"/>
                </a:solidFill>
                <a:latin typeface="Calibri"/>
                <a:ea typeface="Calibri"/>
              </a:rPr>
              <a:t>Renommer un champ (reindex + script Painless)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Shape 693"/>
          <p:cNvSpPr/>
          <p:nvPr/>
        </p:nvSpPr>
        <p:spPr>
          <a:xfrm>
            <a:off x="320040" y="4462200"/>
            <a:ext cx="8503560" cy="658080"/>
          </a:xfrm>
          <a:prstGeom prst="rect">
            <a:avLst/>
          </a:prstGeom>
          <a:solidFill>
            <a:srgbClr val="fff3e0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Text 692"/>
          <p:cNvSpPr/>
          <p:nvPr/>
        </p:nvSpPr>
        <p:spPr>
          <a:xfrm>
            <a:off x="411480" y="4507920"/>
            <a:ext cx="8320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8672a"/>
                </a:solidFill>
                <a:latin typeface="Calibri"/>
                <a:ea typeface="Calibri"/>
              </a:rPr>
              <a:t>⚠  </a:t>
            </a:r>
            <a:r>
              <a:rPr b="0" lang="en-US" sz="950" spc="-1" strike="noStrike">
                <a:solidFill>
                  <a:srgbClr val="e8672a"/>
                </a:solidFill>
                <a:latin typeface="Calibri"/>
                <a:ea typeface="Calibri"/>
              </a:rPr>
              <a:t>Les types de champs existants sont gravés dans l'index dès le premier document indexé. Anticiper le mapping (mode strict + templates) est toujours préférable à le corriger a posteriori.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Shape 694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3" name="Shape 695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4" name="Text 693"/>
          <p:cNvSpPr/>
          <p:nvPr/>
        </p:nvSpPr>
        <p:spPr>
          <a:xfrm>
            <a:off x="320040" y="0"/>
            <a:ext cx="8503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L'opération </a:t>
            </a: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Reindex</a:t>
            </a:r>
            <a:endParaRPr b="0" lang="fr-F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Shape 696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6" name="Text 694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rial"/>
                <a:ea typeface="Arial"/>
              </a:rPr>
              <a:t>ANNEXES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Text 695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7c93"/>
                </a:solidFill>
                <a:latin typeface="Calibri"/>
                <a:ea typeface="Calibri"/>
              </a:rPr>
              <a:t>_reindex copie les documents d'un index source vers un index de destination. L'index destination doit être créé au préalable avec le mapping cible.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Text 696"/>
          <p:cNvSpPr/>
          <p:nvPr/>
        </p:nvSpPr>
        <p:spPr>
          <a:xfrm>
            <a:off x="320040" y="118872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2b5c"/>
                </a:solidFill>
                <a:latin typeface="Arial"/>
                <a:ea typeface="Arial"/>
              </a:rPr>
              <a:t>Reindex simple et pilotage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Shape 697"/>
          <p:cNvSpPr/>
          <p:nvPr/>
        </p:nvSpPr>
        <p:spPr>
          <a:xfrm>
            <a:off x="320040" y="1527120"/>
            <a:ext cx="4205880" cy="349272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0" name="Text 697"/>
          <p:cNvSpPr/>
          <p:nvPr/>
        </p:nvSpPr>
        <p:spPr>
          <a:xfrm>
            <a:off x="411480" y="1591200"/>
            <a:ext cx="4023000" cy="33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1. Créer l'index cible avec le nouveau mapping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PUT /logs-v2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"settings": { "number_of_shards": 4 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"mappings":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"properties":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"@timestamp":  { "type": "date" 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"level":       { "type": "keyword" 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"http_status": { "type": "integer"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2. Reindex asynchrone (recommandé)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POST /_reindex?wait_for_completion=false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"conflicts": "proceed",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"source": { "index": "logs-v1", "size": 1000 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"dest":   { "index": "logs-v2",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   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"op_type": "create"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→ { "task": "nodeId:taskId"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3. Suivre la progression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GET /_tasks/nodeId:taskId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GET /_tasks?actions=*reindex&amp;detailed=true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Text 698"/>
          <p:cNvSpPr/>
          <p:nvPr/>
        </p:nvSpPr>
        <p:spPr>
          <a:xfrm>
            <a:off x="4754880" y="11887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2b5c"/>
                </a:solidFill>
                <a:latin typeface="Arial"/>
                <a:ea typeface="Arial"/>
              </a:rPr>
              <a:t>Reindex avec transformation (Painless)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Shape 698"/>
          <p:cNvSpPr/>
          <p:nvPr/>
        </p:nvSpPr>
        <p:spPr>
          <a:xfrm>
            <a:off x="4754880" y="1527120"/>
            <a:ext cx="4205880" cy="235872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3" name="Text 699"/>
          <p:cNvSpPr/>
          <p:nvPr/>
        </p:nvSpPr>
        <p:spPr>
          <a:xfrm>
            <a:off x="4846320" y="1591200"/>
            <a:ext cx="4023000" cy="22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POST /_reindex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"source": { "index": "logs-v1" 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"dest":   { "index": "logs-v2" 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"script":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"lang": "painless",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"source": """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// Renommer un champ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ctx._source.level =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ctx._source.remove('log_level');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// Convertir string → integer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if (ctx._source.http_status != null)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ctx._source.http_status = Integer.parseInt(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ctx._source.http_status);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// Supprimer un champ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ctx._source.remove('deprecated_field');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"""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Shape 699"/>
          <p:cNvSpPr/>
          <p:nvPr/>
        </p:nvSpPr>
        <p:spPr>
          <a:xfrm>
            <a:off x="4754880" y="3950280"/>
            <a:ext cx="4205880" cy="135288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5" name="Text 700"/>
          <p:cNvSpPr/>
          <p:nvPr/>
        </p:nvSpPr>
        <p:spPr>
          <a:xfrm>
            <a:off x="4846320" y="4014360"/>
            <a:ext cx="4023000" cy="12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Reindex depuis un cluster distant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POST /_reindex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"source":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"remote":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"host": "https://old-cluster:9200",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"username": "admin", "password": "pass"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"index": "logs-v1", "size": 500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"dest": { "index": "logs-v2"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opensearch.yml : reindex.remote.whitelist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6" name="Shape 70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7" name="Shape 701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8" name="Text 701"/>
          <p:cNvSpPr/>
          <p:nvPr/>
        </p:nvSpPr>
        <p:spPr>
          <a:xfrm>
            <a:off x="320040" y="0"/>
            <a:ext cx="8503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Stratégie zero downtime avec les alias</a:t>
            </a:r>
            <a:endParaRPr b="0" lang="fr-F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9" name="Shape 702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0" name="Text 702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rial"/>
                <a:ea typeface="Arial"/>
              </a:rPr>
              <a:t>ANNEXES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Text 703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7c93"/>
                </a:solidFill>
                <a:latin typeface="Calibri"/>
                <a:ea typeface="Calibri"/>
              </a:rPr>
              <a:t>En combinant alias et reindex, il est possible de migrer un index sans interruption de service ni perte de données. C'est la stratégie de référence en production.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Shape 703"/>
          <p:cNvSpPr/>
          <p:nvPr/>
        </p:nvSpPr>
        <p:spPr>
          <a:xfrm>
            <a:off x="320040" y="1243440"/>
            <a:ext cx="365400" cy="365400"/>
          </a:xfrm>
          <a:prstGeom prst="ellipse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3" name="Text 704"/>
          <p:cNvSpPr/>
          <p:nvPr/>
        </p:nvSpPr>
        <p:spPr>
          <a:xfrm>
            <a:off x="320040" y="12434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Text 705"/>
          <p:cNvSpPr/>
          <p:nvPr/>
        </p:nvSpPr>
        <p:spPr>
          <a:xfrm>
            <a:off x="777240" y="124344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L'application utilise l'alias 'logs' → logs-v1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Text 706"/>
          <p:cNvSpPr/>
          <p:nvPr/>
        </p:nvSpPr>
        <p:spPr>
          <a:xfrm>
            <a:off x="777240" y="143568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Écriture et lecture passent par l'alias, jamais directement par le nom d'index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Shape 704"/>
          <p:cNvSpPr/>
          <p:nvPr/>
        </p:nvSpPr>
        <p:spPr>
          <a:xfrm>
            <a:off x="502920" y="1609200"/>
            <a:ext cx="360" cy="146160"/>
          </a:xfrm>
          <a:prstGeom prst="line">
            <a:avLst/>
          </a:prstGeom>
          <a:ln w="19050">
            <a:solidFill>
              <a:srgbClr val="d8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Shape 705"/>
          <p:cNvSpPr/>
          <p:nvPr/>
        </p:nvSpPr>
        <p:spPr>
          <a:xfrm>
            <a:off x="320040" y="1819800"/>
            <a:ext cx="365400" cy="365400"/>
          </a:xfrm>
          <a:prstGeom prst="ellipse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8" name="Text 707"/>
          <p:cNvSpPr/>
          <p:nvPr/>
        </p:nvSpPr>
        <p:spPr>
          <a:xfrm>
            <a:off x="320040" y="1819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Text 708"/>
          <p:cNvSpPr/>
          <p:nvPr/>
        </p:nvSpPr>
        <p:spPr>
          <a:xfrm>
            <a:off x="777240" y="181980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Créer logs-v2 avec le nouveau mapping cible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Text 709"/>
          <p:cNvSpPr/>
          <p:nvPr/>
        </p:nvSpPr>
        <p:spPr>
          <a:xfrm>
            <a:off x="777240" y="201168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PUT /logs-v2 — l'alias 'logs' pointe encore sur v1, aucune interruption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Shape 706"/>
          <p:cNvSpPr/>
          <p:nvPr/>
        </p:nvSpPr>
        <p:spPr>
          <a:xfrm>
            <a:off x="502920" y="2185200"/>
            <a:ext cx="360" cy="146520"/>
          </a:xfrm>
          <a:prstGeom prst="line">
            <a:avLst/>
          </a:prstGeom>
          <a:ln w="19050">
            <a:solidFill>
              <a:srgbClr val="d8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Shape 707"/>
          <p:cNvSpPr/>
          <p:nvPr/>
        </p:nvSpPr>
        <p:spPr>
          <a:xfrm>
            <a:off x="320040" y="2395800"/>
            <a:ext cx="365400" cy="365400"/>
          </a:xfrm>
          <a:prstGeom prst="ellipse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3" name="Text 710"/>
          <p:cNvSpPr/>
          <p:nvPr/>
        </p:nvSpPr>
        <p:spPr>
          <a:xfrm>
            <a:off x="320040" y="2395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Text 711"/>
          <p:cNvSpPr/>
          <p:nvPr/>
        </p:nvSpPr>
        <p:spPr>
          <a:xfrm>
            <a:off x="777240" y="239580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Reindex asynchrone logs-v1 → logs-v2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Text 712"/>
          <p:cNvSpPr/>
          <p:nvPr/>
        </p:nvSpPr>
        <p:spPr>
          <a:xfrm>
            <a:off x="777240" y="258768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wait_for_completion=false — la prod continue d'écrire sur v1 pendant le reindex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" name="Shape 708"/>
          <p:cNvSpPr/>
          <p:nvPr/>
        </p:nvSpPr>
        <p:spPr>
          <a:xfrm>
            <a:off x="502920" y="2761200"/>
            <a:ext cx="360" cy="146520"/>
          </a:xfrm>
          <a:prstGeom prst="line">
            <a:avLst/>
          </a:prstGeom>
          <a:ln w="19050">
            <a:solidFill>
              <a:srgbClr val="d8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" name="Shape 709"/>
          <p:cNvSpPr/>
          <p:nvPr/>
        </p:nvSpPr>
        <p:spPr>
          <a:xfrm>
            <a:off x="320040" y="2971800"/>
            <a:ext cx="365400" cy="365400"/>
          </a:xfrm>
          <a:prstGeom prst="ellipse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8" name="Text 713"/>
          <p:cNvSpPr/>
          <p:nvPr/>
        </p:nvSpPr>
        <p:spPr>
          <a:xfrm>
            <a:off x="320040" y="2971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Text 714"/>
          <p:cNvSpPr/>
          <p:nvPr/>
        </p:nvSpPr>
        <p:spPr>
          <a:xfrm>
            <a:off x="777240" y="297180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Delta reindex : rattraper les nouveaux docs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Text 715"/>
          <p:cNvSpPr/>
          <p:nvPr/>
        </p:nvSpPr>
        <p:spPr>
          <a:xfrm>
            <a:off x="777240" y="316368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Reindex ciblant @timestamp ≥ date de début — combler l'écart avant basculement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Shape 710"/>
          <p:cNvSpPr/>
          <p:nvPr/>
        </p:nvSpPr>
        <p:spPr>
          <a:xfrm>
            <a:off x="502920" y="3337560"/>
            <a:ext cx="360" cy="146160"/>
          </a:xfrm>
          <a:prstGeom prst="line">
            <a:avLst/>
          </a:prstGeom>
          <a:ln w="19050">
            <a:solidFill>
              <a:srgbClr val="d8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Shape 711"/>
          <p:cNvSpPr/>
          <p:nvPr/>
        </p:nvSpPr>
        <p:spPr>
          <a:xfrm>
            <a:off x="320040" y="3547800"/>
            <a:ext cx="365400" cy="3654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3" name="Text 716"/>
          <p:cNvSpPr/>
          <p:nvPr/>
        </p:nvSpPr>
        <p:spPr>
          <a:xfrm>
            <a:off x="320040" y="3547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Text 717"/>
          <p:cNvSpPr/>
          <p:nvPr/>
        </p:nvSpPr>
        <p:spPr>
          <a:xfrm>
            <a:off x="777240" y="354780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Basculement atomique de l'alias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Text 718"/>
          <p:cNvSpPr/>
          <p:nvPr/>
        </p:nvSpPr>
        <p:spPr>
          <a:xfrm>
            <a:off x="777240" y="374004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POST /_aliases — remove logs→v1 + add logs→v2 en une seule opération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Shape 712"/>
          <p:cNvSpPr/>
          <p:nvPr/>
        </p:nvSpPr>
        <p:spPr>
          <a:xfrm>
            <a:off x="502920" y="3913560"/>
            <a:ext cx="360" cy="146160"/>
          </a:xfrm>
          <a:prstGeom prst="line">
            <a:avLst/>
          </a:prstGeom>
          <a:ln w="19050">
            <a:solidFill>
              <a:srgbClr val="d8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Shape 713"/>
          <p:cNvSpPr/>
          <p:nvPr/>
        </p:nvSpPr>
        <p:spPr>
          <a:xfrm>
            <a:off x="320040" y="4123800"/>
            <a:ext cx="365400" cy="3654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8" name="Text 719"/>
          <p:cNvSpPr/>
          <p:nvPr/>
        </p:nvSpPr>
        <p:spPr>
          <a:xfrm>
            <a:off x="320040" y="4123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6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Text 720"/>
          <p:cNvSpPr/>
          <p:nvPr/>
        </p:nvSpPr>
        <p:spPr>
          <a:xfrm>
            <a:off x="777240" y="412380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Supprimer logs-v1 après validation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Text 721"/>
          <p:cNvSpPr/>
          <p:nvPr/>
        </p:nvSpPr>
        <p:spPr>
          <a:xfrm>
            <a:off x="777240" y="431604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Conserver 24–48h pour permettre un rollback, puis DELETE /logs-v1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Text 722"/>
          <p:cNvSpPr/>
          <p:nvPr/>
        </p:nvSpPr>
        <p:spPr>
          <a:xfrm>
            <a:off x="4754880" y="11887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2b5c"/>
                </a:solidFill>
                <a:latin typeface="Arial"/>
                <a:ea typeface="Arial"/>
              </a:rPr>
              <a:t>Commandes clés du basculement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Shape 714"/>
          <p:cNvSpPr/>
          <p:nvPr/>
        </p:nvSpPr>
        <p:spPr>
          <a:xfrm>
            <a:off x="4754880" y="1527120"/>
            <a:ext cx="4205880" cy="362052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3" name="Text 723"/>
          <p:cNvSpPr/>
          <p:nvPr/>
        </p:nvSpPr>
        <p:spPr>
          <a:xfrm>
            <a:off x="4846320" y="1591200"/>
            <a:ext cx="4023000" cy="34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Alias initial avec is_write_index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POST /_aliases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"actions": [{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"add": { "index": "logs-v1",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 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"alias": "logs",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 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"is_write_index": true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}]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Delta reindex (étape 4)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POST /_reindex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"source":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"index": "logs-v1",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"query":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"range": 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"@timestamp": { "gte": "2024-01-15T10:00:00Z"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"dest": { "index": "logs-v2"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Basculement ATOMIQUE (étape 5)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POST /_aliases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"actions": [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 "remove": { "index": "logs-v1", "alias": "logs" } },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{ "add":    { "index": "logs-v2", "alias": "logs",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      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"is_write_index": true }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]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Shape 715"/>
          <p:cNvSpPr/>
          <p:nvPr/>
        </p:nvSpPr>
        <p:spPr>
          <a:xfrm>
            <a:off x="4754880" y="5193720"/>
            <a:ext cx="4205880" cy="511560"/>
          </a:xfrm>
          <a:prstGeom prst="rect">
            <a:avLst/>
          </a:prstGeom>
          <a:solidFill>
            <a:srgbClr val="e8f8ee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Text 724"/>
          <p:cNvSpPr/>
          <p:nvPr/>
        </p:nvSpPr>
        <p:spPr>
          <a:xfrm>
            <a:off x="4846320" y="5239440"/>
            <a:ext cx="40230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5c2e"/>
                </a:solidFill>
                <a:latin typeface="Calibri"/>
                <a:ea typeface="Calibri"/>
              </a:rPr>
              <a:t>💡 </a:t>
            </a:r>
            <a:r>
              <a:rPr b="0" lang="en-US" sz="950" spc="-1" strike="noStrike">
                <a:solidFill>
                  <a:srgbClr val="1a5c2e"/>
                </a:solidFill>
                <a:latin typeface="Calibri"/>
                <a:ea typeface="Calibri"/>
              </a:rPr>
              <a:t>Le basculement d'alias est atomique : aucune requête ne verra d'état intermédiaire. C'est la seule opération de migration sans fenêtre de maintenance.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" name="Shape 716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7" name="Shape 717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8" name="Text 725"/>
          <p:cNvSpPr/>
          <p:nvPr/>
        </p:nvSpPr>
        <p:spPr>
          <a:xfrm>
            <a:off x="320040" y="0"/>
            <a:ext cx="8503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Mappings dynamiques et stricts</a:t>
            </a:r>
            <a:endParaRPr b="0" lang="fr-F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Shape 718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0" name="Text 726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rial"/>
                <a:ea typeface="Arial"/>
              </a:rPr>
              <a:t>ANNEXES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Text 727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7c93"/>
                </a:solidFill>
                <a:latin typeface="Calibri"/>
                <a:ea typeface="Calibri"/>
              </a:rPr>
              <a:t>Le paramètre dynamic contrôle ce qu'OpenSearch fait des champs inconnus à l'ingestion. Une mauvaise configuration est la première source de migrations non planifiées.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Shape 719"/>
          <p:cNvSpPr/>
          <p:nvPr/>
        </p:nvSpPr>
        <p:spPr>
          <a:xfrm>
            <a:off x="320040" y="1188720"/>
            <a:ext cx="8503560" cy="1115280"/>
          </a:xfrm>
          <a:prstGeom prst="rect">
            <a:avLst/>
          </a:prstGeom>
          <a:solidFill>
            <a:srgbClr val="f2f6fa"/>
          </a:solidFill>
          <a:ln w="12700">
            <a:solidFill>
              <a:srgbClr val="d8e4ee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Shape 720"/>
          <p:cNvSpPr/>
          <p:nvPr/>
        </p:nvSpPr>
        <p:spPr>
          <a:xfrm>
            <a:off x="320040" y="1188720"/>
            <a:ext cx="1078560" cy="11152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4" name="Text 728"/>
          <p:cNvSpPr/>
          <p:nvPr/>
        </p:nvSpPr>
        <p:spPr>
          <a:xfrm>
            <a:off x="320040" y="1188720"/>
            <a:ext cx="1078560" cy="11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"dynamic":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"true"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Text 729"/>
          <p:cNvSpPr/>
          <p:nvPr/>
        </p:nvSpPr>
        <p:spPr>
          <a:xfrm>
            <a:off x="1481400" y="124344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672a"/>
                </a:solidFill>
                <a:latin typeface="Arial"/>
                <a:ea typeface="Arial"/>
              </a:rPr>
              <a:t>Dynamique (défaut)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Text 730"/>
          <p:cNvSpPr/>
          <p:nvPr/>
        </p:nvSpPr>
        <p:spPr>
          <a:xfrm>
            <a:off x="1481400" y="1463040"/>
            <a:ext cx="3200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1b2a"/>
                </a:solidFill>
                <a:latin typeface="Calibri"/>
                <a:ea typeface="Calibri"/>
              </a:rPr>
              <a:t>Tout nouveau champ est automatiquement mappé selon le type JSON inféré.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Shape 721"/>
          <p:cNvSpPr/>
          <p:nvPr/>
        </p:nvSpPr>
        <p:spPr>
          <a:xfrm>
            <a:off x="4736520" y="1261800"/>
            <a:ext cx="360" cy="969120"/>
          </a:xfrm>
          <a:prstGeom prst="line">
            <a:avLst/>
          </a:prstGeom>
          <a:ln w="12700">
            <a:solidFill>
              <a:srgbClr val="d8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Text 731"/>
          <p:cNvSpPr/>
          <p:nvPr/>
        </p:nvSpPr>
        <p:spPr>
          <a:xfrm>
            <a:off x="4827960" y="1261800"/>
            <a:ext cx="22856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0392b"/>
                </a:solidFill>
                <a:latin typeface="Calibri"/>
                <a:ea typeface="Calibri"/>
              </a:rPr>
              <a:t>⚠ </a:t>
            </a:r>
            <a:r>
              <a:rPr b="0" lang="en-US" sz="900" spc="-1" strike="noStrike">
                <a:solidFill>
                  <a:srgbClr val="c0392b"/>
                </a:solidFill>
                <a:latin typeface="Calibri"/>
                <a:ea typeface="Calibri"/>
              </a:rPr>
              <a:t>Mapping explosion, types incorrects (ex: '123' inféré long au lieu de keyword).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Text 732"/>
          <p:cNvSpPr/>
          <p:nvPr/>
        </p:nvSpPr>
        <p:spPr>
          <a:xfrm>
            <a:off x="4827960" y="1993320"/>
            <a:ext cx="3858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→ </a:t>
            </a:r>
            <a:r>
              <a:rPr b="0" i="1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Développement, données peu structurées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Shape 722"/>
          <p:cNvSpPr/>
          <p:nvPr/>
        </p:nvSpPr>
        <p:spPr>
          <a:xfrm>
            <a:off x="320040" y="2359080"/>
            <a:ext cx="8503560" cy="1115280"/>
          </a:xfrm>
          <a:prstGeom prst="rect">
            <a:avLst/>
          </a:prstGeom>
          <a:solidFill>
            <a:srgbClr val="f2f6fa"/>
          </a:solidFill>
          <a:ln w="12700">
            <a:solidFill>
              <a:srgbClr val="d8e4ee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Shape 723"/>
          <p:cNvSpPr/>
          <p:nvPr/>
        </p:nvSpPr>
        <p:spPr>
          <a:xfrm>
            <a:off x="320040" y="2359080"/>
            <a:ext cx="1078560" cy="11152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2" name="Text 733"/>
          <p:cNvSpPr/>
          <p:nvPr/>
        </p:nvSpPr>
        <p:spPr>
          <a:xfrm>
            <a:off x="320040" y="2359080"/>
            <a:ext cx="1078560" cy="11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"dynamic":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"false"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Text 734"/>
          <p:cNvSpPr/>
          <p:nvPr/>
        </p:nvSpPr>
        <p:spPr>
          <a:xfrm>
            <a:off x="1481400" y="241416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7fb5"/>
                </a:solidFill>
                <a:latin typeface="Arial"/>
                <a:ea typeface="Arial"/>
              </a:rPr>
              <a:t>Ignoré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Text 735"/>
          <p:cNvSpPr/>
          <p:nvPr/>
        </p:nvSpPr>
        <p:spPr>
          <a:xfrm>
            <a:off x="1481400" y="2633400"/>
            <a:ext cx="3200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1b2a"/>
                </a:solidFill>
                <a:latin typeface="Calibri"/>
                <a:ea typeface="Calibri"/>
              </a:rPr>
              <a:t>Les nouveaux champs sont ignorés (non indexés) mais stockés dans _source.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Shape 724"/>
          <p:cNvSpPr/>
          <p:nvPr/>
        </p:nvSpPr>
        <p:spPr>
          <a:xfrm>
            <a:off x="4736520" y="2432160"/>
            <a:ext cx="360" cy="969120"/>
          </a:xfrm>
          <a:prstGeom prst="line">
            <a:avLst/>
          </a:prstGeom>
          <a:ln w="12700">
            <a:solidFill>
              <a:srgbClr val="d8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Text 736"/>
          <p:cNvSpPr/>
          <p:nvPr/>
        </p:nvSpPr>
        <p:spPr>
          <a:xfrm>
            <a:off x="4827960" y="2432160"/>
            <a:ext cx="22856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0392b"/>
                </a:solidFill>
                <a:latin typeface="Calibri"/>
                <a:ea typeface="Calibri"/>
              </a:rPr>
              <a:t>⚠ </a:t>
            </a:r>
            <a:r>
              <a:rPr b="0" lang="en-US" sz="900" spc="-1" strike="noStrike">
                <a:solidFill>
                  <a:srgbClr val="c0392b"/>
                </a:solidFill>
                <a:latin typeface="Calibri"/>
                <a:ea typeface="Calibri"/>
              </a:rPr>
              <a:t>Champs inconnus non recherchables — erreur silencieuse difficile à détecter.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Text 737"/>
          <p:cNvSpPr/>
          <p:nvPr/>
        </p:nvSpPr>
        <p:spPr>
          <a:xfrm>
            <a:off x="4827960" y="3163680"/>
            <a:ext cx="3858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→ </a:t>
            </a:r>
            <a:r>
              <a:rPr b="0" i="1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Index avec _source volumineux, données partiellement structurées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Shape 725"/>
          <p:cNvSpPr/>
          <p:nvPr/>
        </p:nvSpPr>
        <p:spPr>
          <a:xfrm>
            <a:off x="320040" y="3529440"/>
            <a:ext cx="8503560" cy="1115280"/>
          </a:xfrm>
          <a:prstGeom prst="rect">
            <a:avLst/>
          </a:prstGeom>
          <a:solidFill>
            <a:srgbClr val="f2f6fa"/>
          </a:solidFill>
          <a:ln w="12700">
            <a:solidFill>
              <a:srgbClr val="d8e4ee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Shape 726"/>
          <p:cNvSpPr/>
          <p:nvPr/>
        </p:nvSpPr>
        <p:spPr>
          <a:xfrm>
            <a:off x="320040" y="3529440"/>
            <a:ext cx="1078560" cy="1115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0" name="Text 738"/>
          <p:cNvSpPr/>
          <p:nvPr/>
        </p:nvSpPr>
        <p:spPr>
          <a:xfrm>
            <a:off x="320040" y="3529440"/>
            <a:ext cx="1078560" cy="11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"dynamic":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"strict"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Text 739"/>
          <p:cNvSpPr/>
          <p:nvPr/>
        </p:nvSpPr>
        <p:spPr>
          <a:xfrm>
            <a:off x="1481400" y="358452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7ae60"/>
                </a:solidFill>
                <a:latin typeface="Arial"/>
                <a:ea typeface="Arial"/>
              </a:rPr>
              <a:t>Strict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Text 740"/>
          <p:cNvSpPr/>
          <p:nvPr/>
        </p:nvSpPr>
        <p:spPr>
          <a:xfrm>
            <a:off x="1481400" y="3803760"/>
            <a:ext cx="3200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1b2a"/>
                </a:solidFill>
                <a:latin typeface="Calibri"/>
                <a:ea typeface="Calibri"/>
              </a:rPr>
              <a:t>Tout champ absent du mapping provoque une erreur d'ingestion (document_parsing_exception).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3" name="Shape 727"/>
          <p:cNvSpPr/>
          <p:nvPr/>
        </p:nvSpPr>
        <p:spPr>
          <a:xfrm>
            <a:off x="4736520" y="3602520"/>
            <a:ext cx="360" cy="969480"/>
          </a:xfrm>
          <a:prstGeom prst="line">
            <a:avLst/>
          </a:prstGeom>
          <a:ln w="12700">
            <a:solidFill>
              <a:srgbClr val="d8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Text 741"/>
          <p:cNvSpPr/>
          <p:nvPr/>
        </p:nvSpPr>
        <p:spPr>
          <a:xfrm>
            <a:off x="4827960" y="3602880"/>
            <a:ext cx="22856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0392b"/>
                </a:solidFill>
                <a:latin typeface="Calibri"/>
                <a:ea typeface="Calibri"/>
              </a:rPr>
              <a:t>⚠ </a:t>
            </a:r>
            <a:r>
              <a:rPr b="0" lang="en-US" sz="900" spc="-1" strike="noStrike">
                <a:solidFill>
                  <a:srgbClr val="c0392b"/>
                </a:solidFill>
                <a:latin typeface="Calibri"/>
                <a:ea typeface="Calibri"/>
              </a:rPr>
              <a:t>Rejet de docs légitimes si le mapping n'est pas à jour.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" name="Text 742"/>
          <p:cNvSpPr/>
          <p:nvPr/>
        </p:nvSpPr>
        <p:spPr>
          <a:xfrm>
            <a:off x="4827960" y="4334400"/>
            <a:ext cx="3858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→ </a:t>
            </a:r>
            <a:r>
              <a:rPr b="0" i="1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Production, données critiques, schéma stable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Shape 728"/>
          <p:cNvSpPr/>
          <p:nvPr/>
        </p:nvSpPr>
        <p:spPr>
          <a:xfrm>
            <a:off x="320040" y="4681800"/>
            <a:ext cx="8503560" cy="71280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7" name="Text 743"/>
          <p:cNvSpPr/>
          <p:nvPr/>
        </p:nvSpPr>
        <p:spPr>
          <a:xfrm>
            <a:off x="411480" y="4745880"/>
            <a:ext cx="8320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# Mapping strict en production – pattern recommandé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PUT /mon-index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"mappings":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"dynamic": "strict",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"properties":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"@timestamp": { "type": "date" 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"level":   { "type": "keyword" 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"message": { "type": "text" 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"metadata": { "type": "object", "dynamic": true 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dff0"/>
                </a:solidFill>
                <a:latin typeface="Consolas"/>
                <a:ea typeface="Consolas"/>
              </a:rPr>
              <a:t># Ajouter un champ sans reindex :  PUT /mon-index/_mapping { "properties": { "new_field": {"type":"keyword"} } 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Shape 729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9" name="Shape 730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0" name="Text 744"/>
          <p:cNvSpPr/>
          <p:nvPr/>
        </p:nvSpPr>
        <p:spPr>
          <a:xfrm>
            <a:off x="320040" y="0"/>
            <a:ext cx="8503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Bonnes pratiques et pièges à éviter</a:t>
            </a:r>
            <a:endParaRPr b="0" lang="fr-F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Shape 731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2" name="Text 745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rial"/>
                <a:ea typeface="Arial"/>
              </a:rPr>
              <a:t>ANNEXES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Text 746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7c93"/>
                </a:solidFill>
                <a:latin typeface="Calibri"/>
                <a:ea typeface="Calibri"/>
              </a:rPr>
              <a:t>Une migration bien planifiée est transparente pour les utilisateurs. Les problèmes surviennent presque toujours par manque d'anticipation ou de tests.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Text 747"/>
          <p:cNvSpPr/>
          <p:nvPr/>
        </p:nvSpPr>
        <p:spPr>
          <a:xfrm>
            <a:off x="320040" y="11887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7ae60"/>
                </a:solidFill>
                <a:latin typeface="Arial"/>
                <a:ea typeface="Arial"/>
              </a:rPr>
              <a:t>✅  </a:t>
            </a:r>
            <a:r>
              <a:rPr b="1" lang="en-US" sz="1300" spc="-1" strike="noStrike">
                <a:solidFill>
                  <a:srgbClr val="27ae60"/>
                </a:solidFill>
                <a:latin typeface="Arial"/>
                <a:ea typeface="Arial"/>
              </a:rPr>
              <a:t>Recommandations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Shape 732"/>
          <p:cNvSpPr/>
          <p:nvPr/>
        </p:nvSpPr>
        <p:spPr>
          <a:xfrm>
            <a:off x="320040" y="1527120"/>
            <a:ext cx="54360" cy="639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6" name="Text 748"/>
          <p:cNvSpPr/>
          <p:nvPr/>
        </p:nvSpPr>
        <p:spPr>
          <a:xfrm>
            <a:off x="457200" y="154548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Toujours utiliser des alias en production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Text 749"/>
          <p:cNvSpPr/>
          <p:nvPr/>
        </p:nvSpPr>
        <p:spPr>
          <a:xfrm>
            <a:off x="457200" y="176472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Ne jamais exposer directement un nom d'index aux applications — rend tout basculement sans downtime possible.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Shape 733"/>
          <p:cNvSpPr/>
          <p:nvPr/>
        </p:nvSpPr>
        <p:spPr>
          <a:xfrm>
            <a:off x="320040" y="2212920"/>
            <a:ext cx="54360" cy="639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9" name="Text 750"/>
          <p:cNvSpPr/>
          <p:nvPr/>
        </p:nvSpPr>
        <p:spPr>
          <a:xfrm>
            <a:off x="457200" y="223128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Versionner les index (v1, v2, v3…)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Text 751"/>
          <p:cNvSpPr/>
          <p:nvPr/>
        </p:nvSpPr>
        <p:spPr>
          <a:xfrm>
            <a:off x="457200" y="245052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Conserver l'ancien index pendant la migration et 24–48h après pour permettre un rollback rapide.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1" name="Shape 734"/>
          <p:cNvSpPr/>
          <p:nvPr/>
        </p:nvSpPr>
        <p:spPr>
          <a:xfrm>
            <a:off x="320040" y="2898720"/>
            <a:ext cx="54360" cy="639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2" name="Text 752"/>
          <p:cNvSpPr/>
          <p:nvPr/>
        </p:nvSpPr>
        <p:spPr>
          <a:xfrm>
            <a:off x="457200" y="291708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Tester les requêtes critiques sur v2 avant basculement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Text 753"/>
          <p:cNvSpPr/>
          <p:nvPr/>
        </p:nvSpPr>
        <p:spPr>
          <a:xfrm>
            <a:off x="457200" y="313632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Un champ manqué ou mal typé dans le nouveau mapping = régression silencieuse en production.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Shape 735"/>
          <p:cNvSpPr/>
          <p:nvPr/>
        </p:nvSpPr>
        <p:spPr>
          <a:xfrm>
            <a:off x="320040" y="3584520"/>
            <a:ext cx="54360" cy="639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5" name="Text 754"/>
          <p:cNvSpPr/>
          <p:nvPr/>
        </p:nvSpPr>
        <p:spPr>
          <a:xfrm>
            <a:off x="457200" y="360288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Monitorer la vitesse du reindex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Text 755"/>
          <p:cNvSpPr/>
          <p:nvPr/>
        </p:nvSpPr>
        <p:spPr>
          <a:xfrm>
            <a:off x="457200" y="382212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GET /_tasks?actions=*reindex&amp;detailed=true → docs/s, estimation durée restante, taux d'erreur.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Shape 736"/>
          <p:cNvSpPr/>
          <p:nvPr/>
        </p:nvSpPr>
        <p:spPr>
          <a:xfrm>
            <a:off x="320040" y="4270320"/>
            <a:ext cx="54360" cy="639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8" name="Text 756"/>
          <p:cNvSpPr/>
          <p:nvPr/>
        </p:nvSpPr>
        <p:spPr>
          <a:xfrm>
            <a:off x="457200" y="428868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Planifier le delta reindex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9" name="Text 757"/>
          <p:cNvSpPr/>
          <p:nvPr/>
        </p:nvSpPr>
        <p:spPr>
          <a:xfrm>
            <a:off x="457200" y="450792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Calculer la fenêtre temporelle de rattrapage avant de couper. Un @timestamp range query suffit souvent.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Text 758"/>
          <p:cNvSpPr/>
          <p:nvPr/>
        </p:nvSpPr>
        <p:spPr>
          <a:xfrm>
            <a:off x="4754880" y="11887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⛔  </a:t>
            </a: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Pièges à éviter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Shape 737"/>
          <p:cNvSpPr/>
          <p:nvPr/>
        </p:nvSpPr>
        <p:spPr>
          <a:xfrm>
            <a:off x="4754880" y="1527120"/>
            <a:ext cx="54360" cy="63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2" name="Text 759"/>
          <p:cNvSpPr/>
          <p:nvPr/>
        </p:nvSpPr>
        <p:spPr>
          <a:xfrm>
            <a:off x="4883040" y="1545480"/>
            <a:ext cx="3986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Ne pas tester les performances du nouveau mapping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3" name="Text 760"/>
          <p:cNvSpPr/>
          <p:nvPr/>
        </p:nvSpPr>
        <p:spPr>
          <a:xfrm>
            <a:off x="4883040" y="1764720"/>
            <a:ext cx="3986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Un keyword remplaçant un text non-analyzed peut multiplier la mémoire fielddata par 10.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Shape 738"/>
          <p:cNvSpPr/>
          <p:nvPr/>
        </p:nvSpPr>
        <p:spPr>
          <a:xfrm>
            <a:off x="4754880" y="2212920"/>
            <a:ext cx="54360" cy="63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5" name="Text 761"/>
          <p:cNvSpPr/>
          <p:nvPr/>
        </p:nvSpPr>
        <p:spPr>
          <a:xfrm>
            <a:off x="4883040" y="2231280"/>
            <a:ext cx="3986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Oublier de mettre à jour les index templates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Text 762"/>
          <p:cNvSpPr/>
          <p:nvPr/>
        </p:nvSpPr>
        <p:spPr>
          <a:xfrm>
            <a:off x="4883040" y="2450520"/>
            <a:ext cx="3986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Si un template crée automatiquement des index (logs-*), le mettre à jour AVANT de migrer.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7" name="Shape 739"/>
          <p:cNvSpPr/>
          <p:nvPr/>
        </p:nvSpPr>
        <p:spPr>
          <a:xfrm>
            <a:off x="4754880" y="2898720"/>
            <a:ext cx="54360" cy="63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8" name="Text 763"/>
          <p:cNvSpPr/>
          <p:nvPr/>
        </p:nvSpPr>
        <p:spPr>
          <a:xfrm>
            <a:off x="4883040" y="2917080"/>
            <a:ext cx="3986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Reindex avec size par défaut (1000) sur de gros docs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Text 764"/>
          <p:cNvSpPr/>
          <p:nvPr/>
        </p:nvSpPr>
        <p:spPr>
          <a:xfrm>
            <a:off x="4883040" y="3136320"/>
            <a:ext cx="3986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Augmenter size selon la taille des documents pour éviter les timeouts et sous-optimisations.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Shape 740"/>
          <p:cNvSpPr/>
          <p:nvPr/>
        </p:nvSpPr>
        <p:spPr>
          <a:xfrm>
            <a:off x="4754880" y="3584520"/>
            <a:ext cx="54360" cy="63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1" name="Text 765"/>
          <p:cNvSpPr/>
          <p:nvPr/>
        </p:nvSpPr>
        <p:spPr>
          <a:xfrm>
            <a:off x="4883040" y="3602880"/>
            <a:ext cx="3986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Supprimer l'ancien index trop vite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Text 766"/>
          <p:cNvSpPr/>
          <p:nvPr/>
        </p:nvSpPr>
        <p:spPr>
          <a:xfrm>
            <a:off x="4883040" y="3822120"/>
            <a:ext cx="3986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Attendre 24–48h minimum pour valider et permettre un rollback. Le stockage est moins cher qu'une indisponibilité.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Shape 741"/>
          <p:cNvSpPr/>
          <p:nvPr/>
        </p:nvSpPr>
        <p:spPr>
          <a:xfrm>
            <a:off x="4754880" y="4270320"/>
            <a:ext cx="54360" cy="63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4" name="Text 767"/>
          <p:cNvSpPr/>
          <p:nvPr/>
        </p:nvSpPr>
        <p:spPr>
          <a:xfrm>
            <a:off x="4883040" y="4288680"/>
            <a:ext cx="3986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Arial"/>
                <a:ea typeface="Arial"/>
              </a:rPr>
              <a:t>Ignorer les pipelines d'ingestion actifs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Text 768"/>
          <p:cNvSpPr/>
          <p:nvPr/>
        </p:nvSpPr>
        <p:spPr>
          <a:xfrm>
            <a:off x="4883040" y="4507920"/>
            <a:ext cx="3986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c93"/>
                </a:solidFill>
                <a:latin typeface="Calibri"/>
                <a:ea typeface="Calibri"/>
              </a:rPr>
              <a:t>Un Ingest Pipeline actif transforme les docs à l'écriture — reproduire ces transformations dans le script Painless du reindex.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6" name="Shape 530"/>
          <p:cNvSpPr/>
          <p:nvPr/>
        </p:nvSpPr>
        <p:spPr>
          <a:xfrm>
            <a:off x="0" y="0"/>
            <a:ext cx="164160" cy="513864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7" name="Shape 531"/>
          <p:cNvSpPr/>
          <p:nvPr/>
        </p:nvSpPr>
        <p:spPr>
          <a:xfrm>
            <a:off x="0" y="0"/>
            <a:ext cx="9143640" cy="27396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8" name="Text 501"/>
          <p:cNvSpPr/>
          <p:nvPr/>
        </p:nvSpPr>
        <p:spPr>
          <a:xfrm>
            <a:off x="274320" y="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9" name="Text 502"/>
          <p:cNvSpPr/>
          <p:nvPr/>
        </p:nvSpPr>
        <p:spPr>
          <a:xfrm>
            <a:off x="411480" y="1005840"/>
            <a:ext cx="83206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Ingestion de données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0" name="Text 503"/>
          <p:cNvSpPr/>
          <p:nvPr/>
        </p:nvSpPr>
        <p:spPr>
          <a:xfrm>
            <a:off x="411480" y="2057400"/>
            <a:ext cx="8320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a8c8d8"/>
                </a:solidFill>
                <a:latin typeface="Calibri"/>
                <a:ea typeface="Calibri"/>
              </a:rPr>
              <a:t>Alternatives · SDK · Data Prepper · Kafka Connect · Optimisations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1" name="Shape 532"/>
          <p:cNvSpPr/>
          <p:nvPr/>
        </p:nvSpPr>
        <p:spPr>
          <a:xfrm>
            <a:off x="411480" y="2606040"/>
            <a:ext cx="3657600" cy="360"/>
          </a:xfrm>
          <a:prstGeom prst="line">
            <a:avLst/>
          </a:prstGeom>
          <a:ln w="254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2" name="Shape 533"/>
          <p:cNvSpPr/>
          <p:nvPr/>
        </p:nvSpPr>
        <p:spPr>
          <a:xfrm>
            <a:off x="411480" y="2834640"/>
            <a:ext cx="1627200" cy="4752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3" name="Text 504"/>
          <p:cNvSpPr/>
          <p:nvPr/>
        </p:nvSpPr>
        <p:spPr>
          <a:xfrm>
            <a:off x="411480" y="2834640"/>
            <a:ext cx="1627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Bulk API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4" name="Shape 534"/>
          <p:cNvSpPr/>
          <p:nvPr/>
        </p:nvSpPr>
        <p:spPr>
          <a:xfrm>
            <a:off x="2194560" y="2834640"/>
            <a:ext cx="1627200" cy="47520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5" name="Text 505"/>
          <p:cNvSpPr/>
          <p:nvPr/>
        </p:nvSpPr>
        <p:spPr>
          <a:xfrm>
            <a:off x="2194560" y="2834640"/>
            <a:ext cx="1627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SDK Clients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6" name="Shape 535"/>
          <p:cNvSpPr/>
          <p:nvPr/>
        </p:nvSpPr>
        <p:spPr>
          <a:xfrm>
            <a:off x="3977640" y="2834640"/>
            <a:ext cx="1627200" cy="4752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7" name="Text 506"/>
          <p:cNvSpPr/>
          <p:nvPr/>
        </p:nvSpPr>
        <p:spPr>
          <a:xfrm>
            <a:off x="3977640" y="2834640"/>
            <a:ext cx="1627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8" name="Shape 536"/>
          <p:cNvSpPr/>
          <p:nvPr/>
        </p:nvSpPr>
        <p:spPr>
          <a:xfrm>
            <a:off x="5760720" y="2834640"/>
            <a:ext cx="1627200" cy="47520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9" name="Text 507"/>
          <p:cNvSpPr/>
          <p:nvPr/>
        </p:nvSpPr>
        <p:spPr>
          <a:xfrm>
            <a:off x="5760720" y="2834640"/>
            <a:ext cx="1627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0" name="Shape 537"/>
          <p:cNvSpPr/>
          <p:nvPr/>
        </p:nvSpPr>
        <p:spPr>
          <a:xfrm>
            <a:off x="7315200" y="2834640"/>
            <a:ext cx="1627200" cy="47520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1" name="Text 508"/>
          <p:cNvSpPr/>
          <p:nvPr/>
        </p:nvSpPr>
        <p:spPr>
          <a:xfrm>
            <a:off x="7315200" y="2834640"/>
            <a:ext cx="1627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Optimisations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2" name="Text 509"/>
          <p:cNvSpPr/>
          <p:nvPr/>
        </p:nvSpPr>
        <p:spPr>
          <a:xfrm>
            <a:off x="411480" y="47548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5080a0"/>
                </a:solidFill>
                <a:latin typeface="Calibri"/>
                <a:ea typeface="Calibri"/>
              </a:rPr>
              <a:t>Formation OpenSearch · 2026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3" name="Shape 538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4" name="Shape 768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5" name="Text 510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Ingestion – Vue d'ensemble des alternatives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Shape 769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7" name="Text 511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Text 512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OpenSearch peut recevoir des données depuis de nombreuses sources. Le choix dépend du volume, de la latence, de la transformation requise et de l'existant.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Shape 770"/>
          <p:cNvSpPr/>
          <p:nvPr/>
        </p:nvSpPr>
        <p:spPr>
          <a:xfrm>
            <a:off x="320040" y="1234440"/>
            <a:ext cx="2697120" cy="14994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0" name="Shape 771"/>
          <p:cNvSpPr/>
          <p:nvPr/>
        </p:nvSpPr>
        <p:spPr>
          <a:xfrm>
            <a:off x="320040" y="1234440"/>
            <a:ext cx="2697120" cy="543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1" name="Text 513"/>
          <p:cNvSpPr/>
          <p:nvPr/>
        </p:nvSpPr>
        <p:spPr>
          <a:xfrm>
            <a:off x="411480" y="1325880"/>
            <a:ext cx="1416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Bulk API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2" name="Shape 772"/>
          <p:cNvSpPr/>
          <p:nvPr/>
        </p:nvSpPr>
        <p:spPr>
          <a:xfrm>
            <a:off x="1911240" y="1344240"/>
            <a:ext cx="996480" cy="2008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3" name="Text 514"/>
          <p:cNvSpPr/>
          <p:nvPr/>
        </p:nvSpPr>
        <p:spPr>
          <a:xfrm>
            <a:off x="1911240" y="1344240"/>
            <a:ext cx="996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Fondamental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Text 515"/>
          <p:cNvSpPr/>
          <p:nvPr/>
        </p:nvSpPr>
        <p:spPr>
          <a:xfrm>
            <a:off x="411480" y="1600200"/>
            <a:ext cx="25142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REST native · POST /_bulk · Lots JSON · Base de tous les agents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" name="Text 516"/>
          <p:cNvSpPr/>
          <p:nvPr/>
        </p:nvSpPr>
        <p:spPr>
          <a:xfrm>
            <a:off x="411480" y="242316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672a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e8672a"/>
                </a:solidFill>
                <a:latin typeface="Calibri"/>
                <a:ea typeface="Calibri"/>
              </a:rPr>
              <a:t>Toujours — brique de base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Shape 773"/>
          <p:cNvSpPr/>
          <p:nvPr/>
        </p:nvSpPr>
        <p:spPr>
          <a:xfrm>
            <a:off x="3182040" y="1234440"/>
            <a:ext cx="2697120" cy="14994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" name="Shape 774"/>
          <p:cNvSpPr/>
          <p:nvPr/>
        </p:nvSpPr>
        <p:spPr>
          <a:xfrm>
            <a:off x="3182040" y="1234440"/>
            <a:ext cx="2697120" cy="5436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8" name="Text 517"/>
          <p:cNvSpPr/>
          <p:nvPr/>
        </p:nvSpPr>
        <p:spPr>
          <a:xfrm>
            <a:off x="3273480" y="1325880"/>
            <a:ext cx="1416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SDK Clients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Shape 775"/>
          <p:cNvSpPr/>
          <p:nvPr/>
        </p:nvSpPr>
        <p:spPr>
          <a:xfrm>
            <a:off x="4773240" y="1344240"/>
            <a:ext cx="996480" cy="2008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0" name="Text 518"/>
          <p:cNvSpPr/>
          <p:nvPr/>
        </p:nvSpPr>
        <p:spPr>
          <a:xfrm>
            <a:off x="4773240" y="1344240"/>
            <a:ext cx="996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Programmatique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Text 798"/>
          <p:cNvSpPr/>
          <p:nvPr/>
        </p:nvSpPr>
        <p:spPr>
          <a:xfrm>
            <a:off x="3273480" y="1600200"/>
            <a:ext cx="25142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Java, Python, Go, JS · Wrappers Bulk API · Retry auto + backoff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2" name="Text 799"/>
          <p:cNvSpPr/>
          <p:nvPr/>
        </p:nvSpPr>
        <p:spPr>
          <a:xfrm>
            <a:off x="3273480" y="242316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fb5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007fb5"/>
                </a:solidFill>
                <a:latin typeface="Calibri"/>
                <a:ea typeface="Calibri"/>
              </a:rPr>
              <a:t>Ingestion depuis appli métier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Shape 776"/>
          <p:cNvSpPr/>
          <p:nvPr/>
        </p:nvSpPr>
        <p:spPr>
          <a:xfrm>
            <a:off x="6035040" y="1234440"/>
            <a:ext cx="2697120" cy="14994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" name="Shape 777"/>
          <p:cNvSpPr/>
          <p:nvPr/>
        </p:nvSpPr>
        <p:spPr>
          <a:xfrm>
            <a:off x="6035040" y="1234440"/>
            <a:ext cx="2697120" cy="5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5" name="Text 800"/>
          <p:cNvSpPr/>
          <p:nvPr/>
        </p:nvSpPr>
        <p:spPr>
          <a:xfrm>
            <a:off x="6126480" y="1325880"/>
            <a:ext cx="1416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Data Prepper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Shape 778"/>
          <p:cNvSpPr/>
          <p:nvPr/>
        </p:nvSpPr>
        <p:spPr>
          <a:xfrm>
            <a:off x="7626240" y="1344240"/>
            <a:ext cx="996480" cy="2008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7" name="Text 801"/>
          <p:cNvSpPr/>
          <p:nvPr/>
        </p:nvSpPr>
        <p:spPr>
          <a:xfrm>
            <a:off x="7626240" y="1344240"/>
            <a:ext cx="996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Natif OpenSearch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Text 802"/>
          <p:cNvSpPr/>
          <p:nvPr/>
        </p:nvSpPr>
        <p:spPr>
          <a:xfrm>
            <a:off x="6126480" y="1600200"/>
            <a:ext cx="25142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Pipeline ETL OpenSearch · Sources : Kafka, S3, HTTP, OTel, Grok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Text 803"/>
          <p:cNvSpPr/>
          <p:nvPr/>
        </p:nvSpPr>
        <p:spPr>
          <a:xfrm>
            <a:off x="6126480" y="242316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27ae60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27ae60"/>
                </a:solidFill>
                <a:latin typeface="Calibri"/>
                <a:ea typeface="Calibri"/>
              </a:rPr>
              <a:t>Nouveaux projets, OTel, logs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Shape 779"/>
          <p:cNvSpPr/>
          <p:nvPr/>
        </p:nvSpPr>
        <p:spPr>
          <a:xfrm>
            <a:off x="320040" y="2853000"/>
            <a:ext cx="2697120" cy="14994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1" name="Shape 780"/>
          <p:cNvSpPr/>
          <p:nvPr/>
        </p:nvSpPr>
        <p:spPr>
          <a:xfrm>
            <a:off x="320040" y="2853000"/>
            <a:ext cx="2697120" cy="5436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2" name="Text 804"/>
          <p:cNvSpPr/>
          <p:nvPr/>
        </p:nvSpPr>
        <p:spPr>
          <a:xfrm>
            <a:off x="411480" y="2944440"/>
            <a:ext cx="1416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Kafka Connect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3" name="Shape 781"/>
          <p:cNvSpPr/>
          <p:nvPr/>
        </p:nvSpPr>
        <p:spPr>
          <a:xfrm>
            <a:off x="1911240" y="2962800"/>
            <a:ext cx="996480" cy="20088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4" name="Text 805"/>
          <p:cNvSpPr/>
          <p:nvPr/>
        </p:nvSpPr>
        <p:spPr>
          <a:xfrm>
            <a:off x="1911240" y="2962800"/>
            <a:ext cx="996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Streaming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" name="Text 806"/>
          <p:cNvSpPr/>
          <p:nvPr/>
        </p:nvSpPr>
        <p:spPr>
          <a:xfrm>
            <a:off x="411480" y="3218760"/>
            <a:ext cx="25142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Sink connector OpenSearch · At-least-once · Batching configurable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Text 807"/>
          <p:cNvSpPr/>
          <p:nvPr/>
        </p:nvSpPr>
        <p:spPr>
          <a:xfrm>
            <a:off x="411480" y="40417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a3d9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00a3d9"/>
                </a:solidFill>
                <a:latin typeface="Calibri"/>
                <a:ea typeface="Calibri"/>
              </a:rPr>
              <a:t>Architecture événementielle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Shape 782"/>
          <p:cNvSpPr/>
          <p:nvPr/>
        </p:nvSpPr>
        <p:spPr>
          <a:xfrm>
            <a:off x="3182040" y="2853000"/>
            <a:ext cx="2697120" cy="14994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" name="Shape 783"/>
          <p:cNvSpPr/>
          <p:nvPr/>
        </p:nvSpPr>
        <p:spPr>
          <a:xfrm>
            <a:off x="3182040" y="2853000"/>
            <a:ext cx="2697120" cy="543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9" name="Text 808"/>
          <p:cNvSpPr/>
          <p:nvPr/>
        </p:nvSpPr>
        <p:spPr>
          <a:xfrm>
            <a:off x="3273480" y="2944440"/>
            <a:ext cx="1416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Logstash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Shape 784"/>
          <p:cNvSpPr/>
          <p:nvPr/>
        </p:nvSpPr>
        <p:spPr>
          <a:xfrm>
            <a:off x="4773240" y="2962800"/>
            <a:ext cx="996480" cy="200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1" name="Text 809"/>
          <p:cNvSpPr/>
          <p:nvPr/>
        </p:nvSpPr>
        <p:spPr>
          <a:xfrm>
            <a:off x="4773240" y="2962800"/>
            <a:ext cx="996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Écosystème ELK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Text 810"/>
          <p:cNvSpPr/>
          <p:nvPr/>
        </p:nvSpPr>
        <p:spPr>
          <a:xfrm>
            <a:off x="3273480" y="3218760"/>
            <a:ext cx="25142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200+ plugins · Compatible via opensearch-output · Migrations 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Text 811"/>
          <p:cNvSpPr/>
          <p:nvPr/>
        </p:nvSpPr>
        <p:spPr>
          <a:xfrm>
            <a:off x="3273480" y="40417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8e44ad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8e44ad"/>
                </a:solidFill>
                <a:latin typeface="Calibri"/>
                <a:ea typeface="Calibri"/>
              </a:rPr>
              <a:t>Réutiliser pipelines existants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" name="Shape 785"/>
          <p:cNvSpPr/>
          <p:nvPr/>
        </p:nvSpPr>
        <p:spPr>
          <a:xfrm>
            <a:off x="6035040" y="2853000"/>
            <a:ext cx="2697120" cy="14994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Shape 786"/>
          <p:cNvSpPr/>
          <p:nvPr/>
        </p:nvSpPr>
        <p:spPr>
          <a:xfrm>
            <a:off x="6035040" y="2853000"/>
            <a:ext cx="2697120" cy="5436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6" name="Text 812"/>
          <p:cNvSpPr/>
          <p:nvPr/>
        </p:nvSpPr>
        <p:spPr>
          <a:xfrm>
            <a:off x="6126480" y="2944440"/>
            <a:ext cx="1416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Beats / Agent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" name="Shape 787"/>
          <p:cNvSpPr/>
          <p:nvPr/>
        </p:nvSpPr>
        <p:spPr>
          <a:xfrm>
            <a:off x="7626240" y="2962800"/>
            <a:ext cx="996480" cy="20088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8" name="Text 813"/>
          <p:cNvSpPr/>
          <p:nvPr/>
        </p:nvSpPr>
        <p:spPr>
          <a:xfrm>
            <a:off x="7626240" y="2962800"/>
            <a:ext cx="996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Edge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9" name="Text 814"/>
          <p:cNvSpPr/>
          <p:nvPr/>
        </p:nvSpPr>
        <p:spPr>
          <a:xfrm>
            <a:off x="6126480" y="3218760"/>
            <a:ext cx="25142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Filebeat, Metricbeat · Faible empreinte · Modules préconfigurés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Text 815"/>
          <p:cNvSpPr/>
          <p:nvPr/>
        </p:nvSpPr>
        <p:spPr>
          <a:xfrm>
            <a:off x="6126480" y="40417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7f8c8d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7f8c8d"/>
                </a:solidFill>
                <a:latin typeface="Calibri"/>
                <a:ea typeface="Calibri"/>
              </a:rPr>
              <a:t>Collecte edge : serveurs, VMs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Shape 788"/>
          <p:cNvSpPr/>
          <p:nvPr/>
        </p:nvSpPr>
        <p:spPr>
          <a:xfrm>
            <a:off x="320040" y="4480560"/>
            <a:ext cx="8503560" cy="50256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Shape 789"/>
          <p:cNvSpPr/>
          <p:nvPr/>
        </p:nvSpPr>
        <p:spPr>
          <a:xfrm>
            <a:off x="320040" y="4480560"/>
            <a:ext cx="54360" cy="502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3" name="Text 816"/>
          <p:cNvSpPr/>
          <p:nvPr/>
        </p:nvSpPr>
        <p:spPr>
          <a:xfrm>
            <a:off x="448200" y="4535280"/>
            <a:ext cx="8320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Data Prepper et Logstash utilisent tous deux la Bulk API en coulisses — comprendre la Bulk API est la clé de toutes les optimisations de débit.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4" name="Shape 79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5" name="Shape 791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6" name="Text 817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Clients – Vue d'ensemble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7" name="Shape 792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8" name="Text 818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9" name="Text 819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OpenSearch fournit des clients officiels pour les langages les plus courants. Tous encapsulent la Bulk API et fournissent gestion des connexions, sérialisation et retry automatique.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" name="Shape 793"/>
          <p:cNvSpPr/>
          <p:nvPr/>
        </p:nvSpPr>
        <p:spPr>
          <a:xfrm>
            <a:off x="320040" y="1234440"/>
            <a:ext cx="2697120" cy="1389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1" name="Shape 794"/>
          <p:cNvSpPr/>
          <p:nvPr/>
        </p:nvSpPr>
        <p:spPr>
          <a:xfrm>
            <a:off x="320040" y="1234440"/>
            <a:ext cx="2697120" cy="5436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2" name="Text 820"/>
          <p:cNvSpPr/>
          <p:nvPr/>
        </p:nvSpPr>
        <p:spPr>
          <a:xfrm>
            <a:off x="411480" y="13075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2b5c"/>
                </a:solidFill>
                <a:latin typeface="Courier New"/>
                <a:ea typeface="Courier New"/>
              </a:rPr>
              <a:t>opensearch-java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3" name="Shape 795"/>
          <p:cNvSpPr/>
          <p:nvPr/>
        </p:nvSpPr>
        <p:spPr>
          <a:xfrm>
            <a:off x="411480" y="1600200"/>
            <a:ext cx="1188360" cy="2008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4" name="Text 821"/>
          <p:cNvSpPr/>
          <p:nvPr/>
        </p:nvSpPr>
        <p:spPr>
          <a:xfrm>
            <a:off x="411480" y="160020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Java / Kotlin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5" name="Shape 796"/>
          <p:cNvSpPr/>
          <p:nvPr/>
        </p:nvSpPr>
        <p:spPr>
          <a:xfrm>
            <a:off x="1691640" y="1600200"/>
            <a:ext cx="639720" cy="20088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Text 822"/>
          <p:cNvSpPr/>
          <p:nvPr/>
        </p:nvSpPr>
        <p:spPr>
          <a:xfrm>
            <a:off x="1691640" y="160020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v3.x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Text 823"/>
          <p:cNvSpPr/>
          <p:nvPr/>
        </p:nvSpPr>
        <p:spPr>
          <a:xfrm>
            <a:off x="411480" y="1892880"/>
            <a:ext cx="2514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Client typé · Fluent Builder API · Compatible OpenSearch 2.x+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Shape 797"/>
          <p:cNvSpPr/>
          <p:nvPr/>
        </p:nvSpPr>
        <p:spPr>
          <a:xfrm>
            <a:off x="3182040" y="1234440"/>
            <a:ext cx="2697120" cy="1389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9" name="Shape 798"/>
          <p:cNvSpPr/>
          <p:nvPr/>
        </p:nvSpPr>
        <p:spPr>
          <a:xfrm>
            <a:off x="3182040" y="1234440"/>
            <a:ext cx="2697120" cy="5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0" name="Text 824"/>
          <p:cNvSpPr/>
          <p:nvPr/>
        </p:nvSpPr>
        <p:spPr>
          <a:xfrm>
            <a:off x="3273480" y="13075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2b5c"/>
                </a:solidFill>
                <a:latin typeface="Courier New"/>
                <a:ea typeface="Courier New"/>
              </a:rPr>
              <a:t>opensearch-py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Shape 799"/>
          <p:cNvSpPr/>
          <p:nvPr/>
        </p:nvSpPr>
        <p:spPr>
          <a:xfrm>
            <a:off x="3273480" y="1600200"/>
            <a:ext cx="1188360" cy="2008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2" name="Text 825"/>
          <p:cNvSpPr/>
          <p:nvPr/>
        </p:nvSpPr>
        <p:spPr>
          <a:xfrm>
            <a:off x="3273480" y="160020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Python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Shape 800"/>
          <p:cNvSpPr/>
          <p:nvPr/>
        </p:nvSpPr>
        <p:spPr>
          <a:xfrm>
            <a:off x="4553640" y="1600200"/>
            <a:ext cx="639720" cy="20088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Text 826"/>
          <p:cNvSpPr/>
          <p:nvPr/>
        </p:nvSpPr>
        <p:spPr>
          <a:xfrm>
            <a:off x="4553640" y="160020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v2.x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Text 827"/>
          <p:cNvSpPr/>
          <p:nvPr/>
        </p:nvSpPr>
        <p:spPr>
          <a:xfrm>
            <a:off x="3273480" y="1892880"/>
            <a:ext cx="2514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helpers.bulk · parallel_bulk · async (aiohttp) · pandas integration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6" name="Shape 801"/>
          <p:cNvSpPr/>
          <p:nvPr/>
        </p:nvSpPr>
        <p:spPr>
          <a:xfrm>
            <a:off x="6035040" y="1234440"/>
            <a:ext cx="2697120" cy="1389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Shape 802"/>
          <p:cNvSpPr/>
          <p:nvPr/>
        </p:nvSpPr>
        <p:spPr>
          <a:xfrm>
            <a:off x="6035040" y="1234440"/>
            <a:ext cx="2697120" cy="5436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8" name="Text 828"/>
          <p:cNvSpPr/>
          <p:nvPr/>
        </p:nvSpPr>
        <p:spPr>
          <a:xfrm>
            <a:off x="6126480" y="13075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2b5c"/>
                </a:solidFill>
                <a:latin typeface="Courier New"/>
                <a:ea typeface="Courier New"/>
              </a:rPr>
              <a:t>opensearch-go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Shape 803"/>
          <p:cNvSpPr/>
          <p:nvPr/>
        </p:nvSpPr>
        <p:spPr>
          <a:xfrm>
            <a:off x="6126480" y="1600200"/>
            <a:ext cx="1188360" cy="20088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0" name="Text 829"/>
          <p:cNvSpPr/>
          <p:nvPr/>
        </p:nvSpPr>
        <p:spPr>
          <a:xfrm>
            <a:off x="6126480" y="160020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Go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Shape 804"/>
          <p:cNvSpPr/>
          <p:nvPr/>
        </p:nvSpPr>
        <p:spPr>
          <a:xfrm>
            <a:off x="7406640" y="1600200"/>
            <a:ext cx="639720" cy="20088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2" name="Text 830"/>
          <p:cNvSpPr/>
          <p:nvPr/>
        </p:nvSpPr>
        <p:spPr>
          <a:xfrm>
            <a:off x="7406640" y="160020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v2.x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Text 831"/>
          <p:cNvSpPr/>
          <p:nvPr/>
        </p:nvSpPr>
        <p:spPr>
          <a:xfrm>
            <a:off x="6126480" y="1892880"/>
            <a:ext cx="2514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Typage strict · Faible empreinte · Idiomatic Go API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4" name="Shape 805"/>
          <p:cNvSpPr/>
          <p:nvPr/>
        </p:nvSpPr>
        <p:spPr>
          <a:xfrm>
            <a:off x="320040" y="2834640"/>
            <a:ext cx="2697120" cy="1389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Shape 806"/>
          <p:cNvSpPr/>
          <p:nvPr/>
        </p:nvSpPr>
        <p:spPr>
          <a:xfrm>
            <a:off x="320040" y="2834640"/>
            <a:ext cx="2697120" cy="543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6" name="Text 832"/>
          <p:cNvSpPr/>
          <p:nvPr/>
        </p:nvSpPr>
        <p:spPr>
          <a:xfrm>
            <a:off x="411480" y="29077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2b5c"/>
                </a:solidFill>
                <a:latin typeface="Courier New"/>
                <a:ea typeface="Courier New"/>
              </a:rPr>
              <a:t>opensearch-js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Shape 807"/>
          <p:cNvSpPr/>
          <p:nvPr/>
        </p:nvSpPr>
        <p:spPr>
          <a:xfrm>
            <a:off x="411480" y="3200400"/>
            <a:ext cx="1188360" cy="2008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8" name="Text 833"/>
          <p:cNvSpPr/>
          <p:nvPr/>
        </p:nvSpPr>
        <p:spPr>
          <a:xfrm>
            <a:off x="411480" y="320040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Node.js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9" name="Shape 808"/>
          <p:cNvSpPr/>
          <p:nvPr/>
        </p:nvSpPr>
        <p:spPr>
          <a:xfrm>
            <a:off x="1691640" y="3200400"/>
            <a:ext cx="639720" cy="20088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Text 834"/>
          <p:cNvSpPr/>
          <p:nvPr/>
        </p:nvSpPr>
        <p:spPr>
          <a:xfrm>
            <a:off x="1691640" y="320040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v3.x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1" name="Text 835"/>
          <p:cNvSpPr/>
          <p:nvPr/>
        </p:nvSpPr>
        <p:spPr>
          <a:xfrm>
            <a:off x="411480" y="3493080"/>
            <a:ext cx="2514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Async/await · Streams · Compatible Browser (bundle)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2" name="Shape 809"/>
          <p:cNvSpPr/>
          <p:nvPr/>
        </p:nvSpPr>
        <p:spPr>
          <a:xfrm>
            <a:off x="3182040" y="2834640"/>
            <a:ext cx="2697120" cy="1389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3" name="Shape 810"/>
          <p:cNvSpPr/>
          <p:nvPr/>
        </p:nvSpPr>
        <p:spPr>
          <a:xfrm>
            <a:off x="3182040" y="2834640"/>
            <a:ext cx="2697120" cy="543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4" name="Text 836"/>
          <p:cNvSpPr/>
          <p:nvPr/>
        </p:nvSpPr>
        <p:spPr>
          <a:xfrm>
            <a:off x="3273480" y="29077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2b5c"/>
                </a:solidFill>
                <a:latin typeface="Courier New"/>
                <a:ea typeface="Courier New"/>
              </a:rPr>
              <a:t>opensearch-ruby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5" name="Shape 811"/>
          <p:cNvSpPr/>
          <p:nvPr/>
        </p:nvSpPr>
        <p:spPr>
          <a:xfrm>
            <a:off x="3273480" y="3200400"/>
            <a:ext cx="1188360" cy="200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6" name="Text 837"/>
          <p:cNvSpPr/>
          <p:nvPr/>
        </p:nvSpPr>
        <p:spPr>
          <a:xfrm>
            <a:off x="3273480" y="320040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Ruby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Shape 812"/>
          <p:cNvSpPr/>
          <p:nvPr/>
        </p:nvSpPr>
        <p:spPr>
          <a:xfrm>
            <a:off x="4553640" y="3200400"/>
            <a:ext cx="639720" cy="20088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8" name="Text 838"/>
          <p:cNvSpPr/>
          <p:nvPr/>
        </p:nvSpPr>
        <p:spPr>
          <a:xfrm>
            <a:off x="4553640" y="320040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v3.x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Text 839"/>
          <p:cNvSpPr/>
          <p:nvPr/>
        </p:nvSpPr>
        <p:spPr>
          <a:xfrm>
            <a:off x="3273480" y="3493080"/>
            <a:ext cx="2514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ActiveRecord style · Rails integration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0" name="Shape 813"/>
          <p:cNvSpPr/>
          <p:nvPr/>
        </p:nvSpPr>
        <p:spPr>
          <a:xfrm>
            <a:off x="6035040" y="2834640"/>
            <a:ext cx="2697120" cy="1389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Shape 814"/>
          <p:cNvSpPr/>
          <p:nvPr/>
        </p:nvSpPr>
        <p:spPr>
          <a:xfrm>
            <a:off x="6035040" y="2834640"/>
            <a:ext cx="2697120" cy="5436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2" name="Text 840"/>
          <p:cNvSpPr/>
          <p:nvPr/>
        </p:nvSpPr>
        <p:spPr>
          <a:xfrm>
            <a:off x="6126480" y="290772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2b5c"/>
                </a:solidFill>
                <a:latin typeface="Courier New"/>
                <a:ea typeface="Courier New"/>
              </a:rPr>
              <a:t>opensearch-rs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Shape 815"/>
          <p:cNvSpPr/>
          <p:nvPr/>
        </p:nvSpPr>
        <p:spPr>
          <a:xfrm>
            <a:off x="6126480" y="3200400"/>
            <a:ext cx="1188360" cy="20088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4" name="Text 841"/>
          <p:cNvSpPr/>
          <p:nvPr/>
        </p:nvSpPr>
        <p:spPr>
          <a:xfrm>
            <a:off x="6126480" y="320040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Rust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5" name="Shape 816"/>
          <p:cNvSpPr/>
          <p:nvPr/>
        </p:nvSpPr>
        <p:spPr>
          <a:xfrm>
            <a:off x="7406640" y="3200400"/>
            <a:ext cx="639720" cy="20088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6" name="Text 842"/>
          <p:cNvSpPr/>
          <p:nvPr/>
        </p:nvSpPr>
        <p:spPr>
          <a:xfrm>
            <a:off x="7406640" y="320040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v0.2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7" name="Text 843"/>
          <p:cNvSpPr/>
          <p:nvPr/>
        </p:nvSpPr>
        <p:spPr>
          <a:xfrm>
            <a:off x="6126480" y="3493080"/>
            <a:ext cx="2514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Community · Async tokio · Zero-copy deserialization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8" name="Shape 817"/>
          <p:cNvSpPr/>
          <p:nvPr/>
        </p:nvSpPr>
        <p:spPr>
          <a:xfrm>
            <a:off x="320040" y="4352400"/>
            <a:ext cx="8503560" cy="529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" name="Shape 818"/>
          <p:cNvSpPr/>
          <p:nvPr/>
        </p:nvSpPr>
        <p:spPr>
          <a:xfrm>
            <a:off x="320040" y="4352400"/>
            <a:ext cx="54360" cy="5299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0" name="Text 844"/>
          <p:cNvSpPr/>
          <p:nvPr/>
        </p:nvSpPr>
        <p:spPr>
          <a:xfrm>
            <a:off x="448200" y="4407480"/>
            <a:ext cx="8320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⚠ 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Vérifier la compatibilité : les clients Java/Python 2.x et antérieurs ciblaient Elasticsearch. Utiliser les clients officiels opensearch-* pour les versions 2.x+ d'OpenSearch.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1" name="Shape 819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2" name="Shape 820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3" name="Text 845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Python – opensearch-py · Bulk &amp; parallel_bulk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4" name="Shape 821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5" name="Text 846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Text 847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opensearch-py fournit helpers.bulk() et helpers.parallel_bulk() qui simplifient l'ingestion volumineuse avec gestion automatique des erreurs et du backoff.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Text 848"/>
          <p:cNvSpPr/>
          <p:nvPr/>
        </p:nvSpPr>
        <p:spPr>
          <a:xfrm>
            <a:off x="320040" y="118872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Installation &amp; connexion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Shape 822"/>
          <p:cNvSpPr/>
          <p:nvPr/>
        </p:nvSpPr>
        <p:spPr>
          <a:xfrm>
            <a:off x="320040" y="1527120"/>
            <a:ext cx="4205880" cy="111528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9" name="Text 849"/>
          <p:cNvSpPr/>
          <p:nvPr/>
        </p:nvSpPr>
        <p:spPr>
          <a:xfrm>
            <a:off x="411480" y="1600200"/>
            <a:ext cx="4068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pip install opensearch-py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from opensearchpy import OpenSearch, helpers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client = OpenSearch(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hosts=[{'host': 'localhost', 'port': 9200}],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http_compress=True,     # gzip: -40% réseau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retry_on_timeout=True,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max_retries=3,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maxsize=16,             # pool connexions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Text 850"/>
          <p:cNvSpPr/>
          <p:nvPr/>
        </p:nvSpPr>
        <p:spPr>
          <a:xfrm>
            <a:off x="320040" y="270648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Generator pattern + parallel_bulk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1" name="Shape 823"/>
          <p:cNvSpPr/>
          <p:nvPr/>
        </p:nvSpPr>
        <p:spPr>
          <a:xfrm>
            <a:off x="320040" y="3044880"/>
            <a:ext cx="4205880" cy="182844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2" name="Text 851"/>
          <p:cNvSpPr/>
          <p:nvPr/>
        </p:nvSpPr>
        <p:spPr>
          <a:xfrm>
            <a:off x="411480" y="3117960"/>
            <a:ext cx="4068720" cy="17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def generate_actions(records):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for rec in records: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yield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'_index': 'catalogue',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'_source': rec,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'_id': rec['id']  # optionnel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ok, failed = 0, 0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for success, info in helpers.parallel_bulk(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client,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generate_actions(data),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thread_count=4,       # threads parallèles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chunk_size=500,       # docs par batch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max_chunk_bytes=10*1024*1024,  # 10 Mo max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raise_on_error=False,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):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if success: ok += 1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else: failed += 1; print(info)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print(f'ok={ok} failed={failed}')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3" name="Shape 824"/>
          <p:cNvSpPr/>
          <p:nvPr/>
        </p:nvSpPr>
        <p:spPr>
          <a:xfrm>
            <a:off x="4754880" y="152712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Shape 825"/>
          <p:cNvSpPr/>
          <p:nvPr/>
        </p:nvSpPr>
        <p:spPr>
          <a:xfrm>
            <a:off x="4754880" y="1527120"/>
            <a:ext cx="54360" cy="9871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5" name="Text 852"/>
          <p:cNvSpPr/>
          <p:nvPr/>
        </p:nvSpPr>
        <p:spPr>
          <a:xfrm>
            <a:off x="4883040" y="156348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helpers.bulk()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Shape 826"/>
          <p:cNvSpPr/>
          <p:nvPr/>
        </p:nvSpPr>
        <p:spPr>
          <a:xfrm>
            <a:off x="7406640" y="1581840"/>
            <a:ext cx="1462680" cy="1825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7" name="Text 853"/>
          <p:cNvSpPr/>
          <p:nvPr/>
        </p:nvSpPr>
        <p:spPr>
          <a:xfrm>
            <a:off x="7406640" y="158184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Simple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8" name="Text 854"/>
          <p:cNvSpPr/>
          <p:nvPr/>
        </p:nvSpPr>
        <p:spPr>
          <a:xfrm>
            <a:off x="4883040" y="181980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Ingestion séquentielle mono-thread. Gère les erreurs partielles. Idéal pour &lt; 100k docs.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Shape 827"/>
          <p:cNvSpPr/>
          <p:nvPr/>
        </p:nvSpPr>
        <p:spPr>
          <a:xfrm>
            <a:off x="4754880" y="262440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0" name="Shape 828"/>
          <p:cNvSpPr/>
          <p:nvPr/>
        </p:nvSpPr>
        <p:spPr>
          <a:xfrm>
            <a:off x="4754880" y="2624400"/>
            <a:ext cx="54360" cy="9871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1" name="Text 855"/>
          <p:cNvSpPr/>
          <p:nvPr/>
        </p:nvSpPr>
        <p:spPr>
          <a:xfrm>
            <a:off x="4883040" y="266076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helpers.parallel_bulk()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2" name="Shape 829"/>
          <p:cNvSpPr/>
          <p:nvPr/>
        </p:nvSpPr>
        <p:spPr>
          <a:xfrm>
            <a:off x="7406640" y="2679120"/>
            <a:ext cx="1462680" cy="1825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3" name="Text 856"/>
          <p:cNvSpPr/>
          <p:nvPr/>
        </p:nvSpPr>
        <p:spPr>
          <a:xfrm>
            <a:off x="7406640" y="267912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Haute perf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Text 857"/>
          <p:cNvSpPr/>
          <p:nvPr/>
        </p:nvSpPr>
        <p:spPr>
          <a:xfrm>
            <a:off x="4883040" y="291708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N threads simultanés. Générateur asynchrone. Recommandé pour ingestion volumineuse.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5" name="Shape 830"/>
          <p:cNvSpPr/>
          <p:nvPr/>
        </p:nvSpPr>
        <p:spPr>
          <a:xfrm>
            <a:off x="4754880" y="372168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6" name="Shape 831"/>
          <p:cNvSpPr/>
          <p:nvPr/>
        </p:nvSpPr>
        <p:spPr>
          <a:xfrm>
            <a:off x="4754880" y="3721680"/>
            <a:ext cx="54360" cy="9871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7" name="Text 858"/>
          <p:cNvSpPr/>
          <p:nvPr/>
        </p:nvSpPr>
        <p:spPr>
          <a:xfrm>
            <a:off x="4883040" y="375804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Async (aiohttp)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Shape 832"/>
          <p:cNvSpPr/>
          <p:nvPr/>
        </p:nvSpPr>
        <p:spPr>
          <a:xfrm>
            <a:off x="7406640" y="3776400"/>
            <a:ext cx="1462680" cy="1825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9" name="Text 859"/>
          <p:cNvSpPr/>
          <p:nvPr/>
        </p:nvSpPr>
        <p:spPr>
          <a:xfrm>
            <a:off x="7406640" y="377640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Async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" name="Text 860"/>
          <p:cNvSpPr/>
          <p:nvPr/>
        </p:nvSpPr>
        <p:spPr>
          <a:xfrm>
            <a:off x="4883040" y="401436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from opensearchpy import AsyncOpenSearch · await client.bulk(). Idéal FastAPI / asyncio.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Shape 833"/>
          <p:cNvSpPr/>
          <p:nvPr/>
        </p:nvSpPr>
        <p:spPr>
          <a:xfrm>
            <a:off x="4754880" y="481896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Shape 834"/>
          <p:cNvSpPr/>
          <p:nvPr/>
        </p:nvSpPr>
        <p:spPr>
          <a:xfrm>
            <a:off x="4754880" y="4818960"/>
            <a:ext cx="54360" cy="9871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3" name="Text 861"/>
          <p:cNvSpPr/>
          <p:nvPr/>
        </p:nvSpPr>
        <p:spPr>
          <a:xfrm>
            <a:off x="4883040" y="485532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Streaming bulk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4" name="Shape 835"/>
          <p:cNvSpPr/>
          <p:nvPr/>
        </p:nvSpPr>
        <p:spPr>
          <a:xfrm>
            <a:off x="7406640" y="4873680"/>
            <a:ext cx="1462680" cy="1825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5" name="Text 862"/>
          <p:cNvSpPr/>
          <p:nvPr/>
        </p:nvSpPr>
        <p:spPr>
          <a:xfrm>
            <a:off x="7406640" y="487368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Memory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Text 863"/>
          <p:cNvSpPr/>
          <p:nvPr/>
        </p:nvSpPr>
        <p:spPr>
          <a:xfrm>
            <a:off x="4883040" y="511164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Le pattern generator évite de charger toutes les données en mémoire — critique pour TB de données.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7" name="Shape 836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8" name="Shape 837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9" name="Text 864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OpenSearch Java Client 3.x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Shape 838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1" name="Text 865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2" name="Text 866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Le client Java officiel utilise une API Fluent Builder typée. Il gère nativement le pool de connexions, la sérialisation Jackson/JSON-b et le retry avec backoff exponentiel.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3" name="Text 867"/>
          <p:cNvSpPr/>
          <p:nvPr/>
        </p:nvSpPr>
        <p:spPr>
          <a:xfrm>
            <a:off x="320040" y="118872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Dépendance + configuration du client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4" name="Shape 839"/>
          <p:cNvSpPr/>
          <p:nvPr/>
        </p:nvSpPr>
        <p:spPr>
          <a:xfrm>
            <a:off x="320040" y="1527120"/>
            <a:ext cx="8679960" cy="127980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5" name="Text 868"/>
          <p:cNvSpPr/>
          <p:nvPr/>
        </p:nvSpPr>
        <p:spPr>
          <a:xfrm>
            <a:off x="411480" y="1600200"/>
            <a:ext cx="678852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a8d4dc"/>
                </a:solidFill>
                <a:latin typeface="Courier New"/>
                <a:ea typeface="Courier New"/>
              </a:rPr>
              <a:t>&lt;!-- build.gradle --&gt;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d4dc"/>
                </a:solidFill>
                <a:latin typeface="Courier New"/>
                <a:ea typeface="Courier New"/>
              </a:rPr>
              <a:t>Implementation org.opensearch.client:opensearch-java:3.1.0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d4dc"/>
                </a:solidFill>
                <a:latin typeface="Courier New"/>
                <a:ea typeface="Courier New"/>
              </a:rPr>
              <a:t>RestClientTransport transport = new RestClientTransport(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d4dc"/>
                </a:solidFill>
                <a:latin typeface="Courier New"/>
                <a:ea typeface="Courier New"/>
              </a:rPr>
              <a:t>RestClient.builder(new HttpHost("localhost",9200)).build(),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d4dc"/>
                </a:solidFill>
                <a:latin typeface="Courier New"/>
                <a:ea typeface="Courier New"/>
              </a:rPr>
              <a:t>new JacksonJsonpMapper());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a8d4dc"/>
                </a:solidFill>
                <a:latin typeface="Courier New"/>
                <a:ea typeface="Courier New"/>
              </a:rPr>
              <a:t>OpenSearchClient client = new OpenSearchClient(transport);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Shape 841"/>
          <p:cNvSpPr/>
          <p:nvPr/>
        </p:nvSpPr>
        <p:spPr>
          <a:xfrm>
            <a:off x="290880" y="296712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Shape 842"/>
          <p:cNvSpPr/>
          <p:nvPr/>
        </p:nvSpPr>
        <p:spPr>
          <a:xfrm>
            <a:off x="290880" y="2967120"/>
            <a:ext cx="54360" cy="9871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8" name="Text 871"/>
          <p:cNvSpPr/>
          <p:nvPr/>
        </p:nvSpPr>
        <p:spPr>
          <a:xfrm>
            <a:off x="419040" y="300348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BulkRequest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9" name="Shape 843"/>
          <p:cNvSpPr/>
          <p:nvPr/>
        </p:nvSpPr>
        <p:spPr>
          <a:xfrm>
            <a:off x="2942640" y="3021840"/>
            <a:ext cx="1462680" cy="1825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0" name="Text 872"/>
          <p:cNvSpPr/>
          <p:nvPr/>
        </p:nvSpPr>
        <p:spPr>
          <a:xfrm>
            <a:off x="2942640" y="302184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Simple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1" name="Text 873"/>
          <p:cNvSpPr/>
          <p:nvPr/>
        </p:nvSpPr>
        <p:spPr>
          <a:xfrm>
            <a:off x="419040" y="325980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Construction manuelle du batch. Contrôle total. Synchrone.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2" name="Shape 844"/>
          <p:cNvSpPr/>
          <p:nvPr/>
        </p:nvSpPr>
        <p:spPr>
          <a:xfrm>
            <a:off x="4754880" y="291240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3" name="Shape 845"/>
          <p:cNvSpPr/>
          <p:nvPr/>
        </p:nvSpPr>
        <p:spPr>
          <a:xfrm>
            <a:off x="4754880" y="2912400"/>
            <a:ext cx="54360" cy="9871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4" name="Text 874"/>
          <p:cNvSpPr/>
          <p:nvPr/>
        </p:nvSpPr>
        <p:spPr>
          <a:xfrm>
            <a:off x="4883040" y="294876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BulkIngester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5" name="Shape 846"/>
          <p:cNvSpPr/>
          <p:nvPr/>
        </p:nvSpPr>
        <p:spPr>
          <a:xfrm>
            <a:off x="7406640" y="2967120"/>
            <a:ext cx="1462680" cy="1825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6" name="Text 875"/>
          <p:cNvSpPr/>
          <p:nvPr/>
        </p:nvSpPr>
        <p:spPr>
          <a:xfrm>
            <a:off x="7406640" y="296712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Production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Text 876"/>
          <p:cNvSpPr/>
          <p:nvPr/>
        </p:nvSpPr>
        <p:spPr>
          <a:xfrm>
            <a:off x="4883040" y="320508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Buffer auto + flush périodique + listener erreurs. Recommandé pour applications long-running.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" name="Shape 847"/>
          <p:cNvSpPr/>
          <p:nvPr/>
        </p:nvSpPr>
        <p:spPr>
          <a:xfrm>
            <a:off x="290880" y="408168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Shape 848"/>
          <p:cNvSpPr/>
          <p:nvPr/>
        </p:nvSpPr>
        <p:spPr>
          <a:xfrm>
            <a:off x="290880" y="4081680"/>
            <a:ext cx="54360" cy="9871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0" name="Text 877"/>
          <p:cNvSpPr/>
          <p:nvPr/>
        </p:nvSpPr>
        <p:spPr>
          <a:xfrm>
            <a:off x="419040" y="411804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Thread-safety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Shape 849"/>
          <p:cNvSpPr/>
          <p:nvPr/>
        </p:nvSpPr>
        <p:spPr>
          <a:xfrm>
            <a:off x="2942640" y="4136400"/>
            <a:ext cx="1462680" cy="1825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2" name="Text 878"/>
          <p:cNvSpPr/>
          <p:nvPr/>
        </p:nvSpPr>
        <p:spPr>
          <a:xfrm>
            <a:off x="2942640" y="413640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⚠ </a:t>
            </a: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Important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Text 879"/>
          <p:cNvSpPr/>
          <p:nvPr/>
        </p:nvSpPr>
        <p:spPr>
          <a:xfrm>
            <a:off x="419040" y="437436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Le client est thread-safe. Utiliser une seule instance partagée dans Spring / Quarkus.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Shape 850"/>
          <p:cNvSpPr/>
          <p:nvPr/>
        </p:nvSpPr>
        <p:spPr>
          <a:xfrm>
            <a:off x="4754880" y="409896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5" name="Shape 851"/>
          <p:cNvSpPr/>
          <p:nvPr/>
        </p:nvSpPr>
        <p:spPr>
          <a:xfrm>
            <a:off x="4754880" y="4098960"/>
            <a:ext cx="54360" cy="98712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6" name="Text 880"/>
          <p:cNvSpPr/>
          <p:nvPr/>
        </p:nvSpPr>
        <p:spPr>
          <a:xfrm>
            <a:off x="4883040" y="413532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SSL / Auth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7" name="Shape 852"/>
          <p:cNvSpPr/>
          <p:nvPr/>
        </p:nvSpPr>
        <p:spPr>
          <a:xfrm>
            <a:off x="7406640" y="4153680"/>
            <a:ext cx="1462680" cy="18252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8" name="Text 881"/>
          <p:cNvSpPr/>
          <p:nvPr/>
        </p:nvSpPr>
        <p:spPr>
          <a:xfrm>
            <a:off x="7406640" y="415368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9" name="Text 882"/>
          <p:cNvSpPr/>
          <p:nvPr/>
        </p:nvSpPr>
        <p:spPr>
          <a:xfrm>
            <a:off x="4883040" y="439164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SSLContext + BasicCredentials configurés dans le RestClient. Gestion via Keystore ou variables env.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Shape 840"/>
          <p:cNvSpPr/>
          <p:nvPr/>
        </p:nvSpPr>
        <p:spPr>
          <a:xfrm>
            <a:off x="0" y="0"/>
            <a:ext cx="10076400" cy="70380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1" name="Shape 853"/>
          <p:cNvSpPr/>
          <p:nvPr/>
        </p:nvSpPr>
        <p:spPr>
          <a:xfrm>
            <a:off x="0" y="0"/>
            <a:ext cx="182520" cy="7038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2" name="Text 869"/>
          <p:cNvSpPr/>
          <p:nvPr/>
        </p:nvSpPr>
        <p:spPr>
          <a:xfrm>
            <a:off x="356760" y="0"/>
            <a:ext cx="8165160" cy="7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API d'indexation de base · CRUD documentaire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Shape 854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4" name="Text 870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Text 883"/>
          <p:cNvSpPr/>
          <p:nvPr/>
        </p:nvSpPr>
        <p:spPr>
          <a:xfrm>
            <a:off x="356760" y="786240"/>
            <a:ext cx="9372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opensearch-java 3.x expose une API Fluent Builder fortement typée. Chaque opération retourne un objet Response — pas de Map&lt;String,Object&gt; à manipuler.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6" name="Text 884"/>
          <p:cNvSpPr/>
          <p:nvPr/>
        </p:nvSpPr>
        <p:spPr>
          <a:xfrm>
            <a:off x="356760" y="130752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Indexer un document (index)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Shape 855"/>
          <p:cNvSpPr/>
          <p:nvPr/>
        </p:nvSpPr>
        <p:spPr>
          <a:xfrm>
            <a:off x="356760" y="1682640"/>
            <a:ext cx="4635720" cy="146268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8" name="Text 885"/>
          <p:cNvSpPr/>
          <p:nvPr/>
        </p:nvSpPr>
        <p:spPr>
          <a:xfrm>
            <a:off x="457200" y="1764720"/>
            <a:ext cx="4489200" cy="13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Créer ou remplacer — ID auto-généré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IndexResponse resp = client.index(i -&gt; i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.index("produits-java")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.document(monProduit)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String id     = resp.id();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String result = resp.result().jsonValue(); // "created"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long version  = resp.version();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Avec ID explicite 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client.index(i -&gt; i.index("produits-java")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.id("PROD-001").document(monProduit));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Text 886"/>
          <p:cNvSpPr/>
          <p:nvPr/>
        </p:nvSpPr>
        <p:spPr>
          <a:xfrm>
            <a:off x="356760" y="321876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Récupérer un </a:t>
            </a: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document (get)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0" name="Shape 856"/>
          <p:cNvSpPr/>
          <p:nvPr/>
        </p:nvSpPr>
        <p:spPr>
          <a:xfrm>
            <a:off x="356760" y="3593520"/>
            <a:ext cx="4635720" cy="84096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1" name="Text 887"/>
          <p:cNvSpPr/>
          <p:nvPr/>
        </p:nvSpPr>
        <p:spPr>
          <a:xfrm>
            <a:off x="457200" y="3675960"/>
            <a:ext cx="44892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GetResponse&lt;Produit&gt; resp = client.get(g -&gt; g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.index("produits-java").id("PROD-001"),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Produit.class);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if (resp.found())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Produit p = resp.source(); // deserialisé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Shape 857"/>
          <p:cNvSpPr/>
          <p:nvPr/>
        </p:nvSpPr>
        <p:spPr>
          <a:xfrm>
            <a:off x="356760" y="4517280"/>
            <a:ext cx="4635720" cy="38376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Shape 858"/>
          <p:cNvSpPr/>
          <p:nvPr/>
        </p:nvSpPr>
        <p:spPr>
          <a:xfrm>
            <a:off x="356760" y="4517280"/>
            <a:ext cx="63720" cy="3837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4" name="Text 888"/>
          <p:cNvSpPr/>
          <p:nvPr/>
        </p:nvSpPr>
        <p:spPr>
          <a:xfrm>
            <a:off x="502920" y="4553640"/>
            <a:ext cx="4434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client.exists() -&gt; boolean  |  client.mget() -&gt; multi-doc  |  toutes les ops levent IOException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Text 889"/>
          <p:cNvSpPr/>
          <p:nvPr/>
        </p:nvSpPr>
        <p:spPr>
          <a:xfrm>
            <a:off x="5239440" y="130752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Mise a jour partielle (update)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Shape 859"/>
          <p:cNvSpPr/>
          <p:nvPr/>
        </p:nvSpPr>
        <p:spPr>
          <a:xfrm>
            <a:off x="5239440" y="1682640"/>
            <a:ext cx="4635720" cy="117000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7" name="Text 890"/>
          <p:cNvSpPr/>
          <p:nvPr/>
        </p:nvSpPr>
        <p:spPr>
          <a:xfrm>
            <a:off x="5340240" y="1764720"/>
            <a:ext cx="4489200" cy="10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Via doc: (champs fournis seulement)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client.update(u -&gt; u.index("produits-java")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.id("PROD-001")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.doc(Map.of("stock", 99, "actif", false)),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Produit.class);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Via script Painless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client.update(u -&gt; u.index("produits-java").id("PROD-001")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.script(sc -&gt; sc.inline(i -&gt; i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.source("ctx._source.stock += params.n")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.params("n", JsonData.of(5)))), Produit.class);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Text 891"/>
          <p:cNvSpPr/>
          <p:nvPr/>
        </p:nvSpPr>
        <p:spPr>
          <a:xfrm>
            <a:off x="5239440" y="292608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Supprimer (delete)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Shape 860"/>
          <p:cNvSpPr/>
          <p:nvPr/>
        </p:nvSpPr>
        <p:spPr>
          <a:xfrm>
            <a:off x="5239440" y="3300840"/>
            <a:ext cx="4635720" cy="51156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0" name="Text 892"/>
          <p:cNvSpPr/>
          <p:nvPr/>
        </p:nvSpPr>
        <p:spPr>
          <a:xfrm>
            <a:off x="5340240" y="3383280"/>
            <a:ext cx="4489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DeleteResponse dr = client.delete(d -&gt; d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.index("produits-java").id("PROD-001"));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dr.result() -&gt; "deleted" ou "not_found"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Text 893"/>
          <p:cNvSpPr/>
          <p:nvPr/>
        </p:nvSpPr>
        <p:spPr>
          <a:xfrm>
            <a:off x="5239440" y="388620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Creer l'index avec mapping explicite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Shape 861"/>
          <p:cNvSpPr/>
          <p:nvPr/>
        </p:nvSpPr>
        <p:spPr>
          <a:xfrm>
            <a:off x="5239440" y="4260960"/>
            <a:ext cx="4635720" cy="85932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3" name="Text 894"/>
          <p:cNvSpPr/>
          <p:nvPr/>
        </p:nvSpPr>
        <p:spPr>
          <a:xfrm>
            <a:off x="5340240" y="4343400"/>
            <a:ext cx="4489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client.indices().create(c -&gt; c.index("produits-java")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.settings(s -&gt; s.numberOfShards("3")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.numberOfReplicas("2"))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.mappings(m -&gt; m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.properties("nom",   p -&gt; p.text(t -&gt; t.analyzer("french")))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.properties("prix",  p -&gt; p.float_(f -&gt; f))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.properties("actif", p -&gt; p.boolean_(b -&gt; b))));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Shape 862"/>
          <p:cNvSpPr/>
          <p:nvPr/>
        </p:nvSpPr>
        <p:spPr>
          <a:xfrm>
            <a:off x="5239440" y="5193720"/>
            <a:ext cx="4635720" cy="38376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Shape 863"/>
          <p:cNvSpPr/>
          <p:nvPr/>
        </p:nvSpPr>
        <p:spPr>
          <a:xfrm>
            <a:off x="5239440" y="5193720"/>
            <a:ext cx="63720" cy="3837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6" name="Text 895"/>
          <p:cNvSpPr/>
          <p:nvPr/>
        </p:nvSpPr>
        <p:spPr>
          <a:xfrm>
            <a:off x="5385960" y="5230440"/>
            <a:ext cx="4434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Appeler createIndex() au demarrage via ApplicationRunner —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verifier l'existence avec indices().exists().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Shape 864"/>
          <p:cNvSpPr/>
          <p:nvPr/>
        </p:nvSpPr>
        <p:spPr>
          <a:xfrm>
            <a:off x="0" y="0"/>
            <a:ext cx="10076400" cy="70380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8" name="Shape 865"/>
          <p:cNvSpPr/>
          <p:nvPr/>
        </p:nvSpPr>
        <p:spPr>
          <a:xfrm>
            <a:off x="0" y="0"/>
            <a:ext cx="182520" cy="7038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9" name="Text 896"/>
          <p:cNvSpPr/>
          <p:nvPr/>
        </p:nvSpPr>
        <p:spPr>
          <a:xfrm>
            <a:off x="356760" y="0"/>
            <a:ext cx="8165160" cy="7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BulkRequest &amp; BulkIngester · Ingestion par lots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" name="Shape 866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1" name="Text 897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Text 898"/>
          <p:cNvSpPr/>
          <p:nvPr/>
        </p:nvSpPr>
        <p:spPr>
          <a:xfrm>
            <a:off x="356760" y="786240"/>
            <a:ext cx="9372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BulkRequest pour les batchs ponctuels avec controle total. BulkIngester pour les applications long-running avec flush automatique par taille, nombre ou intervalle.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3" name="Text 899"/>
          <p:cNvSpPr/>
          <p:nvPr/>
        </p:nvSpPr>
        <p:spPr>
          <a:xfrm>
            <a:off x="356760" y="130752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BulkRequest – batch manuel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Shape 867"/>
          <p:cNvSpPr/>
          <p:nvPr/>
        </p:nvSpPr>
        <p:spPr>
          <a:xfrm>
            <a:off x="356760" y="1682640"/>
            <a:ext cx="4635720" cy="234036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5" name="Text 900"/>
          <p:cNvSpPr/>
          <p:nvPr/>
        </p:nvSpPr>
        <p:spPr>
          <a:xfrm>
            <a:off x="457200" y="1764720"/>
            <a:ext cx="4489200" cy="22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BulkRequest.Builder br = new BulkRequest.Builder();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for (Produit p : produits)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br.operations(op -&gt; op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.index(i -&gt; i.index(INDEX).document(p)));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BulkResponse resp = client.bulk(br.build());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Analyser item par item — HTTP 200 meme si erreurs !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if (resp.errors())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resp.items().forEach(item -&gt;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if (item.error() != null)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log.error("[{}] {} : {}", item.status(),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item.id(), item.error().reason());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long tookMs = resp.took();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Shape 868"/>
          <p:cNvSpPr/>
          <p:nvPr/>
        </p:nvSpPr>
        <p:spPr>
          <a:xfrm>
            <a:off x="356760" y="4096440"/>
            <a:ext cx="4635720" cy="38376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Shape 869"/>
          <p:cNvSpPr/>
          <p:nvPr/>
        </p:nvSpPr>
        <p:spPr>
          <a:xfrm>
            <a:off x="356760" y="4096440"/>
            <a:ext cx="63720" cy="3837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8" name="Text 901"/>
          <p:cNvSpPr/>
          <p:nvPr/>
        </p:nvSpPr>
        <p:spPr>
          <a:xfrm>
            <a:off x="502920" y="4133160"/>
            <a:ext cx="4434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1 appel HTTP par appel. Idéal ETL/migration. Taille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recommandée : 500-5000 docs ou 5-15 Mo. resp.errors() est le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seul indicateur d'echec partiel.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9" name="Text 1147"/>
          <p:cNvSpPr/>
          <p:nvPr/>
        </p:nvSpPr>
        <p:spPr>
          <a:xfrm>
            <a:off x="5239440" y="130752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BulkIngester – flush automatique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Shape 870"/>
          <p:cNvSpPr/>
          <p:nvPr/>
        </p:nvSpPr>
        <p:spPr>
          <a:xfrm>
            <a:off x="5239440" y="1682640"/>
            <a:ext cx="4635720" cy="243180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1" name="Text 1148"/>
          <p:cNvSpPr/>
          <p:nvPr/>
        </p:nvSpPr>
        <p:spPr>
          <a:xfrm>
            <a:off x="5340240" y="1764720"/>
            <a:ext cx="4489200" cy="23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Bean @Service singleton — thread-safe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try (BulkIngester&lt;Produit&gt; ing = BulkIngester.of(b -&gt; b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.client(client)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.maxOperations(500)         // flush a 500 docs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.maxSize(10 * 1024 * 1024L) // ou 10 Mo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.flushInterval(5, TimeUnit.SECONDS)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.listener(new BulkListener&lt;Produit&gt;()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public void afterBulk(long execId,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BulkRequest req, List&lt;Produit&gt; ctx,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BulkResponse resp)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resp.items().stream()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.filter(i -&gt; i.error() != null)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.forEach(i -&gt; log.error(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i.error().reason()));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public void afterBulk(long execId,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BulkRequest req, List&lt;Produit&gt; ctx,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Throwable failure)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log.error("Bulk failed", failure);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)) { // -&gt; produits.forEach(p -&gt; ing.add(op -&gt; op.index(...)));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" name="Shape 1088"/>
          <p:cNvSpPr/>
          <p:nvPr/>
        </p:nvSpPr>
        <p:spPr>
          <a:xfrm>
            <a:off x="5239440" y="4187880"/>
            <a:ext cx="4635720" cy="38376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" name="Shape 1089"/>
          <p:cNvSpPr/>
          <p:nvPr/>
        </p:nvSpPr>
        <p:spPr>
          <a:xfrm>
            <a:off x="5239440" y="4187880"/>
            <a:ext cx="63720" cy="3837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4" name="Text 1149"/>
          <p:cNvSpPr/>
          <p:nvPr/>
        </p:nvSpPr>
        <p:spPr>
          <a:xfrm>
            <a:off x="5385960" y="4224600"/>
            <a:ext cx="4434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Idéal application long-running : une commande = un doc, evenements continus. Ne jamais creer un BulkIngester par requete — creer un bean singleton.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Shape 1090"/>
          <p:cNvSpPr/>
          <p:nvPr/>
        </p:nvSpPr>
        <p:spPr>
          <a:xfrm>
            <a:off x="0" y="0"/>
            <a:ext cx="10076400" cy="70380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6" name="Shape 1091"/>
          <p:cNvSpPr/>
          <p:nvPr/>
        </p:nvSpPr>
        <p:spPr>
          <a:xfrm>
            <a:off x="0" y="0"/>
            <a:ext cx="182520" cy="7038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7" name="Text 1150"/>
          <p:cNvSpPr/>
          <p:nvPr/>
        </p:nvSpPr>
        <p:spPr>
          <a:xfrm>
            <a:off x="356760" y="0"/>
            <a:ext cx="8165160" cy="7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Ingestion massive · Optimisations d'index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8" name="Shape 1092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9" name="Text 1151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0" name="Text 1152"/>
          <p:cNvSpPr/>
          <p:nvPr/>
        </p:nvSpPr>
        <p:spPr>
          <a:xfrm>
            <a:off x="356760" y="786240"/>
            <a:ext cx="9372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Avant une ingestion volumineuse, desactiver refresh et replicas reduit le trafic inter-noeuds et le cout des segments Lucene — a restaurer imperativement apres.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1" name="Shape 1093"/>
          <p:cNvSpPr/>
          <p:nvPr/>
        </p:nvSpPr>
        <p:spPr>
          <a:xfrm>
            <a:off x="356760" y="1225440"/>
            <a:ext cx="3017160" cy="3837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2" name="Text 1153"/>
          <p:cNvSpPr/>
          <p:nvPr/>
        </p:nvSpPr>
        <p:spPr>
          <a:xfrm>
            <a:off x="448200" y="1225440"/>
            <a:ext cx="1737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1 AVANT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3" name="Text 1154"/>
          <p:cNvSpPr/>
          <p:nvPr/>
        </p:nvSpPr>
        <p:spPr>
          <a:xfrm>
            <a:off x="2231280" y="1261800"/>
            <a:ext cx="1060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c0dde8"/>
                </a:solidFill>
                <a:latin typeface="Calibri"/>
                <a:ea typeface="Calibri"/>
              </a:rPr>
              <a:t>Parametres ingestion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" name="Text 1155"/>
          <p:cNvSpPr/>
          <p:nvPr/>
        </p:nvSpPr>
        <p:spPr>
          <a:xfrm>
            <a:off x="3374280" y="1280160"/>
            <a:ext cx="23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2b5c"/>
                </a:solidFill>
                <a:latin typeface="Calibri"/>
                <a:ea typeface="Calibri"/>
              </a:rPr>
              <a:t>-&gt;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Shape 1094"/>
          <p:cNvSpPr/>
          <p:nvPr/>
        </p:nvSpPr>
        <p:spPr>
          <a:xfrm>
            <a:off x="3630240" y="1225440"/>
            <a:ext cx="3017160" cy="38376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6" name="Text 1156"/>
          <p:cNvSpPr/>
          <p:nvPr/>
        </p:nvSpPr>
        <p:spPr>
          <a:xfrm>
            <a:off x="3721680" y="1225440"/>
            <a:ext cx="1737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2 INGESTION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7" name="Text 1157"/>
          <p:cNvSpPr/>
          <p:nvPr/>
        </p:nvSpPr>
        <p:spPr>
          <a:xfrm>
            <a:off x="5504760" y="1261800"/>
            <a:ext cx="1060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c0dde8"/>
                </a:solidFill>
                <a:latin typeface="Calibri"/>
                <a:ea typeface="Calibri"/>
              </a:rPr>
              <a:t>BulkIngester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8" name="Text 1158"/>
          <p:cNvSpPr/>
          <p:nvPr/>
        </p:nvSpPr>
        <p:spPr>
          <a:xfrm>
            <a:off x="6647760" y="1280160"/>
            <a:ext cx="23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2b5c"/>
                </a:solidFill>
                <a:latin typeface="Calibri"/>
                <a:ea typeface="Calibri"/>
              </a:rPr>
              <a:t>-&gt;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9" name="Shape 1095"/>
          <p:cNvSpPr/>
          <p:nvPr/>
        </p:nvSpPr>
        <p:spPr>
          <a:xfrm>
            <a:off x="6903720" y="1225440"/>
            <a:ext cx="3017160" cy="3837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0" name="Text 1159"/>
          <p:cNvSpPr/>
          <p:nvPr/>
        </p:nvSpPr>
        <p:spPr>
          <a:xfrm>
            <a:off x="6995160" y="1225440"/>
            <a:ext cx="1737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3 APRES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1" name="Text 1160"/>
          <p:cNvSpPr/>
          <p:nvPr/>
        </p:nvSpPr>
        <p:spPr>
          <a:xfrm>
            <a:off x="8778240" y="1261800"/>
            <a:ext cx="1060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c0dde8"/>
                </a:solidFill>
                <a:latin typeface="Calibri"/>
                <a:ea typeface="Calibri"/>
              </a:rPr>
              <a:t>Restaurer + refresh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Text 1161"/>
          <p:cNvSpPr/>
          <p:nvPr/>
        </p:nvSpPr>
        <p:spPr>
          <a:xfrm>
            <a:off x="356760" y="168264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setIngestionMode() + orchestration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3" name="Shape 1096"/>
          <p:cNvSpPr/>
          <p:nvPr/>
        </p:nvSpPr>
        <p:spPr>
          <a:xfrm>
            <a:off x="356760" y="2057400"/>
            <a:ext cx="4635720" cy="261468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4" name="Text 1162"/>
          <p:cNvSpPr/>
          <p:nvPr/>
        </p:nvSpPr>
        <p:spPr>
          <a:xfrm>
            <a:off x="457200" y="2139840"/>
            <a:ext cx="4489200" cy="248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public void setIngestionMode(boolean on)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throws IOException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client.indices().putSettings(s -&gt; 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.index(INDEX)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.settings(cfg -&gt; cfg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.refreshInterval(t -&gt; t.time(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on ? "-1" : "1s"))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.numberOfReplicas(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String.valueOf(on ? 0 : 2)))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log.info("Mode ingestion {} : refresh={} replicas={}",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on, on?"-1":"1s", on?0:2);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public void forceRefresh() throws IOException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client.indices().refresh(r -&gt; r.index(INDEX));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-- Orchestration complete --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setIngestionMode(true);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var stats = ingesterBulk(generateProduits(50_000));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setIngestionMode(false);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forceRefresh();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Shape 1097"/>
          <p:cNvSpPr/>
          <p:nvPr/>
        </p:nvSpPr>
        <p:spPr>
          <a:xfrm>
            <a:off x="356760" y="4754880"/>
            <a:ext cx="4635720" cy="38376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Shape 1098"/>
          <p:cNvSpPr/>
          <p:nvPr/>
        </p:nvSpPr>
        <p:spPr>
          <a:xfrm>
            <a:off x="356760" y="4754880"/>
            <a:ext cx="63720" cy="3837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7" name="Text 1163"/>
          <p:cNvSpPr/>
          <p:nvPr/>
        </p:nvSpPr>
        <p:spPr>
          <a:xfrm>
            <a:off x="502920" y="4791600"/>
            <a:ext cx="4434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Mesure TP (3 noeuds, 2 replicas, 50k docs) : BulkIngester seul = 10 113 docs/s | + mode ingestion = 13 451 docs/s (+33%)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8" name="Text 1164"/>
          <p:cNvSpPr/>
          <p:nvPr/>
        </p:nvSpPr>
        <p:spPr>
          <a:xfrm>
            <a:off x="5239440" y="168264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Impact de chaque parametre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9" name="Shape 1099"/>
          <p:cNvSpPr/>
          <p:nvPr/>
        </p:nvSpPr>
        <p:spPr>
          <a:xfrm>
            <a:off x="5239440" y="2057400"/>
            <a:ext cx="4635720" cy="822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Shape 1100"/>
          <p:cNvSpPr/>
          <p:nvPr/>
        </p:nvSpPr>
        <p:spPr>
          <a:xfrm>
            <a:off x="5239440" y="2057400"/>
            <a:ext cx="63720" cy="8226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1" name="Text 1165"/>
          <p:cNvSpPr/>
          <p:nvPr/>
        </p:nvSpPr>
        <p:spPr>
          <a:xfrm>
            <a:off x="5367600" y="2103120"/>
            <a:ext cx="3108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2b5c"/>
                </a:solidFill>
                <a:latin typeface="Courier New"/>
                <a:ea typeface="Courier New"/>
              </a:rPr>
              <a:t>refresh_interval: "-1"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2" name="Shape 1101"/>
          <p:cNvSpPr/>
          <p:nvPr/>
        </p:nvSpPr>
        <p:spPr>
          <a:xfrm>
            <a:off x="8531280" y="2112120"/>
            <a:ext cx="1261440" cy="2008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3" name="Text 1166"/>
          <p:cNvSpPr/>
          <p:nvPr/>
        </p:nvSpPr>
        <p:spPr>
          <a:xfrm>
            <a:off x="8531280" y="2112120"/>
            <a:ext cx="1261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+++ debit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4" name="Text 1167"/>
          <p:cNvSpPr/>
          <p:nvPr/>
        </p:nvSpPr>
        <p:spPr>
          <a:xfrm>
            <a:off x="5367600" y="2350080"/>
            <a:ext cx="4434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Supprime la creation continue de segments Lucene. Aucune visibilite en temps reel — acceptable pour un chargement initial ou une migration.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Shape 1102"/>
          <p:cNvSpPr/>
          <p:nvPr/>
        </p:nvSpPr>
        <p:spPr>
          <a:xfrm>
            <a:off x="5239440" y="2944440"/>
            <a:ext cx="4635720" cy="822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Shape 1103"/>
          <p:cNvSpPr/>
          <p:nvPr/>
        </p:nvSpPr>
        <p:spPr>
          <a:xfrm>
            <a:off x="5239440" y="2944440"/>
            <a:ext cx="63720" cy="8226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7" name="Text 1168"/>
          <p:cNvSpPr/>
          <p:nvPr/>
        </p:nvSpPr>
        <p:spPr>
          <a:xfrm>
            <a:off x="5367600" y="2990160"/>
            <a:ext cx="3108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2b5c"/>
                </a:solidFill>
                <a:latin typeface="Courier New"/>
                <a:ea typeface="Courier New"/>
              </a:rPr>
              <a:t>number_of_replicas: 0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8" name="Shape 1104"/>
          <p:cNvSpPr/>
          <p:nvPr/>
        </p:nvSpPr>
        <p:spPr>
          <a:xfrm>
            <a:off x="8531280" y="2999160"/>
            <a:ext cx="1261440" cy="2008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9" name="Text 1169"/>
          <p:cNvSpPr/>
          <p:nvPr/>
        </p:nvSpPr>
        <p:spPr>
          <a:xfrm>
            <a:off x="8531280" y="2999160"/>
            <a:ext cx="1261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+++ debit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0" name="Text 1170"/>
          <p:cNvSpPr/>
          <p:nvPr/>
        </p:nvSpPr>
        <p:spPr>
          <a:xfrm>
            <a:off x="5367600" y="3237120"/>
            <a:ext cx="4434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Elimine la replication inter-noeuds. Sur 3 noeuds + 2 replicas, chaque doc est ecrit 3x — passer a 0 supprime 2/3 du trafic reseau.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1" name="Shape 1105"/>
          <p:cNvSpPr/>
          <p:nvPr/>
        </p:nvSpPr>
        <p:spPr>
          <a:xfrm>
            <a:off x="5239440" y="3831480"/>
            <a:ext cx="4635720" cy="822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Shape 1106"/>
          <p:cNvSpPr/>
          <p:nvPr/>
        </p:nvSpPr>
        <p:spPr>
          <a:xfrm>
            <a:off x="5239440" y="3831480"/>
            <a:ext cx="63720" cy="82260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3" name="Text 1171"/>
          <p:cNvSpPr/>
          <p:nvPr/>
        </p:nvSpPr>
        <p:spPr>
          <a:xfrm>
            <a:off x="5367600" y="3877200"/>
            <a:ext cx="3108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2b5c"/>
                </a:solidFill>
                <a:latin typeface="Courier New"/>
                <a:ea typeface="Courier New"/>
              </a:rPr>
              <a:t>translog.durability: async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4" name="Shape 1107"/>
          <p:cNvSpPr/>
          <p:nvPr/>
        </p:nvSpPr>
        <p:spPr>
          <a:xfrm>
            <a:off x="8531280" y="3886200"/>
            <a:ext cx="1261440" cy="2008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5" name="Text 1172"/>
          <p:cNvSpPr/>
          <p:nvPr/>
        </p:nvSpPr>
        <p:spPr>
          <a:xfrm>
            <a:off x="8531280" y="3886200"/>
            <a:ext cx="1261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++ debit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Text 1173"/>
          <p:cNvSpPr/>
          <p:nvPr/>
        </p:nvSpPr>
        <p:spPr>
          <a:xfrm>
            <a:off x="5367600" y="4123800"/>
            <a:ext cx="4434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Flush du translog toutes les 30s au lieu de chaque ecriture. Risque de perte sur crash — acceptable pour donnees rejouables.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7" name="Shape 1108"/>
          <p:cNvSpPr/>
          <p:nvPr/>
        </p:nvSpPr>
        <p:spPr>
          <a:xfrm>
            <a:off x="5239440" y="4718160"/>
            <a:ext cx="4635720" cy="8226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8" name="Shape 1109"/>
          <p:cNvSpPr/>
          <p:nvPr/>
        </p:nvSpPr>
        <p:spPr>
          <a:xfrm>
            <a:off x="5239440" y="4718160"/>
            <a:ext cx="63720" cy="82260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9" name="Text 1174"/>
          <p:cNvSpPr/>
          <p:nvPr/>
        </p:nvSpPr>
        <p:spPr>
          <a:xfrm>
            <a:off x="5367600" y="4763880"/>
            <a:ext cx="3108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2b5c"/>
                </a:solidFill>
                <a:latin typeface="Courier New"/>
                <a:ea typeface="Courier New"/>
              </a:rPr>
              <a:t>flush_threshold_size: 2gb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Shape 1110"/>
          <p:cNvSpPr/>
          <p:nvPr/>
        </p:nvSpPr>
        <p:spPr>
          <a:xfrm>
            <a:off x="8531280" y="4773240"/>
            <a:ext cx="1261440" cy="20088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1" name="Text 1175"/>
          <p:cNvSpPr/>
          <p:nvPr/>
        </p:nvSpPr>
        <p:spPr>
          <a:xfrm>
            <a:off x="8531280" y="4773240"/>
            <a:ext cx="1261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+ debit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2" name="Text 1176"/>
          <p:cNvSpPr/>
          <p:nvPr/>
        </p:nvSpPr>
        <p:spPr>
          <a:xfrm>
            <a:off x="5367600" y="5010840"/>
            <a:ext cx="4434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Evite les micro-flushes qui generent de petits segments couteux a merger par Lucene.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3" name="Shape 1111"/>
          <p:cNvSpPr/>
          <p:nvPr/>
        </p:nvSpPr>
        <p:spPr>
          <a:xfrm>
            <a:off x="0" y="0"/>
            <a:ext cx="10076400" cy="70380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4" name="Shape 1112"/>
          <p:cNvSpPr/>
          <p:nvPr/>
        </p:nvSpPr>
        <p:spPr>
          <a:xfrm>
            <a:off x="0" y="0"/>
            <a:ext cx="182520" cy="7038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5" name="Text 1177"/>
          <p:cNvSpPr/>
          <p:nvPr/>
        </p:nvSpPr>
        <p:spPr>
          <a:xfrm>
            <a:off x="356760" y="0"/>
            <a:ext cx="8165160" cy="7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Gestion des erreurs &amp; patterns de robustesse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6" name="Shape 1113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7" name="Text 1178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8" name="Text 1179"/>
          <p:cNvSpPr/>
          <p:nvPr/>
        </p:nvSpPr>
        <p:spPr>
          <a:xfrm>
            <a:off x="356760" y="786240"/>
            <a:ext cx="9372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La Bulk API retourne HTTP 200 meme en cas d'erreurs partielles. Il faut analyser chaque item et rejouer uniquement les erreurs transitoires avec backoff exponentiel.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9" name="Text 1182"/>
          <p:cNvSpPr/>
          <p:nvPr/>
        </p:nvSpPr>
        <p:spPr>
          <a:xfrm>
            <a:off x="2924280" y="165132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2b5c"/>
                </a:solidFill>
                <a:latin typeface="Calibri"/>
                <a:ea typeface="Calibri"/>
              </a:rPr>
              <a:t>Codes d'erreur Bulk a gerer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0" name="Shape 1115"/>
          <p:cNvSpPr/>
          <p:nvPr/>
        </p:nvSpPr>
        <p:spPr>
          <a:xfrm>
            <a:off x="307440" y="2186640"/>
            <a:ext cx="3600360" cy="886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Shape 1116"/>
          <p:cNvSpPr/>
          <p:nvPr/>
        </p:nvSpPr>
        <p:spPr>
          <a:xfrm>
            <a:off x="307440" y="2186640"/>
            <a:ext cx="58680" cy="8866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2" name="Shape 1117"/>
          <p:cNvSpPr/>
          <p:nvPr/>
        </p:nvSpPr>
        <p:spPr>
          <a:xfrm>
            <a:off x="307440" y="2223000"/>
            <a:ext cx="539640" cy="3654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3" name="Text 1183"/>
          <p:cNvSpPr/>
          <p:nvPr/>
        </p:nvSpPr>
        <p:spPr>
          <a:xfrm>
            <a:off x="307440" y="2223000"/>
            <a:ext cx="539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429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4" name="Text 1184"/>
          <p:cNvSpPr/>
          <p:nvPr/>
        </p:nvSpPr>
        <p:spPr>
          <a:xfrm>
            <a:off x="923400" y="2349360"/>
            <a:ext cx="35766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alibri"/>
                <a:ea typeface="Calibri"/>
              </a:rPr>
              <a:t>Too Many Requests - throttling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Text 1185"/>
          <p:cNvSpPr/>
          <p:nvPr/>
        </p:nvSpPr>
        <p:spPr>
          <a:xfrm>
            <a:off x="923400" y="2651040"/>
            <a:ext cx="35766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  <a:ea typeface="Calibri"/>
              </a:rPr>
              <a:t>-&gt; Retry avec backoff exponentiel + jitter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6" name="Shape 1118"/>
          <p:cNvSpPr/>
          <p:nvPr/>
        </p:nvSpPr>
        <p:spPr>
          <a:xfrm>
            <a:off x="307440" y="3192480"/>
            <a:ext cx="3600360" cy="886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Shape 1119"/>
          <p:cNvSpPr/>
          <p:nvPr/>
        </p:nvSpPr>
        <p:spPr>
          <a:xfrm>
            <a:off x="307440" y="3192480"/>
            <a:ext cx="58680" cy="8866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8" name="Shape 1120"/>
          <p:cNvSpPr/>
          <p:nvPr/>
        </p:nvSpPr>
        <p:spPr>
          <a:xfrm>
            <a:off x="307440" y="3228840"/>
            <a:ext cx="539640" cy="3654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9" name="Text 1186"/>
          <p:cNvSpPr/>
          <p:nvPr/>
        </p:nvSpPr>
        <p:spPr>
          <a:xfrm>
            <a:off x="307440" y="3228840"/>
            <a:ext cx="539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503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" name="Text 1187"/>
          <p:cNvSpPr/>
          <p:nvPr/>
        </p:nvSpPr>
        <p:spPr>
          <a:xfrm>
            <a:off x="923400" y="3355200"/>
            <a:ext cx="35766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alibri"/>
                <a:ea typeface="Calibri"/>
              </a:rPr>
              <a:t>Service Unavailable - noeud surchargé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1" name="Text 1188"/>
          <p:cNvSpPr/>
          <p:nvPr/>
        </p:nvSpPr>
        <p:spPr>
          <a:xfrm>
            <a:off x="923400" y="3656880"/>
            <a:ext cx="35766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  <a:ea typeface="Calibri"/>
              </a:rPr>
              <a:t>-&gt; Retry apres pause (backoff)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2" name="Shape 1121"/>
          <p:cNvSpPr/>
          <p:nvPr/>
        </p:nvSpPr>
        <p:spPr>
          <a:xfrm>
            <a:off x="4555440" y="2191320"/>
            <a:ext cx="3904560" cy="886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3" name="Shape 1122"/>
          <p:cNvSpPr/>
          <p:nvPr/>
        </p:nvSpPr>
        <p:spPr>
          <a:xfrm>
            <a:off x="4555440" y="2191320"/>
            <a:ext cx="63720" cy="8866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4" name="Shape 1123"/>
          <p:cNvSpPr/>
          <p:nvPr/>
        </p:nvSpPr>
        <p:spPr>
          <a:xfrm>
            <a:off x="4555440" y="2228040"/>
            <a:ext cx="585000" cy="365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5" name="Text 1189"/>
          <p:cNvSpPr/>
          <p:nvPr/>
        </p:nvSpPr>
        <p:spPr>
          <a:xfrm>
            <a:off x="4555440" y="2228040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400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6" name="Text 1190"/>
          <p:cNvSpPr/>
          <p:nvPr/>
        </p:nvSpPr>
        <p:spPr>
          <a:xfrm>
            <a:off x="5222880" y="224604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alibri"/>
                <a:ea typeface="Calibri"/>
              </a:rPr>
              <a:t>Mapping error - type incompatible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7" name="Text 1191"/>
          <p:cNvSpPr/>
          <p:nvPr/>
        </p:nvSpPr>
        <p:spPr>
          <a:xfrm>
            <a:off x="5222880" y="254808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  <a:ea typeface="Calibri"/>
              </a:rPr>
              <a:t>-&gt; Corriger le document, ne pas retry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8" name="Shape 1124"/>
          <p:cNvSpPr/>
          <p:nvPr/>
        </p:nvSpPr>
        <p:spPr>
          <a:xfrm>
            <a:off x="3780000" y="3197160"/>
            <a:ext cx="4680000" cy="886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9" name="Shape 1125"/>
          <p:cNvSpPr/>
          <p:nvPr/>
        </p:nvSpPr>
        <p:spPr>
          <a:xfrm>
            <a:off x="4555440" y="3197160"/>
            <a:ext cx="63720" cy="8866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0" name="Shape 1126"/>
          <p:cNvSpPr/>
          <p:nvPr/>
        </p:nvSpPr>
        <p:spPr>
          <a:xfrm>
            <a:off x="4555440" y="3233880"/>
            <a:ext cx="585000" cy="36540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1" name="Text 1192"/>
          <p:cNvSpPr/>
          <p:nvPr/>
        </p:nvSpPr>
        <p:spPr>
          <a:xfrm>
            <a:off x="4555440" y="3233880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409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Text 1193"/>
          <p:cNvSpPr/>
          <p:nvPr/>
        </p:nvSpPr>
        <p:spPr>
          <a:xfrm>
            <a:off x="5222880" y="325188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alibri"/>
                <a:ea typeface="Calibri"/>
              </a:rPr>
              <a:t>Conflict - create sur ID existant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Text 1194"/>
          <p:cNvSpPr/>
          <p:nvPr/>
        </p:nvSpPr>
        <p:spPr>
          <a:xfrm>
            <a:off x="5222880" y="355392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  <a:ea typeface="Calibri"/>
              </a:rPr>
              <a:t>-&gt; Utiliser index au lieu de create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4" name="Shape 1127"/>
          <p:cNvSpPr/>
          <p:nvPr/>
        </p:nvSpPr>
        <p:spPr>
          <a:xfrm>
            <a:off x="1963440" y="4588560"/>
            <a:ext cx="6676560" cy="36540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5" name="Shape 1128"/>
          <p:cNvSpPr/>
          <p:nvPr/>
        </p:nvSpPr>
        <p:spPr>
          <a:xfrm>
            <a:off x="1963440" y="4588560"/>
            <a:ext cx="91800" cy="3654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6" name="Text 1195"/>
          <p:cNvSpPr/>
          <p:nvPr/>
        </p:nvSpPr>
        <p:spPr>
          <a:xfrm>
            <a:off x="2174400" y="4606920"/>
            <a:ext cx="63867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Regle d'or : ne jamais retry les erreurs 4xx (sauf 429) - elles ne passeront pas mieux au 2e essai.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7" name="Shape 1129"/>
          <p:cNvSpPr/>
          <p:nvPr/>
        </p:nvSpPr>
        <p:spPr>
          <a:xfrm>
            <a:off x="0" y="0"/>
            <a:ext cx="10076400" cy="70380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8" name="Shape 1130"/>
          <p:cNvSpPr/>
          <p:nvPr/>
        </p:nvSpPr>
        <p:spPr>
          <a:xfrm>
            <a:off x="0" y="0"/>
            <a:ext cx="182520" cy="7038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9" name="Text 1196"/>
          <p:cNvSpPr/>
          <p:nvPr/>
        </p:nvSpPr>
        <p:spPr>
          <a:xfrm>
            <a:off x="356760" y="0"/>
            <a:ext cx="8165160" cy="7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Gestion des erreurs &amp; patterns de robustesse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0" name="Shape 1131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1" name="Text 1197"/>
          <p:cNvSpPr/>
          <p:nvPr/>
        </p:nvSpPr>
        <p:spPr>
          <a:xfrm>
            <a:off x="8668440" y="0"/>
            <a:ext cx="1389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2" name="Text 1198"/>
          <p:cNvSpPr/>
          <p:nvPr/>
        </p:nvSpPr>
        <p:spPr>
          <a:xfrm>
            <a:off x="356760" y="786240"/>
            <a:ext cx="9372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La Bulk API retourne HTTP 200 meme en cas d'erreurs partielles. Il faut analyser chaque item et rejouer uniquement les erreurs transitoires avec backoff exponentiel.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3" name="Text 1199"/>
          <p:cNvSpPr/>
          <p:nvPr/>
        </p:nvSpPr>
        <p:spPr>
          <a:xfrm>
            <a:off x="356760" y="130752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Analyse reponse Bulk + retry Java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4" name="Shape 1132"/>
          <p:cNvSpPr/>
          <p:nvPr/>
        </p:nvSpPr>
        <p:spPr>
          <a:xfrm>
            <a:off x="356760" y="1682640"/>
            <a:ext cx="4635720" cy="371196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5" name="Text 1200"/>
          <p:cNvSpPr/>
          <p:nvPr/>
        </p:nvSpPr>
        <p:spPr>
          <a:xfrm>
            <a:off x="457200" y="1764720"/>
            <a:ext cx="4489200" cy="358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public BulkStats bulkWithRetry(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List&lt;Produit&gt; docs, int maxRetries)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throws IOException, InterruptedException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List&lt;Produit&gt; pending = new ArrayList&lt;&gt;(docs);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long success = 0;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for (int attempt = 0;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attempt &lt; maxRetries &amp;&amp; !pending.isEmpty();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attempt++)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BulkRequest.Builder br = new BulkRequest.Builder();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for (Produit p : pending)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br.operations(op -&gt; op.index(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 -&gt; i.index(INDEX).document(p)));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BulkResponse resp = client.bulk(br.build());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List&lt;Produit&gt; toRetry = new ArrayList&lt;&gt;();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for (int k = 0; k &lt; resp.items().size(); k++)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var item = resp.items().get(k);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if (item.error() == null)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success++;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 else if (item.status() == 429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|| item.status() == 503)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toRetry.add(pending.get(k));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 else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log.error("Non-retriable [{}]: {}",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item.status(), item.error().reason());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pending = toRetry;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if (!pending.isEmpty())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// Backoff exponentiel + jitter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long wait = (1L &lt;&lt; attempt) * 1000L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+ (long)(Math.random() * 500);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Thread.sleep(wait);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return new BulkStats(success, pending.size(), 0);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6" name="Text 1201"/>
          <p:cNvSpPr/>
          <p:nvPr/>
        </p:nvSpPr>
        <p:spPr>
          <a:xfrm>
            <a:off x="5239440" y="1307520"/>
            <a:ext cx="463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Codes d'erreur Bulk a gerer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Shape 1133"/>
          <p:cNvSpPr/>
          <p:nvPr/>
        </p:nvSpPr>
        <p:spPr>
          <a:xfrm>
            <a:off x="5239440" y="1682640"/>
            <a:ext cx="4635720" cy="886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8" name="Shape 1134"/>
          <p:cNvSpPr/>
          <p:nvPr/>
        </p:nvSpPr>
        <p:spPr>
          <a:xfrm>
            <a:off x="5239440" y="1682640"/>
            <a:ext cx="63720" cy="8866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9" name="Shape 1135"/>
          <p:cNvSpPr/>
          <p:nvPr/>
        </p:nvSpPr>
        <p:spPr>
          <a:xfrm>
            <a:off x="5239440" y="1719000"/>
            <a:ext cx="585000" cy="3654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0" name="Text 1202"/>
          <p:cNvSpPr/>
          <p:nvPr/>
        </p:nvSpPr>
        <p:spPr>
          <a:xfrm>
            <a:off x="5239440" y="1719000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429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1" name="Text 1203"/>
          <p:cNvSpPr/>
          <p:nvPr/>
        </p:nvSpPr>
        <p:spPr>
          <a:xfrm>
            <a:off x="5906880" y="173736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alibri"/>
                <a:ea typeface="Calibri"/>
              </a:rPr>
              <a:t>Too Many Requests - throttling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Text 1204"/>
          <p:cNvSpPr/>
          <p:nvPr/>
        </p:nvSpPr>
        <p:spPr>
          <a:xfrm>
            <a:off x="5906880" y="203904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  <a:ea typeface="Calibri"/>
              </a:rPr>
              <a:t>-&gt; Retry avec backoff exponentiel + jitter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3" name="Shape 1136"/>
          <p:cNvSpPr/>
          <p:nvPr/>
        </p:nvSpPr>
        <p:spPr>
          <a:xfrm>
            <a:off x="5239440" y="2688480"/>
            <a:ext cx="4635720" cy="886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Shape 1137"/>
          <p:cNvSpPr/>
          <p:nvPr/>
        </p:nvSpPr>
        <p:spPr>
          <a:xfrm>
            <a:off x="5239440" y="2688480"/>
            <a:ext cx="63720" cy="8866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5" name="Shape 1138"/>
          <p:cNvSpPr/>
          <p:nvPr/>
        </p:nvSpPr>
        <p:spPr>
          <a:xfrm>
            <a:off x="5239440" y="2724840"/>
            <a:ext cx="585000" cy="3654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6" name="Text 1205"/>
          <p:cNvSpPr/>
          <p:nvPr/>
        </p:nvSpPr>
        <p:spPr>
          <a:xfrm>
            <a:off x="5239440" y="2724840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503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7" name="Text 1206"/>
          <p:cNvSpPr/>
          <p:nvPr/>
        </p:nvSpPr>
        <p:spPr>
          <a:xfrm>
            <a:off x="5906880" y="274320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alibri"/>
                <a:ea typeface="Calibri"/>
              </a:rPr>
              <a:t>Service Unavailable - noeud surchargé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8" name="Text 1207"/>
          <p:cNvSpPr/>
          <p:nvPr/>
        </p:nvSpPr>
        <p:spPr>
          <a:xfrm>
            <a:off x="5906880" y="304488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  <a:ea typeface="Calibri"/>
              </a:rPr>
              <a:t>-&gt; Retry apres pause (backoff)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Shape 1139"/>
          <p:cNvSpPr/>
          <p:nvPr/>
        </p:nvSpPr>
        <p:spPr>
          <a:xfrm>
            <a:off x="5239440" y="3703320"/>
            <a:ext cx="4635720" cy="886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Shape 1140"/>
          <p:cNvSpPr/>
          <p:nvPr/>
        </p:nvSpPr>
        <p:spPr>
          <a:xfrm>
            <a:off x="5239440" y="3703320"/>
            <a:ext cx="63720" cy="8866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1" name="Shape 1141"/>
          <p:cNvSpPr/>
          <p:nvPr/>
        </p:nvSpPr>
        <p:spPr>
          <a:xfrm>
            <a:off x="5239440" y="3740040"/>
            <a:ext cx="585000" cy="365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2" name="Text 1208"/>
          <p:cNvSpPr/>
          <p:nvPr/>
        </p:nvSpPr>
        <p:spPr>
          <a:xfrm>
            <a:off x="5239440" y="3740040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400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3" name="Text 1209"/>
          <p:cNvSpPr/>
          <p:nvPr/>
        </p:nvSpPr>
        <p:spPr>
          <a:xfrm>
            <a:off x="5906880" y="375804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alibri"/>
                <a:ea typeface="Calibri"/>
              </a:rPr>
              <a:t>Mapping error - type incompatible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4" name="Text 1210"/>
          <p:cNvSpPr/>
          <p:nvPr/>
        </p:nvSpPr>
        <p:spPr>
          <a:xfrm>
            <a:off x="5906880" y="406008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  <a:ea typeface="Calibri"/>
              </a:rPr>
              <a:t>-&gt; Corriger le document, ne pas retry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5" name="Shape 1142"/>
          <p:cNvSpPr/>
          <p:nvPr/>
        </p:nvSpPr>
        <p:spPr>
          <a:xfrm>
            <a:off x="5239440" y="4709160"/>
            <a:ext cx="4635720" cy="886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Shape 1143"/>
          <p:cNvSpPr/>
          <p:nvPr/>
        </p:nvSpPr>
        <p:spPr>
          <a:xfrm>
            <a:off x="5239440" y="4709160"/>
            <a:ext cx="63720" cy="8866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7" name="Shape 1144"/>
          <p:cNvSpPr/>
          <p:nvPr/>
        </p:nvSpPr>
        <p:spPr>
          <a:xfrm>
            <a:off x="5239440" y="4745880"/>
            <a:ext cx="585000" cy="36540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8" name="Text 1211"/>
          <p:cNvSpPr/>
          <p:nvPr/>
        </p:nvSpPr>
        <p:spPr>
          <a:xfrm>
            <a:off x="5239440" y="4745880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409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Text 1212"/>
          <p:cNvSpPr/>
          <p:nvPr/>
        </p:nvSpPr>
        <p:spPr>
          <a:xfrm>
            <a:off x="5906880" y="476388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alibri"/>
                <a:ea typeface="Calibri"/>
              </a:rPr>
              <a:t>Conflict - create sur ID existant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0" name="Text 1213"/>
          <p:cNvSpPr/>
          <p:nvPr/>
        </p:nvSpPr>
        <p:spPr>
          <a:xfrm>
            <a:off x="5906880" y="5065920"/>
            <a:ext cx="3876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  <a:ea typeface="Calibri"/>
              </a:rPr>
              <a:t>-&gt; Utiliser index au lieu de create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1" name="Shape 1145"/>
          <p:cNvSpPr/>
          <p:nvPr/>
        </p:nvSpPr>
        <p:spPr>
          <a:xfrm>
            <a:off x="5239440" y="5632560"/>
            <a:ext cx="4635720" cy="36540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2" name="Shape 1146"/>
          <p:cNvSpPr/>
          <p:nvPr/>
        </p:nvSpPr>
        <p:spPr>
          <a:xfrm>
            <a:off x="5239440" y="5632560"/>
            <a:ext cx="63720" cy="3654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3" name="Text 1214"/>
          <p:cNvSpPr/>
          <p:nvPr/>
        </p:nvSpPr>
        <p:spPr>
          <a:xfrm>
            <a:off x="5385960" y="5650920"/>
            <a:ext cx="4434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Regle d'or : ne jamais retry les erreurs 4xx (sauf 429) - elles ne passeront pas mieux au 2e essai.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4" name="Shape 871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5" name="Shape 872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6" name="Text 902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– Architecture &amp; pipeline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7" name="Shape 873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8" name="Text 903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9" name="Text 904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Data Prepper est le pipeline d'ingestion natif d'OpenSearch. Il ingère des traces OTel, des logs et des métriques via un modèle sources → buffer → processors → sinks.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Shape 874"/>
          <p:cNvSpPr/>
          <p:nvPr/>
        </p:nvSpPr>
        <p:spPr>
          <a:xfrm>
            <a:off x="320040" y="960120"/>
            <a:ext cx="1919880" cy="95976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1" name="Text 905"/>
          <p:cNvSpPr/>
          <p:nvPr/>
        </p:nvSpPr>
        <p:spPr>
          <a:xfrm>
            <a:off x="320040" y="96012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Sources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Text 906"/>
          <p:cNvSpPr/>
          <p:nvPr/>
        </p:nvSpPr>
        <p:spPr>
          <a:xfrm>
            <a:off x="320040" y="1307520"/>
            <a:ext cx="191988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HTTP · Kafka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S3 · OTel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File · Syslog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3" name="Text 907"/>
          <p:cNvSpPr/>
          <p:nvPr/>
        </p:nvSpPr>
        <p:spPr>
          <a:xfrm>
            <a:off x="2240280" y="109728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2b5c"/>
                </a:solidFill>
                <a:latin typeface="Calibri"/>
                <a:ea typeface="Calibri"/>
              </a:rPr>
              <a:t>►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4" name="Shape 875"/>
          <p:cNvSpPr/>
          <p:nvPr/>
        </p:nvSpPr>
        <p:spPr>
          <a:xfrm>
            <a:off x="2514600" y="960120"/>
            <a:ext cx="1919880" cy="95976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5" name="Text 908"/>
          <p:cNvSpPr/>
          <p:nvPr/>
        </p:nvSpPr>
        <p:spPr>
          <a:xfrm>
            <a:off x="2514600" y="96012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Buffer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6" name="Text 909"/>
          <p:cNvSpPr/>
          <p:nvPr/>
        </p:nvSpPr>
        <p:spPr>
          <a:xfrm>
            <a:off x="2514600" y="1307520"/>
            <a:ext cx="191988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In-memory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Kafka Buffer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(backpressure)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Text 910"/>
          <p:cNvSpPr/>
          <p:nvPr/>
        </p:nvSpPr>
        <p:spPr>
          <a:xfrm>
            <a:off x="4434840" y="109728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2b5c"/>
                </a:solidFill>
                <a:latin typeface="Calibri"/>
                <a:ea typeface="Calibri"/>
              </a:rPr>
              <a:t>►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8" name="Shape 876"/>
          <p:cNvSpPr/>
          <p:nvPr/>
        </p:nvSpPr>
        <p:spPr>
          <a:xfrm>
            <a:off x="4709160" y="960120"/>
            <a:ext cx="1919880" cy="9597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9" name="Text 911"/>
          <p:cNvSpPr/>
          <p:nvPr/>
        </p:nvSpPr>
        <p:spPr>
          <a:xfrm>
            <a:off x="4709160" y="96012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Processors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0" name="Text 912"/>
          <p:cNvSpPr/>
          <p:nvPr/>
        </p:nvSpPr>
        <p:spPr>
          <a:xfrm>
            <a:off x="4709160" y="1307520"/>
            <a:ext cx="191988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grok · mutate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aggregate · geoip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otel-trace · drop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1" name="Text 913"/>
          <p:cNvSpPr/>
          <p:nvPr/>
        </p:nvSpPr>
        <p:spPr>
          <a:xfrm>
            <a:off x="6629400" y="109728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2b5c"/>
                </a:solidFill>
                <a:latin typeface="Calibri"/>
                <a:ea typeface="Calibri"/>
              </a:rPr>
              <a:t>►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2" name="Shape 877"/>
          <p:cNvSpPr/>
          <p:nvPr/>
        </p:nvSpPr>
        <p:spPr>
          <a:xfrm>
            <a:off x="6903720" y="960120"/>
            <a:ext cx="1919880" cy="9597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3" name="Text 914"/>
          <p:cNvSpPr/>
          <p:nvPr/>
        </p:nvSpPr>
        <p:spPr>
          <a:xfrm>
            <a:off x="6903720" y="96012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Sinks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Text 915"/>
          <p:cNvSpPr/>
          <p:nvPr/>
        </p:nvSpPr>
        <p:spPr>
          <a:xfrm>
            <a:off x="6903720" y="1307520"/>
            <a:ext cx="191988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OpenSearch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Kafka · S3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e0eef5"/>
                </a:solidFill>
                <a:latin typeface="Calibri"/>
                <a:ea typeface="Calibri"/>
              </a:rPr>
              <a:t>HTTP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5" name="Text 916"/>
          <p:cNvSpPr/>
          <p:nvPr/>
        </p:nvSpPr>
        <p:spPr>
          <a:xfrm>
            <a:off x="320040" y="206640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pipeline YAML – logs Apache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6" name="Shape 878"/>
          <p:cNvSpPr/>
          <p:nvPr/>
        </p:nvSpPr>
        <p:spPr>
          <a:xfrm>
            <a:off x="320040" y="2395800"/>
            <a:ext cx="4205880" cy="246852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7" name="Text 917"/>
          <p:cNvSpPr/>
          <p:nvPr/>
        </p:nvSpPr>
        <p:spPr>
          <a:xfrm>
            <a:off x="411480" y="2468880"/>
            <a:ext cx="4068720" cy="23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/etc/data-prepper/pipelines.yaml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log-pipeline: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source: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http: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ssl: false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port: 2021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processor: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grok: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match: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message: ['%{COMMONAPACHELOG}']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date: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from_time_received: true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destination: "@timestamp"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drop_events: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drop_when: '/status == "200"'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sink: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opensearch: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hosts: ["https://os:9200"]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username: "admin"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password: "${OS_PASSWORD}"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index: "apache-logs-%{yyyy.MM.dd}"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bulk_size: 4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flush_timeout: 60000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8" name="Text 918"/>
          <p:cNvSpPr/>
          <p:nvPr/>
        </p:nvSpPr>
        <p:spPr>
          <a:xfrm>
            <a:off x="4754880" y="206640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Installation Docker &amp; endpoints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9" name="Shape 879"/>
          <p:cNvSpPr/>
          <p:nvPr/>
        </p:nvSpPr>
        <p:spPr>
          <a:xfrm>
            <a:off x="4754880" y="2395800"/>
            <a:ext cx="4205880" cy="141696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0" name="Text 919"/>
          <p:cNvSpPr/>
          <p:nvPr/>
        </p:nvSpPr>
        <p:spPr>
          <a:xfrm>
            <a:off x="4846320" y="2468880"/>
            <a:ext cx="4068720" cy="13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Démarrer Data Prepper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docker run -d \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-v /etc/data-prepper:/usr/share/\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data-prepper/config \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-p 2021:2021 -p 4900:4900 \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opensearchproject/data-prepper:latest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Endpoints de gestion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GET  http://localhost:4900/list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GET  http://localhost:4900/metrics/prometheus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POST http://localhost:4900/shutdown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Shape 880"/>
          <p:cNvSpPr/>
          <p:nvPr/>
        </p:nvSpPr>
        <p:spPr>
          <a:xfrm>
            <a:off x="4754880" y="3877200"/>
            <a:ext cx="4205880" cy="56664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2" name="Shape 881"/>
          <p:cNvSpPr/>
          <p:nvPr/>
        </p:nvSpPr>
        <p:spPr>
          <a:xfrm>
            <a:off x="4754880" y="3877200"/>
            <a:ext cx="54360" cy="566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3" name="Text 920"/>
          <p:cNvSpPr/>
          <p:nvPr/>
        </p:nvSpPr>
        <p:spPr>
          <a:xfrm>
            <a:off x="4883040" y="3931920"/>
            <a:ext cx="40230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Data Prepper est le seul outil à peupler nativement les index otel-v1-apm-* requis par Trace Analytics (OpenTelemetry) dans OpenSearch Dashboards.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Shape 882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5" name="Shape 883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6" name="Text 921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– Sources et Processors disponibles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7" name="Shape 884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8" name="Text 922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9" name="Text 923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Data Prepper propose un catalogue de sources et processors couvrant logs, métriques, traces et événements. Les pipelines peuvent être chaînés pour des architectures complexes.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Text 924"/>
          <p:cNvSpPr/>
          <p:nvPr/>
        </p:nvSpPr>
        <p:spPr>
          <a:xfrm>
            <a:off x="320040" y="118872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Sources disponibles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1" name="Shape 885"/>
          <p:cNvSpPr/>
          <p:nvPr/>
        </p:nvSpPr>
        <p:spPr>
          <a:xfrm>
            <a:off x="320040" y="1490400"/>
            <a:ext cx="4205880" cy="5115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2" name="Shape 886"/>
          <p:cNvSpPr/>
          <p:nvPr/>
        </p:nvSpPr>
        <p:spPr>
          <a:xfrm>
            <a:off x="320040" y="1490400"/>
            <a:ext cx="54360" cy="51156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3" name="Text 925"/>
          <p:cNvSpPr/>
          <p:nvPr/>
        </p:nvSpPr>
        <p:spPr>
          <a:xfrm>
            <a:off x="457200" y="151776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ourier New"/>
                <a:ea typeface="Courier New"/>
              </a:rPr>
              <a:t>http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4" name="Text 926"/>
          <p:cNvSpPr/>
          <p:nvPr/>
        </p:nvSpPr>
        <p:spPr>
          <a:xfrm>
            <a:off x="457200" y="1746360"/>
            <a:ext cx="3931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Réception de logs/événements via HTTP. Port configurable. TLS supporté.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Shape 887"/>
          <p:cNvSpPr/>
          <p:nvPr/>
        </p:nvSpPr>
        <p:spPr>
          <a:xfrm>
            <a:off x="320040" y="2094120"/>
            <a:ext cx="4205880" cy="5115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Shape 888"/>
          <p:cNvSpPr/>
          <p:nvPr/>
        </p:nvSpPr>
        <p:spPr>
          <a:xfrm>
            <a:off x="320040" y="2094120"/>
            <a:ext cx="54360" cy="5115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7" name="Text 927"/>
          <p:cNvSpPr/>
          <p:nvPr/>
        </p:nvSpPr>
        <p:spPr>
          <a:xfrm>
            <a:off x="457200" y="212148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ourier New"/>
                <a:ea typeface="Courier New"/>
              </a:rPr>
              <a:t>kafka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" name="Text 928"/>
          <p:cNvSpPr/>
          <p:nvPr/>
        </p:nvSpPr>
        <p:spPr>
          <a:xfrm>
            <a:off x="457200" y="2350080"/>
            <a:ext cx="3931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Consommation de topics Kafka. group_id, auto.offset.reset, SASL/TLS.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9" name="Shape 889"/>
          <p:cNvSpPr/>
          <p:nvPr/>
        </p:nvSpPr>
        <p:spPr>
          <a:xfrm>
            <a:off x="320040" y="2697480"/>
            <a:ext cx="4205880" cy="5115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0" name="Shape 890"/>
          <p:cNvSpPr/>
          <p:nvPr/>
        </p:nvSpPr>
        <p:spPr>
          <a:xfrm>
            <a:off x="320040" y="2697480"/>
            <a:ext cx="54360" cy="51156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1" name="Text 929"/>
          <p:cNvSpPr/>
          <p:nvPr/>
        </p:nvSpPr>
        <p:spPr>
          <a:xfrm>
            <a:off x="457200" y="272484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ourier New"/>
                <a:ea typeface="Courier New"/>
              </a:rPr>
              <a:t>s3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2" name="Text 930"/>
          <p:cNvSpPr/>
          <p:nvPr/>
        </p:nvSpPr>
        <p:spPr>
          <a:xfrm>
            <a:off x="457200" y="2953440"/>
            <a:ext cx="3931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Lecture de fichiers S3 (SQS notification ou scan). CSV, JSON, Parquet.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Shape 891"/>
          <p:cNvSpPr/>
          <p:nvPr/>
        </p:nvSpPr>
        <p:spPr>
          <a:xfrm>
            <a:off x="320040" y="3300840"/>
            <a:ext cx="4205880" cy="5115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Shape 892"/>
          <p:cNvSpPr/>
          <p:nvPr/>
        </p:nvSpPr>
        <p:spPr>
          <a:xfrm>
            <a:off x="320040" y="3300840"/>
            <a:ext cx="54360" cy="511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5" name="Text 931"/>
          <p:cNvSpPr/>
          <p:nvPr/>
        </p:nvSpPr>
        <p:spPr>
          <a:xfrm>
            <a:off x="457200" y="332856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ourier New"/>
                <a:ea typeface="Courier New"/>
              </a:rPr>
              <a:t>otel_trace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6" name="Text 932"/>
          <p:cNvSpPr/>
          <p:nvPr/>
        </p:nvSpPr>
        <p:spPr>
          <a:xfrm>
            <a:off x="457200" y="3557160"/>
            <a:ext cx="3931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Réception de traces OpenTelemetry (OTLP). Port 21890 (gRPC).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7" name="Shape 893"/>
          <p:cNvSpPr/>
          <p:nvPr/>
        </p:nvSpPr>
        <p:spPr>
          <a:xfrm>
            <a:off x="320040" y="3904560"/>
            <a:ext cx="4205880" cy="5115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8" name="Shape 894"/>
          <p:cNvSpPr/>
          <p:nvPr/>
        </p:nvSpPr>
        <p:spPr>
          <a:xfrm>
            <a:off x="320040" y="3904560"/>
            <a:ext cx="54360" cy="5115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9" name="Text 933"/>
          <p:cNvSpPr/>
          <p:nvPr/>
        </p:nvSpPr>
        <p:spPr>
          <a:xfrm>
            <a:off x="457200" y="393192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ourier New"/>
                <a:ea typeface="Courier New"/>
              </a:rPr>
              <a:t>file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0" name="Text 934"/>
          <p:cNvSpPr/>
          <p:nvPr/>
        </p:nvSpPr>
        <p:spPr>
          <a:xfrm>
            <a:off x="457200" y="4160520"/>
            <a:ext cx="3931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Lecture de fichiers locaux. Codec: json, newline_delimited.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Shape 895"/>
          <p:cNvSpPr/>
          <p:nvPr/>
        </p:nvSpPr>
        <p:spPr>
          <a:xfrm>
            <a:off x="320040" y="4507920"/>
            <a:ext cx="4205880" cy="5115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2" name="Shape 896"/>
          <p:cNvSpPr/>
          <p:nvPr/>
        </p:nvSpPr>
        <p:spPr>
          <a:xfrm>
            <a:off x="320040" y="4507920"/>
            <a:ext cx="54360" cy="51156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3" name="Text 935"/>
          <p:cNvSpPr/>
          <p:nvPr/>
        </p:nvSpPr>
        <p:spPr>
          <a:xfrm>
            <a:off x="457200" y="453528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2b5c"/>
                </a:solidFill>
                <a:latin typeface="Courier New"/>
                <a:ea typeface="Courier New"/>
              </a:rPr>
              <a:t>syslog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4" name="Text 936"/>
          <p:cNvSpPr/>
          <p:nvPr/>
        </p:nvSpPr>
        <p:spPr>
          <a:xfrm>
            <a:off x="457200" y="4763880"/>
            <a:ext cx="3931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Réception UDP/TCP syslog. RFC 3164 et RFC 5424 supportés.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5" name="Text 937"/>
          <p:cNvSpPr/>
          <p:nvPr/>
        </p:nvSpPr>
        <p:spPr>
          <a:xfrm>
            <a:off x="4754880" y="11887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Processors disponibles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6" name="Shape 897"/>
          <p:cNvSpPr/>
          <p:nvPr/>
        </p:nvSpPr>
        <p:spPr>
          <a:xfrm>
            <a:off x="4754880" y="1490400"/>
            <a:ext cx="4205880" cy="3837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Shape 898"/>
          <p:cNvSpPr/>
          <p:nvPr/>
        </p:nvSpPr>
        <p:spPr>
          <a:xfrm>
            <a:off x="4754880" y="1490400"/>
            <a:ext cx="54360" cy="38376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8" name="Text 938"/>
          <p:cNvSpPr/>
          <p:nvPr/>
        </p:nvSpPr>
        <p:spPr>
          <a:xfrm>
            <a:off x="4892040" y="151776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2b5c"/>
                </a:solidFill>
                <a:latin typeface="Courier New"/>
                <a:ea typeface="Courier New"/>
              </a:rPr>
              <a:t>grok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9" name="Text 939"/>
          <p:cNvSpPr/>
          <p:nvPr/>
        </p:nvSpPr>
        <p:spPr>
          <a:xfrm>
            <a:off x="4892040" y="1691640"/>
            <a:ext cx="397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Extraction de champs via patterns (COMMONAPACHELOG, SYSLOGLINE…).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0" name="Shape 899"/>
          <p:cNvSpPr/>
          <p:nvPr/>
        </p:nvSpPr>
        <p:spPr>
          <a:xfrm>
            <a:off x="4754880" y="1947600"/>
            <a:ext cx="4205880" cy="3837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1" name="Shape 900"/>
          <p:cNvSpPr/>
          <p:nvPr/>
        </p:nvSpPr>
        <p:spPr>
          <a:xfrm>
            <a:off x="4754880" y="1947600"/>
            <a:ext cx="54360" cy="38376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2" name="Text 940"/>
          <p:cNvSpPr/>
          <p:nvPr/>
        </p:nvSpPr>
        <p:spPr>
          <a:xfrm>
            <a:off x="4892040" y="197496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2b5c"/>
                </a:solidFill>
                <a:latin typeface="Courier New"/>
                <a:ea typeface="Courier New"/>
              </a:rPr>
              <a:t>date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3" name="Text 941"/>
          <p:cNvSpPr/>
          <p:nvPr/>
        </p:nvSpPr>
        <p:spPr>
          <a:xfrm>
            <a:off x="4892040" y="2148840"/>
            <a:ext cx="397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Parsing de dates vers @timestamp. Formats strptime configurables.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Shape 901"/>
          <p:cNvSpPr/>
          <p:nvPr/>
        </p:nvSpPr>
        <p:spPr>
          <a:xfrm>
            <a:off x="4754880" y="2404800"/>
            <a:ext cx="4205880" cy="3837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Shape 902"/>
          <p:cNvSpPr/>
          <p:nvPr/>
        </p:nvSpPr>
        <p:spPr>
          <a:xfrm>
            <a:off x="4754880" y="2404800"/>
            <a:ext cx="54360" cy="3837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6" name="Text 942"/>
          <p:cNvSpPr/>
          <p:nvPr/>
        </p:nvSpPr>
        <p:spPr>
          <a:xfrm>
            <a:off x="4892040" y="243216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2b5c"/>
                </a:solidFill>
                <a:latin typeface="Courier New"/>
                <a:ea typeface="Courier New"/>
              </a:rPr>
              <a:t>mutate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7" name="Text 943"/>
          <p:cNvSpPr/>
          <p:nvPr/>
        </p:nvSpPr>
        <p:spPr>
          <a:xfrm>
            <a:off x="4892040" y="2606040"/>
            <a:ext cx="397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rename, copy, uppercase, lowercase, gsub, add_entries, remove_entries.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8" name="Shape 903"/>
          <p:cNvSpPr/>
          <p:nvPr/>
        </p:nvSpPr>
        <p:spPr>
          <a:xfrm>
            <a:off x="4754880" y="2862000"/>
            <a:ext cx="4205880" cy="3837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Shape 904"/>
          <p:cNvSpPr/>
          <p:nvPr/>
        </p:nvSpPr>
        <p:spPr>
          <a:xfrm>
            <a:off x="4754880" y="2862000"/>
            <a:ext cx="54360" cy="3837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0" name="Text 944"/>
          <p:cNvSpPr/>
          <p:nvPr/>
        </p:nvSpPr>
        <p:spPr>
          <a:xfrm>
            <a:off x="4892040" y="288936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2b5c"/>
                </a:solidFill>
                <a:latin typeface="Courier New"/>
                <a:ea typeface="Courier New"/>
              </a:rPr>
              <a:t>geoip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Text 945"/>
          <p:cNvSpPr/>
          <p:nvPr/>
        </p:nvSpPr>
        <p:spPr>
          <a:xfrm>
            <a:off x="4892040" y="3063240"/>
            <a:ext cx="397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Enrichissement géographique depuis une IP. Champs lat/lon/city/country.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2" name="Shape 905"/>
          <p:cNvSpPr/>
          <p:nvPr/>
        </p:nvSpPr>
        <p:spPr>
          <a:xfrm>
            <a:off x="4754880" y="3319200"/>
            <a:ext cx="4205880" cy="3837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3" name="Shape 906"/>
          <p:cNvSpPr/>
          <p:nvPr/>
        </p:nvSpPr>
        <p:spPr>
          <a:xfrm>
            <a:off x="4754880" y="3319200"/>
            <a:ext cx="54360" cy="38376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4" name="Text 946"/>
          <p:cNvSpPr/>
          <p:nvPr/>
        </p:nvSpPr>
        <p:spPr>
          <a:xfrm>
            <a:off x="4892040" y="334656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2b5c"/>
                </a:solidFill>
                <a:latin typeface="Courier New"/>
                <a:ea typeface="Courier New"/>
              </a:rPr>
              <a:t>aggregate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5" name="Text 947"/>
          <p:cNvSpPr/>
          <p:nvPr/>
        </p:nvSpPr>
        <p:spPr>
          <a:xfrm>
            <a:off x="4892040" y="3520440"/>
            <a:ext cx="397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Aggrégation d'événements (count, sum, histogram) sur fenêtre temporelle.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6" name="Shape 907"/>
          <p:cNvSpPr/>
          <p:nvPr/>
        </p:nvSpPr>
        <p:spPr>
          <a:xfrm>
            <a:off x="4754880" y="3776400"/>
            <a:ext cx="4205880" cy="3837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Shape 908"/>
          <p:cNvSpPr/>
          <p:nvPr/>
        </p:nvSpPr>
        <p:spPr>
          <a:xfrm>
            <a:off x="4754880" y="3776400"/>
            <a:ext cx="54360" cy="383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8" name="Text 948"/>
          <p:cNvSpPr/>
          <p:nvPr/>
        </p:nvSpPr>
        <p:spPr>
          <a:xfrm>
            <a:off x="4892040" y="380376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2b5c"/>
                </a:solidFill>
                <a:latin typeface="Courier New"/>
                <a:ea typeface="Courier New"/>
              </a:rPr>
              <a:t>drop_events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9" name="Text 949"/>
          <p:cNvSpPr/>
          <p:nvPr/>
        </p:nvSpPr>
        <p:spPr>
          <a:xfrm>
            <a:off x="4892040" y="3977640"/>
            <a:ext cx="397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Suppression d'événements selon condition (drop_when: expression).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0" name="Shape 909"/>
          <p:cNvSpPr/>
          <p:nvPr/>
        </p:nvSpPr>
        <p:spPr>
          <a:xfrm>
            <a:off x="4754880" y="4233600"/>
            <a:ext cx="4205880" cy="3837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Shape 910"/>
          <p:cNvSpPr/>
          <p:nvPr/>
        </p:nvSpPr>
        <p:spPr>
          <a:xfrm>
            <a:off x="4754880" y="4233600"/>
            <a:ext cx="54360" cy="3837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2" name="Text 950"/>
          <p:cNvSpPr/>
          <p:nvPr/>
        </p:nvSpPr>
        <p:spPr>
          <a:xfrm>
            <a:off x="4892040" y="426096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2b5c"/>
                </a:solidFill>
                <a:latin typeface="Courier New"/>
                <a:ea typeface="Courier New"/>
              </a:rPr>
              <a:t>otel_trace_raw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3" name="Text 951"/>
          <p:cNvSpPr/>
          <p:nvPr/>
        </p:nvSpPr>
        <p:spPr>
          <a:xfrm>
            <a:off x="4892040" y="4434840"/>
            <a:ext cx="397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Transformation traces OTel → format OpenSearch APM natif.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4" name="Shape 911"/>
          <p:cNvSpPr/>
          <p:nvPr/>
        </p:nvSpPr>
        <p:spPr>
          <a:xfrm>
            <a:off x="4754880" y="4690800"/>
            <a:ext cx="4205880" cy="3837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5" name="Shape 912"/>
          <p:cNvSpPr/>
          <p:nvPr/>
        </p:nvSpPr>
        <p:spPr>
          <a:xfrm>
            <a:off x="4754880" y="4690800"/>
            <a:ext cx="54360" cy="38376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6" name="Text 952"/>
          <p:cNvSpPr/>
          <p:nvPr/>
        </p:nvSpPr>
        <p:spPr>
          <a:xfrm>
            <a:off x="4892040" y="471816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2b5c"/>
                </a:solidFill>
                <a:latin typeface="Courier New"/>
                <a:ea typeface="Courier New"/>
              </a:rPr>
              <a:t>string_converter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7" name="Text 953"/>
          <p:cNvSpPr/>
          <p:nvPr/>
        </p:nvSpPr>
        <p:spPr>
          <a:xfrm>
            <a:off x="4892040" y="4892040"/>
            <a:ext cx="397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Conversion simple de champs string (upper_case, lower_case).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Shape 913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9" name="Shape 914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0" name="Text 954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– Pipeline traces OpenTelemetry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1" name="Shape 915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2" name="Text 955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3" name="Text 956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Data Prepper est la solution de référence pour ingérer des traces OpenTelemetry dans OpenSearch. Le pipeline otel-trace-pipeline transforme les spans en index APM natifs.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4" name="Text 957"/>
          <p:cNvSpPr/>
          <p:nvPr/>
        </p:nvSpPr>
        <p:spPr>
          <a:xfrm>
            <a:off x="320040" y="118872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Pipeline OTel complet (recommandé)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5" name="Shape 916"/>
          <p:cNvSpPr/>
          <p:nvPr/>
        </p:nvSpPr>
        <p:spPr>
          <a:xfrm>
            <a:off x="320040" y="1527120"/>
            <a:ext cx="4205880" cy="327312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6" name="Text 958"/>
          <p:cNvSpPr/>
          <p:nvPr/>
        </p:nvSpPr>
        <p:spPr>
          <a:xfrm>
            <a:off x="411480" y="1600200"/>
            <a:ext cx="4068720" cy="31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pipelines.yaml — traces OTel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otel-trace-pipeline: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delay: "100"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source: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otel_trace_source: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ssl: false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port: 21890        # gRPC OTLP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buffer: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bounded_blocking: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buffer_size: 25600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batch_size:  400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processor: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otel_trace_raw_processor: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sink: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pipeline: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name: raw-trace-pipeline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pipeline: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name: service-map-pipeline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raw-trace-pipeline: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source: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pipeline: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name: otel-trace-pipeline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processor: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otel_trace_raw_processor: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sink: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opensearch: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hosts: ["https://os:9200"]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trace_analytics_raw: true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service-map-pipeline: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source: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pipeline: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name: otel-trace-pipeline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processor: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service_map_stateful: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sink: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- opensearch: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trace_analytics_service_map: true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Shape 917"/>
          <p:cNvSpPr/>
          <p:nvPr/>
        </p:nvSpPr>
        <p:spPr>
          <a:xfrm>
            <a:off x="4754880" y="152712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8" name="Shape 918"/>
          <p:cNvSpPr/>
          <p:nvPr/>
        </p:nvSpPr>
        <p:spPr>
          <a:xfrm>
            <a:off x="4754880" y="1527120"/>
            <a:ext cx="54360" cy="9871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9" name="Text 959"/>
          <p:cNvSpPr/>
          <p:nvPr/>
        </p:nvSpPr>
        <p:spPr>
          <a:xfrm>
            <a:off x="4883040" y="156348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Index créés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0" name="Shape 919"/>
          <p:cNvSpPr/>
          <p:nvPr/>
        </p:nvSpPr>
        <p:spPr>
          <a:xfrm>
            <a:off x="7406640" y="1581840"/>
            <a:ext cx="1462680" cy="1825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1" name="Text 960"/>
          <p:cNvSpPr/>
          <p:nvPr/>
        </p:nvSpPr>
        <p:spPr>
          <a:xfrm>
            <a:off x="7406640" y="158184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OTel → APM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2" name="Text 961"/>
          <p:cNvSpPr/>
          <p:nvPr/>
        </p:nvSpPr>
        <p:spPr>
          <a:xfrm>
            <a:off x="4883040" y="181980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otel-v1-apm-span-* · otel-v1-apm-service-map · Compatibles Trace Analytics Dashboard.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Shape 920"/>
          <p:cNvSpPr/>
          <p:nvPr/>
        </p:nvSpPr>
        <p:spPr>
          <a:xfrm>
            <a:off x="4754880" y="262440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Shape 921"/>
          <p:cNvSpPr/>
          <p:nvPr/>
        </p:nvSpPr>
        <p:spPr>
          <a:xfrm>
            <a:off x="4754880" y="2624400"/>
            <a:ext cx="54360" cy="9871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5" name="Text 962"/>
          <p:cNvSpPr/>
          <p:nvPr/>
        </p:nvSpPr>
        <p:spPr>
          <a:xfrm>
            <a:off x="4883040" y="266076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trace_analytics_raw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6" name="Shape 922"/>
          <p:cNvSpPr/>
          <p:nvPr/>
        </p:nvSpPr>
        <p:spPr>
          <a:xfrm>
            <a:off x="7406640" y="2679120"/>
            <a:ext cx="1462680" cy="1825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7" name="Text 963"/>
          <p:cNvSpPr/>
          <p:nvPr/>
        </p:nvSpPr>
        <p:spPr>
          <a:xfrm>
            <a:off x="7406640" y="267912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Config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8" name="Text 964"/>
          <p:cNvSpPr/>
          <p:nvPr/>
        </p:nvSpPr>
        <p:spPr>
          <a:xfrm>
            <a:off x="4883040" y="291708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true : Data Prepper crée automatiquement le template d'index et l'ISM associé.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9" name="Shape 923"/>
          <p:cNvSpPr/>
          <p:nvPr/>
        </p:nvSpPr>
        <p:spPr>
          <a:xfrm>
            <a:off x="4754880" y="372168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Shape 924"/>
          <p:cNvSpPr/>
          <p:nvPr/>
        </p:nvSpPr>
        <p:spPr>
          <a:xfrm>
            <a:off x="4754880" y="3721680"/>
            <a:ext cx="54360" cy="9871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1" name="Text 965"/>
          <p:cNvSpPr/>
          <p:nvPr/>
        </p:nvSpPr>
        <p:spPr>
          <a:xfrm>
            <a:off x="4883040" y="375804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Service Map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2" name="Shape 925"/>
          <p:cNvSpPr/>
          <p:nvPr/>
        </p:nvSpPr>
        <p:spPr>
          <a:xfrm>
            <a:off x="7406640" y="3776400"/>
            <a:ext cx="1462680" cy="1825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3" name="Text 966"/>
          <p:cNvSpPr/>
          <p:nvPr/>
        </p:nvSpPr>
        <p:spPr>
          <a:xfrm>
            <a:off x="7406640" y="377640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Graph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Text 967"/>
          <p:cNvSpPr/>
          <p:nvPr/>
        </p:nvSpPr>
        <p:spPr>
          <a:xfrm>
            <a:off x="4883040" y="401436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service_map_stateful : calcule les dépendances inter-services depuis les spans parents/enfants.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5" name="Shape 926"/>
          <p:cNvSpPr/>
          <p:nvPr/>
        </p:nvSpPr>
        <p:spPr>
          <a:xfrm>
            <a:off x="4754880" y="481896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6" name="Shape 927"/>
          <p:cNvSpPr/>
          <p:nvPr/>
        </p:nvSpPr>
        <p:spPr>
          <a:xfrm>
            <a:off x="4754880" y="4818960"/>
            <a:ext cx="54360" cy="9871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7" name="Text 968"/>
          <p:cNvSpPr/>
          <p:nvPr/>
        </p:nvSpPr>
        <p:spPr>
          <a:xfrm>
            <a:off x="4883040" y="485532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Configuration client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8" name="Shape 928"/>
          <p:cNvSpPr/>
          <p:nvPr/>
        </p:nvSpPr>
        <p:spPr>
          <a:xfrm>
            <a:off x="7406640" y="4873680"/>
            <a:ext cx="1462680" cy="1825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9" name="Text 969"/>
          <p:cNvSpPr/>
          <p:nvPr/>
        </p:nvSpPr>
        <p:spPr>
          <a:xfrm>
            <a:off x="7406640" y="487368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OTel SDK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0" name="Text 970"/>
          <p:cNvSpPr/>
          <p:nvPr/>
        </p:nvSpPr>
        <p:spPr>
          <a:xfrm>
            <a:off x="4883040" y="511164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OTEL_EXPORTER_OTLP_ENDPOINT=http://data-prepper:21890 · Compatible toute app OTel.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1" name="Shape 929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2" name="Shape 930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3" name="Text 971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 – Architecture &amp; concepts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4" name="Shape 931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5" name="Text 972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6" name="Text 973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Kafka Connect est un framework d'intégration distribué de l'écosystème Apache Kafka. Le connecteur OpenSearch Sink permet d'ingérer des topics Kafka vers OpenSearch en temps réel.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Shape 932"/>
          <p:cNvSpPr/>
          <p:nvPr/>
        </p:nvSpPr>
        <p:spPr>
          <a:xfrm>
            <a:off x="320040" y="1234440"/>
            <a:ext cx="1535760" cy="56664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8" name="Text 974"/>
          <p:cNvSpPr/>
          <p:nvPr/>
        </p:nvSpPr>
        <p:spPr>
          <a:xfrm>
            <a:off x="320040" y="1234440"/>
            <a:ext cx="1535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Producers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Applications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Text 975"/>
          <p:cNvSpPr/>
          <p:nvPr/>
        </p:nvSpPr>
        <p:spPr>
          <a:xfrm>
            <a:off x="1856160" y="132588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2b5c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0" name="Shape 933"/>
          <p:cNvSpPr/>
          <p:nvPr/>
        </p:nvSpPr>
        <p:spPr>
          <a:xfrm>
            <a:off x="2084760" y="1234440"/>
            <a:ext cx="1535760" cy="56664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1" name="Text 976"/>
          <p:cNvSpPr/>
          <p:nvPr/>
        </p:nvSpPr>
        <p:spPr>
          <a:xfrm>
            <a:off x="2084760" y="1234440"/>
            <a:ext cx="1535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Apache Kafka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Brokers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2" name="Text 977"/>
          <p:cNvSpPr/>
          <p:nvPr/>
        </p:nvSpPr>
        <p:spPr>
          <a:xfrm>
            <a:off x="3620880" y="132588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2b5c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3" name="Shape 934"/>
          <p:cNvSpPr/>
          <p:nvPr/>
        </p:nvSpPr>
        <p:spPr>
          <a:xfrm>
            <a:off x="3849480" y="1234440"/>
            <a:ext cx="1535760" cy="56664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4" name="Text 978"/>
          <p:cNvSpPr/>
          <p:nvPr/>
        </p:nvSpPr>
        <p:spPr>
          <a:xfrm>
            <a:off x="3849480" y="1234440"/>
            <a:ext cx="1535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Worker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Text 979"/>
          <p:cNvSpPr/>
          <p:nvPr/>
        </p:nvSpPr>
        <p:spPr>
          <a:xfrm>
            <a:off x="5385960" y="132588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2b5c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6" name="Shape 935"/>
          <p:cNvSpPr/>
          <p:nvPr/>
        </p:nvSpPr>
        <p:spPr>
          <a:xfrm>
            <a:off x="5614560" y="1234440"/>
            <a:ext cx="1535760" cy="56664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7" name="Text 980"/>
          <p:cNvSpPr/>
          <p:nvPr/>
        </p:nvSpPr>
        <p:spPr>
          <a:xfrm>
            <a:off x="5614560" y="1234440"/>
            <a:ext cx="1535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Sink Connector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8" name="Text 981"/>
          <p:cNvSpPr/>
          <p:nvPr/>
        </p:nvSpPr>
        <p:spPr>
          <a:xfrm>
            <a:off x="7150680" y="132588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2b5c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9" name="Shape 936"/>
          <p:cNvSpPr/>
          <p:nvPr/>
        </p:nvSpPr>
        <p:spPr>
          <a:xfrm>
            <a:off x="7379280" y="1234440"/>
            <a:ext cx="1535760" cy="566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0" name="Text 982"/>
          <p:cNvSpPr/>
          <p:nvPr/>
        </p:nvSpPr>
        <p:spPr>
          <a:xfrm>
            <a:off x="7379280" y="1234440"/>
            <a:ext cx="1535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Cluster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1" name="Text 983"/>
          <p:cNvSpPr/>
          <p:nvPr/>
        </p:nvSpPr>
        <p:spPr>
          <a:xfrm>
            <a:off x="320040" y="170064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Concepts clés Kafka Connect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2" name="Shape 937"/>
          <p:cNvSpPr/>
          <p:nvPr/>
        </p:nvSpPr>
        <p:spPr>
          <a:xfrm>
            <a:off x="320040" y="1993320"/>
            <a:ext cx="4205880" cy="4384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3" name="Shape 938"/>
          <p:cNvSpPr/>
          <p:nvPr/>
        </p:nvSpPr>
        <p:spPr>
          <a:xfrm>
            <a:off x="320040" y="1993320"/>
            <a:ext cx="54360" cy="4384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4" name="Text 984"/>
          <p:cNvSpPr/>
          <p:nvPr/>
        </p:nvSpPr>
        <p:spPr>
          <a:xfrm>
            <a:off x="457200" y="2020680"/>
            <a:ext cx="1005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Connector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5" name="Text 985"/>
          <p:cNvSpPr/>
          <p:nvPr/>
        </p:nvSpPr>
        <p:spPr>
          <a:xfrm>
            <a:off x="457200" y="2231280"/>
            <a:ext cx="3931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Plugin qui définit source ou sink. Configuré via REST API ou fichier JSON.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6" name="Shape 939"/>
          <p:cNvSpPr/>
          <p:nvPr/>
        </p:nvSpPr>
        <p:spPr>
          <a:xfrm>
            <a:off x="320040" y="2496240"/>
            <a:ext cx="4205880" cy="4384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" name="Shape 940"/>
          <p:cNvSpPr/>
          <p:nvPr/>
        </p:nvSpPr>
        <p:spPr>
          <a:xfrm>
            <a:off x="320040" y="2496240"/>
            <a:ext cx="54360" cy="43848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8" name="Text 986"/>
          <p:cNvSpPr/>
          <p:nvPr/>
        </p:nvSpPr>
        <p:spPr>
          <a:xfrm>
            <a:off x="457200" y="2523600"/>
            <a:ext cx="1005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Task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9" name="Text 987"/>
          <p:cNvSpPr/>
          <p:nvPr/>
        </p:nvSpPr>
        <p:spPr>
          <a:xfrm>
            <a:off x="457200" y="2734200"/>
            <a:ext cx="3931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Thread d'exécution du connector. Parallélisme configurable (tasks.max).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0" name="Shape 941"/>
          <p:cNvSpPr/>
          <p:nvPr/>
        </p:nvSpPr>
        <p:spPr>
          <a:xfrm>
            <a:off x="320040" y="2999160"/>
            <a:ext cx="4205880" cy="4384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Shape 942"/>
          <p:cNvSpPr/>
          <p:nvPr/>
        </p:nvSpPr>
        <p:spPr>
          <a:xfrm>
            <a:off x="320040" y="2999160"/>
            <a:ext cx="54360" cy="4384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2" name="Text 988"/>
          <p:cNvSpPr/>
          <p:nvPr/>
        </p:nvSpPr>
        <p:spPr>
          <a:xfrm>
            <a:off x="457200" y="3026520"/>
            <a:ext cx="1005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Worker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Text 989"/>
          <p:cNvSpPr/>
          <p:nvPr/>
        </p:nvSpPr>
        <p:spPr>
          <a:xfrm>
            <a:off x="457200" y="3237120"/>
            <a:ext cx="3931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Processus JVM hébergeant les connectors. Mode standalone ou distribué.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4" name="Shape 943"/>
          <p:cNvSpPr/>
          <p:nvPr/>
        </p:nvSpPr>
        <p:spPr>
          <a:xfrm>
            <a:off x="320040" y="3502080"/>
            <a:ext cx="4205880" cy="4384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5" name="Shape 944"/>
          <p:cNvSpPr/>
          <p:nvPr/>
        </p:nvSpPr>
        <p:spPr>
          <a:xfrm>
            <a:off x="320040" y="3502080"/>
            <a:ext cx="54360" cy="4384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6" name="Text 990"/>
          <p:cNvSpPr/>
          <p:nvPr/>
        </p:nvSpPr>
        <p:spPr>
          <a:xfrm>
            <a:off x="457200" y="3529440"/>
            <a:ext cx="1005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Offset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Text 991"/>
          <p:cNvSpPr/>
          <p:nvPr/>
        </p:nvSpPr>
        <p:spPr>
          <a:xfrm>
            <a:off x="457200" y="3740040"/>
            <a:ext cx="3931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Position dans le topic Kafka. Committée après ingestion réussie.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8" name="Shape 945"/>
          <p:cNvSpPr/>
          <p:nvPr/>
        </p:nvSpPr>
        <p:spPr>
          <a:xfrm>
            <a:off x="320040" y="4005000"/>
            <a:ext cx="4205880" cy="4384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9" name="Shape 946"/>
          <p:cNvSpPr/>
          <p:nvPr/>
        </p:nvSpPr>
        <p:spPr>
          <a:xfrm>
            <a:off x="320040" y="4005000"/>
            <a:ext cx="54360" cy="43848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0" name="Text 992"/>
          <p:cNvSpPr/>
          <p:nvPr/>
        </p:nvSpPr>
        <p:spPr>
          <a:xfrm>
            <a:off x="457200" y="4032360"/>
            <a:ext cx="1005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DLQ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Text 993"/>
          <p:cNvSpPr/>
          <p:nvPr/>
        </p:nvSpPr>
        <p:spPr>
          <a:xfrm>
            <a:off x="457200" y="4242960"/>
            <a:ext cx="3931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Dead Letter Queue : topic Kafka pour les messages en erreur (irrémédiables).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Shape 947"/>
          <p:cNvSpPr/>
          <p:nvPr/>
        </p:nvSpPr>
        <p:spPr>
          <a:xfrm>
            <a:off x="320040" y="4507920"/>
            <a:ext cx="4205880" cy="4384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Shape 948"/>
          <p:cNvSpPr/>
          <p:nvPr/>
        </p:nvSpPr>
        <p:spPr>
          <a:xfrm>
            <a:off x="320040" y="4507920"/>
            <a:ext cx="54360" cy="4384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4" name="Text 994"/>
          <p:cNvSpPr/>
          <p:nvPr/>
        </p:nvSpPr>
        <p:spPr>
          <a:xfrm>
            <a:off x="457200" y="4535280"/>
            <a:ext cx="1005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SMT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Text 995"/>
          <p:cNvSpPr/>
          <p:nvPr/>
        </p:nvSpPr>
        <p:spPr>
          <a:xfrm>
            <a:off x="457200" y="4745880"/>
            <a:ext cx="3931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4a7480"/>
                </a:solidFill>
                <a:latin typeface="Calibri"/>
                <a:ea typeface="Calibri"/>
              </a:rPr>
              <a:t>Single Message Transform : transformation légère avant le sink.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6" name="Text 996"/>
          <p:cNvSpPr/>
          <p:nvPr/>
        </p:nvSpPr>
        <p:spPr>
          <a:xfrm>
            <a:off x="4754880" y="170064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Modes de déploiement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7" name="Shape 949"/>
          <p:cNvSpPr/>
          <p:nvPr/>
        </p:nvSpPr>
        <p:spPr>
          <a:xfrm>
            <a:off x="4754880" y="1993320"/>
            <a:ext cx="4205880" cy="117000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8" name="Text 997"/>
          <p:cNvSpPr/>
          <p:nvPr/>
        </p:nvSpPr>
        <p:spPr>
          <a:xfrm>
            <a:off x="4846320" y="2066400"/>
            <a:ext cx="4068720" cy="10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Standalone (dev / test)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bin/connect-standalone.sh \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config/connect-standalone.properties \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config/opensearch-sink.properties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Distribué (production — REST API)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bin/connect-distributed.sh \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config/connect-distributed.properties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→ POST http://connect-host:8083/connectors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9" name="Text 998"/>
          <p:cNvSpPr/>
          <p:nvPr/>
        </p:nvSpPr>
        <p:spPr>
          <a:xfrm>
            <a:off x="4754880" y="32371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Avantages pour OpenSearch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Shape 950"/>
          <p:cNvSpPr/>
          <p:nvPr/>
        </p:nvSpPr>
        <p:spPr>
          <a:xfrm>
            <a:off x="4754880" y="152712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1" name="Shape 951"/>
          <p:cNvSpPr/>
          <p:nvPr/>
        </p:nvSpPr>
        <p:spPr>
          <a:xfrm>
            <a:off x="4754880" y="1527120"/>
            <a:ext cx="54360" cy="9871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2" name="Text 999"/>
          <p:cNvSpPr/>
          <p:nvPr/>
        </p:nvSpPr>
        <p:spPr>
          <a:xfrm>
            <a:off x="4883040" y="156348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At-least-once delivery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3" name="Shape 952"/>
          <p:cNvSpPr/>
          <p:nvPr/>
        </p:nvSpPr>
        <p:spPr>
          <a:xfrm>
            <a:off x="7406640" y="1581840"/>
            <a:ext cx="1462680" cy="1825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4" name="Text 1000"/>
          <p:cNvSpPr/>
          <p:nvPr/>
        </p:nvSpPr>
        <p:spPr>
          <a:xfrm>
            <a:off x="7406640" y="158184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Fiable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5" name="Text 1001"/>
          <p:cNvSpPr/>
          <p:nvPr/>
        </p:nvSpPr>
        <p:spPr>
          <a:xfrm>
            <a:off x="4883040" y="181980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Offsets committés après bulk réussie. Rejeu automatique sur erreur transiente.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6" name="Shape 953"/>
          <p:cNvSpPr/>
          <p:nvPr/>
        </p:nvSpPr>
        <p:spPr>
          <a:xfrm>
            <a:off x="4754880" y="262440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7" name="Shape 954"/>
          <p:cNvSpPr/>
          <p:nvPr/>
        </p:nvSpPr>
        <p:spPr>
          <a:xfrm>
            <a:off x="4754880" y="2624400"/>
            <a:ext cx="54360" cy="9871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8" name="Text 1002"/>
          <p:cNvSpPr/>
          <p:nvPr/>
        </p:nvSpPr>
        <p:spPr>
          <a:xfrm>
            <a:off x="4883040" y="266076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Backpressure native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9" name="Shape 955"/>
          <p:cNvSpPr/>
          <p:nvPr/>
        </p:nvSpPr>
        <p:spPr>
          <a:xfrm>
            <a:off x="7406640" y="2679120"/>
            <a:ext cx="1462680" cy="1825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0" name="Text 1003"/>
          <p:cNvSpPr/>
          <p:nvPr/>
        </p:nvSpPr>
        <p:spPr>
          <a:xfrm>
            <a:off x="7406640" y="267912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Scalable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1" name="Text 1004"/>
          <p:cNvSpPr/>
          <p:nvPr/>
        </p:nvSpPr>
        <p:spPr>
          <a:xfrm>
            <a:off x="4883040" y="291708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Kafka absorbe les pics de volume. OpenSearch Sink consomme à rythme stable.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2" name="Shape 956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3" name="Shape 957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4" name="Text 1005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 – Configuration OpenSearch Sink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Shape 958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6" name="Text 1006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7" name="Text 1007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Le connecteur OpenSearch Kafka Connector (opensearch-kafka-connect) est le connecteur officiel maintenu par la communauté OpenSearch.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8" name="Text 1008"/>
          <p:cNvSpPr/>
          <p:nvPr/>
        </p:nvSpPr>
        <p:spPr>
          <a:xfrm>
            <a:off x="320040" y="118872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Configuration minimale (JSON / REST API)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9" name="Shape 959"/>
          <p:cNvSpPr/>
          <p:nvPr/>
        </p:nvSpPr>
        <p:spPr>
          <a:xfrm>
            <a:off x="320040" y="1527120"/>
            <a:ext cx="4205880" cy="299880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0" name="Text 1009"/>
          <p:cNvSpPr/>
          <p:nvPr/>
        </p:nvSpPr>
        <p:spPr>
          <a:xfrm>
            <a:off x="411480" y="1600200"/>
            <a:ext cx="4068720" cy="28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POST http://connect:8083/connectors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"name": "opensearch-sink",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"config":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"connector.class":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"io.aiven.kafka.connect.opensearch.OpensearchSinkConnector",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"tasks.max": "2",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"topics": "logs-app,logs-nginx",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"connection.url": "https://os-node:9200",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"connection.username": "admin",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"connection.password": "${env:OS_PASS}",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"key.ignore": "true",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"schema.ignore": "true",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"behavior.on.malformed.documents": "warn",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"behavior.on.null.values": "delete",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"batch.size": "500",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"max.buffered.records": "20000",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"flush.timeout.ms": "10000",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"index.write.method": "upsert",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"type.name": "_doc"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1" name="Shape 960"/>
          <p:cNvSpPr/>
          <p:nvPr/>
        </p:nvSpPr>
        <p:spPr>
          <a:xfrm>
            <a:off x="4754880" y="152712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2" name="Shape 961"/>
          <p:cNvSpPr/>
          <p:nvPr/>
        </p:nvSpPr>
        <p:spPr>
          <a:xfrm>
            <a:off x="4754880" y="1527120"/>
            <a:ext cx="54360" cy="9871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3" name="Text 1010"/>
          <p:cNvSpPr/>
          <p:nvPr/>
        </p:nvSpPr>
        <p:spPr>
          <a:xfrm>
            <a:off x="4883040" y="156348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topics → index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4" name="Shape 962"/>
          <p:cNvSpPr/>
          <p:nvPr/>
        </p:nvSpPr>
        <p:spPr>
          <a:xfrm>
            <a:off x="7406640" y="1581840"/>
            <a:ext cx="1462680" cy="1825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5" name="Text 1011"/>
          <p:cNvSpPr/>
          <p:nvPr/>
        </p:nvSpPr>
        <p:spPr>
          <a:xfrm>
            <a:off x="7406640" y="158184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Mapping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6" name="Text 1012"/>
          <p:cNvSpPr/>
          <p:nvPr/>
        </p:nvSpPr>
        <p:spPr>
          <a:xfrm>
            <a:off x="4883040" y="181980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Par défaut : 1 topic = 1 index (même nom). Configurer index.name pour personnaliser.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7" name="Shape 963"/>
          <p:cNvSpPr/>
          <p:nvPr/>
        </p:nvSpPr>
        <p:spPr>
          <a:xfrm>
            <a:off x="4754880" y="262440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8" name="Shape 964"/>
          <p:cNvSpPr/>
          <p:nvPr/>
        </p:nvSpPr>
        <p:spPr>
          <a:xfrm>
            <a:off x="4754880" y="2624400"/>
            <a:ext cx="54360" cy="9871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9" name="Text 1013"/>
          <p:cNvSpPr/>
          <p:nvPr/>
        </p:nvSpPr>
        <p:spPr>
          <a:xfrm>
            <a:off x="4883040" y="266076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key.ignore: true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0" name="Shape 965"/>
          <p:cNvSpPr/>
          <p:nvPr/>
        </p:nvSpPr>
        <p:spPr>
          <a:xfrm>
            <a:off x="7406640" y="2679120"/>
            <a:ext cx="1462680" cy="18252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1" name="Text 1014"/>
          <p:cNvSpPr/>
          <p:nvPr/>
        </p:nvSpPr>
        <p:spPr>
          <a:xfrm>
            <a:off x="7406640" y="267912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Pratique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2" name="Text 1015"/>
          <p:cNvSpPr/>
          <p:nvPr/>
        </p:nvSpPr>
        <p:spPr>
          <a:xfrm>
            <a:off x="4883040" y="291708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Ignore la clé Kafka. L'_id OpenSearch est généré automatiquement.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3" name="Shape 966"/>
          <p:cNvSpPr/>
          <p:nvPr/>
        </p:nvSpPr>
        <p:spPr>
          <a:xfrm>
            <a:off x="4754880" y="372168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Shape 967"/>
          <p:cNvSpPr/>
          <p:nvPr/>
        </p:nvSpPr>
        <p:spPr>
          <a:xfrm>
            <a:off x="4754880" y="3721680"/>
            <a:ext cx="54360" cy="9871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5" name="Text 1016"/>
          <p:cNvSpPr/>
          <p:nvPr/>
        </p:nvSpPr>
        <p:spPr>
          <a:xfrm>
            <a:off x="4883040" y="375804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schema.ignore: true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6" name="Shape 968"/>
          <p:cNvSpPr/>
          <p:nvPr/>
        </p:nvSpPr>
        <p:spPr>
          <a:xfrm>
            <a:off x="7406640" y="3776400"/>
            <a:ext cx="1462680" cy="1825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7" name="Text 1017"/>
          <p:cNvSpPr/>
          <p:nvPr/>
        </p:nvSpPr>
        <p:spPr>
          <a:xfrm>
            <a:off x="7406640" y="377640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JSON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8" name="Text 1018"/>
          <p:cNvSpPr/>
          <p:nvPr/>
        </p:nvSpPr>
        <p:spPr>
          <a:xfrm>
            <a:off x="4883040" y="401436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Ingère des messages JSON bruts sans Schema Registry. Mode le plus courant.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9" name="Shape 969"/>
          <p:cNvSpPr/>
          <p:nvPr/>
        </p:nvSpPr>
        <p:spPr>
          <a:xfrm>
            <a:off x="4754880" y="4818960"/>
            <a:ext cx="4205880" cy="98712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0" name="Shape 970"/>
          <p:cNvSpPr/>
          <p:nvPr/>
        </p:nvSpPr>
        <p:spPr>
          <a:xfrm>
            <a:off x="4754880" y="4818960"/>
            <a:ext cx="54360" cy="98712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1" name="Text 1019"/>
          <p:cNvSpPr/>
          <p:nvPr/>
        </p:nvSpPr>
        <p:spPr>
          <a:xfrm>
            <a:off x="4883040" y="485532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2b5c"/>
                </a:solidFill>
                <a:latin typeface="Calibri"/>
                <a:ea typeface="Calibri"/>
              </a:rPr>
              <a:t>index.write.method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2" name="Shape 971"/>
          <p:cNvSpPr/>
          <p:nvPr/>
        </p:nvSpPr>
        <p:spPr>
          <a:xfrm>
            <a:off x="7406640" y="4873680"/>
            <a:ext cx="1462680" cy="18252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3" name="Text 1020"/>
          <p:cNvSpPr/>
          <p:nvPr/>
        </p:nvSpPr>
        <p:spPr>
          <a:xfrm>
            <a:off x="7406640" y="487368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Upsert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4" name="Text 1021"/>
          <p:cNvSpPr/>
          <p:nvPr/>
        </p:nvSpPr>
        <p:spPr>
          <a:xfrm>
            <a:off x="4883040" y="5111640"/>
            <a:ext cx="398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  <a:ea typeface="Calibri"/>
              </a:rPr>
              <a:t>upsert : crée ou met à jour le doc via _id · index : écrase toujours.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5" name="Text 1022"/>
          <p:cNvSpPr/>
          <p:nvPr/>
        </p:nvSpPr>
        <p:spPr>
          <a:xfrm>
            <a:off x="4754880" y="365760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Contrôle du connecteur (REST API)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6" name="Shape 972"/>
          <p:cNvSpPr/>
          <p:nvPr/>
        </p:nvSpPr>
        <p:spPr>
          <a:xfrm>
            <a:off x="4754880" y="3977640"/>
            <a:ext cx="4205880" cy="91404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7" name="Text 1023"/>
          <p:cNvSpPr/>
          <p:nvPr/>
        </p:nvSpPr>
        <p:spPr>
          <a:xfrm>
            <a:off x="4846320" y="4050720"/>
            <a:ext cx="406872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GET    /connectors                  # liste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GET    /connectors/opensearch-sink/status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PUT    /connectors/opensearch-sink/config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POST   /connectors/opensearch-sink/restart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DELETE /connectors/opensearch-sink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8" name="Shape 973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9" name="Shape 974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0" name="Text 1024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 – Topics to Index &amp; Dead Letter Queue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1" name="Shape 975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2" name="Text 1025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3" name="Text 1026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Le mapping topics → index et la gestion des erreurs via Dead Letter Queue sont les deux points de configuration les plus importants pour un déploiement production.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4" name="Text 1027"/>
          <p:cNvSpPr/>
          <p:nvPr/>
        </p:nvSpPr>
        <p:spPr>
          <a:xfrm>
            <a:off x="320040" y="118872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Mapping topics → index personnalisé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5" name="Shape 976"/>
          <p:cNvSpPr/>
          <p:nvPr/>
        </p:nvSpPr>
        <p:spPr>
          <a:xfrm>
            <a:off x="320040" y="1527120"/>
            <a:ext cx="4205880" cy="182844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6" name="Text 1028"/>
          <p:cNvSpPr/>
          <p:nvPr/>
        </p:nvSpPr>
        <p:spPr>
          <a:xfrm>
            <a:off x="411480" y="1600200"/>
            <a:ext cx="4068720" cy="17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Plusieurs topics → plusieurs index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"topics": "app-logs,nginx-logs,audit-logs",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Renommage via SMT ExtractTopic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"transforms": "topicToIndex",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"transforms.topicToIndex.type":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"org.apache.kafka.connect.transforms.ReplaceField$Value",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Routage dynamique via timestamp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"index.name": "logs-${topic}-%{yyyy.MM.dd}",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Filtrage par clé de partition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"topic.index.map":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"app-logs:catalogue,nginx-logs:nginx-access"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7" name="Text 1029"/>
          <p:cNvSpPr/>
          <p:nvPr/>
        </p:nvSpPr>
        <p:spPr>
          <a:xfrm>
            <a:off x="320040" y="342000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SMT – Single Message Transforms utiles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8" name="Shape 977"/>
          <p:cNvSpPr/>
          <p:nvPr/>
        </p:nvSpPr>
        <p:spPr>
          <a:xfrm>
            <a:off x="320040" y="3749040"/>
            <a:ext cx="4205880" cy="113364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9" name="Text 1030"/>
          <p:cNvSpPr/>
          <p:nvPr/>
        </p:nvSpPr>
        <p:spPr>
          <a:xfrm>
            <a:off x="411480" y="3822120"/>
            <a:ext cx="406872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Ajouter @timestamp depuis l'heure de réception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"transforms": "addTs",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"transforms.addTs.type":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"org.apache.kafka.connect.transforms.InsertField$Value",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"transforms.addTs.timestamp.field": "@timestamp"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0" name="Text 1031"/>
          <p:cNvSpPr/>
          <p:nvPr/>
        </p:nvSpPr>
        <p:spPr>
          <a:xfrm>
            <a:off x="4754880" y="118872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Dead Letter Queue (DLQ)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1" name="Shape 978"/>
          <p:cNvSpPr/>
          <p:nvPr/>
        </p:nvSpPr>
        <p:spPr>
          <a:xfrm>
            <a:off x="4754880" y="1527120"/>
            <a:ext cx="4205880" cy="2029680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2" name="Text 1032"/>
          <p:cNvSpPr/>
          <p:nvPr/>
        </p:nvSpPr>
        <p:spPr>
          <a:xfrm>
            <a:off x="4846320" y="1600200"/>
            <a:ext cx="40687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Activer la DLQ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"errors.tolerance": "all",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"errors.deadletterqueue.topic.name":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"dlq-opensearch-sink",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"errors.deadletterqueue.topic.replication.factor": "1",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"errors.deadletterqueue.context.headers.enable": "true",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Les headers DLQ contiennent :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kafka.connect.errors.exception.class.name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kafka.connect.errors.exception.message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urier New"/>
                <a:ea typeface="Courier New"/>
              </a:rPr>
              <a:t># kafka.connect.errors.record.original.value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3" name="Text 1033"/>
          <p:cNvSpPr/>
          <p:nvPr/>
        </p:nvSpPr>
        <p:spPr>
          <a:xfrm>
            <a:off x="4754880" y="3620880"/>
            <a:ext cx="4114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2b5c"/>
                </a:solidFill>
                <a:latin typeface="Calibri"/>
                <a:ea typeface="Calibri"/>
              </a:rPr>
              <a:t>Stratégie de gestion des erreurs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4" name="Shape 979"/>
          <p:cNvSpPr/>
          <p:nvPr/>
        </p:nvSpPr>
        <p:spPr>
          <a:xfrm>
            <a:off x="4754880" y="3913560"/>
            <a:ext cx="4205880" cy="328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5" name="Shape 980"/>
          <p:cNvSpPr/>
          <p:nvPr/>
        </p:nvSpPr>
        <p:spPr>
          <a:xfrm>
            <a:off x="4754880" y="3913560"/>
            <a:ext cx="54360" cy="3286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6" name="Text 1034"/>
          <p:cNvSpPr/>
          <p:nvPr/>
        </p:nvSpPr>
        <p:spPr>
          <a:xfrm>
            <a:off x="4892040" y="3940920"/>
            <a:ext cx="3986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2b5c"/>
                </a:solidFill>
                <a:latin typeface="Courier New"/>
                <a:ea typeface="Courier New"/>
              </a:rPr>
              <a:t>errors.tolerance: none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7" name="Text 1035"/>
          <p:cNvSpPr/>
          <p:nvPr/>
        </p:nvSpPr>
        <p:spPr>
          <a:xfrm>
            <a:off x="4892040" y="4096440"/>
            <a:ext cx="398628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Arrêt immédiat du connecteur sur 1ère erreur. Mode strict. Dev/test uniquement.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8" name="Shape 981"/>
          <p:cNvSpPr/>
          <p:nvPr/>
        </p:nvSpPr>
        <p:spPr>
          <a:xfrm>
            <a:off x="4754880" y="4297680"/>
            <a:ext cx="4205880" cy="328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Shape 982"/>
          <p:cNvSpPr/>
          <p:nvPr/>
        </p:nvSpPr>
        <p:spPr>
          <a:xfrm>
            <a:off x="4754880" y="4297680"/>
            <a:ext cx="54360" cy="3286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0" name="Text 1036"/>
          <p:cNvSpPr/>
          <p:nvPr/>
        </p:nvSpPr>
        <p:spPr>
          <a:xfrm>
            <a:off x="4892040" y="4325040"/>
            <a:ext cx="3986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2b5c"/>
                </a:solidFill>
                <a:latin typeface="Courier New"/>
                <a:ea typeface="Courier New"/>
              </a:rPr>
              <a:t>errors.tolerance: all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1" name="Text 1037"/>
          <p:cNvSpPr/>
          <p:nvPr/>
        </p:nvSpPr>
        <p:spPr>
          <a:xfrm>
            <a:off x="4892040" y="4480560"/>
            <a:ext cx="398628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Continue malgré les erreurs. Envoie vers DLQ. Mode recommandé en production.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2" name="Shape 983"/>
          <p:cNvSpPr/>
          <p:nvPr/>
        </p:nvSpPr>
        <p:spPr>
          <a:xfrm>
            <a:off x="4754880" y="4681800"/>
            <a:ext cx="4205880" cy="32868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3" name="Shape 984"/>
          <p:cNvSpPr/>
          <p:nvPr/>
        </p:nvSpPr>
        <p:spPr>
          <a:xfrm>
            <a:off x="4754880" y="4681800"/>
            <a:ext cx="54360" cy="328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4" name="Text 1038"/>
          <p:cNvSpPr/>
          <p:nvPr/>
        </p:nvSpPr>
        <p:spPr>
          <a:xfrm>
            <a:off x="4892040" y="4709160"/>
            <a:ext cx="3986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2b5c"/>
                </a:solidFill>
                <a:latin typeface="Courier New"/>
                <a:ea typeface="Courier New"/>
              </a:rPr>
              <a:t>behavior.on.malformed.documents: warn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5" name="Text 1039"/>
          <p:cNvSpPr/>
          <p:nvPr/>
        </p:nvSpPr>
        <p:spPr>
          <a:xfrm>
            <a:off x="4892040" y="4864680"/>
            <a:ext cx="398628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Warning + skip du document malformé (mapping error). Ne bloque pas le pipeline.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6" name="Shape 985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7" name="Shape 986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8" name="Text 1040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Ingestion – Optimisations de débit · Synthèse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9" name="Shape 987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0" name="Text 1041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1" name="Text 1042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Plusieurs niveaux d'optimisation peuvent être combinés pour multiplier le débit. Appliquer dans cet ordre : index settings → batch sizing → parallélisme → architecture.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2" name="Shape 988"/>
          <p:cNvSpPr/>
          <p:nvPr/>
        </p:nvSpPr>
        <p:spPr>
          <a:xfrm>
            <a:off x="320040" y="1234440"/>
            <a:ext cx="4205880" cy="21942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3" name="Shape 989"/>
          <p:cNvSpPr/>
          <p:nvPr/>
        </p:nvSpPr>
        <p:spPr>
          <a:xfrm>
            <a:off x="320040" y="1234440"/>
            <a:ext cx="4205880" cy="32868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4" name="Text 1043"/>
          <p:cNvSpPr/>
          <p:nvPr/>
        </p:nvSpPr>
        <p:spPr>
          <a:xfrm>
            <a:off x="411480" y="1234440"/>
            <a:ext cx="4023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1 – Paramètres index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5" name="Text 1044"/>
          <p:cNvSpPr/>
          <p:nvPr/>
        </p:nvSpPr>
        <p:spPr>
          <a:xfrm>
            <a:off x="457200" y="161856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refresh_interval: -1  (+++ débit)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6" name="Text 1045"/>
          <p:cNvSpPr/>
          <p:nvPr/>
        </p:nvSpPr>
        <p:spPr>
          <a:xfrm>
            <a:off x="457200" y="203004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number_of_replicas: 0  (+++ débit)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7" name="Text 1046"/>
          <p:cNvSpPr/>
          <p:nvPr/>
        </p:nvSpPr>
        <p:spPr>
          <a:xfrm>
            <a:off x="457200" y="244152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translog.durability: async  (++ débit)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8" name="Text 1047"/>
          <p:cNvSpPr/>
          <p:nvPr/>
        </p:nvSpPr>
        <p:spPr>
          <a:xfrm>
            <a:off x="457200" y="285300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flush_threshold_size: 2gb  (+ débit)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9" name="Shape 990"/>
          <p:cNvSpPr/>
          <p:nvPr/>
        </p:nvSpPr>
        <p:spPr>
          <a:xfrm>
            <a:off x="4754880" y="1234440"/>
            <a:ext cx="4205880" cy="21942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0" name="Shape 991"/>
          <p:cNvSpPr/>
          <p:nvPr/>
        </p:nvSpPr>
        <p:spPr>
          <a:xfrm>
            <a:off x="4754880" y="1234440"/>
            <a:ext cx="4205880" cy="32868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1" name="Text 1048"/>
          <p:cNvSpPr/>
          <p:nvPr/>
        </p:nvSpPr>
        <p:spPr>
          <a:xfrm>
            <a:off x="4846320" y="1234440"/>
            <a:ext cx="4023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2 – Batch sizing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2" name="Text 1049"/>
          <p:cNvSpPr/>
          <p:nvPr/>
        </p:nvSpPr>
        <p:spPr>
          <a:xfrm>
            <a:off x="4892040" y="161856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Taille cible : 5 – 15 Mo de payload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3" name="Text 1050"/>
          <p:cNvSpPr/>
          <p:nvPr/>
        </p:nvSpPr>
        <p:spPr>
          <a:xfrm>
            <a:off x="4892040" y="203004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500 – 5000 docs selon taille des documents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4" name="Text 1051"/>
          <p:cNvSpPr/>
          <p:nvPr/>
        </p:nvSpPr>
        <p:spPr>
          <a:xfrm>
            <a:off x="4892040" y="244152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Mesurer avec _nodes/stats/indices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5" name="Text 1052"/>
          <p:cNvSpPr/>
          <p:nvPr/>
        </p:nvSpPr>
        <p:spPr>
          <a:xfrm>
            <a:off x="4892040" y="285300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Ajuster chunk_size / flush_size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6" name="Shape 992"/>
          <p:cNvSpPr/>
          <p:nvPr/>
        </p:nvSpPr>
        <p:spPr>
          <a:xfrm>
            <a:off x="320040" y="2816280"/>
            <a:ext cx="4205880" cy="21942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7" name="Shape 993"/>
          <p:cNvSpPr/>
          <p:nvPr/>
        </p:nvSpPr>
        <p:spPr>
          <a:xfrm>
            <a:off x="320040" y="2816280"/>
            <a:ext cx="4205880" cy="32868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8" name="Text 1053"/>
          <p:cNvSpPr/>
          <p:nvPr/>
        </p:nvSpPr>
        <p:spPr>
          <a:xfrm>
            <a:off x="411480" y="2816280"/>
            <a:ext cx="4023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3 – Parallélisme client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9" name="Text 1054"/>
          <p:cNvSpPr/>
          <p:nvPr/>
        </p:nvSpPr>
        <p:spPr>
          <a:xfrm>
            <a:off x="457200" y="320040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parallel_bulk thread_count: 4–8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0" name="Text 1055"/>
          <p:cNvSpPr/>
          <p:nvPr/>
        </p:nvSpPr>
        <p:spPr>
          <a:xfrm>
            <a:off x="457200" y="361188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Pool connexions ≥ nombre de threads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1" name="Text 1056"/>
          <p:cNvSpPr/>
          <p:nvPr/>
        </p:nvSpPr>
        <p:spPr>
          <a:xfrm>
            <a:off x="457200" y="402336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Compression gzip (http_compress=True)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2" name="Text 1057"/>
          <p:cNvSpPr/>
          <p:nvPr/>
        </p:nvSpPr>
        <p:spPr>
          <a:xfrm>
            <a:off x="457200" y="443484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Backoff exponentiel sur 429/503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3" name="Shape 994"/>
          <p:cNvSpPr/>
          <p:nvPr/>
        </p:nvSpPr>
        <p:spPr>
          <a:xfrm>
            <a:off x="4754880" y="2816280"/>
            <a:ext cx="4205880" cy="21942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4" name="Shape 995"/>
          <p:cNvSpPr/>
          <p:nvPr/>
        </p:nvSpPr>
        <p:spPr>
          <a:xfrm>
            <a:off x="4754880" y="2816280"/>
            <a:ext cx="4205880" cy="328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5" name="Text 1058"/>
          <p:cNvSpPr/>
          <p:nvPr/>
        </p:nvSpPr>
        <p:spPr>
          <a:xfrm>
            <a:off x="4846320" y="2816280"/>
            <a:ext cx="4023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4 – Architecture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6" name="Text 1059"/>
          <p:cNvSpPr/>
          <p:nvPr/>
        </p:nvSpPr>
        <p:spPr>
          <a:xfrm>
            <a:off x="4892040" y="320040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Nœuds ingest dédiés (node.roles: [ingest])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7" name="Text 1060"/>
          <p:cNvSpPr/>
          <p:nvPr/>
        </p:nvSpPr>
        <p:spPr>
          <a:xfrm>
            <a:off x="4892040" y="361188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Kafka comme buffer absorbe les pics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8" name="Text 1061"/>
          <p:cNvSpPr/>
          <p:nvPr/>
        </p:nvSpPr>
        <p:spPr>
          <a:xfrm>
            <a:off x="4892040" y="402336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Ingest pipeline pour enrichissement léger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9" name="Text 1062"/>
          <p:cNvSpPr/>
          <p:nvPr/>
        </p:nvSpPr>
        <p:spPr>
          <a:xfrm>
            <a:off x="4892040" y="443484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Réindexer si mapping à corriger après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0" name="Shape 996"/>
          <p:cNvSpPr/>
          <p:nvPr/>
        </p:nvSpPr>
        <p:spPr>
          <a:xfrm>
            <a:off x="320040" y="5083920"/>
            <a:ext cx="8503560" cy="34704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1" name="Text 1063"/>
          <p:cNvSpPr/>
          <p:nvPr/>
        </p:nvSpPr>
        <p:spPr>
          <a:xfrm>
            <a:off x="411480" y="5102280"/>
            <a:ext cx="832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Batch : 5–15 Mo   |   Threads : 4–8   |   gzip activé   |   Pool connexions ≥ threads   |   Retry backoff exponentiel   |   refresh_interval: -1 pendant ingestion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2" name="Shape 997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3" name="Shape 998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4" name="Text 1064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Ingestion – Matrice de décision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5" name="Shape 999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6" name="Text 1065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7" name="Text 1066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Choisir l'outil selon le cas d'usage, le volume et les contraintes de l'environnement existant.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8" name="Shape 1000"/>
          <p:cNvSpPr/>
          <p:nvPr/>
        </p:nvSpPr>
        <p:spPr>
          <a:xfrm>
            <a:off x="320040" y="1234440"/>
            <a:ext cx="1965600" cy="36540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9" name="Text 1067"/>
          <p:cNvSpPr/>
          <p:nvPr/>
        </p:nvSpPr>
        <p:spPr>
          <a:xfrm>
            <a:off x="356760" y="1234440"/>
            <a:ext cx="1910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Cas d'usage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0" name="Shape 1001"/>
          <p:cNvSpPr/>
          <p:nvPr/>
        </p:nvSpPr>
        <p:spPr>
          <a:xfrm>
            <a:off x="2286000" y="1234440"/>
            <a:ext cx="914040" cy="36540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1" name="Text 1068"/>
          <p:cNvSpPr/>
          <p:nvPr/>
        </p:nvSpPr>
        <p:spPr>
          <a:xfrm>
            <a:off x="2322720" y="1234440"/>
            <a:ext cx="859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Bulk API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2" name="Shape 1002"/>
          <p:cNvSpPr/>
          <p:nvPr/>
        </p:nvSpPr>
        <p:spPr>
          <a:xfrm>
            <a:off x="3200400" y="1234440"/>
            <a:ext cx="914040" cy="3654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3" name="Text 1069"/>
          <p:cNvSpPr/>
          <p:nvPr/>
        </p:nvSpPr>
        <p:spPr>
          <a:xfrm>
            <a:off x="3237120" y="1234440"/>
            <a:ext cx="859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SDK Python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4" name="Shape 1003"/>
          <p:cNvSpPr/>
          <p:nvPr/>
        </p:nvSpPr>
        <p:spPr>
          <a:xfrm>
            <a:off x="4114800" y="1234440"/>
            <a:ext cx="914040" cy="36540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5" name="Text 1070"/>
          <p:cNvSpPr/>
          <p:nvPr/>
        </p:nvSpPr>
        <p:spPr>
          <a:xfrm>
            <a:off x="4151520" y="1234440"/>
            <a:ext cx="859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SDK Java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6" name="Shape 1004"/>
          <p:cNvSpPr/>
          <p:nvPr/>
        </p:nvSpPr>
        <p:spPr>
          <a:xfrm>
            <a:off x="5029200" y="1234440"/>
            <a:ext cx="959760" cy="3654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7" name="Text 1071"/>
          <p:cNvSpPr/>
          <p:nvPr/>
        </p:nvSpPr>
        <p:spPr>
          <a:xfrm>
            <a:off x="5065920" y="1234440"/>
            <a:ext cx="905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8" name="Shape 1005"/>
          <p:cNvSpPr/>
          <p:nvPr/>
        </p:nvSpPr>
        <p:spPr>
          <a:xfrm>
            <a:off x="5989320" y="1234440"/>
            <a:ext cx="1005480" cy="36540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9" name="Text 1072"/>
          <p:cNvSpPr/>
          <p:nvPr/>
        </p:nvSpPr>
        <p:spPr>
          <a:xfrm>
            <a:off x="6026040" y="1234440"/>
            <a:ext cx="950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0" name="Shape 1006"/>
          <p:cNvSpPr/>
          <p:nvPr/>
        </p:nvSpPr>
        <p:spPr>
          <a:xfrm>
            <a:off x="6995160" y="1234440"/>
            <a:ext cx="868320" cy="36540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1" name="Text 1073"/>
          <p:cNvSpPr/>
          <p:nvPr/>
        </p:nvSpPr>
        <p:spPr>
          <a:xfrm>
            <a:off x="7031880" y="1234440"/>
            <a:ext cx="813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Logstash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2" name="Shape 1007"/>
          <p:cNvSpPr/>
          <p:nvPr/>
        </p:nvSpPr>
        <p:spPr>
          <a:xfrm>
            <a:off x="320040" y="1600200"/>
            <a:ext cx="196560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3" name="Text 1074"/>
          <p:cNvSpPr/>
          <p:nvPr/>
        </p:nvSpPr>
        <p:spPr>
          <a:xfrm>
            <a:off x="356760" y="1600200"/>
            <a:ext cx="1910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  <a:ea typeface="Calibri"/>
              </a:rPr>
              <a:t>Ingestion ad hoc / test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4" name="Shape 1008"/>
          <p:cNvSpPr/>
          <p:nvPr/>
        </p:nvSpPr>
        <p:spPr>
          <a:xfrm>
            <a:off x="2286000" y="16002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5" name="Text 1075"/>
          <p:cNvSpPr/>
          <p:nvPr/>
        </p:nvSpPr>
        <p:spPr>
          <a:xfrm>
            <a:off x="2322720" y="16002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6" name="Shape 1009"/>
          <p:cNvSpPr/>
          <p:nvPr/>
        </p:nvSpPr>
        <p:spPr>
          <a:xfrm>
            <a:off x="3200400" y="16002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7" name="Text 1076"/>
          <p:cNvSpPr/>
          <p:nvPr/>
        </p:nvSpPr>
        <p:spPr>
          <a:xfrm>
            <a:off x="3237120" y="16002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fb5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8" name="Shape 1010"/>
          <p:cNvSpPr/>
          <p:nvPr/>
        </p:nvSpPr>
        <p:spPr>
          <a:xfrm>
            <a:off x="4114800" y="16002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9" name="Text 1077"/>
          <p:cNvSpPr/>
          <p:nvPr/>
        </p:nvSpPr>
        <p:spPr>
          <a:xfrm>
            <a:off x="4151520" y="16002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fb5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0" name="Shape 1011"/>
          <p:cNvSpPr/>
          <p:nvPr/>
        </p:nvSpPr>
        <p:spPr>
          <a:xfrm>
            <a:off x="5029200" y="1600200"/>
            <a:ext cx="95976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1" name="Text 1078"/>
          <p:cNvSpPr/>
          <p:nvPr/>
        </p:nvSpPr>
        <p:spPr>
          <a:xfrm>
            <a:off x="5065920" y="1600200"/>
            <a:ext cx="905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2" name="Shape 1012"/>
          <p:cNvSpPr/>
          <p:nvPr/>
        </p:nvSpPr>
        <p:spPr>
          <a:xfrm>
            <a:off x="5989320" y="1600200"/>
            <a:ext cx="100548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3" name="Text 1079"/>
          <p:cNvSpPr/>
          <p:nvPr/>
        </p:nvSpPr>
        <p:spPr>
          <a:xfrm>
            <a:off x="6026040" y="1600200"/>
            <a:ext cx="950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4" name="Shape 1013"/>
          <p:cNvSpPr/>
          <p:nvPr/>
        </p:nvSpPr>
        <p:spPr>
          <a:xfrm>
            <a:off x="6995160" y="1600200"/>
            <a:ext cx="86832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5" name="Text 1080"/>
          <p:cNvSpPr/>
          <p:nvPr/>
        </p:nvSpPr>
        <p:spPr>
          <a:xfrm>
            <a:off x="7031880" y="1600200"/>
            <a:ext cx="813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6" name="Shape 1014"/>
          <p:cNvSpPr/>
          <p:nvPr/>
        </p:nvSpPr>
        <p:spPr>
          <a:xfrm>
            <a:off x="320040" y="2002680"/>
            <a:ext cx="196560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7" name="Text 1081"/>
          <p:cNvSpPr/>
          <p:nvPr/>
        </p:nvSpPr>
        <p:spPr>
          <a:xfrm>
            <a:off x="356760" y="2002680"/>
            <a:ext cx="1910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  <a:ea typeface="Calibri"/>
              </a:rPr>
              <a:t>Application métier (API)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8" name="Shape 1015"/>
          <p:cNvSpPr/>
          <p:nvPr/>
        </p:nvSpPr>
        <p:spPr>
          <a:xfrm>
            <a:off x="2286000" y="20026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9" name="Text 1082"/>
          <p:cNvSpPr/>
          <p:nvPr/>
        </p:nvSpPr>
        <p:spPr>
          <a:xfrm>
            <a:off x="2322720" y="20026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0" name="Shape 1016"/>
          <p:cNvSpPr/>
          <p:nvPr/>
        </p:nvSpPr>
        <p:spPr>
          <a:xfrm>
            <a:off x="3200400" y="20026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1" name="Text 1083"/>
          <p:cNvSpPr/>
          <p:nvPr/>
        </p:nvSpPr>
        <p:spPr>
          <a:xfrm>
            <a:off x="3237120" y="20026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2" name="Shape 1017"/>
          <p:cNvSpPr/>
          <p:nvPr/>
        </p:nvSpPr>
        <p:spPr>
          <a:xfrm>
            <a:off x="4114800" y="20026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3" name="Text 1084"/>
          <p:cNvSpPr/>
          <p:nvPr/>
        </p:nvSpPr>
        <p:spPr>
          <a:xfrm>
            <a:off x="4151520" y="20026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4" name="Shape 1018"/>
          <p:cNvSpPr/>
          <p:nvPr/>
        </p:nvSpPr>
        <p:spPr>
          <a:xfrm>
            <a:off x="5029200" y="2002680"/>
            <a:ext cx="95976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5" name="Text 1085"/>
          <p:cNvSpPr/>
          <p:nvPr/>
        </p:nvSpPr>
        <p:spPr>
          <a:xfrm>
            <a:off x="5065920" y="2002680"/>
            <a:ext cx="905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6" name="Shape 1019"/>
          <p:cNvSpPr/>
          <p:nvPr/>
        </p:nvSpPr>
        <p:spPr>
          <a:xfrm>
            <a:off x="5989320" y="2002680"/>
            <a:ext cx="100548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7" name="Text 1086"/>
          <p:cNvSpPr/>
          <p:nvPr/>
        </p:nvSpPr>
        <p:spPr>
          <a:xfrm>
            <a:off x="6026040" y="2002680"/>
            <a:ext cx="950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8" name="Shape 1020"/>
          <p:cNvSpPr/>
          <p:nvPr/>
        </p:nvSpPr>
        <p:spPr>
          <a:xfrm>
            <a:off x="6995160" y="2002680"/>
            <a:ext cx="86832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9" name="Text 1087"/>
          <p:cNvSpPr/>
          <p:nvPr/>
        </p:nvSpPr>
        <p:spPr>
          <a:xfrm>
            <a:off x="7031880" y="2002680"/>
            <a:ext cx="813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0" name="Shape 1021"/>
          <p:cNvSpPr/>
          <p:nvPr/>
        </p:nvSpPr>
        <p:spPr>
          <a:xfrm>
            <a:off x="320040" y="2404800"/>
            <a:ext cx="196560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1" name="Text 1088"/>
          <p:cNvSpPr/>
          <p:nvPr/>
        </p:nvSpPr>
        <p:spPr>
          <a:xfrm>
            <a:off x="356760" y="2404800"/>
            <a:ext cx="1910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  <a:ea typeface="Calibri"/>
              </a:rPr>
              <a:t>Logs structurés (fichiers)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2" name="Shape 1022"/>
          <p:cNvSpPr/>
          <p:nvPr/>
        </p:nvSpPr>
        <p:spPr>
          <a:xfrm>
            <a:off x="2286000" y="24048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3" name="Text 1089"/>
          <p:cNvSpPr/>
          <p:nvPr/>
        </p:nvSpPr>
        <p:spPr>
          <a:xfrm>
            <a:off x="2322720" y="24048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4" name="Shape 1023"/>
          <p:cNvSpPr/>
          <p:nvPr/>
        </p:nvSpPr>
        <p:spPr>
          <a:xfrm>
            <a:off x="3200400" y="24048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5" name="Text 1090"/>
          <p:cNvSpPr/>
          <p:nvPr/>
        </p:nvSpPr>
        <p:spPr>
          <a:xfrm>
            <a:off x="3237120" y="24048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6" name="Shape 1024"/>
          <p:cNvSpPr/>
          <p:nvPr/>
        </p:nvSpPr>
        <p:spPr>
          <a:xfrm>
            <a:off x="4114800" y="24048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7" name="Text 1091"/>
          <p:cNvSpPr/>
          <p:nvPr/>
        </p:nvSpPr>
        <p:spPr>
          <a:xfrm>
            <a:off x="4151520" y="24048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8" name="Shape 1025"/>
          <p:cNvSpPr/>
          <p:nvPr/>
        </p:nvSpPr>
        <p:spPr>
          <a:xfrm>
            <a:off x="5029200" y="2404800"/>
            <a:ext cx="95976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9" name="Text 1092"/>
          <p:cNvSpPr/>
          <p:nvPr/>
        </p:nvSpPr>
        <p:spPr>
          <a:xfrm>
            <a:off x="5065920" y="2404800"/>
            <a:ext cx="905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Shape 1026"/>
          <p:cNvSpPr/>
          <p:nvPr/>
        </p:nvSpPr>
        <p:spPr>
          <a:xfrm>
            <a:off x="5989320" y="2404800"/>
            <a:ext cx="100548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1" name="Text 1093"/>
          <p:cNvSpPr/>
          <p:nvPr/>
        </p:nvSpPr>
        <p:spPr>
          <a:xfrm>
            <a:off x="6026040" y="2404800"/>
            <a:ext cx="950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2" name="Shape 1027"/>
          <p:cNvSpPr/>
          <p:nvPr/>
        </p:nvSpPr>
        <p:spPr>
          <a:xfrm>
            <a:off x="6995160" y="2404800"/>
            <a:ext cx="86832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3" name="Text 1094"/>
          <p:cNvSpPr/>
          <p:nvPr/>
        </p:nvSpPr>
        <p:spPr>
          <a:xfrm>
            <a:off x="7031880" y="2404800"/>
            <a:ext cx="813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4" name="Shape 1028"/>
          <p:cNvSpPr/>
          <p:nvPr/>
        </p:nvSpPr>
        <p:spPr>
          <a:xfrm>
            <a:off x="320040" y="2807280"/>
            <a:ext cx="196560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5" name="Text 1095"/>
          <p:cNvSpPr/>
          <p:nvPr/>
        </p:nvSpPr>
        <p:spPr>
          <a:xfrm>
            <a:off x="356760" y="2807280"/>
            <a:ext cx="1910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  <a:ea typeface="Calibri"/>
              </a:rPr>
              <a:t>Traces OpenTelemetry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6" name="Shape 1029"/>
          <p:cNvSpPr/>
          <p:nvPr/>
        </p:nvSpPr>
        <p:spPr>
          <a:xfrm>
            <a:off x="2286000" y="28072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7" name="Text 1096"/>
          <p:cNvSpPr/>
          <p:nvPr/>
        </p:nvSpPr>
        <p:spPr>
          <a:xfrm>
            <a:off x="2322720" y="28072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8" name="Shape 1030"/>
          <p:cNvSpPr/>
          <p:nvPr/>
        </p:nvSpPr>
        <p:spPr>
          <a:xfrm>
            <a:off x="3200400" y="28072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9" name="Text 1097"/>
          <p:cNvSpPr/>
          <p:nvPr/>
        </p:nvSpPr>
        <p:spPr>
          <a:xfrm>
            <a:off x="3237120" y="28072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0" name="Shape 1031"/>
          <p:cNvSpPr/>
          <p:nvPr/>
        </p:nvSpPr>
        <p:spPr>
          <a:xfrm>
            <a:off x="4114800" y="28072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1" name="Text 1098"/>
          <p:cNvSpPr/>
          <p:nvPr/>
        </p:nvSpPr>
        <p:spPr>
          <a:xfrm>
            <a:off x="4151520" y="28072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2" name="Shape 1032"/>
          <p:cNvSpPr/>
          <p:nvPr/>
        </p:nvSpPr>
        <p:spPr>
          <a:xfrm>
            <a:off x="5029200" y="2807280"/>
            <a:ext cx="95976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3" name="Text 1099"/>
          <p:cNvSpPr/>
          <p:nvPr/>
        </p:nvSpPr>
        <p:spPr>
          <a:xfrm>
            <a:off x="5065920" y="2807280"/>
            <a:ext cx="905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4" name="Shape 1033"/>
          <p:cNvSpPr/>
          <p:nvPr/>
        </p:nvSpPr>
        <p:spPr>
          <a:xfrm>
            <a:off x="5989320" y="2807280"/>
            <a:ext cx="100548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5" name="Text 1100"/>
          <p:cNvSpPr/>
          <p:nvPr/>
        </p:nvSpPr>
        <p:spPr>
          <a:xfrm>
            <a:off x="6026040" y="2807280"/>
            <a:ext cx="950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6" name="Shape 1034"/>
          <p:cNvSpPr/>
          <p:nvPr/>
        </p:nvSpPr>
        <p:spPr>
          <a:xfrm>
            <a:off x="6995160" y="2807280"/>
            <a:ext cx="86832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7" name="Text 1101"/>
          <p:cNvSpPr/>
          <p:nvPr/>
        </p:nvSpPr>
        <p:spPr>
          <a:xfrm>
            <a:off x="7031880" y="2807280"/>
            <a:ext cx="813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8" name="Shape 1035"/>
          <p:cNvSpPr/>
          <p:nvPr/>
        </p:nvSpPr>
        <p:spPr>
          <a:xfrm>
            <a:off x="320040" y="3209400"/>
            <a:ext cx="196560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9" name="Text 1102"/>
          <p:cNvSpPr/>
          <p:nvPr/>
        </p:nvSpPr>
        <p:spPr>
          <a:xfrm>
            <a:off x="356760" y="3209400"/>
            <a:ext cx="1910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  <a:ea typeface="Calibri"/>
              </a:rPr>
              <a:t>Streaming Kafka haute perf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0" name="Shape 1036"/>
          <p:cNvSpPr/>
          <p:nvPr/>
        </p:nvSpPr>
        <p:spPr>
          <a:xfrm>
            <a:off x="2286000" y="32094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1" name="Text 1103"/>
          <p:cNvSpPr/>
          <p:nvPr/>
        </p:nvSpPr>
        <p:spPr>
          <a:xfrm>
            <a:off x="2322720" y="32094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2" name="Shape 1037"/>
          <p:cNvSpPr/>
          <p:nvPr/>
        </p:nvSpPr>
        <p:spPr>
          <a:xfrm>
            <a:off x="3200400" y="32094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3" name="Text 1104"/>
          <p:cNvSpPr/>
          <p:nvPr/>
        </p:nvSpPr>
        <p:spPr>
          <a:xfrm>
            <a:off x="3237120" y="32094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4" name="Shape 1038"/>
          <p:cNvSpPr/>
          <p:nvPr/>
        </p:nvSpPr>
        <p:spPr>
          <a:xfrm>
            <a:off x="4114800" y="320940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5" name="Text 1105"/>
          <p:cNvSpPr/>
          <p:nvPr/>
        </p:nvSpPr>
        <p:spPr>
          <a:xfrm>
            <a:off x="4151520" y="320940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6" name="Shape 1039"/>
          <p:cNvSpPr/>
          <p:nvPr/>
        </p:nvSpPr>
        <p:spPr>
          <a:xfrm>
            <a:off x="5029200" y="3209400"/>
            <a:ext cx="95976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7" name="Text 1106"/>
          <p:cNvSpPr/>
          <p:nvPr/>
        </p:nvSpPr>
        <p:spPr>
          <a:xfrm>
            <a:off x="5065920" y="3209400"/>
            <a:ext cx="905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fb5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8" name="Shape 1040"/>
          <p:cNvSpPr/>
          <p:nvPr/>
        </p:nvSpPr>
        <p:spPr>
          <a:xfrm>
            <a:off x="5989320" y="3209400"/>
            <a:ext cx="100548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9" name="Text 1107"/>
          <p:cNvSpPr/>
          <p:nvPr/>
        </p:nvSpPr>
        <p:spPr>
          <a:xfrm>
            <a:off x="6026040" y="3209400"/>
            <a:ext cx="950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0" name="Shape 1041"/>
          <p:cNvSpPr/>
          <p:nvPr/>
        </p:nvSpPr>
        <p:spPr>
          <a:xfrm>
            <a:off x="6995160" y="3209400"/>
            <a:ext cx="86832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1" name="Text 1108"/>
          <p:cNvSpPr/>
          <p:nvPr/>
        </p:nvSpPr>
        <p:spPr>
          <a:xfrm>
            <a:off x="7031880" y="3209400"/>
            <a:ext cx="813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2" name="Shape 1042"/>
          <p:cNvSpPr/>
          <p:nvPr/>
        </p:nvSpPr>
        <p:spPr>
          <a:xfrm>
            <a:off x="320040" y="3611880"/>
            <a:ext cx="196560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3" name="Text 1109"/>
          <p:cNvSpPr/>
          <p:nvPr/>
        </p:nvSpPr>
        <p:spPr>
          <a:xfrm>
            <a:off x="356760" y="3611880"/>
            <a:ext cx="1910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  <a:ea typeface="Calibri"/>
              </a:rPr>
              <a:t>Migration depuis 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4" name="Shape 1043"/>
          <p:cNvSpPr/>
          <p:nvPr/>
        </p:nvSpPr>
        <p:spPr>
          <a:xfrm>
            <a:off x="2286000" y="36118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5" name="Text 1110"/>
          <p:cNvSpPr/>
          <p:nvPr/>
        </p:nvSpPr>
        <p:spPr>
          <a:xfrm>
            <a:off x="2322720" y="36118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6" name="Shape 1044"/>
          <p:cNvSpPr/>
          <p:nvPr/>
        </p:nvSpPr>
        <p:spPr>
          <a:xfrm>
            <a:off x="3200400" y="36118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7" name="Text 1111"/>
          <p:cNvSpPr/>
          <p:nvPr/>
        </p:nvSpPr>
        <p:spPr>
          <a:xfrm>
            <a:off x="3237120" y="36118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fb5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8" name="Shape 1045"/>
          <p:cNvSpPr/>
          <p:nvPr/>
        </p:nvSpPr>
        <p:spPr>
          <a:xfrm>
            <a:off x="4114800" y="36118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Text 1112"/>
          <p:cNvSpPr/>
          <p:nvPr/>
        </p:nvSpPr>
        <p:spPr>
          <a:xfrm>
            <a:off x="4151520" y="36118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fb5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0" name="Shape 1046"/>
          <p:cNvSpPr/>
          <p:nvPr/>
        </p:nvSpPr>
        <p:spPr>
          <a:xfrm>
            <a:off x="5029200" y="3611880"/>
            <a:ext cx="95976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1" name="Text 1113"/>
          <p:cNvSpPr/>
          <p:nvPr/>
        </p:nvSpPr>
        <p:spPr>
          <a:xfrm>
            <a:off x="5065920" y="3611880"/>
            <a:ext cx="905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2" name="Shape 1047"/>
          <p:cNvSpPr/>
          <p:nvPr/>
        </p:nvSpPr>
        <p:spPr>
          <a:xfrm>
            <a:off x="5989320" y="3611880"/>
            <a:ext cx="100548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3" name="Text 1114"/>
          <p:cNvSpPr/>
          <p:nvPr/>
        </p:nvSpPr>
        <p:spPr>
          <a:xfrm>
            <a:off x="6026040" y="3611880"/>
            <a:ext cx="950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4" name="Shape 1048"/>
          <p:cNvSpPr/>
          <p:nvPr/>
        </p:nvSpPr>
        <p:spPr>
          <a:xfrm>
            <a:off x="6995160" y="3611880"/>
            <a:ext cx="86832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Text 1115"/>
          <p:cNvSpPr/>
          <p:nvPr/>
        </p:nvSpPr>
        <p:spPr>
          <a:xfrm>
            <a:off x="7031880" y="3611880"/>
            <a:ext cx="813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6" name="Shape 1049"/>
          <p:cNvSpPr/>
          <p:nvPr/>
        </p:nvSpPr>
        <p:spPr>
          <a:xfrm>
            <a:off x="320040" y="4014360"/>
            <a:ext cx="196560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7" name="Text 1116"/>
          <p:cNvSpPr/>
          <p:nvPr/>
        </p:nvSpPr>
        <p:spPr>
          <a:xfrm>
            <a:off x="356760" y="4014360"/>
            <a:ext cx="1910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  <a:ea typeface="Calibri"/>
              </a:rPr>
              <a:t>Infra Beats existante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8" name="Shape 1050"/>
          <p:cNvSpPr/>
          <p:nvPr/>
        </p:nvSpPr>
        <p:spPr>
          <a:xfrm>
            <a:off x="2286000" y="401436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9" name="Text 1117"/>
          <p:cNvSpPr/>
          <p:nvPr/>
        </p:nvSpPr>
        <p:spPr>
          <a:xfrm>
            <a:off x="2322720" y="401436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0" name="Shape 1051"/>
          <p:cNvSpPr/>
          <p:nvPr/>
        </p:nvSpPr>
        <p:spPr>
          <a:xfrm>
            <a:off x="3200400" y="401436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1" name="Text 1118"/>
          <p:cNvSpPr/>
          <p:nvPr/>
        </p:nvSpPr>
        <p:spPr>
          <a:xfrm>
            <a:off x="3237120" y="401436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2" name="Shape 1052"/>
          <p:cNvSpPr/>
          <p:nvPr/>
        </p:nvSpPr>
        <p:spPr>
          <a:xfrm>
            <a:off x="4114800" y="4014360"/>
            <a:ext cx="91404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3" name="Text 1119"/>
          <p:cNvSpPr/>
          <p:nvPr/>
        </p:nvSpPr>
        <p:spPr>
          <a:xfrm>
            <a:off x="4151520" y="401436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" name="Shape 1053"/>
          <p:cNvSpPr/>
          <p:nvPr/>
        </p:nvSpPr>
        <p:spPr>
          <a:xfrm>
            <a:off x="5029200" y="4014360"/>
            <a:ext cx="95976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5" name="Text 1120"/>
          <p:cNvSpPr/>
          <p:nvPr/>
        </p:nvSpPr>
        <p:spPr>
          <a:xfrm>
            <a:off x="5065920" y="4014360"/>
            <a:ext cx="905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6" name="Shape 1054"/>
          <p:cNvSpPr/>
          <p:nvPr/>
        </p:nvSpPr>
        <p:spPr>
          <a:xfrm>
            <a:off x="5989320" y="4014360"/>
            <a:ext cx="100548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7" name="Text 1121"/>
          <p:cNvSpPr/>
          <p:nvPr/>
        </p:nvSpPr>
        <p:spPr>
          <a:xfrm>
            <a:off x="6026040" y="4014360"/>
            <a:ext cx="950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8" name="Shape 1055"/>
          <p:cNvSpPr/>
          <p:nvPr/>
        </p:nvSpPr>
        <p:spPr>
          <a:xfrm>
            <a:off x="6995160" y="4014360"/>
            <a:ext cx="868320" cy="402120"/>
          </a:xfrm>
          <a:prstGeom prst="rect">
            <a:avLst/>
          </a:prstGeom>
          <a:solidFill>
            <a:srgbClr val="f2f6fa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9" name="Text 1122"/>
          <p:cNvSpPr/>
          <p:nvPr/>
        </p:nvSpPr>
        <p:spPr>
          <a:xfrm>
            <a:off x="7031880" y="4014360"/>
            <a:ext cx="813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0" name="Shape 1056"/>
          <p:cNvSpPr/>
          <p:nvPr/>
        </p:nvSpPr>
        <p:spPr>
          <a:xfrm>
            <a:off x="320040" y="4416480"/>
            <a:ext cx="196560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1" name="Text 1123"/>
          <p:cNvSpPr/>
          <p:nvPr/>
        </p:nvSpPr>
        <p:spPr>
          <a:xfrm>
            <a:off x="356760" y="4416480"/>
            <a:ext cx="1910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  <a:ea typeface="Calibri"/>
              </a:rPr>
              <a:t>Débit maximal (batch)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2" name="Shape 1057"/>
          <p:cNvSpPr/>
          <p:nvPr/>
        </p:nvSpPr>
        <p:spPr>
          <a:xfrm>
            <a:off x="2286000" y="44164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3" name="Text 1124"/>
          <p:cNvSpPr/>
          <p:nvPr/>
        </p:nvSpPr>
        <p:spPr>
          <a:xfrm>
            <a:off x="2322720" y="44164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4" name="Shape 1058"/>
          <p:cNvSpPr/>
          <p:nvPr/>
        </p:nvSpPr>
        <p:spPr>
          <a:xfrm>
            <a:off x="3200400" y="44164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5" name="Text 1125"/>
          <p:cNvSpPr/>
          <p:nvPr/>
        </p:nvSpPr>
        <p:spPr>
          <a:xfrm>
            <a:off x="3237120" y="44164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6" name="Shape 1059"/>
          <p:cNvSpPr/>
          <p:nvPr/>
        </p:nvSpPr>
        <p:spPr>
          <a:xfrm>
            <a:off x="4114800" y="4416480"/>
            <a:ext cx="91404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7" name="Text 1126"/>
          <p:cNvSpPr/>
          <p:nvPr/>
        </p:nvSpPr>
        <p:spPr>
          <a:xfrm>
            <a:off x="4151520" y="4416480"/>
            <a:ext cx="85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8" name="Shape 1060"/>
          <p:cNvSpPr/>
          <p:nvPr/>
        </p:nvSpPr>
        <p:spPr>
          <a:xfrm>
            <a:off x="5029200" y="4416480"/>
            <a:ext cx="95976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" name="Text 1127"/>
          <p:cNvSpPr/>
          <p:nvPr/>
        </p:nvSpPr>
        <p:spPr>
          <a:xfrm>
            <a:off x="5065920" y="4416480"/>
            <a:ext cx="905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fb5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0" name="Shape 1061"/>
          <p:cNvSpPr/>
          <p:nvPr/>
        </p:nvSpPr>
        <p:spPr>
          <a:xfrm>
            <a:off x="5989320" y="4416480"/>
            <a:ext cx="100548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1" name="Text 1128"/>
          <p:cNvSpPr/>
          <p:nvPr/>
        </p:nvSpPr>
        <p:spPr>
          <a:xfrm>
            <a:off x="6026040" y="4416480"/>
            <a:ext cx="950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fb5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2" name="Shape 1062"/>
          <p:cNvSpPr/>
          <p:nvPr/>
        </p:nvSpPr>
        <p:spPr>
          <a:xfrm>
            <a:off x="6995160" y="4416480"/>
            <a:ext cx="868320" cy="40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3" name="Text 1129"/>
          <p:cNvSpPr/>
          <p:nvPr/>
        </p:nvSpPr>
        <p:spPr>
          <a:xfrm>
            <a:off x="7031880" y="4416480"/>
            <a:ext cx="813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3d9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4" name="Shape 1063"/>
          <p:cNvSpPr/>
          <p:nvPr/>
        </p:nvSpPr>
        <p:spPr>
          <a:xfrm>
            <a:off x="320040" y="4864680"/>
            <a:ext cx="8503560" cy="383760"/>
          </a:xfrm>
          <a:prstGeom prst="rect">
            <a:avLst/>
          </a:prstGeom>
          <a:solidFill>
            <a:srgbClr val="e8f8ee"/>
          </a:solidFill>
          <a:ln w="12700">
            <a:solidFill>
              <a:srgbClr val="e8f8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Shape 1064"/>
          <p:cNvSpPr/>
          <p:nvPr/>
        </p:nvSpPr>
        <p:spPr>
          <a:xfrm>
            <a:off x="320040" y="4864680"/>
            <a:ext cx="54360" cy="3837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6" name="Text 1130"/>
          <p:cNvSpPr/>
          <p:nvPr/>
        </p:nvSpPr>
        <p:spPr>
          <a:xfrm>
            <a:off x="448200" y="4919400"/>
            <a:ext cx="8320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✓✓✓ </a:t>
            </a:r>
            <a:r>
              <a:rPr b="0" i="1" lang="en-US" sz="950" spc="-1" strike="noStrike">
                <a:solidFill>
                  <a:srgbClr val="1a2b2f"/>
                </a:solidFill>
                <a:latin typeface="Calibri"/>
                <a:ea typeface="Calibri"/>
              </a:rPr>
              <a:t>Recommandé  ·  ✓✓ Possible  ·  ✓ Acceptable  ·  ✗ Déconseillé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7" name="Shape 1065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8" name="Shape 1066"/>
          <p:cNvSpPr/>
          <p:nvPr/>
        </p:nvSpPr>
        <p:spPr>
          <a:xfrm>
            <a:off x="0" y="0"/>
            <a:ext cx="164160" cy="63972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9" name="Text 1131"/>
          <p:cNvSpPr/>
          <p:nvPr/>
        </p:nvSpPr>
        <p:spPr>
          <a:xfrm>
            <a:off x="320040" y="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Module 3 – Synthèse · Ingestion de données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0" name="Shape 1067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1" name="Text 1132"/>
          <p:cNvSpPr/>
          <p:nvPr/>
        </p:nvSpPr>
        <p:spPr>
          <a:xfrm>
            <a:off x="7863840" y="0"/>
            <a:ext cx="126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Module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2" name="Text 1133"/>
          <p:cNvSpPr/>
          <p:nvPr/>
        </p:nvSpPr>
        <p:spPr>
          <a:xfrm>
            <a:off x="320040" y="713160"/>
            <a:ext cx="8503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Ce module couvre l'ensemble des mécanismes d'ingestion d'OpenSearch, du plus simple au plus scalable.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3" name="Shape 1068"/>
          <p:cNvSpPr/>
          <p:nvPr/>
        </p:nvSpPr>
        <p:spPr>
          <a:xfrm>
            <a:off x="320040" y="1188720"/>
            <a:ext cx="2788560" cy="14169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Shape 1069"/>
          <p:cNvSpPr/>
          <p:nvPr/>
        </p:nvSpPr>
        <p:spPr>
          <a:xfrm>
            <a:off x="320040" y="1188720"/>
            <a:ext cx="2788560" cy="34704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5" name="Text 1134"/>
          <p:cNvSpPr/>
          <p:nvPr/>
        </p:nvSpPr>
        <p:spPr>
          <a:xfrm>
            <a:off x="411480" y="1188720"/>
            <a:ext cx="2678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📦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Bulk API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6" name="Shape 1070"/>
          <p:cNvSpPr/>
          <p:nvPr/>
        </p:nvSpPr>
        <p:spPr>
          <a:xfrm>
            <a:off x="320040" y="1536120"/>
            <a:ext cx="54360" cy="106956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7" name="Text 1135"/>
          <p:cNvSpPr/>
          <p:nvPr/>
        </p:nvSpPr>
        <p:spPr>
          <a:xfrm>
            <a:off x="484560" y="1591200"/>
            <a:ext cx="25689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L'API fondamentale. Format NDJSON. Gestion des erreurs partielles. Base de toutes les solutions.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8" name="Shape 1071"/>
          <p:cNvSpPr/>
          <p:nvPr/>
        </p:nvSpPr>
        <p:spPr>
          <a:xfrm>
            <a:off x="3264480" y="1188720"/>
            <a:ext cx="2788560" cy="14169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9" name="Shape 1072"/>
          <p:cNvSpPr/>
          <p:nvPr/>
        </p:nvSpPr>
        <p:spPr>
          <a:xfrm>
            <a:off x="3264480" y="1188720"/>
            <a:ext cx="2788560" cy="34704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0" name="Text 1136"/>
          <p:cNvSpPr/>
          <p:nvPr/>
        </p:nvSpPr>
        <p:spPr>
          <a:xfrm>
            <a:off x="3355920" y="1188720"/>
            <a:ext cx="2678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🐍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SDK Python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1" name="Shape 1073"/>
          <p:cNvSpPr/>
          <p:nvPr/>
        </p:nvSpPr>
        <p:spPr>
          <a:xfrm>
            <a:off x="3264480" y="1536120"/>
            <a:ext cx="54360" cy="1069560"/>
          </a:xfrm>
          <a:prstGeom prst="rect">
            <a:avLst/>
          </a:prstGeom>
          <a:solidFill>
            <a:srgbClr val="007fb5"/>
          </a:solidFill>
          <a:ln w="12700">
            <a:solidFill>
              <a:srgbClr val="007f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2" name="Text 1137"/>
          <p:cNvSpPr/>
          <p:nvPr/>
        </p:nvSpPr>
        <p:spPr>
          <a:xfrm>
            <a:off x="3429000" y="1591200"/>
            <a:ext cx="25689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opensearch-py · helpers.parallel_bulk · thread_count + chunk_size · backoff exponentiel.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3" name="Shape 1074"/>
          <p:cNvSpPr/>
          <p:nvPr/>
        </p:nvSpPr>
        <p:spPr>
          <a:xfrm>
            <a:off x="6208920" y="1188720"/>
            <a:ext cx="2788560" cy="14169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4" name="Shape 1075"/>
          <p:cNvSpPr/>
          <p:nvPr/>
        </p:nvSpPr>
        <p:spPr>
          <a:xfrm>
            <a:off x="6208920" y="1188720"/>
            <a:ext cx="2788560" cy="34704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5" name="Text 1138"/>
          <p:cNvSpPr/>
          <p:nvPr/>
        </p:nvSpPr>
        <p:spPr>
          <a:xfrm>
            <a:off x="6300360" y="1188720"/>
            <a:ext cx="2678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☕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SDK Java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Shape 1076"/>
          <p:cNvSpPr/>
          <p:nvPr/>
        </p:nvSpPr>
        <p:spPr>
          <a:xfrm>
            <a:off x="6208920" y="1536120"/>
            <a:ext cx="54360" cy="106956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7" name="Text 1139"/>
          <p:cNvSpPr/>
          <p:nvPr/>
        </p:nvSpPr>
        <p:spPr>
          <a:xfrm>
            <a:off x="6373440" y="1591200"/>
            <a:ext cx="25689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opensearch-java 3.x · BulkIngester (flush auto) · Thread-safe · Spring / Quarkus ready.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8" name="Shape 1077"/>
          <p:cNvSpPr/>
          <p:nvPr/>
        </p:nvSpPr>
        <p:spPr>
          <a:xfrm>
            <a:off x="320040" y="2724840"/>
            <a:ext cx="2788560" cy="14169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9" name="Shape 1078"/>
          <p:cNvSpPr/>
          <p:nvPr/>
        </p:nvSpPr>
        <p:spPr>
          <a:xfrm>
            <a:off x="320040" y="2724840"/>
            <a:ext cx="2788560" cy="347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0" name="Text 1140"/>
          <p:cNvSpPr/>
          <p:nvPr/>
        </p:nvSpPr>
        <p:spPr>
          <a:xfrm>
            <a:off x="411480" y="2724840"/>
            <a:ext cx="2678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🔧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1" name="Shape 1079"/>
          <p:cNvSpPr/>
          <p:nvPr/>
        </p:nvSpPr>
        <p:spPr>
          <a:xfrm>
            <a:off x="320040" y="3072240"/>
            <a:ext cx="54360" cy="1069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2" name="Text 1141"/>
          <p:cNvSpPr/>
          <p:nvPr/>
        </p:nvSpPr>
        <p:spPr>
          <a:xfrm>
            <a:off x="484560" y="3127320"/>
            <a:ext cx="25689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Pipeline natif OpenSearch · Sources YAML · grok/date/mutate · OTel traces nativement.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3" name="Shape 1080"/>
          <p:cNvSpPr/>
          <p:nvPr/>
        </p:nvSpPr>
        <p:spPr>
          <a:xfrm>
            <a:off x="3264480" y="2724840"/>
            <a:ext cx="2788560" cy="14169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4" name="Shape 1081"/>
          <p:cNvSpPr/>
          <p:nvPr/>
        </p:nvSpPr>
        <p:spPr>
          <a:xfrm>
            <a:off x="3264480" y="2724840"/>
            <a:ext cx="2788560" cy="34704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5" name="Text 1142"/>
          <p:cNvSpPr/>
          <p:nvPr/>
        </p:nvSpPr>
        <p:spPr>
          <a:xfrm>
            <a:off x="3355920" y="2724840"/>
            <a:ext cx="2678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🔗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6" name="Shape 1082"/>
          <p:cNvSpPr/>
          <p:nvPr/>
        </p:nvSpPr>
        <p:spPr>
          <a:xfrm>
            <a:off x="3264480" y="3072240"/>
            <a:ext cx="54360" cy="1069560"/>
          </a:xfrm>
          <a:prstGeom prst="rect">
            <a:avLst/>
          </a:prstGeom>
          <a:solidFill>
            <a:srgbClr val="00a3d9"/>
          </a:solidFill>
          <a:ln w="12700">
            <a:solidFill>
              <a:srgbClr val="00a3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7" name="Text 1143"/>
          <p:cNvSpPr/>
          <p:nvPr/>
        </p:nvSpPr>
        <p:spPr>
          <a:xfrm>
            <a:off x="3429000" y="3127320"/>
            <a:ext cx="25689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Sink connector · At-least-once · DLQ · SMT · Mode standalone ou distribué.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8" name="Shape 1083"/>
          <p:cNvSpPr/>
          <p:nvPr/>
        </p:nvSpPr>
        <p:spPr>
          <a:xfrm>
            <a:off x="6208920" y="2724840"/>
            <a:ext cx="2788560" cy="141696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9" name="Shape 1084"/>
          <p:cNvSpPr/>
          <p:nvPr/>
        </p:nvSpPr>
        <p:spPr>
          <a:xfrm>
            <a:off x="6208920" y="2724840"/>
            <a:ext cx="2788560" cy="3470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0" name="Text 1144"/>
          <p:cNvSpPr/>
          <p:nvPr/>
        </p:nvSpPr>
        <p:spPr>
          <a:xfrm>
            <a:off x="6300360" y="2724840"/>
            <a:ext cx="2678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⚡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Optimisations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1" name="Shape 1085"/>
          <p:cNvSpPr/>
          <p:nvPr/>
        </p:nvSpPr>
        <p:spPr>
          <a:xfrm>
            <a:off x="6208920" y="3072240"/>
            <a:ext cx="54360" cy="10695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2" name="Text 1145"/>
          <p:cNvSpPr/>
          <p:nvPr/>
        </p:nvSpPr>
        <p:spPr>
          <a:xfrm>
            <a:off x="6373440" y="3127320"/>
            <a:ext cx="25689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refresh_interval: -1 · replicas: 0 · gzip · parallel · backoff · nœuds ingest dédiés.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3" name="Shape 1086"/>
          <p:cNvSpPr/>
          <p:nvPr/>
        </p:nvSpPr>
        <p:spPr>
          <a:xfrm>
            <a:off x="320040" y="4297680"/>
            <a:ext cx="8503560" cy="566640"/>
          </a:xfrm>
          <a:prstGeom prst="rect">
            <a:avLst/>
          </a:prstGeom>
          <a:solidFill>
            <a:srgbClr val="002b5c"/>
          </a:solidFill>
          <a:ln w="12700">
            <a:solidFill>
              <a:srgbClr val="002b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4" name="Shape 1087"/>
          <p:cNvSpPr/>
          <p:nvPr/>
        </p:nvSpPr>
        <p:spPr>
          <a:xfrm>
            <a:off x="320040" y="4297680"/>
            <a:ext cx="54360" cy="566640"/>
          </a:xfrm>
          <a:prstGeom prst="rect">
            <a:avLst/>
          </a:prstGeom>
          <a:solidFill>
            <a:srgbClr val="e8672a"/>
          </a:solidFill>
          <a:ln w="12700">
            <a:solidFill>
              <a:srgbClr val="e86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5" name="Text 1146"/>
          <p:cNvSpPr/>
          <p:nvPr/>
        </p:nvSpPr>
        <p:spPr>
          <a:xfrm>
            <a:off x="457200" y="4316040"/>
            <a:ext cx="8274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✏  </a:t>
            </a: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Ateliers du module : Atelier 3.1 SDK Python · Atelier 3.2 Data Prepper · Atelier 3.3 Kafka Connect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2594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2026-03-17T11:30:50Z</dcterms:created>
  <dc:creator>David THIBAU</dc:creator>
  <dc:description/>
  <dc:language>fr-FR</dc:language>
  <cp:lastModifiedBy/>
  <dcterms:modified xsi:type="dcterms:W3CDTF">2026-03-19T13:11:43Z</dcterms:modified>
  <cp:revision>26</cp:revision>
  <dc:subject>PptxGenJS Presentation</dc:subject>
  <dc:title>OpenSearch – Introduction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