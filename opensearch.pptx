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14.xml.rels" ContentType="application/vnd.openxmlformats-package.relationships+xml"/>
  <Override PartName="/ppt/slides/_rels/slide82.xml.rels" ContentType="application/vnd.openxmlformats-package.relationships+xml"/>
  <Override PartName="/ppt/slides/_rels/slide12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83.xml.rels" ContentType="application/vnd.openxmlformats-package.relationships+xml"/>
  <Override PartName="/ppt/slides/_rels/slide46.xml.rels" ContentType="application/vnd.openxmlformats-package.relationships+xml"/>
  <Override PartName="/ppt/slides/_rels/slide13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84.xml.rels" ContentType="application/vnd.openxmlformats-package.relationships+xml"/>
  <Override PartName="/ppt/slides/_rels/slide47.xml.rels" ContentType="application/vnd.openxmlformats-package.relationships+xml"/>
  <Override PartName="/ppt/slides/_rels/slide160.xml.rels" ContentType="application/vnd.openxmlformats-package.relationships+xml"/>
  <Override PartName="/ppt/slides/_rels/slide9.xml.rels" ContentType="application/vnd.openxmlformats-package.relationships+xml"/>
  <Override PartName="/ppt/slides/_rels/slide96.xml.rels" ContentType="application/vnd.openxmlformats-package.relationships+xml"/>
  <Override PartName="/ppt/slides/_rels/slide28.xml.rels" ContentType="application/vnd.openxmlformats-package.relationships+xml"/>
  <Override PartName="/ppt/slides/_rels/slide141.xml.rels" ContentType="application/vnd.openxmlformats-package.relationships+xml"/>
  <Override PartName="/ppt/slides/_rels/slide3.xml.rels" ContentType="application/vnd.openxmlformats-package.relationships+xml"/>
  <Override PartName="/ppt/slides/_rels/slide199.xml.rels" ContentType="application/vnd.openxmlformats-package.relationships+xml"/>
  <Override PartName="/ppt/slides/_rels/slide201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161.xml.rels" ContentType="application/vnd.openxmlformats-package.relationships+xml"/>
  <Override PartName="/ppt/slides/_rels/slide20.xml.rels" ContentType="application/vnd.openxmlformats-package.relationships+xml"/>
  <Override PartName="/ppt/slides/_rels/slide171.xml.rels" ContentType="application/vnd.openxmlformats-package.relationships+xml"/>
  <Override PartName="/ppt/slides/_rels/slide103.xml.rels" ContentType="application/vnd.openxmlformats-package.relationships+xml"/>
  <Override PartName="/ppt/slides/_rels/slide58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144.xml.rels" ContentType="application/vnd.openxmlformats-package.relationships+xml"/>
  <Override PartName="/ppt/slides/_rels/slide4.xml.rels" ContentType="application/vnd.openxmlformats-package.relationships+xml"/>
  <Override PartName="/ppt/slides/_rels/slide202.xml.rels" ContentType="application/vnd.openxmlformats-package.relationships+xml"/>
  <Override PartName="/ppt/slides/_rels/slide49.xml.rels" ContentType="application/vnd.openxmlformats-package.relationships+xml"/>
  <Override PartName="/ppt/slides/_rels/slide162.xml.rels" ContentType="application/vnd.openxmlformats-package.relationships+xml"/>
  <Override PartName="/ppt/slides/_rels/slide21.xml.rels" ContentType="application/vnd.openxmlformats-package.relationships+xml"/>
  <Override PartName="/ppt/slides/_rels/slide91.xml.rels" ContentType="application/vnd.openxmlformats-package.relationships+xml"/>
  <Override PartName="/ppt/slides/_rels/slide23.xml.rels" ContentType="application/vnd.openxmlformats-package.relationships+xml"/>
  <Override PartName="/ppt/slides/_rels/slide104.xml.rels" ContentType="application/vnd.openxmlformats-package.relationships+xml"/>
  <Override PartName="/ppt/slides/_rels/slide172.xml.rels" ContentType="application/vnd.openxmlformats-package.relationships+xml"/>
  <Override PartName="/ppt/slides/_rels/slide59.xml.rels" ContentType="application/vnd.openxmlformats-package.relationships+xml"/>
  <Override PartName="/ppt/slides/_rels/slide1.xml.rels" ContentType="application/vnd.openxmlformats-package.relationships+xml"/>
  <Override PartName="/ppt/slides/_rels/slide197.xml.rels" ContentType="application/vnd.openxmlformats-package.relationships+xml"/>
  <Override PartName="/ppt/slides/_rels/slide129.xml.rels" ContentType="application/vnd.openxmlformats-package.relationships+xml"/>
  <Override PartName="/ppt/slides/_rels/slide98.xml.rels" ContentType="application/vnd.openxmlformats-package.relationships+xml"/>
  <Override PartName="/ppt/slides/_rels/slide143.xml.rels" ContentType="application/vnd.openxmlformats-package.relationships+xml"/>
  <Override PartName="/ppt/slides/_rels/slide5.xml.rels" ContentType="application/vnd.openxmlformats-package.relationships+xml"/>
  <Override PartName="/ppt/slides/_rels/slide25.xml.rels" ContentType="application/vnd.openxmlformats-package.relationships+xml"/>
  <Override PartName="/ppt/slides/_rels/slide93.xml.rels" ContentType="application/vnd.openxmlformats-package.relationships+xml"/>
  <Override PartName="/ppt/slides/_rels/slide90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198.xml.rels" ContentType="application/vnd.openxmlformats-package.relationships+xml"/>
  <Override PartName="/ppt/slides/_rels/slide200.xml.rels" ContentType="application/vnd.openxmlformats-package.relationships+xml"/>
  <Override PartName="/ppt/slides/_rels/slide173.xml.rels" ContentType="application/vnd.openxmlformats-package.relationships+xml"/>
  <Override PartName="/ppt/slides/_rels/slide105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150.xml.rels" ContentType="application/vnd.openxmlformats-package.relationships+xml"/>
  <Override PartName="/ppt/slides/_rels/slide38.xml.rels" ContentType="application/vnd.openxmlformats-package.relationships+xml"/>
  <Override PartName="/ppt/slides/_rels/slide151.xml.rels" ContentType="application/vnd.openxmlformats-package.relationships+xml"/>
  <Override PartName="/ppt/slides/_rels/slide39.xml.rels" ContentType="application/vnd.openxmlformats-package.relationships+xml"/>
  <Override PartName="/ppt/slides/_rels/slide152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115.xml.rels" ContentType="application/vnd.openxmlformats-package.relationships+xml"/>
  <Override PartName="/ppt/slides/_rels/slide183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120.xml.rels" ContentType="application/vnd.openxmlformats-package.relationships+xml"/>
  <Override PartName="/ppt/slides/_rels/slide75.xml.rels" ContentType="application/vnd.openxmlformats-package.relationships+xml"/>
  <Override PartName="/ppt/slides/_rels/slide153.xml.rels" ContentType="application/vnd.openxmlformats-package.relationships+xml"/>
  <Override PartName="/ppt/slides/_rels/slide145.xml.rels" ContentType="application/vnd.openxmlformats-package.relationships+xml"/>
  <Override PartName="/ppt/slides/_rels/slide121.xml.rels" ContentType="application/vnd.openxmlformats-package.relationships+xml"/>
  <Override PartName="/ppt/slides/_rels/slide76.xml.rels" ContentType="application/vnd.openxmlformats-package.relationships+xml"/>
  <Override PartName="/ppt/slides/_rels/slide154.xml.rels" ContentType="application/vnd.openxmlformats-package.relationships+xml"/>
  <Override PartName="/ppt/slides/_rels/slide66.xml.rels" ContentType="application/vnd.openxmlformats-package.relationships+xml"/>
  <Override PartName="/ppt/slides/_rels/slide111.xml.rels" ContentType="application/vnd.openxmlformats-package.relationships+xml"/>
  <Override PartName="/ppt/slides/_rels/slide146.xml.rels" ContentType="application/vnd.openxmlformats-package.relationships+xml"/>
  <Override PartName="/ppt/slides/_rels/slide116.xml.rels" ContentType="application/vnd.openxmlformats-package.relationships+xml"/>
  <Override PartName="/ppt/slides/_rels/slide184.xml.rels" ContentType="application/vnd.openxmlformats-package.relationships+xml"/>
  <Override PartName="/ppt/slides/_rels/slide180.xml.rels" ContentType="application/vnd.openxmlformats-package.relationships+xml"/>
  <Override PartName="/ppt/slides/_rels/slide67.xml.rels" ContentType="application/vnd.openxmlformats-package.relationships+xml"/>
  <Override PartName="/ppt/slides/_rels/slide112.xml.rels" ContentType="application/vnd.openxmlformats-package.relationships+xml"/>
  <Override PartName="/ppt/slides/_rels/slide181.xml.rels" ContentType="application/vnd.openxmlformats-package.relationships+xml"/>
  <Override PartName="/ppt/slides/_rels/slide68.xml.rels" ContentType="application/vnd.openxmlformats-package.relationships+xml"/>
  <Override PartName="/ppt/slides/_rels/slide113.xml.rels" ContentType="application/vnd.openxmlformats-package.relationships+xml"/>
  <Override PartName="/ppt/slides/_rels/slide70.xml.rels" ContentType="application/vnd.openxmlformats-package.relationships+xml"/>
  <Override PartName="/ppt/slides/_rels/slide125.xml.rels" ContentType="application/vnd.openxmlformats-package.relationships+xml"/>
  <Override PartName="/ppt/slides/_rels/slide193.xml.rels" ContentType="application/vnd.openxmlformats-package.relationships+xml"/>
  <Override PartName="/ppt/slides/_rels/slide126.xml.rels" ContentType="application/vnd.openxmlformats-package.relationships+xml"/>
  <Override PartName="/ppt/slides/_rels/slide194.xml.rels" ContentType="application/vnd.openxmlformats-package.relationships+xml"/>
  <Override PartName="/ppt/slides/_rels/slide127.xml.rels" ContentType="application/vnd.openxmlformats-package.relationships+xml"/>
  <Override PartName="/ppt/slides/_rels/slide195.xml.rels" ContentType="application/vnd.openxmlformats-package.relationships+xml"/>
  <Override PartName="/ppt/slides/_rels/slide182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147.xml.rels" ContentType="application/vnd.openxmlformats-package.relationships+xml"/>
  <Override PartName="/ppt/slides/_rels/slide109.xml.rels" ContentType="application/vnd.openxmlformats-package.relationships+xml"/>
  <Override PartName="/ppt/slides/_rels/slide177.xml.rels" ContentType="application/vnd.openxmlformats-package.relationships+xml"/>
  <Override PartName="/ppt/slides/_rels/slide191.xml.rels" ContentType="application/vnd.openxmlformats-package.relationships+xml"/>
  <Override PartName="/ppt/slides/_rels/slide123.xml.rels" ContentType="application/vnd.openxmlformats-package.relationships+xml"/>
  <Override PartName="/ppt/slides/_rels/slide78.xml.rels" ContentType="application/vnd.openxmlformats-package.relationships+xml"/>
  <Override PartName="/ppt/slides/_rels/slide156.xml.rels" ContentType="application/vnd.openxmlformats-package.relationships+xml"/>
  <Override PartName="/ppt/slides/_rels/slide119.xml.rels" ContentType="application/vnd.openxmlformats-package.relationships+xml"/>
  <Override PartName="/ppt/slides/_rels/slide187.xml.rels" ContentType="application/vnd.openxmlformats-package.relationships+xml"/>
  <Override PartName="/ppt/slides/_rels/slide108.xml.rels" ContentType="application/vnd.openxmlformats-package.relationships+xml"/>
  <Override PartName="/ppt/slides/_rels/slide176.xml.rels" ContentType="application/vnd.openxmlformats-package.relationships+xml"/>
  <Override PartName="/ppt/slides/_rels/slide190.xml.rels" ContentType="application/vnd.openxmlformats-package.relationships+xml"/>
  <Override PartName="/ppt/slides/_rels/slide122.xml.rels" ContentType="application/vnd.openxmlformats-package.relationships+xml"/>
  <Override PartName="/ppt/slides/_rels/slide77.xml.rels" ContentType="application/vnd.openxmlformats-package.relationships+xml"/>
  <Override PartName="/ppt/slides/_rels/slide155.xml.rels" ContentType="application/vnd.openxmlformats-package.relationships+xml"/>
  <Override PartName="/ppt/slides/_rels/slide118.xml.rels" ContentType="application/vnd.openxmlformats-package.relationships+xml"/>
  <Override PartName="/ppt/slides/_rels/slide186.xml.rels" ContentType="application/vnd.openxmlformats-package.relationships+xml"/>
  <Override PartName="/ppt/slides/_rels/slide107.xml.rels" ContentType="application/vnd.openxmlformats-package.relationships+xml"/>
  <Override PartName="/ppt/slides/_rels/slide175.xml.rels" ContentType="application/vnd.openxmlformats-package.relationships+xml"/>
  <Override PartName="/ppt/slides/_rels/slide142.xml.rels" ContentType="application/vnd.openxmlformats-package.relationships+xml"/>
  <Override PartName="/ppt/slides/_rels/slide29.xml.rels" ContentType="application/vnd.openxmlformats-package.relationships+xml"/>
  <Override PartName="/ppt/slides/_rels/slide97.xml.rels" ContentType="application/vnd.openxmlformats-package.relationships+xml"/>
  <Override PartName="/ppt/slides/_rels/slide117.xml.rels" ContentType="application/vnd.openxmlformats-package.relationships+xml"/>
  <Override PartName="/ppt/slides/_rels/slide185.xml.rels" ContentType="application/vnd.openxmlformats-package.relationships+xml"/>
  <Override PartName="/ppt/slides/_rels/slide174.xml.rels" ContentType="application/vnd.openxmlformats-package.relationships+xml"/>
  <Override PartName="/ppt/slides/_rels/slide106.xml.rels" ContentType="application/vnd.openxmlformats-package.relationships+xml"/>
  <Override PartName="/ppt/slides/_rels/slide157.xml.rels" ContentType="application/vnd.openxmlformats-package.relationships+xml"/>
  <Override PartName="/ppt/slides/_rels/slide192.xml.rels" ContentType="application/vnd.openxmlformats-package.relationships+xml"/>
  <Override PartName="/ppt/slides/_rels/slide79.xml.rels" ContentType="application/vnd.openxmlformats-package.relationships+xml"/>
  <Override PartName="/ppt/slides/_rels/slide124.xml.rels" ContentType="application/vnd.openxmlformats-package.relationships+xml"/>
  <Override PartName="/ppt/slides/_rels/slide60.xml.rels" ContentType="application/vnd.openxmlformats-package.relationships+xml"/>
  <Override PartName="/ppt/slides/_rels/slide94.xml.rels" ContentType="application/vnd.openxmlformats-package.relationships+xml"/>
  <Override PartName="/ppt/slides/_rels/slide26.xml.rels" ContentType="application/vnd.openxmlformats-package.relationships+xml"/>
  <Override PartName="/ppt/slides/_rels/slide128.xml.rels" ContentType="application/vnd.openxmlformats-package.relationships+xml"/>
  <Override PartName="/ppt/slides/_rels/slide196.xml.rels" ContentType="application/vnd.openxmlformats-package.relationships+xml"/>
  <Override PartName="/ppt/slides/_rels/slide166.xml.rels" ContentType="application/vnd.openxmlformats-package.relationships+xml"/>
  <Override PartName="/ppt/slides/_rels/slide88.xml.rels" ContentType="application/vnd.openxmlformats-package.relationships+xml"/>
  <Override PartName="/ppt/slides/_rels/slide133.xml.rels" ContentType="application/vnd.openxmlformats-package.relationships+xml"/>
  <Override PartName="/ppt/slides/_rels/slide167.xml.rels" ContentType="application/vnd.openxmlformats-package.relationships+xml"/>
  <Override PartName="/ppt/slides/_rels/slide89.xml.rels" ContentType="application/vnd.openxmlformats-package.relationships+xml"/>
  <Override PartName="/ppt/slides/_rels/slide134.xml.rels" ContentType="application/vnd.openxmlformats-package.relationships+xml"/>
  <Override PartName="/ppt/slides/_rels/slide135.xml.rels" ContentType="application/vnd.openxmlformats-package.relationships+xml"/>
  <Override PartName="/ppt/slides/_rels/slide136.xml.rels" ContentType="application/vnd.openxmlformats-package.relationships+xml"/>
  <Override PartName="/ppt/slides/_rels/slide137.xml.rels" ContentType="application/vnd.openxmlformats-package.relationships+xml"/>
  <Override PartName="/ppt/slides/_rels/slide56.xml.rels" ContentType="application/vnd.openxmlformats-package.relationships+xml"/>
  <Override PartName="/ppt/slides/_rels/slide101.xml.rels" ContentType="application/vnd.openxmlformats-package.relationships+xml"/>
  <Override PartName="/ppt/slides/_rels/slide138.xml.rels" ContentType="application/vnd.openxmlformats-package.relationships+xml"/>
  <Override PartName="/ppt/slides/_rels/slide140.xml.rels" ContentType="application/vnd.openxmlformats-package.relationships+xml"/>
  <Override PartName="/ppt/slides/_rels/slide95.xml.rels" ContentType="application/vnd.openxmlformats-package.relationships+xml"/>
  <Override PartName="/ppt/slides/_rels/slide27.xml.rels" ContentType="application/vnd.openxmlformats-package.relationships+xml"/>
  <Override PartName="/ppt/slides/_rels/slide57.xml.rels" ContentType="application/vnd.openxmlformats-package.relationships+xml"/>
  <Override PartName="/ppt/slides/_rels/slide170.xml.rels" ContentType="application/vnd.openxmlformats-package.relationships+xml"/>
  <Override PartName="/ppt/slides/_rels/slide102.xml.rels" ContentType="application/vnd.openxmlformats-package.relationships+xml"/>
  <Override PartName="/ppt/slides/_rels/slide92.xml.rels" ContentType="application/vnd.openxmlformats-package.relationships+xml"/>
  <Override PartName="/ppt/slides/_rels/slide24.xml.rels" ContentType="application/vnd.openxmlformats-package.relationships+xml"/>
  <Override PartName="/ppt/slides/_rels/slide139.xml.rels" ContentType="application/vnd.openxmlformats-package.relationships+xml"/>
  <Override PartName="/ppt/slides/_rels/slide54.xml.rels" ContentType="application/vnd.openxmlformats-package.relationships+xml"/>
  <Override PartName="/ppt/slides/_rels/slide165.xml.rels" ContentType="application/vnd.openxmlformats-package.relationships+xml"/>
  <Override PartName="/ppt/slides/_rels/slide132.xml.rels" ContentType="application/vnd.openxmlformats-package.relationships+xml"/>
  <Override PartName="/ppt/slides/_rels/slide87.xml.rels" ContentType="application/vnd.openxmlformats-package.relationships+xml"/>
  <Override PartName="/ppt/slides/_rels/slide19.xml.rels" ContentType="application/vnd.openxmlformats-package.relationships+xml"/>
  <Override PartName="/ppt/slides/_rels/slide148.xml.rels" ContentType="application/vnd.openxmlformats-package.relationships+xml"/>
  <Override PartName="/ppt/slides/_rels/slide149.xml.rels" ContentType="application/vnd.openxmlformats-package.relationships+xml"/>
  <Override PartName="/ppt/slides/_rels/slide164.xml.rels" ContentType="application/vnd.openxmlformats-package.relationships+xml"/>
  <Override PartName="/ppt/slides/_rels/slide86.xml.rels" ContentType="application/vnd.openxmlformats-package.relationships+xml"/>
  <Override PartName="/ppt/slides/_rels/slide18.xml.rels" ContentType="application/vnd.openxmlformats-package.relationships+xml"/>
  <Override PartName="/ppt/slides/_rels/slide131.xml.rels" ContentType="application/vnd.openxmlformats-package.relationships+xml"/>
  <Override PartName="/ppt/slides/_rels/slide53.xml.rels" ContentType="application/vnd.openxmlformats-package.relationships+xml"/>
  <Override PartName="/ppt/slides/_rels/slide168.xml.rels" ContentType="application/vnd.openxmlformats-package.relationships+xml"/>
  <Override PartName="/ppt/slides/_rels/slide169.xml.rels" ContentType="application/vnd.openxmlformats-package.relationships+xml"/>
  <Override PartName="/ppt/slides/_rels/slide178.xml.rels" ContentType="application/vnd.openxmlformats-package.relationships+xml"/>
  <Override PartName="/ppt/slides/_rels/slide7.xml.rels" ContentType="application/vnd.openxmlformats-package.relationships+xml"/>
  <Override PartName="/ppt/slides/_rels/slide163.xml.rels" ContentType="application/vnd.openxmlformats-package.relationships+xml"/>
  <Override PartName="/ppt/slides/_rels/slide85.xml.rels" ContentType="application/vnd.openxmlformats-package.relationships+xml"/>
  <Override PartName="/ppt/slides/_rels/slide17.xml.rels" ContentType="application/vnd.openxmlformats-package.relationships+xml"/>
  <Override PartName="/ppt/slides/_rels/slide130.xml.rels" ContentType="application/vnd.openxmlformats-package.relationships+xml"/>
  <Override PartName="/ppt/slides/_rels/slide52.xml.rels" ContentType="application/vnd.openxmlformats-package.relationships+xml"/>
  <Override PartName="/ppt/slides/_rels/slide17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59.xml.rels" ContentType="application/vnd.openxmlformats-package.relationships+xml"/>
  <Override PartName="/ppt/slides/_rels/slide158.xml.rels" ContentType="application/vnd.openxmlformats-package.relationships+xml"/>
  <Override PartName="/ppt/slides/_rels/slide189.xml.rels" ContentType="application/vnd.openxmlformats-package.relationships+xml"/>
  <Override PartName="/ppt/slides/_rels/slide188.xml.rels" ContentType="application/vnd.openxmlformats-package.relationships+xml"/>
  <Override PartName="/ppt/slides/_rels/slide55.xml.rels" ContentType="application/vnd.openxmlformats-package.relationships+xml"/>
  <Override PartName="/ppt/slides/_rels/slide100.xml.rels" ContentType="application/vnd.openxmlformats-package.relationships+xml"/>
  <Override PartName="/ppt/slides/_rels/slide51.xml.rels" ContentType="application/vnd.openxmlformats-package.relationships+xml"/>
  <Override PartName="/ppt/slides/slide127.xml" ContentType="application/vnd.openxmlformats-officedocument.presentationml.slide+xml"/>
  <Override PartName="/ppt/slides/slide195.xml" ContentType="application/vnd.openxmlformats-officedocument.presentationml.slide+xml"/>
  <Override PartName="/ppt/slides/slide126.xml" ContentType="application/vnd.openxmlformats-officedocument.presentationml.slide+xml"/>
  <Override PartName="/ppt/slides/slide194.xml" ContentType="application/vnd.openxmlformats-officedocument.presentationml.slide+xml"/>
  <Override PartName="/ppt/slides/slide119.xml" ContentType="application/vnd.openxmlformats-officedocument.presentationml.slide+xml"/>
  <Override PartName="/ppt/slides/slide187.xml" ContentType="application/vnd.openxmlformats-officedocument.presentationml.slide+xml"/>
  <Override PartName="/ppt/slides/slide118.xml" ContentType="application/vnd.openxmlformats-officedocument.presentationml.slide+xml"/>
  <Override PartName="/ppt/slides/slide186.xml" ContentType="application/vnd.openxmlformats-officedocument.presentationml.slide+xml"/>
  <Override PartName="/ppt/slides/slide117.xml" ContentType="application/vnd.openxmlformats-officedocument.presentationml.slide+xml"/>
  <Override PartName="/ppt/slides/slide185.xml" ContentType="application/vnd.openxmlformats-officedocument.presentationml.slide+xml"/>
  <Override PartName="/ppt/slides/slide116.xml" ContentType="application/vnd.openxmlformats-officedocument.presentationml.slide+xml"/>
  <Override PartName="/ppt/slides/slide184.xml" ContentType="application/vnd.openxmlformats-officedocument.presentationml.slide+xml"/>
  <Override PartName="/ppt/slides/slide109.xml" ContentType="application/vnd.openxmlformats-officedocument.presentationml.slide+xml"/>
  <Override PartName="/ppt/slides/slide177.xml" ContentType="application/vnd.openxmlformats-officedocument.presentationml.slide+xml"/>
  <Override PartName="/ppt/slides/slide108.xml" ContentType="application/vnd.openxmlformats-officedocument.presentationml.slide+xml"/>
  <Override PartName="/ppt/slides/slide176.xml" ContentType="application/vnd.openxmlformats-officedocument.presentationml.slide+xml"/>
  <Override PartName="/ppt/slides/slide107.xml" ContentType="application/vnd.openxmlformats-officedocument.presentationml.slide+xml"/>
  <Override PartName="/ppt/slides/slide175.xml" ContentType="application/vnd.openxmlformats-officedocument.presentationml.slide+xml"/>
  <Override PartName="/ppt/slides/slide106.xml" ContentType="application/vnd.openxmlformats-officedocument.presentationml.slide+xml"/>
  <Override PartName="/ppt/slides/slide174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87.xml" ContentType="application/vnd.openxmlformats-officedocument.presentationml.slide+xml"/>
  <Override PartName="/ppt/slides/slide19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193.xml" ContentType="application/vnd.openxmlformats-officedocument.presentationml.slide+xml"/>
  <Override PartName="/ppt/slides/slide79.xml" ContentType="application/vnd.openxmlformats-officedocument.presentationml.slide+xml"/>
  <Override PartName="/ppt/slides/slide124.xml" ContentType="application/vnd.openxmlformats-officedocument.presentationml.slide+xml"/>
  <Override PartName="/ppt/slides/slide192.xml" ContentType="application/vnd.openxmlformats-officedocument.presentationml.slide+xml"/>
  <Override PartName="/ppt/slides/slide78.xml" ContentType="application/vnd.openxmlformats-officedocument.presentationml.slide+xml"/>
  <Override PartName="/ppt/slides/slide123.xml" ContentType="application/vnd.openxmlformats-officedocument.presentationml.slide+xml"/>
  <Override PartName="/ppt/slides/slide191.xml" ContentType="application/vnd.openxmlformats-officedocument.presentationml.slide+xml"/>
  <Override PartName="/ppt/slides/slide77.xml" ContentType="application/vnd.openxmlformats-officedocument.presentationml.slide+xml"/>
  <Override PartName="/ppt/slides/slide122.xml" ContentType="application/vnd.openxmlformats-officedocument.presentationml.slide+xml"/>
  <Override PartName="/ppt/slides/slide190.xml" ContentType="application/vnd.openxmlformats-officedocument.presentationml.slide+xml"/>
  <Override PartName="/ppt/slides/slide76.xml" ContentType="application/vnd.openxmlformats-officedocument.presentationml.slide+xml"/>
  <Override PartName="/ppt/slides/slide121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115.xml" ContentType="application/vnd.openxmlformats-officedocument.presentationml.slide+xml"/>
  <Override PartName="/ppt/slides/slide183.xml" ContentType="application/vnd.openxmlformats-officedocument.presentationml.slide+xml"/>
  <Override PartName="/ppt/slides/slide69.xml" ContentType="application/vnd.openxmlformats-officedocument.presentationml.slide+xml"/>
  <Override PartName="/ppt/slides/slide114.xml" ContentType="application/vnd.openxmlformats-officedocument.presentationml.slide+xml"/>
  <Override PartName="/ppt/slides/slide182.xml" ContentType="application/vnd.openxmlformats-officedocument.presentationml.slide+xml"/>
  <Override PartName="/ppt/slides/slide68.xml" ContentType="application/vnd.openxmlformats-officedocument.presentationml.slide+xml"/>
  <Override PartName="/ppt/slides/slide113.xml" ContentType="application/vnd.openxmlformats-officedocument.presentationml.slide+xml"/>
  <Override PartName="/ppt/slides/slide181.xml" ContentType="application/vnd.openxmlformats-officedocument.presentationml.slide+xml"/>
  <Override PartName="/ppt/slides/slide67.xml" ContentType="application/vnd.openxmlformats-officedocument.presentationml.slide+xml"/>
  <Override PartName="/ppt/slides/slide112.xml" ContentType="application/vnd.openxmlformats-officedocument.presentationml.slide+xml"/>
  <Override PartName="/ppt/slides/slide180.xml" ContentType="application/vnd.openxmlformats-officedocument.presentationml.slide+xml"/>
  <Override PartName="/ppt/slides/slide66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29.xml" ContentType="application/vnd.openxmlformats-officedocument.presentationml.slide+xml"/>
  <Override PartName="/ppt/slides/slide97.xml" ContentType="application/vnd.openxmlformats-officedocument.presentationml.slide+xml"/>
  <Override PartName="/ppt/slides/slide59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128.xml" ContentType="application/vnd.openxmlformats-officedocument.presentationml.slide+xml"/>
  <Override PartName="/ppt/slides/slide196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01.xml" ContentType="application/vnd.openxmlformats-officedocument.presentationml.slide+xml"/>
  <Override PartName="/ppt/slides/slide55.xml" ContentType="application/vnd.openxmlformats-officedocument.presentationml.slide+xml"/>
  <Override PartName="/ppt/slides/slide138.xml" ContentType="application/vnd.openxmlformats-officedocument.presentationml.slide+xml"/>
  <Override PartName="/ppt/slides/slide170.xml" ContentType="application/vnd.openxmlformats-officedocument.presentationml.slide+xml"/>
  <Override PartName="/ppt/slides/slide102.xml" ContentType="application/vnd.openxmlformats-officedocument.presentationml.slide+xml"/>
  <Override PartName="/ppt/slides/slide56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3.xml" ContentType="application/vnd.openxmlformats-officedocument.presentationml.slide+xml"/>
  <Override PartName="/ppt/slides/slide2.xml" ContentType="application/vnd.openxmlformats-officedocument.presentationml.slide+xml"/>
  <Override PartName="/ppt/slides/slide144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145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46.xml" ContentType="application/vnd.openxmlformats-officedocument.presentationml.slide+xml"/>
  <Override PartName="/ppt/slides/slide5.xml" ContentType="application/vnd.openxmlformats-officedocument.presentationml.slide+xml"/>
  <Override PartName="/ppt/slides/slide147.xml" ContentType="application/vnd.openxmlformats-officedocument.presentationml.slide+xml"/>
  <Override PartName="/ppt/slides/slide6.xml" ContentType="application/vnd.openxmlformats-officedocument.presentationml.slide+xml"/>
  <Override PartName="/ppt/slides/slide148.xml" ContentType="application/vnd.openxmlformats-officedocument.presentationml.slide+xml"/>
  <Override PartName="/ppt/slides/slide7.xml" ContentType="application/vnd.openxmlformats-officedocument.presentationml.slide+xml"/>
  <Override PartName="/ppt/slides/slide149.xml" ContentType="application/vnd.openxmlformats-officedocument.presentationml.slide+xml"/>
  <Override PartName="/ppt/slides/slide8.xml" ContentType="application/vnd.openxmlformats-officedocument.presentationml.slide+xml"/>
  <Override PartName="/ppt/slides/slide131.xml" ContentType="application/vnd.openxmlformats-officedocument.presentationml.slide+xml"/>
  <Override PartName="/ppt/slides/slide168.xml" ContentType="application/vnd.openxmlformats-officedocument.presentationml.slide+xml"/>
  <Override PartName="/ppt/slides/slide11.xml" ContentType="application/vnd.openxmlformats-officedocument.presentationml.slide+xml"/>
  <Override PartName="/ppt/slides/slide132.xml" ContentType="application/vnd.openxmlformats-officedocument.presentationml.slide+xml"/>
  <Override PartName="/ppt/slides/slide169.xml" ContentType="application/vnd.openxmlformats-officedocument.presentationml.slide+xml"/>
  <Override PartName="/ppt/slides/slide166.xml" ContentType="application/vnd.openxmlformats-officedocument.presentationml.slide+xml"/>
  <Override PartName="/ppt/slides/slide202.xml" ContentType="application/vnd.openxmlformats-officedocument.presentationml.slide+xml"/>
  <Override PartName="/ppt/slides/slide141.xml" ContentType="application/vnd.openxmlformats-officedocument.presentationml.slide+xml"/>
  <Override PartName="/ppt/slides/slide178.xml" ContentType="application/vnd.openxmlformats-officedocument.presentationml.slide+xml"/>
  <Override PartName="/ppt/slides/slide21.xml" ContentType="application/vnd.openxmlformats-officedocument.presentationml.slide+xml"/>
  <Override PartName="/ppt/slides/slide130.xml" ContentType="application/vnd.openxmlformats-officedocument.presentationml.slide+xml"/>
  <Override PartName="/ppt/slides/slide167.xml" ContentType="application/vnd.openxmlformats-officedocument.presentationml.slide+xml"/>
  <Override PartName="/ppt/slides/slide10.xml" ContentType="application/vnd.openxmlformats-officedocument.presentationml.slide+xml"/>
  <Override PartName="/ppt/slides/slide142.xml" ContentType="application/vnd.openxmlformats-officedocument.presentationml.slide+xml"/>
  <Override PartName="/ppt/slides/slide1.xml" ContentType="application/vnd.openxmlformats-officedocument.presentationml.slide+xml"/>
  <Override PartName="/ppt/slides/slide179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5.xml" ContentType="application/vnd.openxmlformats-officedocument.presentationml.slide+xml"/>
  <Override PartName="/ppt/slides/slide201.xml" ContentType="application/vnd.openxmlformats-officedocument.presentationml.slide+xml"/>
  <Override PartName="/ppt/slides/slide199.xml" ContentType="application/vnd.openxmlformats-officedocument.presentationml.slide+xml"/>
  <Override PartName="/ppt/slides/slide42.xml" ContentType="application/vnd.openxmlformats-officedocument.presentationml.slide+xml"/>
  <Override PartName="/ppt/slides/slide162.xml" ContentType="application/vnd.openxmlformats-officedocument.presentationml.slide+xml"/>
  <Override PartName="/ppt/slides/slide200.xml" ContentType="application/vnd.openxmlformats-officedocument.presentationml.slide+xml"/>
  <Override PartName="/ppt/slides/slide198.xml" ContentType="application/vnd.openxmlformats-officedocument.presentationml.slide+xml"/>
  <Override PartName="/ppt/slides/slide41.xml" ContentType="application/vnd.openxmlformats-officedocument.presentationml.slide+xml"/>
  <Override PartName="/ppt/slides/slide161.xml" ContentType="application/vnd.openxmlformats-officedocument.presentationml.slide+xml"/>
  <Override PartName="/ppt/slides/slide159.xml" ContentType="application/vnd.openxmlformats-officedocument.presentationml.slide+xml"/>
  <Override PartName="/ppt/slides/slide129.xml" ContentType="application/vnd.openxmlformats-officedocument.presentationml.slide+xml"/>
  <Override PartName="/ppt/slides/slide197.xml" ContentType="application/vnd.openxmlformats-officedocument.presentationml.slide+xml"/>
  <Override PartName="/ppt/slides/slide40.xml" ContentType="application/vnd.openxmlformats-officedocument.presentationml.slide+xml"/>
  <Override PartName="/ppt/slides/slide160.xml" ContentType="application/vnd.openxmlformats-officedocument.presentationml.slide+xml"/>
  <Override PartName="/ppt/slides/slide49.xml" ContentType="application/vnd.openxmlformats-officedocument.presentationml.slide+xml"/>
  <Override PartName="/ppt/slides/slide158.xml" ContentType="application/vnd.openxmlformats-officedocument.presentationml.slide+xml"/>
  <Override PartName="/ppt/slides/slide157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89.xml" ContentType="application/vnd.openxmlformats-officedocument.presentationml.slide+xml"/>
  <Override PartName="/ppt/slides/slide32.xml" ContentType="application/vnd.openxmlformats-officedocument.presentationml.slide+xml"/>
  <Override PartName="/ppt/slides/slide152.xml" ContentType="application/vnd.openxmlformats-officedocument.presentationml.slide+xml"/>
  <Override PartName="/ppt/slides/slide188.xml" ContentType="application/vnd.openxmlformats-officedocument.presentationml.slide+xml"/>
  <Override PartName="/ppt/slides/slide31.xml" ContentType="application/vnd.openxmlformats-officedocument.presentationml.slide+xml"/>
  <Override PartName="/ppt/slides/slide151.xml" ContentType="application/vnd.openxmlformats-officedocument.presentationml.slide+xml"/>
  <Override PartName="/ppt/slides/slide150.xml" ContentType="application/vnd.openxmlformats-officedocument.presentationml.slide+xml"/>
  <Override PartName="/ppt/slides/slide39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0.xml" ContentType="application/vnd.openxmlformats-officedocument.presentationml.slide+xml"/>
  <Override PartName="/ppt/slides/slide105.xml" ContentType="application/vnd.openxmlformats-officedocument.presentationml.slide+xml"/>
  <Override PartName="/ppt/slides/slide173.xml" ContentType="application/vnd.openxmlformats-officedocument.presentationml.slide+xml"/>
  <Override PartName="/ppt/slides/slide22.xml" ContentType="application/vnd.openxmlformats-officedocument.presentationml.slide+xml"/>
  <Override PartName="/ppt/slides/slide90.xml" ContentType="application/vnd.openxmlformats-officedocument.presentationml.slide+xml"/>
  <Override PartName="/ppt/slides/slide93.xml" ContentType="application/vnd.openxmlformats-officedocument.presentationml.slide+xml"/>
  <Override PartName="/ppt/slides/slide25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172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171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84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46.xml" ContentType="application/vnd.openxmlformats-officedocument.presentationml.slide+xml"/>
  <Override PartName="/ppt/slides/slide83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24.xml" ContentType="application/vnd.openxmlformats-officedocument.presentationml.slide+xml"/>
  <Override PartName="/ppt/slides/slide92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notesSlides/notesSlide131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_rels/notesSlide86.xml.rels" ContentType="application/vnd.openxmlformats-package.relationships+xml"/>
  <Override PartName="/ppt/notesSlides/_rels/notesSlide18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46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85.xml.rels" ContentType="application/vnd.openxmlformats-package.relationships+xml"/>
  <Override PartName="/ppt/notesSlides/_rels/notesSlide18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5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175.xml.rels" ContentType="application/vnd.openxmlformats-package.relationships+xml"/>
  <Override PartName="/ppt/notesSlides/_rels/notesSlide107.xml.rels" ContentType="application/vnd.openxmlformats-package.relationships+xml"/>
  <Override PartName="/ppt/notesSlides/_rels/notesSlide132.xml.rels" ContentType="application/vnd.openxmlformats-package.relationships+xml"/>
  <Override PartName="/ppt/notesSlides/_rels/notesSlide197.xml.rels" ContentType="application/vnd.openxmlformats-package.relationships+xml"/>
  <Override PartName="/ppt/notesSlides/_rels/notesSlide129.xml.rels" ContentType="application/vnd.openxmlformats-package.relationships+xml"/>
  <Override PartName="/ppt/notesSlides/_rels/notesSlide94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96.xml.rels" ContentType="application/vnd.openxmlformats-package.relationships+xml"/>
  <Override PartName="/ppt/notesSlides/_rels/notesSlide128.xml.rels" ContentType="application/vnd.openxmlformats-package.relationships+xml"/>
  <Override PartName="/ppt/notesSlides/_rels/notesSlide9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7.xml.rels" ContentType="application/vnd.openxmlformats-package.relationships+xml"/>
  <Override PartName="/ppt/notesSlides/_rels/notesSlide195.xml.rels" ContentType="application/vnd.openxmlformats-package.relationships+xml"/>
  <Override PartName="/ppt/notesSlides/_rels/notesSlide92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169.xml.rels" ContentType="application/vnd.openxmlformats-package.relationships+xml"/>
  <Override PartName="/ppt/notesSlides/_rels/notesSlide194.xml.rels" ContentType="application/vnd.openxmlformats-package.relationships+xml"/>
  <Override PartName="/ppt/notesSlides/_rels/notesSlide126.xml.rels" ContentType="application/vnd.openxmlformats-package.relationships+xml"/>
  <Override PartName="/ppt/notesSlides/_rels/notesSlide91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168.xml.rels" ContentType="application/vnd.openxmlformats-package.relationships+xml"/>
  <Override PartName="/ppt/notesSlides/_rels/notesSlide193.xml.rels" ContentType="application/vnd.openxmlformats-package.relationships+xml"/>
  <Override PartName="/ppt/notesSlides/_rels/notesSlide9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166.xml.rels" ContentType="application/vnd.openxmlformats-package.relationships+xml"/>
  <Override PartName="/ppt/notesSlides/_rels/notesSlide19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64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151.xml.rels" ContentType="application/vnd.openxmlformats-package.relationships+xml"/>
  <Override PartName="/ppt/notesSlides/_rels/notesSlide154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15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53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15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8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7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7.xml.rels" ContentType="application/vnd.openxmlformats-package.relationships+xml"/>
  <Override PartName="/ppt/notesSlides/_rels/notesSlide8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19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179.xml.rels" ContentType="application/vnd.openxmlformats-package.relationships+xml"/>
  <Override PartName="/ppt/notesSlides/_rels/notesSlide136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58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140.xml.rels" ContentType="application/vnd.openxmlformats-package.relationships+xml"/>
  <Override PartName="/ppt/notesSlides/_rels/notesSlide100.xml.rels" ContentType="application/vnd.openxmlformats-package.relationships+xml"/>
  <Override PartName="/ppt/notesSlides/_rels/notesSlide99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108.xml.rels" ContentType="application/vnd.openxmlformats-package.relationships+xml"/>
  <Override PartName="/ppt/notesSlides/_rels/notesSlide176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109.xml.rels" ContentType="application/vnd.openxmlformats-package.relationships+xml"/>
  <Override PartName="/ppt/notesSlides/_rels/notesSlide17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82.xml.rels" ContentType="application/vnd.openxmlformats-package.relationships+xml"/>
  <Override PartName="/ppt/notesSlides/_rels/notesSlide117.xml.rels" ContentType="application/vnd.openxmlformats-package.relationships+xml"/>
  <Override PartName="/ppt/notesSlides/_rels/notesSlide185.xml.rels" ContentType="application/vnd.openxmlformats-package.relationships+xml"/>
  <Override PartName="/ppt/notesSlides/_rels/notesSlide156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88.xml.rels" ContentType="application/vnd.openxmlformats-package.relationships+xml"/>
  <Override PartName="/ppt/notesSlides/_rels/notesSlide174.xml.rels" ContentType="application/vnd.openxmlformats-package.relationships+xml"/>
  <Override PartName="/ppt/notesSlides/_rels/notesSlide106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30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3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14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0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147.xml.rels" ContentType="application/vnd.openxmlformats-package.relationships+xml"/>
  <Override PartName="/ppt/notesSlides/_rels/notesSlide110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148.xml.rels" ContentType="application/vnd.openxmlformats-package.relationships+xml"/>
  <Override PartName="/ppt/notesSlides/_rels/notesSlide122.xml.rels" ContentType="application/vnd.openxmlformats-package.relationships+xml"/>
  <Override PartName="/ppt/notesSlides/_rels/notesSlide190.xml.rels" ContentType="application/vnd.openxmlformats-package.relationships+xml"/>
  <Override PartName="/ppt/notesSlides/_rels/notesSlide89.xml.rels" ContentType="application/vnd.openxmlformats-package.relationships+xml"/>
  <Override PartName="/ppt/notesSlides/_rels/notesSlide155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173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10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87.xml.rels" ContentType="application/vnd.openxmlformats-package.relationships+xml"/>
  <Override PartName="/ppt/notesSlides/_rels/notesSlide102.xml.rels" ContentType="application/vnd.openxmlformats-package.relationships+xml"/>
  <Override PartName="/ppt/notesSlides/_rels/notesSlide170.xml.rels" ContentType="application/vnd.openxmlformats-package.relationships+xml"/>
  <Override PartName="/ppt/notesSlides/_rels/notesSlide112.xml.rels" ContentType="application/vnd.openxmlformats-package.relationships+xml"/>
  <Override PartName="/ppt/notesSlides/_rels/notesSlide180.xml.rels" ContentType="application/vnd.openxmlformats-package.relationships+xml"/>
  <Override PartName="/ppt/notesSlides/_rels/notesSlide101.xml.rels" ContentType="application/vnd.openxmlformats-package.relationships+xml"/>
  <Override PartName="/ppt/notesSlides/_rels/notesSlide172.xml.rels" ContentType="application/vnd.openxmlformats-package.relationships+xml"/>
  <Override PartName="/ppt/notesSlides/_rels/notesSlide104.xml.rels" ContentType="application/vnd.openxmlformats-package.relationships+xml"/>
  <Override PartName="/ppt/notesSlides/_rels/notesSlide143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98.xml.rels" ContentType="application/vnd.openxmlformats-package.relationships+xml"/>
  <Override PartName="/ppt/notesSlides/_rels/notesSlide171.xml.rels" ContentType="application/vnd.openxmlformats-package.relationships+xml"/>
  <Override PartName="/ppt/notesSlides/_rels/notesSlide103.xml.rels" ContentType="application/vnd.openxmlformats-package.relationships+xml"/>
  <Override PartName="/ppt/notesSlides/_rels/notesSlide157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24.xml.rels" ContentType="application/vnd.openxmlformats-package.relationships+xml"/>
  <Override PartName="/ppt/notesSlides/_rels/notesSlide192.xml.rels" ContentType="application/vnd.openxmlformats-package.relationships+xml"/>
  <Override PartName="/ppt/notesSlides/_rels/notesSlide182.xml.rels" ContentType="application/vnd.openxmlformats-package.relationships+xml"/>
  <Override PartName="/ppt/notesSlides/_rels/notesSlide11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1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142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181.xml.rels" ContentType="application/vnd.openxmlformats-package.relationships+xml"/>
  <Override PartName="/ppt/notesSlides/_rels/notesSlide11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165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167.xml.rels" ContentType="application/vnd.openxmlformats-package.relationships+xml"/>
  <Override PartName="/ppt/notesSlides/_rels/notesSlide115.xml.rels" ContentType="application/vnd.openxmlformats-package.relationships+xml"/>
  <Override PartName="/ppt/notesSlides/_rels/notesSlide8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83.xml.rels" ContentType="application/vnd.openxmlformats-package.relationships+xml"/>
  <Override PartName="/ppt/notesSlides/_rels/notesSlide160.xml.rels" ContentType="application/vnd.openxmlformats-package.relationships+xml"/>
  <Override PartName="/ppt/notesSlides/_rels/notesSlide77.xml.rels" ContentType="application/vnd.openxmlformats-package.relationships+xml"/>
  <Override PartName="/ppt/notesSlides/_rels/notesSlide159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97.xml.rels" ContentType="application/vnd.openxmlformats-package.relationships+xml"/>
  <Override PartName="/ppt/notesSlides/_rels/notesSlide202.xml.rels" ContentType="application/vnd.openxmlformats-package.relationships+xml"/>
  <Override PartName="/ppt/notesSlides/_rels/notesSlide139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1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4.xml.rels" ContentType="application/vnd.openxmlformats-package.relationships+xml"/>
  <Override PartName="/ppt/notesSlides/_rels/notesSlide81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133.xml.rels" ContentType="application/vnd.openxmlformats-package.relationships+xml"/>
  <Override PartName="/ppt/notesSlides/_rels/notesSlide199.xml.rels" ContentType="application/vnd.openxmlformats-package.relationships+xml"/>
  <Override PartName="/ppt/notesSlides/_rels/notesSlide96.xml.rels" ContentType="application/vnd.openxmlformats-package.relationships+xml"/>
  <Override PartName="/ppt/notesSlides/_rels/notesSlide201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162.xml.rels" ContentType="application/vnd.openxmlformats-package.relationships+xml"/>
  <Override PartName="/ppt/notesSlides/_rels/notesSlide7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95.xml.rels" ContentType="application/vnd.openxmlformats-package.relationships+xml"/>
  <Override PartName="/ppt/notesSlides/_rels/notesSlide200.xml.rels" ContentType="application/vnd.openxmlformats-package.relationships+xml"/>
  <Override PartName="/ppt/notesSlides/_rels/notesSlide198.xml.rels" ContentType="application/vnd.openxmlformats-package.relationships+xml"/>
  <Override PartName="/ppt/notesSlides/_rels/notesSlide161.xml.rels" ContentType="application/vnd.openxmlformats-package.relationships+xml"/>
  <Override PartName="/ppt/notesSlides/_rels/notesSlide78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163.xml.rels" ContentType="application/vnd.openxmlformats-package.relationships+xml"/>
  <Override PartName="/ppt/notesSlides/_rels/notesSlide134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35.xml.rels" ContentType="application/vnd.openxmlformats-package.relationships+xml"/>
  <Override PartName="/ppt/notesSlides/_rels/notesSlide178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144.xml.rels" ContentType="application/vnd.openxmlformats-package.relationships+xml"/>
  <Override PartName="/ppt/notesSlides/_rels/notesSlide83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18.xml.rels" ContentType="application/vnd.openxmlformats-package.relationships+xml"/>
  <Override PartName="/ppt/notesSlides/_rels/notesSlide186.xml.rels" ContentType="application/vnd.openxmlformats-package.relationships+xml"/>
  <Override PartName="/ppt/notesSlides/notesSlide7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8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pour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déplacer la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7B346D5-6C58-4031-A6D6-94F8799341B7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
</Relationships>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
</Relationships>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
</Relationships>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
</Relationships>
</file>

<file path=ppt/notesSlides/_rels/notesSlide112.xml.rels><?xml version="1.0" encoding="UTF-8"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
</Relationships>
</file>

<file path=ppt/notesSlides/_rels/notesSlide113.xml.rels><?xml version="1.0" encoding="UTF-8"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
</Relationships>
</file>

<file path=ppt/notesSlides/_rels/notesSlide114.xml.rels><?xml version="1.0" encoding="UTF-8"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
</Relationships>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
</Relationships>
</file>

<file path=ppt/notesSlides/_rels/notesSlide116.xml.rels><?xml version="1.0" encoding="UTF-8"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
</Relationships>
</file>

<file path=ppt/notesSlides/_rels/notesSlide117.xml.rels><?xml version="1.0" encoding="UTF-8"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
</Relationships>
</file>

<file path=ppt/notesSlides/_rels/notesSlide118.xml.rels><?xml version="1.0" encoding="UTF-8"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
</Relationships>
</file>

<file path=ppt/notesSlides/_rels/notesSlide119.xml.rels><?xml version="1.0" encoding="UTF-8"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
</Relationships>
</file>

<file path=ppt/notesSlides/_rels/notesSlide120.xml.rels><?xml version="1.0" encoding="UTF-8"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
</Relationships>
</file>

<file path=ppt/notesSlides/_rels/notesSlide122.xml.rels><?xml version="1.0" encoding="UTF-8"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
</Relationships>
</file>

<file path=ppt/notesSlides/_rels/notesSlide124.xml.rels><?xml version="1.0" encoding="UTF-8"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
</Relationships>
</file>

<file path=ppt/notesSlides/_rels/notesSlide126.xml.rels><?xml version="1.0" encoding="UTF-8"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
</Relationships>
</file>

<file path=ppt/notesSlides/_rels/notesSlide127.xml.rels><?xml version="1.0" encoding="UTF-8"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
</Relationships>
</file>

<file path=ppt/notesSlides/_rels/notesSlide128.xml.rels><?xml version="1.0" encoding="UTF-8"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
</Relationships>
</file>

<file path=ppt/notesSlides/_rels/notesSlide129.xml.rels><?xml version="1.0" encoding="UTF-8"?>
<Relationships xmlns="http://schemas.openxmlformats.org/package/2006/relationships"><Relationship Id="rId1" Type="http://schemas.openxmlformats.org/officeDocument/2006/relationships/slide" Target="../slides/slide129.xml"/><Relationship Id="rId2" Type="http://schemas.openxmlformats.org/officeDocument/2006/relationships/notesMaster" Target="../notesMasters/notesMaster1.xml"/>
</Relationships>
</file>

<file path=ppt/notesSlides/_rels/notesSlide130.xml.rels><?xml version="1.0" encoding="UTF-8"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
</Relationships>
</file>

<file path=ppt/notesSlides/_rels/notesSlide131.xml.rels><?xml version="1.0" encoding="UTF-8"?>
<Relationships xmlns="http://schemas.openxmlformats.org/package/2006/relationships"><Relationship Id="rId1" Type="http://schemas.openxmlformats.org/officeDocument/2006/relationships/slide" Target="../slides/slide131.xml"/><Relationship Id="rId2" Type="http://schemas.openxmlformats.org/officeDocument/2006/relationships/notesMaster" Target="../notesMasters/notesMaster1.xml"/>
</Relationships>
</file>

<file path=ppt/notesSlides/_rels/notesSlide132.xml.rels><?xml version="1.0" encoding="UTF-8"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
</Relationships>
</file>

<file path=ppt/notesSlides/_rels/notesSlide133.xml.rels><?xml version="1.0" encoding="UTF-8"?>
<Relationships xmlns="http://schemas.openxmlformats.org/package/2006/relationships"><Relationship Id="rId1" Type="http://schemas.openxmlformats.org/officeDocument/2006/relationships/slide" Target="../slides/slide133.xml"/><Relationship Id="rId2" Type="http://schemas.openxmlformats.org/officeDocument/2006/relationships/notesMaster" Target="../notesMasters/notesMaster1.xml"/>
</Relationships>
</file>

<file path=ppt/notesSlides/_rels/notesSlide134.xml.rels><?xml version="1.0" encoding="UTF-8"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
</Relationships>
</file>

<file path=ppt/notesSlides/_rels/notesSlide135.xml.rels><?xml version="1.0" encoding="UTF-8"?>
<Relationships xmlns="http://schemas.openxmlformats.org/package/2006/relationships"><Relationship Id="rId1" Type="http://schemas.openxmlformats.org/officeDocument/2006/relationships/slide" Target="../slides/slide135.xml"/><Relationship Id="rId2" Type="http://schemas.openxmlformats.org/officeDocument/2006/relationships/notesMaster" Target="../notesMasters/notesMaster1.xml"/>
</Relationships>
</file>

<file path=ppt/notesSlides/_rels/notesSlide136.xml.rels><?xml version="1.0" encoding="UTF-8"?>
<Relationships xmlns="http://schemas.openxmlformats.org/package/2006/relationships"><Relationship Id="rId1" Type="http://schemas.openxmlformats.org/officeDocument/2006/relationships/slide" Target="../slides/slide136.xml"/><Relationship Id="rId2" Type="http://schemas.openxmlformats.org/officeDocument/2006/relationships/notesMaster" Target="../notesMasters/notesMaster1.xml"/>
</Relationships>
</file>

<file path=ppt/notesSlides/_rels/notesSlide137.xml.rels><?xml version="1.0" encoding="UTF-8"?>
<Relationships xmlns="http://schemas.openxmlformats.org/package/2006/relationships"><Relationship Id="rId1" Type="http://schemas.openxmlformats.org/officeDocument/2006/relationships/slide" Target="../slides/slide137.xml"/><Relationship Id="rId2" Type="http://schemas.openxmlformats.org/officeDocument/2006/relationships/notesMaster" Target="../notesMasters/notesMaster1.xml"/>
</Relationships>
</file>

<file path=ppt/notesSlides/_rels/notesSlide138.xml.rels><?xml version="1.0" encoding="UTF-8"?>
<Relationships xmlns="http://schemas.openxmlformats.org/package/2006/relationships"><Relationship Id="rId1" Type="http://schemas.openxmlformats.org/officeDocument/2006/relationships/slide" Target="../slides/slide138.xml"/><Relationship Id="rId2" Type="http://schemas.openxmlformats.org/officeDocument/2006/relationships/notesMaster" Target="../notesMasters/notesMaster1.xml"/>
</Relationships>
</file>

<file path=ppt/notesSlides/_rels/notesSlide139.xml.rels><?xml version="1.0" encoding="UTF-8"?>
<Relationships xmlns="http://schemas.openxmlformats.org/package/2006/relationships"><Relationship Id="rId1" Type="http://schemas.openxmlformats.org/officeDocument/2006/relationships/slide" Target="../slides/slide139.xml"/><Relationship Id="rId2" Type="http://schemas.openxmlformats.org/officeDocument/2006/relationships/notesMaster" Target="../notesMasters/notesMaster1.xml"/>
</Relationships>
</file>

<file path=ppt/notesSlides/_rels/notesSlide140.xml.rels><?xml version="1.0" encoding="UTF-8"?>
<Relationships xmlns="http://schemas.openxmlformats.org/package/2006/relationships"><Relationship Id="rId1" Type="http://schemas.openxmlformats.org/officeDocument/2006/relationships/slide" Target="../slides/slide140.xml"/><Relationship Id="rId2" Type="http://schemas.openxmlformats.org/officeDocument/2006/relationships/notesMaster" Target="../notesMasters/notesMaster1.xml"/>
</Relationships>
</file>

<file path=ppt/notesSlides/_rels/notesSlide141.xml.rels><?xml version="1.0" encoding="UTF-8"?>
<Relationships xmlns="http://schemas.openxmlformats.org/package/2006/relationships"><Relationship Id="rId1" Type="http://schemas.openxmlformats.org/officeDocument/2006/relationships/slide" Target="../slides/slide141.xml"/><Relationship Id="rId2" Type="http://schemas.openxmlformats.org/officeDocument/2006/relationships/notesMaster" Target="../notesMasters/notesMaster1.xml"/>
</Relationships>
</file>

<file path=ppt/notesSlides/_rels/notesSlide142.xml.rels><?xml version="1.0" encoding="UTF-8"?>
<Relationships xmlns="http://schemas.openxmlformats.org/package/2006/relationships"><Relationship Id="rId1" Type="http://schemas.openxmlformats.org/officeDocument/2006/relationships/slide" Target="../slides/slide142.xml"/><Relationship Id="rId2" Type="http://schemas.openxmlformats.org/officeDocument/2006/relationships/notesMaster" Target="../notesMasters/notesMaster1.xml"/>
</Relationships>
</file>

<file path=ppt/notesSlides/_rels/notesSlide143.xml.rels><?xml version="1.0" encoding="UTF-8"?>
<Relationships xmlns="http://schemas.openxmlformats.org/package/2006/relationships"><Relationship Id="rId1" Type="http://schemas.openxmlformats.org/officeDocument/2006/relationships/slide" Target="../slides/slide143.xml"/><Relationship Id="rId2" Type="http://schemas.openxmlformats.org/officeDocument/2006/relationships/notesMaster" Target="../notesMasters/notesMaster1.xml"/>
</Relationships>
</file>

<file path=ppt/notesSlides/_rels/notesSlide144.xml.rels><?xml version="1.0" encoding="UTF-8"?>
<Relationships xmlns="http://schemas.openxmlformats.org/package/2006/relationships"><Relationship Id="rId1" Type="http://schemas.openxmlformats.org/officeDocument/2006/relationships/slide" Target="../slides/slide144.xml"/><Relationship Id="rId2" Type="http://schemas.openxmlformats.org/officeDocument/2006/relationships/notesMaster" Target="../notesMasters/notesMaster1.xml"/>
</Relationships>
</file>

<file path=ppt/notesSlides/_rels/notesSlide145.xml.rels><?xml version="1.0" encoding="UTF-8"?>
<Relationships xmlns="http://schemas.openxmlformats.org/package/2006/relationships"><Relationship Id="rId1" Type="http://schemas.openxmlformats.org/officeDocument/2006/relationships/slide" Target="../slides/slide145.xml"/><Relationship Id="rId2" Type="http://schemas.openxmlformats.org/officeDocument/2006/relationships/notesMaster" Target="../notesMasters/notesMaster1.xml"/>
</Relationships>
</file>

<file path=ppt/notesSlides/_rels/notesSlide146.xml.rels><?xml version="1.0" encoding="UTF-8"?>
<Relationships xmlns="http://schemas.openxmlformats.org/package/2006/relationships"><Relationship Id="rId1" Type="http://schemas.openxmlformats.org/officeDocument/2006/relationships/slide" Target="../slides/slide146.xml"/><Relationship Id="rId2" Type="http://schemas.openxmlformats.org/officeDocument/2006/relationships/notesMaster" Target="../notesMasters/notesMaster1.xml"/>
</Relationships>
</file>

<file path=ppt/notesSlides/_rels/notesSlide147.xml.rels><?xml version="1.0" encoding="UTF-8"?>
<Relationships xmlns="http://schemas.openxmlformats.org/package/2006/relationships"><Relationship Id="rId1" Type="http://schemas.openxmlformats.org/officeDocument/2006/relationships/slide" Target="../slides/slide147.xml"/><Relationship Id="rId2" Type="http://schemas.openxmlformats.org/officeDocument/2006/relationships/notesMaster" Target="../notesMasters/notesMaster1.xml"/>
</Relationships>
</file>

<file path=ppt/notesSlides/_rels/notesSlide148.xml.rels><?xml version="1.0" encoding="UTF-8"?>
<Relationships xmlns="http://schemas.openxmlformats.org/package/2006/relationships"><Relationship Id="rId1" Type="http://schemas.openxmlformats.org/officeDocument/2006/relationships/slide" Target="../slides/slide148.xml"/><Relationship Id="rId2" Type="http://schemas.openxmlformats.org/officeDocument/2006/relationships/notesMaster" Target="../notesMasters/notesMaster1.xml"/>
</Relationships>
</file>

<file path=ppt/notesSlides/_rels/notesSlide149.xml.rels><?xml version="1.0" encoding="UTF-8"?>
<Relationships xmlns="http://schemas.openxmlformats.org/package/2006/relationships"><Relationship Id="rId1" Type="http://schemas.openxmlformats.org/officeDocument/2006/relationships/slide" Target="../slides/slide149.xml"/><Relationship Id="rId2" Type="http://schemas.openxmlformats.org/officeDocument/2006/relationships/notesMaster" Target="../notesMasters/notesMaster1.xml"/>
</Relationships>
</file>

<file path=ppt/notesSlides/_rels/notesSlide150.xml.rels><?xml version="1.0" encoding="UTF-8"?>
<Relationships xmlns="http://schemas.openxmlformats.org/package/2006/relationships"><Relationship Id="rId1" Type="http://schemas.openxmlformats.org/officeDocument/2006/relationships/slide" Target="../slides/slide150.xml"/><Relationship Id="rId2" Type="http://schemas.openxmlformats.org/officeDocument/2006/relationships/notesMaster" Target="../notesMasters/notesMaster1.xml"/>
</Relationships>
</file>

<file path=ppt/notesSlides/_rels/notesSlide151.xml.rels><?xml version="1.0" encoding="UTF-8"?>
<Relationships xmlns="http://schemas.openxmlformats.org/package/2006/relationships"><Relationship Id="rId1" Type="http://schemas.openxmlformats.org/officeDocument/2006/relationships/slide" Target="../slides/slide151.xml"/><Relationship Id="rId2" Type="http://schemas.openxmlformats.org/officeDocument/2006/relationships/notesMaster" Target="../notesMasters/notesMaster1.xml"/>
</Relationships>
</file>

<file path=ppt/notesSlides/_rels/notesSlide152.xml.rels><?xml version="1.0" encoding="UTF-8"?>
<Relationships xmlns="http://schemas.openxmlformats.org/package/2006/relationships"><Relationship Id="rId1" Type="http://schemas.openxmlformats.org/officeDocument/2006/relationships/slide" Target="../slides/slide152.xml"/><Relationship Id="rId2" Type="http://schemas.openxmlformats.org/officeDocument/2006/relationships/notesMaster" Target="../notesMasters/notesMaster1.xml"/>
</Relationships>
</file>

<file path=ppt/notesSlides/_rels/notesSlide153.xml.rels><?xml version="1.0" encoding="UTF-8"?>
<Relationships xmlns="http://schemas.openxmlformats.org/package/2006/relationships"><Relationship Id="rId1" Type="http://schemas.openxmlformats.org/officeDocument/2006/relationships/slide" Target="../slides/slide153.xml"/><Relationship Id="rId2" Type="http://schemas.openxmlformats.org/officeDocument/2006/relationships/notesMaster" Target="../notesMasters/notesMaster1.xml"/>
</Relationships>
</file>

<file path=ppt/notesSlides/_rels/notesSlide154.xml.rels><?xml version="1.0" encoding="UTF-8"?>
<Relationships xmlns="http://schemas.openxmlformats.org/package/2006/relationships"><Relationship Id="rId1" Type="http://schemas.openxmlformats.org/officeDocument/2006/relationships/slide" Target="../slides/slide154.xml"/><Relationship Id="rId2" Type="http://schemas.openxmlformats.org/officeDocument/2006/relationships/notesMaster" Target="../notesMasters/notesMaster1.xml"/>
</Relationships>
</file>

<file path=ppt/notesSlides/_rels/notesSlide155.xml.rels><?xml version="1.0" encoding="UTF-8"?>
<Relationships xmlns="http://schemas.openxmlformats.org/package/2006/relationships"><Relationship Id="rId1" Type="http://schemas.openxmlformats.org/officeDocument/2006/relationships/slide" Target="../slides/slide155.xml"/><Relationship Id="rId2" Type="http://schemas.openxmlformats.org/officeDocument/2006/relationships/notesMaster" Target="../notesMasters/notesMaster1.xml"/>
</Relationships>
</file>

<file path=ppt/notesSlides/_rels/notesSlide156.xml.rels><?xml version="1.0" encoding="UTF-8"?>
<Relationships xmlns="http://schemas.openxmlformats.org/package/2006/relationships"><Relationship Id="rId1" Type="http://schemas.openxmlformats.org/officeDocument/2006/relationships/slide" Target="../slides/slide156.xml"/><Relationship Id="rId2" Type="http://schemas.openxmlformats.org/officeDocument/2006/relationships/notesMaster" Target="../notesMasters/notesMaster1.xml"/>
</Relationships>
</file>

<file path=ppt/notesSlides/_rels/notesSlide157.xml.rels><?xml version="1.0" encoding="UTF-8"?>
<Relationships xmlns="http://schemas.openxmlformats.org/package/2006/relationships"><Relationship Id="rId1" Type="http://schemas.openxmlformats.org/officeDocument/2006/relationships/slide" Target="../slides/slide157.xml"/><Relationship Id="rId2" Type="http://schemas.openxmlformats.org/officeDocument/2006/relationships/notesMaster" Target="../notesMasters/notesMaster1.xml"/>
</Relationships>
</file>

<file path=ppt/notesSlides/_rels/notesSlide158.xml.rels><?xml version="1.0" encoding="UTF-8"?>
<Relationships xmlns="http://schemas.openxmlformats.org/package/2006/relationships"><Relationship Id="rId1" Type="http://schemas.openxmlformats.org/officeDocument/2006/relationships/slide" Target="../slides/slide158.xml"/><Relationship Id="rId2" Type="http://schemas.openxmlformats.org/officeDocument/2006/relationships/notesMaster" Target="../notesMasters/notesMaster1.xml"/>
</Relationships>
</file>

<file path=ppt/notesSlides/_rels/notesSlide159.xml.rels><?xml version="1.0" encoding="UTF-8"?>
<Relationships xmlns="http://schemas.openxmlformats.org/package/2006/relationships"><Relationship Id="rId1" Type="http://schemas.openxmlformats.org/officeDocument/2006/relationships/slide" Target="../slides/slide159.xml"/><Relationship Id="rId2" Type="http://schemas.openxmlformats.org/officeDocument/2006/relationships/notesMaster" Target="../notesMasters/notesMaster1.xml"/>
</Relationships>
</file>

<file path=ppt/notesSlides/_rels/notesSlide160.xml.rels><?xml version="1.0" encoding="UTF-8"?>
<Relationships xmlns="http://schemas.openxmlformats.org/package/2006/relationships"><Relationship Id="rId1" Type="http://schemas.openxmlformats.org/officeDocument/2006/relationships/slide" Target="../slides/slide160.xml"/><Relationship Id="rId2" Type="http://schemas.openxmlformats.org/officeDocument/2006/relationships/notesMaster" Target="../notesMasters/notesMaster1.xml"/>
</Relationships>
</file>

<file path=ppt/notesSlides/_rels/notesSlide161.xml.rels><?xml version="1.0" encoding="UTF-8"?>
<Relationships xmlns="http://schemas.openxmlformats.org/package/2006/relationships"><Relationship Id="rId1" Type="http://schemas.openxmlformats.org/officeDocument/2006/relationships/slide" Target="../slides/slide161.xml"/><Relationship Id="rId2" Type="http://schemas.openxmlformats.org/officeDocument/2006/relationships/notesMaster" Target="../notesMasters/notesMaster1.xml"/>
</Relationships>
</file>

<file path=ppt/notesSlides/_rels/notesSlide162.xml.rels><?xml version="1.0" encoding="UTF-8"?>
<Relationships xmlns="http://schemas.openxmlformats.org/package/2006/relationships"><Relationship Id="rId1" Type="http://schemas.openxmlformats.org/officeDocument/2006/relationships/slide" Target="../slides/slide162.xml"/><Relationship Id="rId2" Type="http://schemas.openxmlformats.org/officeDocument/2006/relationships/notesMaster" Target="../notesMasters/notesMaster1.xml"/>
</Relationships>
</file>

<file path=ppt/notesSlides/_rels/notesSlide163.xml.rels><?xml version="1.0" encoding="UTF-8"?>
<Relationships xmlns="http://schemas.openxmlformats.org/package/2006/relationships"><Relationship Id="rId1" Type="http://schemas.openxmlformats.org/officeDocument/2006/relationships/slide" Target="../slides/slide163.xml"/><Relationship Id="rId2" Type="http://schemas.openxmlformats.org/officeDocument/2006/relationships/notesMaster" Target="../notesMasters/notesMaster1.xml"/>
</Relationships>
</file>

<file path=ppt/notesSlides/_rels/notesSlide164.xml.rels><?xml version="1.0" encoding="UTF-8"?>
<Relationships xmlns="http://schemas.openxmlformats.org/package/2006/relationships"><Relationship Id="rId1" Type="http://schemas.openxmlformats.org/officeDocument/2006/relationships/slide" Target="../slides/slide164.xml"/><Relationship Id="rId2" Type="http://schemas.openxmlformats.org/officeDocument/2006/relationships/notesMaster" Target="../notesMasters/notesMaster1.xml"/>
</Relationships>
</file>

<file path=ppt/notesSlides/_rels/notesSlide165.xml.rels><?xml version="1.0" encoding="UTF-8"?>
<Relationships xmlns="http://schemas.openxmlformats.org/package/2006/relationships"><Relationship Id="rId1" Type="http://schemas.openxmlformats.org/officeDocument/2006/relationships/slide" Target="../slides/slide165.xml"/><Relationship Id="rId2" Type="http://schemas.openxmlformats.org/officeDocument/2006/relationships/notesMaster" Target="../notesMasters/notesMaster1.xml"/>
</Relationships>
</file>

<file path=ppt/notesSlides/_rels/notesSlide166.xml.rels><?xml version="1.0" encoding="UTF-8"?>
<Relationships xmlns="http://schemas.openxmlformats.org/package/2006/relationships"><Relationship Id="rId1" Type="http://schemas.openxmlformats.org/officeDocument/2006/relationships/slide" Target="../slides/slide166.xml"/><Relationship Id="rId2" Type="http://schemas.openxmlformats.org/officeDocument/2006/relationships/notesMaster" Target="../notesMasters/notesMaster1.xml"/>
</Relationships>
</file>

<file path=ppt/notesSlides/_rels/notesSlide167.xml.rels><?xml version="1.0" encoding="UTF-8"?>
<Relationships xmlns="http://schemas.openxmlformats.org/package/2006/relationships"><Relationship Id="rId1" Type="http://schemas.openxmlformats.org/officeDocument/2006/relationships/slide" Target="../slides/slide167.xml"/><Relationship Id="rId2" Type="http://schemas.openxmlformats.org/officeDocument/2006/relationships/notesMaster" Target="../notesMasters/notesMaster1.xml"/>
</Relationships>
</file>

<file path=ppt/notesSlides/_rels/notesSlide168.xml.rels><?xml version="1.0" encoding="UTF-8"?>
<Relationships xmlns="http://schemas.openxmlformats.org/package/2006/relationships"><Relationship Id="rId1" Type="http://schemas.openxmlformats.org/officeDocument/2006/relationships/slide" Target="../slides/slide168.xml"/><Relationship Id="rId2" Type="http://schemas.openxmlformats.org/officeDocument/2006/relationships/notesMaster" Target="../notesMasters/notesMaster1.xml"/>
</Relationships>
</file>

<file path=ppt/notesSlides/_rels/notesSlide169.xml.rels><?xml version="1.0" encoding="UTF-8"?>
<Relationships xmlns="http://schemas.openxmlformats.org/package/2006/relationships"><Relationship Id="rId1" Type="http://schemas.openxmlformats.org/officeDocument/2006/relationships/slide" Target="../slides/slide169.xml"/><Relationship Id="rId2" Type="http://schemas.openxmlformats.org/officeDocument/2006/relationships/notesMaster" Target="../notesMasters/notesMaster1.xml"/>
</Relationships>
</file>

<file path=ppt/notesSlides/_rels/notesSlide170.xml.rels><?xml version="1.0" encoding="UTF-8"?>
<Relationships xmlns="http://schemas.openxmlformats.org/package/2006/relationships"><Relationship Id="rId1" Type="http://schemas.openxmlformats.org/officeDocument/2006/relationships/slide" Target="../slides/slide170.xml"/><Relationship Id="rId2" Type="http://schemas.openxmlformats.org/officeDocument/2006/relationships/notesMaster" Target="../notesMasters/notesMaster1.xml"/>
</Relationships>
</file>

<file path=ppt/notesSlides/_rels/notesSlide171.xml.rels><?xml version="1.0" encoding="UTF-8"?>
<Relationships xmlns="http://schemas.openxmlformats.org/package/2006/relationships"><Relationship Id="rId1" Type="http://schemas.openxmlformats.org/officeDocument/2006/relationships/slide" Target="../slides/slide171.xml"/><Relationship Id="rId2" Type="http://schemas.openxmlformats.org/officeDocument/2006/relationships/notesMaster" Target="../notesMasters/notesMaster1.xml"/>
</Relationships>
</file>

<file path=ppt/notesSlides/_rels/notesSlide172.xml.rels><?xml version="1.0" encoding="UTF-8"?>
<Relationships xmlns="http://schemas.openxmlformats.org/package/2006/relationships"><Relationship Id="rId1" Type="http://schemas.openxmlformats.org/officeDocument/2006/relationships/slide" Target="../slides/slide172.xml"/><Relationship Id="rId2" Type="http://schemas.openxmlformats.org/officeDocument/2006/relationships/notesMaster" Target="../notesMasters/notesMaster1.xml"/>
</Relationships>
</file>

<file path=ppt/notesSlides/_rels/notesSlide173.xml.rels><?xml version="1.0" encoding="UTF-8"?>
<Relationships xmlns="http://schemas.openxmlformats.org/package/2006/relationships"><Relationship Id="rId1" Type="http://schemas.openxmlformats.org/officeDocument/2006/relationships/slide" Target="../slides/slide173.xml"/><Relationship Id="rId2" Type="http://schemas.openxmlformats.org/officeDocument/2006/relationships/notesMaster" Target="../notesMasters/notesMaster1.xml"/>
</Relationships>
</file>

<file path=ppt/notesSlides/_rels/notesSlide174.xml.rels><?xml version="1.0" encoding="UTF-8"?>
<Relationships xmlns="http://schemas.openxmlformats.org/package/2006/relationships"><Relationship Id="rId1" Type="http://schemas.openxmlformats.org/officeDocument/2006/relationships/slide" Target="../slides/slide174.xml"/><Relationship Id="rId2" Type="http://schemas.openxmlformats.org/officeDocument/2006/relationships/notesMaster" Target="../notesMasters/notesMaster1.xml"/>
</Relationships>
</file>

<file path=ppt/notesSlides/_rels/notesSlide175.xml.rels><?xml version="1.0" encoding="UTF-8"?>
<Relationships xmlns="http://schemas.openxmlformats.org/package/2006/relationships"><Relationship Id="rId1" Type="http://schemas.openxmlformats.org/officeDocument/2006/relationships/slide" Target="../slides/slide175.xml"/><Relationship Id="rId2" Type="http://schemas.openxmlformats.org/officeDocument/2006/relationships/notesMaster" Target="../notesMasters/notesMaster1.xml"/>
</Relationships>
</file>

<file path=ppt/notesSlides/_rels/notesSlide176.xml.rels><?xml version="1.0" encoding="UTF-8"?>
<Relationships xmlns="http://schemas.openxmlformats.org/package/2006/relationships"><Relationship Id="rId1" Type="http://schemas.openxmlformats.org/officeDocument/2006/relationships/slide" Target="../slides/slide176.xml"/><Relationship Id="rId2" Type="http://schemas.openxmlformats.org/officeDocument/2006/relationships/notesMaster" Target="../notesMasters/notesMaster1.xml"/>
</Relationships>
</file>

<file path=ppt/notesSlides/_rels/notesSlide177.xml.rels><?xml version="1.0" encoding="UTF-8"?>
<Relationships xmlns="http://schemas.openxmlformats.org/package/2006/relationships"><Relationship Id="rId1" Type="http://schemas.openxmlformats.org/officeDocument/2006/relationships/slide" Target="../slides/slide177.xml"/><Relationship Id="rId2" Type="http://schemas.openxmlformats.org/officeDocument/2006/relationships/notesMaster" Target="../notesMasters/notesMaster1.xml"/>
</Relationships>
</file>

<file path=ppt/notesSlides/_rels/notesSlide178.xml.rels><?xml version="1.0" encoding="UTF-8"?>
<Relationships xmlns="http://schemas.openxmlformats.org/package/2006/relationships"><Relationship Id="rId1" Type="http://schemas.openxmlformats.org/officeDocument/2006/relationships/slide" Target="../slides/slide178.xml"/><Relationship Id="rId2" Type="http://schemas.openxmlformats.org/officeDocument/2006/relationships/notesMaster" Target="../notesMasters/notesMaster1.xml"/>
</Relationships>
</file>

<file path=ppt/notesSlides/_rels/notesSlide179.xml.rels><?xml version="1.0" encoding="UTF-8"?>
<Relationships xmlns="http://schemas.openxmlformats.org/package/2006/relationships"><Relationship Id="rId1" Type="http://schemas.openxmlformats.org/officeDocument/2006/relationships/slide" Target="../slides/slide179.xml"/><Relationship Id="rId2" Type="http://schemas.openxmlformats.org/officeDocument/2006/relationships/notesMaster" Target="../notesMasters/notesMaster1.xml"/>
</Relationships>
</file>

<file path=ppt/notesSlides/_rels/notesSlide180.xml.rels><?xml version="1.0" encoding="UTF-8"?>
<Relationships xmlns="http://schemas.openxmlformats.org/package/2006/relationships"><Relationship Id="rId1" Type="http://schemas.openxmlformats.org/officeDocument/2006/relationships/slide" Target="../slides/slide180.xml"/><Relationship Id="rId2" Type="http://schemas.openxmlformats.org/officeDocument/2006/relationships/notesMaster" Target="../notesMasters/notesMaster1.xml"/>
</Relationships>
</file>

<file path=ppt/notesSlides/_rels/notesSlide181.xml.rels><?xml version="1.0" encoding="UTF-8"?>
<Relationships xmlns="http://schemas.openxmlformats.org/package/2006/relationships"><Relationship Id="rId1" Type="http://schemas.openxmlformats.org/officeDocument/2006/relationships/slide" Target="../slides/slide181.xml"/><Relationship Id="rId2" Type="http://schemas.openxmlformats.org/officeDocument/2006/relationships/notesMaster" Target="../notesMasters/notesMaster1.xml"/>
</Relationships>
</file>

<file path=ppt/notesSlides/_rels/notesSlide182.xml.rels><?xml version="1.0" encoding="UTF-8"?>
<Relationships xmlns="http://schemas.openxmlformats.org/package/2006/relationships"><Relationship Id="rId1" Type="http://schemas.openxmlformats.org/officeDocument/2006/relationships/slide" Target="../slides/slide182.xml"/><Relationship Id="rId2" Type="http://schemas.openxmlformats.org/officeDocument/2006/relationships/notesMaster" Target="../notesMasters/notesMaster1.xml"/>
</Relationships>
</file>

<file path=ppt/notesSlides/_rels/notesSlide183.xml.rels><?xml version="1.0" encoding="UTF-8"?>
<Relationships xmlns="http://schemas.openxmlformats.org/package/2006/relationships"><Relationship Id="rId1" Type="http://schemas.openxmlformats.org/officeDocument/2006/relationships/slide" Target="../slides/slide183.xml"/><Relationship Id="rId2" Type="http://schemas.openxmlformats.org/officeDocument/2006/relationships/notesMaster" Target="../notesMasters/notesMaster1.xml"/>
</Relationships>
</file>

<file path=ppt/notesSlides/_rels/notesSlide184.xml.rels><?xml version="1.0" encoding="UTF-8"?>
<Relationships xmlns="http://schemas.openxmlformats.org/package/2006/relationships"><Relationship Id="rId1" Type="http://schemas.openxmlformats.org/officeDocument/2006/relationships/slide" Target="../slides/slide184.xml"/><Relationship Id="rId2" Type="http://schemas.openxmlformats.org/officeDocument/2006/relationships/notesMaster" Target="../notesMasters/notesMaster1.xml"/>
</Relationships>
</file>

<file path=ppt/notesSlides/_rels/notesSlide185.xml.rels><?xml version="1.0" encoding="UTF-8"?>
<Relationships xmlns="http://schemas.openxmlformats.org/package/2006/relationships"><Relationship Id="rId1" Type="http://schemas.openxmlformats.org/officeDocument/2006/relationships/slide" Target="../slides/slide185.xml"/><Relationship Id="rId2" Type="http://schemas.openxmlformats.org/officeDocument/2006/relationships/notesMaster" Target="../notesMasters/notesMaster1.xml"/>
</Relationships>
</file>

<file path=ppt/notesSlides/_rels/notesSlide186.xml.rels><?xml version="1.0" encoding="UTF-8"?>
<Relationships xmlns="http://schemas.openxmlformats.org/package/2006/relationships"><Relationship Id="rId1" Type="http://schemas.openxmlformats.org/officeDocument/2006/relationships/slide" Target="../slides/slide186.xml"/><Relationship Id="rId2" Type="http://schemas.openxmlformats.org/officeDocument/2006/relationships/notesMaster" Target="../notesMasters/notesMaster1.xml"/>
</Relationships>
</file>

<file path=ppt/notesSlides/_rels/notesSlide187.xml.rels><?xml version="1.0" encoding="UTF-8"?>
<Relationships xmlns="http://schemas.openxmlformats.org/package/2006/relationships"><Relationship Id="rId1" Type="http://schemas.openxmlformats.org/officeDocument/2006/relationships/slide" Target="../slides/slide187.xml"/><Relationship Id="rId2" Type="http://schemas.openxmlformats.org/officeDocument/2006/relationships/notesMaster" Target="../notesMasters/notesMaster1.xml"/>
</Relationships>
</file>

<file path=ppt/notesSlides/_rels/notesSlide188.xml.rels><?xml version="1.0" encoding="UTF-8"?>
<Relationships xmlns="http://schemas.openxmlformats.org/package/2006/relationships"><Relationship Id="rId1" Type="http://schemas.openxmlformats.org/officeDocument/2006/relationships/slide" Target="../slides/slide188.xml"/><Relationship Id="rId2" Type="http://schemas.openxmlformats.org/officeDocument/2006/relationships/notesMaster" Target="../notesMasters/notesMaster1.xml"/>
</Relationships>
</file>

<file path=ppt/notesSlides/_rels/notesSlide189.xml.rels><?xml version="1.0" encoding="UTF-8"?>
<Relationships xmlns="http://schemas.openxmlformats.org/package/2006/relationships"><Relationship Id="rId1" Type="http://schemas.openxmlformats.org/officeDocument/2006/relationships/slide" Target="../slides/slide189.xml"/><Relationship Id="rId2" Type="http://schemas.openxmlformats.org/officeDocument/2006/relationships/notesMaster" Target="../notesMasters/notesMaster1.xml"/>
</Relationships>
</file>

<file path=ppt/notesSlides/_rels/notesSlide190.xml.rels><?xml version="1.0" encoding="UTF-8"?>
<Relationships xmlns="http://schemas.openxmlformats.org/package/2006/relationships"><Relationship Id="rId1" Type="http://schemas.openxmlformats.org/officeDocument/2006/relationships/slide" Target="../slides/slide190.xml"/><Relationship Id="rId2" Type="http://schemas.openxmlformats.org/officeDocument/2006/relationships/notesMaster" Target="../notesMasters/notesMaster1.xml"/>
</Relationships>
</file>

<file path=ppt/notesSlides/_rels/notesSlide191.xml.rels><?xml version="1.0" encoding="UTF-8"?>
<Relationships xmlns="http://schemas.openxmlformats.org/package/2006/relationships"><Relationship Id="rId1" Type="http://schemas.openxmlformats.org/officeDocument/2006/relationships/slide" Target="../slides/slide191.xml"/><Relationship Id="rId2" Type="http://schemas.openxmlformats.org/officeDocument/2006/relationships/notesMaster" Target="../notesMasters/notesMaster1.xml"/>
</Relationships>
</file>

<file path=ppt/notesSlides/_rels/notesSlide192.xml.rels><?xml version="1.0" encoding="UTF-8"?>
<Relationships xmlns="http://schemas.openxmlformats.org/package/2006/relationships"><Relationship Id="rId1" Type="http://schemas.openxmlformats.org/officeDocument/2006/relationships/slide" Target="../slides/slide192.xml"/><Relationship Id="rId2" Type="http://schemas.openxmlformats.org/officeDocument/2006/relationships/notesMaster" Target="../notesMasters/notesMaster1.xml"/>
</Relationships>
</file>

<file path=ppt/notesSlides/_rels/notesSlide193.xml.rels><?xml version="1.0" encoding="UTF-8"?>
<Relationships xmlns="http://schemas.openxmlformats.org/package/2006/relationships"><Relationship Id="rId1" Type="http://schemas.openxmlformats.org/officeDocument/2006/relationships/slide" Target="../slides/slide193.xml"/><Relationship Id="rId2" Type="http://schemas.openxmlformats.org/officeDocument/2006/relationships/notesMaster" Target="../notesMasters/notesMaster1.xml"/>
</Relationships>
</file>

<file path=ppt/notesSlides/_rels/notesSlide194.xml.rels><?xml version="1.0" encoding="UTF-8"?>
<Relationships xmlns="http://schemas.openxmlformats.org/package/2006/relationships"><Relationship Id="rId1" Type="http://schemas.openxmlformats.org/officeDocument/2006/relationships/slide" Target="../slides/slide194.xml"/><Relationship Id="rId2" Type="http://schemas.openxmlformats.org/officeDocument/2006/relationships/notesMaster" Target="../notesMasters/notesMaster1.xml"/>
</Relationships>
</file>

<file path=ppt/notesSlides/_rels/notesSlide195.xml.rels><?xml version="1.0" encoding="UTF-8"?>
<Relationships xmlns="http://schemas.openxmlformats.org/package/2006/relationships"><Relationship Id="rId1" Type="http://schemas.openxmlformats.org/officeDocument/2006/relationships/slide" Target="../slides/slide195.xml"/><Relationship Id="rId2" Type="http://schemas.openxmlformats.org/officeDocument/2006/relationships/notesMaster" Target="../notesMasters/notesMaster1.xml"/>
</Relationships>
</file>

<file path=ppt/notesSlides/_rels/notesSlide196.xml.rels><?xml version="1.0" encoding="UTF-8"?>
<Relationships xmlns="http://schemas.openxmlformats.org/package/2006/relationships"><Relationship Id="rId1" Type="http://schemas.openxmlformats.org/officeDocument/2006/relationships/slide" Target="../slides/slide196.xml"/><Relationship Id="rId2" Type="http://schemas.openxmlformats.org/officeDocument/2006/relationships/notesMaster" Target="../notesMasters/notesMaster1.xml"/>
</Relationships>
</file>

<file path=ppt/notesSlides/_rels/notesSlide197.xml.rels><?xml version="1.0" encoding="UTF-8"?>
<Relationships xmlns="http://schemas.openxmlformats.org/package/2006/relationships"><Relationship Id="rId1" Type="http://schemas.openxmlformats.org/officeDocument/2006/relationships/slide" Target="../slides/slide197.xml"/><Relationship Id="rId2" Type="http://schemas.openxmlformats.org/officeDocument/2006/relationships/notesMaster" Target="../notesMasters/notesMaster1.xml"/>
</Relationships>
</file>

<file path=ppt/notesSlides/_rels/notesSlide198.xml.rels><?xml version="1.0" encoding="UTF-8"?>
<Relationships xmlns="http://schemas.openxmlformats.org/package/2006/relationships"><Relationship Id="rId1" Type="http://schemas.openxmlformats.org/officeDocument/2006/relationships/slide" Target="../slides/slide198.xml"/><Relationship Id="rId2" Type="http://schemas.openxmlformats.org/officeDocument/2006/relationships/notesMaster" Target="../notesMasters/notesMaster1.xml"/>
</Relationships>
</file>

<file path=ppt/notesSlides/_rels/notesSlide199.xml.rels><?xml version="1.0" encoding="UTF-8"?>
<Relationships xmlns="http://schemas.openxmlformats.org/package/2006/relationships"><Relationship Id="rId1" Type="http://schemas.openxmlformats.org/officeDocument/2006/relationships/slide" Target="../slides/slide199.xml"/><Relationship Id="rId2" Type="http://schemas.openxmlformats.org/officeDocument/2006/relationships/notesMaster" Target="../notesMasters/notesMaster1.xml"/>
</Relationships>
</file>

<file path=ppt/notesSlides/_rels/notesSlide200.xml.rels><?xml version="1.0" encoding="UTF-8"?>
<Relationships xmlns="http://schemas.openxmlformats.org/package/2006/relationships"><Relationship Id="rId1" Type="http://schemas.openxmlformats.org/officeDocument/2006/relationships/slide" Target="../slides/slide200.xml"/><Relationship Id="rId2" Type="http://schemas.openxmlformats.org/officeDocument/2006/relationships/notesMaster" Target="../notesMasters/notesMaster1.xml"/>
</Relationships>
</file>

<file path=ppt/notesSlides/_rels/notesSlide201.xml.rels><?xml version="1.0" encoding="UTF-8"?>
<Relationships xmlns="http://schemas.openxmlformats.org/package/2006/relationships"><Relationship Id="rId1" Type="http://schemas.openxmlformats.org/officeDocument/2006/relationships/slide" Target="../slides/slide201.xml"/><Relationship Id="rId2" Type="http://schemas.openxmlformats.org/officeDocument/2006/relationships/notesMaster" Target="../notesMasters/notesMaster1.xml"/>
</Relationships>
</file>

<file path=ppt/notesSlides/_rels/notesSlide202.xml.rels><?xml version="1.0" encoding="UTF-8"?>
<Relationships xmlns="http://schemas.openxmlformats.org/package/2006/relationships"><Relationship Id="rId1" Type="http://schemas.openxmlformats.org/officeDocument/2006/relationships/slide" Target="../slides/slide20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8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5DCAC8-C532-432F-8D4B-A043A78275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41C897-3BA3-48CC-A06E-61EAD623A0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950F50-A193-4D2F-A666-57C4C2F30A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4C09BC-6782-4CC5-89A9-3FCB2D12DB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6100E1-D10D-49EE-A366-D03171530FA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4C426C-60F8-4F57-9DE7-1653CED668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698E9A-725B-4AD2-833A-C99794A3CD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6946FA-A62C-46F5-92D7-C411EC249B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551F4E-9691-4340-B0B5-AC2967A188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A5D532-500B-4086-B58C-6FE2FCD7E4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4620B9-0EF1-49E7-871F-7F3F23520A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40AE7F-A17F-4E78-8997-85A5857993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D5B6D6-A68F-49D4-A1C8-EF280F3CE4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EFA6BF-A06F-4B90-9A3D-49895AEBC71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3D6DD4-A728-4F3E-AF76-A98DCC1D1A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7789B5-FCF8-47A6-9738-5838E79635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3AEB5D-4027-466E-8FA9-B960EC7D50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DBC9A1-2963-4B67-A870-2268C9611C1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25569D-56C9-4213-A17C-31D7BD114C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2750F3-DDA4-4383-BCD3-1479D2684A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AF6FF3-64D7-4C39-A453-9006A10DAE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82B3AF-00EA-4BBF-9224-2383099101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603BE7-FC60-4C1F-B2E6-D2376B55B9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4E96D1-7F95-4C79-98AA-721E0DB7AC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27CF76-8282-4F3B-96BC-5D416379B3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107103-5756-4236-8937-9A64C67BA6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097143-4790-45BF-AD56-F24B1F0DB3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AE8C84-A10B-4B27-B068-28960AC57B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5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E33A8B-6BA2-4B57-B38B-A211503DB7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479DC7-561A-453C-BCA4-E4228EF1F3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BF7E99-F332-4CF5-8BC8-708AA72D99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7B88B0-21C4-4681-B482-586BB2FF24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6A41B4-3698-4773-BE58-EA94A65FB0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213B19-37F7-427F-958D-960F376731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7BFD07-F191-4E08-AA00-B8E43688EF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F8D847-56BA-4273-A4A8-0247AAE29A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BC3376-6741-45E5-8E2A-0870E2C598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EDA50E-0E07-4FCD-A4F6-65E442B818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259919-3D78-49E0-89C4-02C331DDA8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3C331A-63FF-43F0-8BF6-79DC2B783C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06D14F-6B91-412A-A55A-C773D1380D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D95522-218A-43EC-BFF3-E80858B6DD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C375CA-10E4-4F1F-91FE-AFC4BB7165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5688BD-1183-468E-861F-6DF967ECAD4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DA4D61-3F31-4501-8B59-6BC14824A25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360039-F1E8-4868-8F37-A85445B18C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313CC1-0435-4028-A6F6-932333E673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690529-45E6-4650-AE95-829B22B343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CA5003-25A6-428D-80B2-C9DD464568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249FE3-76C8-4A4D-A300-963E603EFA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2E4C92-149F-4655-93CD-0DAD99A38D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B5F1B8-052E-4DBB-8AFB-7F548151C5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7A68C0-D00A-4BA2-8C75-7EF2941958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3855AD-540F-47CD-872C-48E2A1928D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36115D-2286-45E5-8736-C3067BD576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76C9F5-26F2-406B-95B7-20D4A3C8A5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6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53F1CF-041D-4629-9ED1-D43966A23A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EE55B2-BDAB-49A4-A6DD-952801BBE6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CEC621-BC92-408B-BFFF-05D9D0BEF2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136C06-77EA-498D-BD35-CEBEFE3127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B84C11-2020-4CEF-923A-2AE438FD39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46D0D8-7959-4A81-B6AD-2DD894D8D9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9A03402-B317-4135-8C37-2E2B268760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81DAB32-D055-4CEE-B4E8-F9A3647133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AA3180-126F-4308-AC0C-26A74D829A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2CDFFD-C318-4205-91D0-6C30FC63DA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0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8F1EDA-08B1-43BF-A373-07F049E41A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134D63-626B-4477-9E43-E3BB8DABE1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EE84EA-4274-47BF-AD32-5ABEAC1B20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AB28DE-0CDF-4D16-9A4D-BE8C84B5B6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0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F00CE2-534A-45FD-98BD-CF1FDA3823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5842C1-C890-4B4C-BB3B-D7EA0B178F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B7C7FB-2BC2-4966-8D64-D80D6FC28D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E8D44C-80B3-4095-81CB-388FAABE342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1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009862-BA57-4AB6-B275-8EAD017B07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4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DE9887-B799-4DF2-80A1-DA90295927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7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BEC3C6-C0CF-4260-9B20-3734F275C2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0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3262E2-3BE8-4D4F-937B-07B7D3DC33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3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C1D1434-8901-44D4-9C04-3CB96DB5452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6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A216D9-B031-4908-BF41-1B2539DA81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9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FAF6B5-A534-436F-8BA1-8C699A9C49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2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5B2573-35AF-428B-9710-F7F3C6B02F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5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F07061-3876-4332-8891-247D5505EF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8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DBBAD2-5736-4F29-B934-327112EC3C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1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293167-4DB8-440C-AD6C-BDED640FFF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4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38B9AF-C135-441A-8E01-A429CD8915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7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174966-396A-4A67-9829-1A128B6F8D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0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12A610-2343-4D65-8CF6-52865A57B4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3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E96915-7541-496B-A1C3-562741DA12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6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88ABE6-A3F0-49C9-92E5-257A520A6E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9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C1F0E7-8205-42FE-8F9F-5614A0030F2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0" name="PlaceHolder 1"/>
          <p:cNvSpPr>
            <a:spLocks noGrp="1"/>
          </p:cNvSpPr>
          <p:nvPr>
            <p:ph type="sldImg"/>
          </p:nvPr>
        </p:nvSpPr>
        <p:spPr>
          <a:xfrm>
            <a:off x="514080" y="857160"/>
            <a:ext cx="4114080" cy="2313720"/>
          </a:xfrm>
          <a:prstGeom prst="rect">
            <a:avLst/>
          </a:prstGeom>
          <a:ln w="0">
            <a:noFill/>
          </a:ln>
        </p:spPr>
      </p:sp>
      <p:sp>
        <p:nvSpPr>
          <p:cNvPr id="6161" name="PlaceHolder 2"/>
          <p:cNvSpPr>
            <a:spLocks noGrp="1"/>
          </p:cNvSpPr>
          <p:nvPr>
            <p:ph type="body"/>
          </p:nvPr>
        </p:nvSpPr>
        <p:spPr>
          <a:xfrm>
            <a:off x="514080" y="3300120"/>
            <a:ext cx="4114080" cy="26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2" name="PlaceHolder 3"/>
          <p:cNvSpPr>
            <a:spLocks noGrp="1"/>
          </p:cNvSpPr>
          <p:nvPr>
            <p:ph type="sldNum" idx="95"/>
          </p:nvPr>
        </p:nvSpPr>
        <p:spPr>
          <a:xfrm>
            <a:off x="2913480" y="6513840"/>
            <a:ext cx="2228040" cy="3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58D6CE-C539-4E1C-B348-5D2A6A0349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3" name="PlaceHolder 1"/>
          <p:cNvSpPr>
            <a:spLocks noGrp="1"/>
          </p:cNvSpPr>
          <p:nvPr>
            <p:ph type="sldImg"/>
          </p:nvPr>
        </p:nvSpPr>
        <p:spPr>
          <a:xfrm>
            <a:off x="514080" y="857160"/>
            <a:ext cx="4114080" cy="2313720"/>
          </a:xfrm>
          <a:prstGeom prst="rect">
            <a:avLst/>
          </a:prstGeom>
          <a:ln w="0">
            <a:noFill/>
          </a:ln>
        </p:spPr>
      </p:sp>
      <p:sp>
        <p:nvSpPr>
          <p:cNvPr id="6164" name="PlaceHolder 2"/>
          <p:cNvSpPr>
            <a:spLocks noGrp="1"/>
          </p:cNvSpPr>
          <p:nvPr>
            <p:ph type="body"/>
          </p:nvPr>
        </p:nvSpPr>
        <p:spPr>
          <a:xfrm>
            <a:off x="514080" y="3300120"/>
            <a:ext cx="4114080" cy="26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5" name="PlaceHolder 3"/>
          <p:cNvSpPr>
            <a:spLocks noGrp="1"/>
          </p:cNvSpPr>
          <p:nvPr>
            <p:ph type="sldNum" idx="96"/>
          </p:nvPr>
        </p:nvSpPr>
        <p:spPr>
          <a:xfrm>
            <a:off x="2913480" y="6513840"/>
            <a:ext cx="2228040" cy="3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6CD58A-7668-41E1-A5D5-044BC15548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8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58B04B-0915-4323-8CC2-1F5608E205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9" name="PlaceHolder 1"/>
          <p:cNvSpPr>
            <a:spLocks noGrp="1"/>
          </p:cNvSpPr>
          <p:nvPr>
            <p:ph type="sldImg"/>
          </p:nvPr>
        </p:nvSpPr>
        <p:spPr>
          <a:xfrm>
            <a:off x="514080" y="857160"/>
            <a:ext cx="4114080" cy="2313720"/>
          </a:xfrm>
          <a:prstGeom prst="rect">
            <a:avLst/>
          </a:prstGeom>
          <a:ln w="0">
            <a:noFill/>
          </a:ln>
        </p:spPr>
      </p:sp>
      <p:sp>
        <p:nvSpPr>
          <p:cNvPr id="6170" name="PlaceHolder 2"/>
          <p:cNvSpPr>
            <a:spLocks noGrp="1"/>
          </p:cNvSpPr>
          <p:nvPr>
            <p:ph type="body"/>
          </p:nvPr>
        </p:nvSpPr>
        <p:spPr>
          <a:xfrm>
            <a:off x="514080" y="3300120"/>
            <a:ext cx="4114080" cy="26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1" name="PlaceHolder 3"/>
          <p:cNvSpPr>
            <a:spLocks noGrp="1"/>
          </p:cNvSpPr>
          <p:nvPr>
            <p:ph type="sldNum" idx="98"/>
          </p:nvPr>
        </p:nvSpPr>
        <p:spPr>
          <a:xfrm>
            <a:off x="2913480" y="6513840"/>
            <a:ext cx="2228040" cy="3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7C5C9D-08C5-4363-A196-49EB6E6753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2" name="PlaceHolder 1"/>
          <p:cNvSpPr>
            <a:spLocks noGrp="1"/>
          </p:cNvSpPr>
          <p:nvPr>
            <p:ph type="sldImg"/>
          </p:nvPr>
        </p:nvSpPr>
        <p:spPr>
          <a:xfrm>
            <a:off x="514080" y="857160"/>
            <a:ext cx="4114080" cy="2313720"/>
          </a:xfrm>
          <a:prstGeom prst="rect">
            <a:avLst/>
          </a:prstGeom>
          <a:ln w="0">
            <a:noFill/>
          </a:ln>
        </p:spPr>
      </p:sp>
      <p:sp>
        <p:nvSpPr>
          <p:cNvPr id="6173" name="PlaceHolder 2"/>
          <p:cNvSpPr>
            <a:spLocks noGrp="1"/>
          </p:cNvSpPr>
          <p:nvPr>
            <p:ph type="body"/>
          </p:nvPr>
        </p:nvSpPr>
        <p:spPr>
          <a:xfrm>
            <a:off x="514080" y="3300120"/>
            <a:ext cx="4114080" cy="26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4" name="PlaceHolder 3"/>
          <p:cNvSpPr>
            <a:spLocks noGrp="1"/>
          </p:cNvSpPr>
          <p:nvPr>
            <p:ph type="sldNum" idx="99"/>
          </p:nvPr>
        </p:nvSpPr>
        <p:spPr>
          <a:xfrm>
            <a:off x="2913480" y="6513840"/>
            <a:ext cx="2228040" cy="3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9A24C7-85F4-4518-8FDF-3281EFBE9C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7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4C4206-0401-4225-9537-26FC03A912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0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10B762-6474-4F4D-90B7-6B294AD7F4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3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32BEC4-1980-4F38-B10B-1040FE967C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6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A723D0F-F831-49B0-8A66-D2791EEF2E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9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222C5C-5F10-4635-AE4B-37DD538438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2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0C5797-587A-480E-A9BA-B695DD00BB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5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5C7F5C-F6BB-4CFD-BEFC-2F3532BD5C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8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DC6B19-F3E7-4BEF-9960-0499A43969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1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B2A656-3265-48CA-8E01-7B4AD9B0C8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4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ED5D4D-1F98-4757-B93D-D304DBA34A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7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DC2844-42F8-413E-98D7-F7580DFFFA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0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E35206-F367-426D-A19A-733C7C9D55F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3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763BF8-047D-4AAA-AF38-4EB91D6947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6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B304A9-622B-4A75-B332-6BCB96A7E7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9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BFDAE5-844C-418C-A977-72DC7EBA33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2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2BABDA-7748-40AF-850B-ABD5FA8F86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5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3CF40A-2D50-4493-908F-3DFDEAC026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8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DCEA10-8D3F-465E-A025-C1923C3A97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1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CD4496-BFE0-4094-9188-0FB2B379B0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4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3AD25F-8E86-45EB-9EB2-959829EF1BB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7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022A1D-8FD6-40A5-85E5-DFFF157123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0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E61AF1-3652-41E4-8D62-C0D4098A50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3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209B7B-AAA0-4E88-A35E-27FE458686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6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6BDCDB-F172-4D64-83C5-CA85600703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9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0791E3-6C11-4BB8-8C13-0FCFF291A6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2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DA44BC-9739-4400-99DD-D34130A6C61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5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71D398-9E71-4981-8CFB-3836CBC915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8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EFC50E-B13E-46B2-AB58-030593DB7B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1" name="PlaceHolder 3"/>
          <p:cNvSpPr>
            <a:spLocks noGrp="1"/>
          </p:cNvSpPr>
          <p:nvPr>
            <p:ph type="sldNum" idx="1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771744-A541-4CA0-A7FE-C9C8A5C0FD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4" name="PlaceHolder 3"/>
          <p:cNvSpPr>
            <a:spLocks noGrp="1"/>
          </p:cNvSpPr>
          <p:nvPr>
            <p:ph type="sldNum" idx="1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7360AE-2EC8-46F2-BF2C-E6FB6D1D86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7" name="PlaceHolder 3"/>
          <p:cNvSpPr>
            <a:spLocks noGrp="1"/>
          </p:cNvSpPr>
          <p:nvPr>
            <p:ph type="sldNum" idx="1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A18CF3-C111-4399-9300-569A83F82E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0" name="PlaceHolder 3"/>
          <p:cNvSpPr>
            <a:spLocks noGrp="1"/>
          </p:cNvSpPr>
          <p:nvPr>
            <p:ph type="sldNum" idx="1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DA8A2-C995-4BBE-9AAB-E9F687D319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3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22935F-710D-4588-A182-EF674B93F5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6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22B60E-BD61-4DC8-B72E-69250A90CB9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9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7143BB-DF0F-4086-ACE2-C44B1D5A66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2" name="PlaceHolder 3"/>
          <p:cNvSpPr>
            <a:spLocks noGrp="1"/>
          </p:cNvSpPr>
          <p:nvPr>
            <p:ph type="sldNum" idx="13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3AEDEF-A88A-4CCF-9A46-E6C171892D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5" name="PlaceHolder 3"/>
          <p:cNvSpPr>
            <a:spLocks noGrp="1"/>
          </p:cNvSpPr>
          <p:nvPr>
            <p:ph type="sldNum" idx="13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29CFF4-DDBC-41BA-91FE-10216B4664E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8" name="PlaceHolder 3"/>
          <p:cNvSpPr>
            <a:spLocks noGrp="1"/>
          </p:cNvSpPr>
          <p:nvPr>
            <p:ph type="sldNum" idx="13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E3B5BF-CD23-4AD2-B8F6-3B32D275F9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1" name="PlaceHolder 3"/>
          <p:cNvSpPr>
            <a:spLocks noGrp="1"/>
          </p:cNvSpPr>
          <p:nvPr>
            <p:ph type="sldNum" idx="1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0E05FD-B1C4-4AC7-B4F4-4D62FE21FB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4" name="PlaceHolder 3"/>
          <p:cNvSpPr>
            <a:spLocks noGrp="1"/>
          </p:cNvSpPr>
          <p:nvPr>
            <p:ph type="sldNum" idx="1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5B19A6-94AF-4A7C-A08F-CCA57937CD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7" name="PlaceHolder 3"/>
          <p:cNvSpPr>
            <a:spLocks noGrp="1"/>
          </p:cNvSpPr>
          <p:nvPr>
            <p:ph type="sldNum" idx="14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66FF8E-6594-4F6F-AC1D-77E048B121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0" name="PlaceHolder 3"/>
          <p:cNvSpPr>
            <a:spLocks noGrp="1"/>
          </p:cNvSpPr>
          <p:nvPr>
            <p:ph type="sldNum" idx="14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314AF2-7B19-4E48-8F0E-7EDCA68F46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3" name="PlaceHolder 3"/>
          <p:cNvSpPr>
            <a:spLocks noGrp="1"/>
          </p:cNvSpPr>
          <p:nvPr>
            <p:ph type="sldNum" idx="14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9790D0-586A-47F7-8F64-3FEE6D39DD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6" name="PlaceHolder 3"/>
          <p:cNvSpPr>
            <a:spLocks noGrp="1"/>
          </p:cNvSpPr>
          <p:nvPr>
            <p:ph type="sldNum" idx="1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656924-9699-49BE-B876-A0A8BCF9D53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9" name="PlaceHolder 3"/>
          <p:cNvSpPr>
            <a:spLocks noGrp="1"/>
          </p:cNvSpPr>
          <p:nvPr>
            <p:ph type="sldNum" idx="14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E0690B-8318-4329-99A4-5A4C7C079D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2" name="PlaceHolder 3"/>
          <p:cNvSpPr>
            <a:spLocks noGrp="1"/>
          </p:cNvSpPr>
          <p:nvPr>
            <p:ph type="sldNum" idx="14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E8DF22-8D22-4C59-B527-154C4FADA9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5" name="PlaceHolder 3"/>
          <p:cNvSpPr>
            <a:spLocks noGrp="1"/>
          </p:cNvSpPr>
          <p:nvPr>
            <p:ph type="sldNum" idx="14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1A58AF-1395-4C36-AA7C-565DD35849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8" name="PlaceHolder 3"/>
          <p:cNvSpPr>
            <a:spLocks noGrp="1"/>
          </p:cNvSpPr>
          <p:nvPr>
            <p:ph type="sldNum" idx="14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48CC20-8FC7-4869-AEEB-DFC6335BD3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1" name="PlaceHolder 3"/>
          <p:cNvSpPr>
            <a:spLocks noGrp="1"/>
          </p:cNvSpPr>
          <p:nvPr>
            <p:ph type="sldNum" idx="14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EA26FF-E961-4E59-A8B0-09148BC1EB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4" name="PlaceHolder 3"/>
          <p:cNvSpPr>
            <a:spLocks noGrp="1"/>
          </p:cNvSpPr>
          <p:nvPr>
            <p:ph type="sldNum" idx="14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D01AEA-08E0-49CE-BB48-719403BE90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7" name="PlaceHolder 3"/>
          <p:cNvSpPr>
            <a:spLocks noGrp="1"/>
          </p:cNvSpPr>
          <p:nvPr>
            <p:ph type="sldNum" idx="15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B822D2-23EB-44E0-BAD3-5C00170870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0" name="PlaceHolder 3"/>
          <p:cNvSpPr>
            <a:spLocks noGrp="1"/>
          </p:cNvSpPr>
          <p:nvPr>
            <p:ph type="sldNum" idx="15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037E62-AE0A-4233-85C8-DFC78B897F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3" name="PlaceHolder 3"/>
          <p:cNvSpPr>
            <a:spLocks noGrp="1"/>
          </p:cNvSpPr>
          <p:nvPr>
            <p:ph type="sldNum" idx="15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0708976-482F-4EF7-BF68-F5504320E6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6" name="PlaceHolder 3"/>
          <p:cNvSpPr>
            <a:spLocks noGrp="1"/>
          </p:cNvSpPr>
          <p:nvPr>
            <p:ph type="sldNum" idx="15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55FB29-9292-406C-9EC9-9D10AABF4E4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9" name="PlaceHolder 3"/>
          <p:cNvSpPr>
            <a:spLocks noGrp="1"/>
          </p:cNvSpPr>
          <p:nvPr>
            <p:ph type="sldNum" idx="15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95F7FB-B4F0-425E-8347-62FDB17ADF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2" name="PlaceHolder 3"/>
          <p:cNvSpPr>
            <a:spLocks noGrp="1"/>
          </p:cNvSpPr>
          <p:nvPr>
            <p:ph type="sldNum" idx="15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A27CCB-977E-4AE3-BD85-BD795D1DEC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5" name="PlaceHolder 3"/>
          <p:cNvSpPr>
            <a:spLocks noGrp="1"/>
          </p:cNvSpPr>
          <p:nvPr>
            <p:ph type="sldNum" idx="15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F1C118-4725-4C69-B6D4-D3E291ACB3F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8" name="PlaceHolder 3"/>
          <p:cNvSpPr>
            <a:spLocks noGrp="1"/>
          </p:cNvSpPr>
          <p:nvPr>
            <p:ph type="sldNum" idx="1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FB574F-074D-4F29-A296-ADCCD826F9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1" name="PlaceHolder 3"/>
          <p:cNvSpPr>
            <a:spLocks noGrp="1"/>
          </p:cNvSpPr>
          <p:nvPr>
            <p:ph type="sldNum" idx="15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C0B8D1-F5A0-4DA9-A13D-D4EF6E3E32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4" name="PlaceHolder 3"/>
          <p:cNvSpPr>
            <a:spLocks noGrp="1"/>
          </p:cNvSpPr>
          <p:nvPr>
            <p:ph type="sldNum" idx="15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ED11C7-C7BD-40B9-B0F6-1AD2F1131C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7" name="PlaceHolder 3"/>
          <p:cNvSpPr>
            <a:spLocks noGrp="1"/>
          </p:cNvSpPr>
          <p:nvPr>
            <p:ph type="sldNum" idx="16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B8BAC1-3B24-439E-94DC-04E38E66CF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0" name="PlaceHolder 3"/>
          <p:cNvSpPr>
            <a:spLocks noGrp="1"/>
          </p:cNvSpPr>
          <p:nvPr>
            <p:ph type="sldNum" idx="16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1CB5C1-5340-4323-B4E4-0191965F0D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3" name="PlaceHolder 3"/>
          <p:cNvSpPr>
            <a:spLocks noGrp="1"/>
          </p:cNvSpPr>
          <p:nvPr>
            <p:ph type="sldNum" idx="1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91E488-246E-47A8-841A-0ADA0886A4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6" name="PlaceHolder 3"/>
          <p:cNvSpPr>
            <a:spLocks noGrp="1"/>
          </p:cNvSpPr>
          <p:nvPr>
            <p:ph type="sldNum" idx="1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0F3AD-84E4-4E20-BBB9-A7A899E183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9" name="PlaceHolder 3"/>
          <p:cNvSpPr>
            <a:spLocks noGrp="1"/>
          </p:cNvSpPr>
          <p:nvPr>
            <p:ph type="sldNum" idx="1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B2AC13-A9B3-45D8-B4F1-1C378A284D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2" name="PlaceHolder 3"/>
          <p:cNvSpPr>
            <a:spLocks noGrp="1"/>
          </p:cNvSpPr>
          <p:nvPr>
            <p:ph type="sldNum" idx="1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4C940A-A8DF-4D9B-97BA-2483DA9579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5" name="PlaceHolder 3"/>
          <p:cNvSpPr>
            <a:spLocks noGrp="1"/>
          </p:cNvSpPr>
          <p:nvPr>
            <p:ph type="sldNum" idx="1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F5F2AA-B90B-4F50-BE1F-E08E60AA4F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8" name="PlaceHolder 3"/>
          <p:cNvSpPr>
            <a:spLocks noGrp="1"/>
          </p:cNvSpPr>
          <p:nvPr>
            <p:ph type="sldNum" idx="1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78B3F1-6741-4051-82C5-8387939C38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1" name="PlaceHolder 3"/>
          <p:cNvSpPr>
            <a:spLocks noGrp="1"/>
          </p:cNvSpPr>
          <p:nvPr>
            <p:ph type="sldNum" idx="1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68BEEF-68EC-4ACC-B896-56DE7C0CDC1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4" name="PlaceHolder 3"/>
          <p:cNvSpPr>
            <a:spLocks noGrp="1"/>
          </p:cNvSpPr>
          <p:nvPr>
            <p:ph type="sldNum" idx="1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E68FEF-7322-4F6E-A1F6-2EB2E59E38F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7" name="PlaceHolder 3"/>
          <p:cNvSpPr>
            <a:spLocks noGrp="1"/>
          </p:cNvSpPr>
          <p:nvPr>
            <p:ph type="sldNum" idx="1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E11EBE-8E3F-465D-AAA9-841D0B0E46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0" name="PlaceHolder 3"/>
          <p:cNvSpPr>
            <a:spLocks noGrp="1"/>
          </p:cNvSpPr>
          <p:nvPr>
            <p:ph type="sldNum" idx="1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79C144-BDEE-464C-B716-35A524B889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3" name="PlaceHolder 3"/>
          <p:cNvSpPr>
            <a:spLocks noGrp="1"/>
          </p:cNvSpPr>
          <p:nvPr>
            <p:ph type="sldNum" idx="1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43D864-3F9A-42BC-8ACB-6D33E2E236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6" name="PlaceHolder 3"/>
          <p:cNvSpPr>
            <a:spLocks noGrp="1"/>
          </p:cNvSpPr>
          <p:nvPr>
            <p:ph type="sldNum" idx="17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05C544-2B6B-456E-9C22-183637F0BB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9" name="PlaceHolder 3"/>
          <p:cNvSpPr>
            <a:spLocks noGrp="1"/>
          </p:cNvSpPr>
          <p:nvPr>
            <p:ph type="sldNum" idx="17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B05E80-0AAB-4716-AA80-0A34A1CD2E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2" name="PlaceHolder 3"/>
          <p:cNvSpPr>
            <a:spLocks noGrp="1"/>
          </p:cNvSpPr>
          <p:nvPr>
            <p:ph type="sldNum" idx="17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F086E5-F756-491B-89F9-760B117FA4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5" name="PlaceHolder 3"/>
          <p:cNvSpPr>
            <a:spLocks noGrp="1"/>
          </p:cNvSpPr>
          <p:nvPr>
            <p:ph type="sldNum" idx="17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694278-11BF-44F9-A551-8BCE721F03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8" name="PlaceHolder 3"/>
          <p:cNvSpPr>
            <a:spLocks noGrp="1"/>
          </p:cNvSpPr>
          <p:nvPr>
            <p:ph type="sldNum" idx="17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720536-2011-4AAC-B5D8-4B1F04D860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1" name="PlaceHolder 3"/>
          <p:cNvSpPr>
            <a:spLocks noGrp="1"/>
          </p:cNvSpPr>
          <p:nvPr>
            <p:ph type="sldNum" idx="17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EA84E7-A599-413F-BB89-F1F732D676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4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4" name="PlaceHolder 3"/>
          <p:cNvSpPr>
            <a:spLocks noGrp="1"/>
          </p:cNvSpPr>
          <p:nvPr>
            <p:ph type="sldNum" idx="17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6EFD72-3C8B-4B4B-83E3-2CBF93721C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7" name="PlaceHolder 3"/>
          <p:cNvSpPr>
            <a:spLocks noGrp="1"/>
          </p:cNvSpPr>
          <p:nvPr>
            <p:ph type="sldNum" idx="18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FB8348-D298-4D84-B4FC-F7A92FD23E3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0" name="PlaceHolder 3"/>
          <p:cNvSpPr>
            <a:spLocks noGrp="1"/>
          </p:cNvSpPr>
          <p:nvPr>
            <p:ph type="sldNum" idx="18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25ED1A-3383-4FC2-8EE1-BA47098ACE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3" name="PlaceHolder 3"/>
          <p:cNvSpPr>
            <a:spLocks noGrp="1"/>
          </p:cNvSpPr>
          <p:nvPr>
            <p:ph type="sldNum" idx="18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0AE262-1927-43E1-B409-2522022624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6" name="PlaceHolder 3"/>
          <p:cNvSpPr>
            <a:spLocks noGrp="1"/>
          </p:cNvSpPr>
          <p:nvPr>
            <p:ph type="sldNum" idx="18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25A353-C1C9-47B2-80A2-F794A2A93C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9" name="PlaceHolder 3"/>
          <p:cNvSpPr>
            <a:spLocks noGrp="1"/>
          </p:cNvSpPr>
          <p:nvPr>
            <p:ph type="sldNum" idx="18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E4CF34-EF0C-4B91-834E-53BC04FCA3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2" name="PlaceHolder 3"/>
          <p:cNvSpPr>
            <a:spLocks noGrp="1"/>
          </p:cNvSpPr>
          <p:nvPr>
            <p:ph type="sldNum" idx="1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882436-90C4-436E-9667-25BBE0C37F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5" name="PlaceHolder 3"/>
          <p:cNvSpPr>
            <a:spLocks noGrp="1"/>
          </p:cNvSpPr>
          <p:nvPr>
            <p:ph type="sldNum" idx="18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58C217-6386-47E0-ACCC-9A771A15D4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8" name="PlaceHolder 3"/>
          <p:cNvSpPr>
            <a:spLocks noGrp="1"/>
          </p:cNvSpPr>
          <p:nvPr>
            <p:ph type="sldNum" idx="18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91269D-3F5D-4D3B-9B64-32D9D760C1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1" name="PlaceHolder 3"/>
          <p:cNvSpPr>
            <a:spLocks noGrp="1"/>
          </p:cNvSpPr>
          <p:nvPr>
            <p:ph type="sldNum" idx="18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5C3F40D-21E0-477E-8A8F-90847C28ED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4" name="PlaceHolder 3"/>
          <p:cNvSpPr>
            <a:spLocks noGrp="1"/>
          </p:cNvSpPr>
          <p:nvPr>
            <p:ph type="sldNum" idx="18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430B8B-9ECC-47AD-A403-11CB5AFFD21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7" name="PlaceHolder 3"/>
          <p:cNvSpPr>
            <a:spLocks noGrp="1"/>
          </p:cNvSpPr>
          <p:nvPr>
            <p:ph type="sldNum" idx="19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4F3663-5EDD-43FD-9018-481F2D9145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0" name="PlaceHolder 3"/>
          <p:cNvSpPr>
            <a:spLocks noGrp="1"/>
          </p:cNvSpPr>
          <p:nvPr>
            <p:ph type="sldNum" idx="19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D924E0-0A56-4F6D-A627-D9E51C9461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3" name="PlaceHolder 3"/>
          <p:cNvSpPr>
            <a:spLocks noGrp="1"/>
          </p:cNvSpPr>
          <p:nvPr>
            <p:ph type="sldNum" idx="19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69F469-9D1E-418C-AA30-F05592C525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6" name="PlaceHolder 3"/>
          <p:cNvSpPr>
            <a:spLocks noGrp="1"/>
          </p:cNvSpPr>
          <p:nvPr>
            <p:ph type="sldNum" idx="19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286F4C-B1A8-4DC8-99F8-D9B81E0810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9" name="PlaceHolder 3"/>
          <p:cNvSpPr>
            <a:spLocks noGrp="1"/>
          </p:cNvSpPr>
          <p:nvPr>
            <p:ph type="sldNum" idx="19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992E53-F281-47E0-9C4F-7701AD372E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2" name="PlaceHolder 3"/>
          <p:cNvSpPr>
            <a:spLocks noGrp="1"/>
          </p:cNvSpPr>
          <p:nvPr>
            <p:ph type="sldNum" idx="19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92ECF1-0F67-4AA8-B918-54B472BF84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5" name="PlaceHolder 3"/>
          <p:cNvSpPr>
            <a:spLocks noGrp="1"/>
          </p:cNvSpPr>
          <p:nvPr>
            <p:ph type="sldNum" idx="19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73634D-5E47-4477-BBE3-B24140FCEA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8" name="PlaceHolder 3"/>
          <p:cNvSpPr>
            <a:spLocks noGrp="1"/>
          </p:cNvSpPr>
          <p:nvPr>
            <p:ph type="sldNum" idx="19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E1F829-C1A6-4CE3-8BA8-3D17D566FB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1" name="PlaceHolder 3"/>
          <p:cNvSpPr>
            <a:spLocks noGrp="1"/>
          </p:cNvSpPr>
          <p:nvPr>
            <p:ph type="sldNum" idx="19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30C572-E36A-4534-969A-84F70113294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4" name="PlaceHolder 3"/>
          <p:cNvSpPr>
            <a:spLocks noGrp="1"/>
          </p:cNvSpPr>
          <p:nvPr>
            <p:ph type="sldNum" idx="19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A4858C-6BEF-40B3-AB33-2E0B8124D6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7" name="PlaceHolder 3"/>
          <p:cNvSpPr>
            <a:spLocks noGrp="1"/>
          </p:cNvSpPr>
          <p:nvPr>
            <p:ph type="sldNum" idx="20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3EEEE8-2111-44D1-8EAE-2B9B277D19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64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0" name="PlaceHolder 3"/>
          <p:cNvSpPr>
            <a:spLocks noGrp="1"/>
          </p:cNvSpPr>
          <p:nvPr>
            <p:ph type="sldNum" idx="20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AC4B16-DDC9-4657-A5F3-ED00DB0F1B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éditer le format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pour éditer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 format du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86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pour éditer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 format du </a:t>
            </a: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8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3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1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3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6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7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8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9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0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1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2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3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4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5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6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7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9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.png"/><Relationship Id="rId10" Type="http://schemas.openxmlformats.org/officeDocument/2006/relationships/image" Target="../media/image7.png"/><Relationship Id="rId11" Type="http://schemas.openxmlformats.org/officeDocument/2006/relationships/image" Target="../media/image2.png"/><Relationship Id="rId12" Type="http://schemas.openxmlformats.org/officeDocument/2006/relationships/image" Target="../media/image6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60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1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2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3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6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7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8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9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1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2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3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5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6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7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8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9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0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1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2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3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4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5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8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9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1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3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4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5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
</Relationships>
</file>

<file path=ppt/slides/_rels/slide1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7.xml"/>
</Relationships>
</file>

<file path=ppt/slides/_rels/slide1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8.xml"/>
</Relationships>
</file>

<file path=ppt/slides/_rels/slide1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9.xml"/>
</Relationships>
</file>

<file path=ppt/slides/_rels/slide2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0.xml"/>
</Relationships>
</file>

<file path=ppt/slides/_rels/slide2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1.xml"/>
</Relationships>
</file>

<file path=ppt/slides/_rels/slide2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9141480" cy="705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457200" y="960120"/>
            <a:ext cx="822708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57200" y="1874520"/>
            <a:ext cx="82270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a8d4dc"/>
                </a:solidFill>
                <a:latin typeface="Calibri"/>
                <a:ea typeface="Calibri"/>
              </a:rPr>
              <a:t>Recherche, Analyse et Visualisation de Données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2743200" y="2514600"/>
            <a:ext cx="3655080" cy="432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57200" y="2834640"/>
            <a:ext cx="82270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8d4dc"/>
                </a:solidFill>
                <a:latin typeface="Calibri"/>
                <a:ea typeface="Calibri"/>
              </a:rPr>
              <a:t>David THIBAU – 2026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457200" y="3218760"/>
            <a:ext cx="8227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david.thibau@gmail.com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0" y="4818960"/>
            <a:ext cx="91414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676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677"/>
          <p:cNvSpPr/>
          <p:nvPr/>
        </p:nvSpPr>
        <p:spPr>
          <a:xfrm>
            <a:off x="0" y="0"/>
            <a:ext cx="163800" cy="657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655"/>
          <p:cNvSpPr/>
          <p:nvPr/>
        </p:nvSpPr>
        <p:spPr>
          <a:xfrm>
            <a:off x="347400" y="54720"/>
            <a:ext cx="8411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Agenda  —  1 / 2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656"/>
          <p:cNvSpPr/>
          <p:nvPr/>
        </p:nvSpPr>
        <p:spPr>
          <a:xfrm>
            <a:off x="0" y="48189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742"/>
          <p:cNvSpPr/>
          <p:nvPr/>
        </p:nvSpPr>
        <p:spPr>
          <a:xfrm>
            <a:off x="45720" y="165960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658"/>
          <p:cNvSpPr/>
          <p:nvPr/>
        </p:nvSpPr>
        <p:spPr>
          <a:xfrm>
            <a:off x="45720" y="16596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743"/>
          <p:cNvSpPr/>
          <p:nvPr/>
        </p:nvSpPr>
        <p:spPr>
          <a:xfrm>
            <a:off x="608040" y="1275480"/>
            <a:ext cx="37116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744"/>
          <p:cNvSpPr/>
          <p:nvPr/>
        </p:nvSpPr>
        <p:spPr>
          <a:xfrm>
            <a:off x="608040" y="1275480"/>
            <a:ext cx="63360" cy="127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659"/>
          <p:cNvSpPr/>
          <p:nvPr/>
        </p:nvSpPr>
        <p:spPr>
          <a:xfrm>
            <a:off x="772560" y="136692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Introduction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660"/>
          <p:cNvSpPr/>
          <p:nvPr/>
        </p:nvSpPr>
        <p:spPr>
          <a:xfrm>
            <a:off x="772560" y="175104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Historique, comparaison Elasticsearch,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661"/>
          <p:cNvSpPr/>
          <p:nvPr/>
        </p:nvSpPr>
        <p:spPr>
          <a:xfrm>
            <a:off x="772560" y="200700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composants, architecture du cluster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745"/>
          <p:cNvSpPr/>
          <p:nvPr/>
        </p:nvSpPr>
        <p:spPr>
          <a:xfrm>
            <a:off x="4588560" y="165960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662"/>
          <p:cNvSpPr/>
          <p:nvPr/>
        </p:nvSpPr>
        <p:spPr>
          <a:xfrm>
            <a:off x="4588560" y="165960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746"/>
          <p:cNvSpPr/>
          <p:nvPr/>
        </p:nvSpPr>
        <p:spPr>
          <a:xfrm>
            <a:off x="5222880" y="1275480"/>
            <a:ext cx="359676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747"/>
          <p:cNvSpPr/>
          <p:nvPr/>
        </p:nvSpPr>
        <p:spPr>
          <a:xfrm>
            <a:off x="5222880" y="1275480"/>
            <a:ext cx="63360" cy="127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769"/>
          <p:cNvSpPr/>
          <p:nvPr/>
        </p:nvSpPr>
        <p:spPr>
          <a:xfrm>
            <a:off x="5387400" y="136692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Mapping des données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771"/>
          <p:cNvSpPr/>
          <p:nvPr/>
        </p:nvSpPr>
        <p:spPr>
          <a:xfrm>
            <a:off x="5387400" y="168300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Types, analyzers, dynamic templates, ISM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748"/>
          <p:cNvSpPr/>
          <p:nvPr/>
        </p:nvSpPr>
        <p:spPr>
          <a:xfrm>
            <a:off x="45720" y="315936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772"/>
          <p:cNvSpPr/>
          <p:nvPr/>
        </p:nvSpPr>
        <p:spPr>
          <a:xfrm>
            <a:off x="45720" y="31593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749"/>
          <p:cNvSpPr/>
          <p:nvPr/>
        </p:nvSpPr>
        <p:spPr>
          <a:xfrm>
            <a:off x="608040" y="2775240"/>
            <a:ext cx="3711600" cy="1279440"/>
          </a:xfrm>
          <a:prstGeom prst="rect">
            <a:avLst/>
          </a:prstGeom>
          <a:solidFill>
            <a:srgbClr val="fffaf6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750"/>
          <p:cNvSpPr/>
          <p:nvPr/>
        </p:nvSpPr>
        <p:spPr>
          <a:xfrm>
            <a:off x="608040" y="2775240"/>
            <a:ext cx="63360" cy="12794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773"/>
          <p:cNvSpPr/>
          <p:nvPr/>
        </p:nvSpPr>
        <p:spPr>
          <a:xfrm>
            <a:off x="772560" y="286668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Ingestion de données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774"/>
          <p:cNvSpPr/>
          <p:nvPr/>
        </p:nvSpPr>
        <p:spPr>
          <a:xfrm>
            <a:off x="772560" y="325080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Alternative, SDK, Data Prepper,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Kafka Connect 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751"/>
          <p:cNvSpPr/>
          <p:nvPr/>
        </p:nvSpPr>
        <p:spPr>
          <a:xfrm>
            <a:off x="4588560" y="315936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776"/>
          <p:cNvSpPr/>
          <p:nvPr/>
        </p:nvSpPr>
        <p:spPr>
          <a:xfrm>
            <a:off x="4588560" y="315936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752"/>
          <p:cNvSpPr/>
          <p:nvPr/>
        </p:nvSpPr>
        <p:spPr>
          <a:xfrm>
            <a:off x="5222880" y="2775240"/>
            <a:ext cx="359676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753"/>
          <p:cNvSpPr/>
          <p:nvPr/>
        </p:nvSpPr>
        <p:spPr>
          <a:xfrm>
            <a:off x="5222880" y="2775240"/>
            <a:ext cx="63360" cy="127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777"/>
          <p:cNvSpPr/>
          <p:nvPr/>
        </p:nvSpPr>
        <p:spPr>
          <a:xfrm>
            <a:off x="5387400" y="286668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Requêtes et 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778"/>
          <p:cNvSpPr/>
          <p:nvPr/>
        </p:nvSpPr>
        <p:spPr>
          <a:xfrm>
            <a:off x="5387400" y="325080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Query DSL, filtres, full-text,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779"/>
          <p:cNvSpPr/>
          <p:nvPr/>
        </p:nvSpPr>
        <p:spPr>
          <a:xfrm>
            <a:off x="5387400" y="350676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agrégations, pagination, optimisation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754"/>
          <p:cNvSpPr/>
          <p:nvPr/>
        </p:nvSpPr>
        <p:spPr>
          <a:xfrm>
            <a:off x="274320" y="4201560"/>
            <a:ext cx="8595360" cy="360"/>
          </a:xfrm>
          <a:prstGeom prst="line">
            <a:avLst/>
          </a:prstGeom>
          <a:ln w="12700">
            <a:solidFill>
              <a:srgbClr val="1a4a5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780"/>
          <p:cNvSpPr/>
          <p:nvPr/>
        </p:nvSpPr>
        <p:spPr>
          <a:xfrm>
            <a:off x="7772400" y="4256640"/>
            <a:ext cx="1096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8d4dc"/>
                </a:solidFill>
                <a:latin typeface="Calibri"/>
                <a:ea typeface="Calibri"/>
              </a:rPr>
              <a:t>suite →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781"/>
          <p:cNvSpPr/>
          <p:nvPr/>
        </p:nvSpPr>
        <p:spPr>
          <a:xfrm>
            <a:off x="0" y="48189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770"/>
          <p:cNvSpPr/>
          <p:nvPr/>
        </p:nvSpPr>
        <p:spPr>
          <a:xfrm>
            <a:off x="743400" y="2291040"/>
            <a:ext cx="3396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Document &amp; Bulk API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755"/>
          <p:cNvSpPr/>
          <p:nvPr/>
        </p:nvSpPr>
        <p:spPr>
          <a:xfrm>
            <a:off x="0" y="0"/>
            <a:ext cx="9143280" cy="6577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756"/>
          <p:cNvSpPr/>
          <p:nvPr/>
        </p:nvSpPr>
        <p:spPr>
          <a:xfrm>
            <a:off x="0" y="0"/>
            <a:ext cx="163800" cy="657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38"/>
          <p:cNvSpPr/>
          <p:nvPr/>
        </p:nvSpPr>
        <p:spPr>
          <a:xfrm>
            <a:off x="347400" y="54720"/>
            <a:ext cx="8411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Agenda  —  2 / 2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782"/>
          <p:cNvSpPr/>
          <p:nvPr/>
        </p:nvSpPr>
        <p:spPr>
          <a:xfrm>
            <a:off x="0" y="48189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757"/>
          <p:cNvSpPr/>
          <p:nvPr/>
        </p:nvSpPr>
        <p:spPr>
          <a:xfrm>
            <a:off x="45720" y="134424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784"/>
          <p:cNvSpPr/>
          <p:nvPr/>
        </p:nvSpPr>
        <p:spPr>
          <a:xfrm>
            <a:off x="45720" y="13442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758"/>
          <p:cNvSpPr/>
          <p:nvPr/>
        </p:nvSpPr>
        <p:spPr>
          <a:xfrm>
            <a:off x="752040" y="960120"/>
            <a:ext cx="35676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759"/>
          <p:cNvSpPr/>
          <p:nvPr/>
        </p:nvSpPr>
        <p:spPr>
          <a:xfrm>
            <a:off x="752040" y="960120"/>
            <a:ext cx="63360" cy="127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785"/>
          <p:cNvSpPr/>
          <p:nvPr/>
        </p:nvSpPr>
        <p:spPr>
          <a:xfrm>
            <a:off x="916560" y="105156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Visualisation — OpenSearch Dashboards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786"/>
          <p:cNvSpPr/>
          <p:nvPr/>
        </p:nvSpPr>
        <p:spPr>
          <a:xfrm>
            <a:off x="916560" y="143568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Dashboards, visualisations, DQL, PPL,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787"/>
          <p:cNvSpPr/>
          <p:nvPr/>
        </p:nvSpPr>
        <p:spPr>
          <a:xfrm>
            <a:off x="916560" y="169164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filtres interactifs, partage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760"/>
          <p:cNvSpPr/>
          <p:nvPr/>
        </p:nvSpPr>
        <p:spPr>
          <a:xfrm>
            <a:off x="4732560" y="134424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788"/>
          <p:cNvSpPr/>
          <p:nvPr/>
        </p:nvSpPr>
        <p:spPr>
          <a:xfrm>
            <a:off x="4732560" y="13442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761"/>
          <p:cNvSpPr/>
          <p:nvPr/>
        </p:nvSpPr>
        <p:spPr>
          <a:xfrm>
            <a:off x="5366880" y="960120"/>
            <a:ext cx="352476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762"/>
          <p:cNvSpPr/>
          <p:nvPr/>
        </p:nvSpPr>
        <p:spPr>
          <a:xfrm>
            <a:off x="5366880" y="960120"/>
            <a:ext cx="63360" cy="127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789"/>
          <p:cNvSpPr/>
          <p:nvPr/>
        </p:nvSpPr>
        <p:spPr>
          <a:xfrm>
            <a:off x="5531400" y="105156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Administration et sécurité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790"/>
          <p:cNvSpPr/>
          <p:nvPr/>
        </p:nvSpPr>
        <p:spPr>
          <a:xfrm>
            <a:off x="5567400" y="1435680"/>
            <a:ext cx="325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Nœuds, HA, snapshots, certificats,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791"/>
          <p:cNvSpPr/>
          <p:nvPr/>
        </p:nvSpPr>
        <p:spPr>
          <a:xfrm>
            <a:off x="5567400" y="1691640"/>
            <a:ext cx="3252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rôles et utilisateurs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763"/>
          <p:cNvSpPr/>
          <p:nvPr/>
        </p:nvSpPr>
        <p:spPr>
          <a:xfrm>
            <a:off x="45720" y="2944440"/>
            <a:ext cx="502200" cy="5022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792"/>
          <p:cNvSpPr/>
          <p:nvPr/>
        </p:nvSpPr>
        <p:spPr>
          <a:xfrm>
            <a:off x="45720" y="29444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764"/>
          <p:cNvSpPr/>
          <p:nvPr/>
        </p:nvSpPr>
        <p:spPr>
          <a:xfrm>
            <a:off x="752040" y="2560320"/>
            <a:ext cx="3567600" cy="1279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765"/>
          <p:cNvSpPr/>
          <p:nvPr/>
        </p:nvSpPr>
        <p:spPr>
          <a:xfrm>
            <a:off x="752040" y="2560320"/>
            <a:ext cx="63360" cy="127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793"/>
          <p:cNvSpPr/>
          <p:nvPr/>
        </p:nvSpPr>
        <p:spPr>
          <a:xfrm>
            <a:off x="916560" y="2651760"/>
            <a:ext cx="3729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Supervision et optimisation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794"/>
          <p:cNvSpPr/>
          <p:nvPr/>
        </p:nvSpPr>
        <p:spPr>
          <a:xfrm>
            <a:off x="916560" y="303588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Performance Analyzer, scaling,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795"/>
          <p:cNvSpPr/>
          <p:nvPr/>
        </p:nvSpPr>
        <p:spPr>
          <a:xfrm>
            <a:off x="916560" y="3291840"/>
            <a:ext cx="3729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gestion du stockage, maintenance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766"/>
          <p:cNvSpPr/>
          <p:nvPr/>
        </p:nvSpPr>
        <p:spPr>
          <a:xfrm>
            <a:off x="274320" y="4114800"/>
            <a:ext cx="8594640" cy="59364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767"/>
          <p:cNvSpPr/>
          <p:nvPr/>
        </p:nvSpPr>
        <p:spPr>
          <a:xfrm>
            <a:off x="274320" y="4114800"/>
            <a:ext cx="54000" cy="593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796"/>
          <p:cNvSpPr/>
          <p:nvPr/>
        </p:nvSpPr>
        <p:spPr>
          <a:xfrm>
            <a:off x="411480" y="4114800"/>
            <a:ext cx="8320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a8d4dc"/>
                </a:solidFill>
                <a:latin typeface="Calibri"/>
                <a:ea typeface="Calibri"/>
              </a:rPr>
              <a:t>📌  </a:t>
            </a:r>
            <a:r>
              <a:rPr b="0" i="1" lang="en-US" sz="1050" spc="-1" strike="noStrike">
                <a:solidFill>
                  <a:srgbClr val="a8d4dc"/>
                </a:solidFill>
                <a:latin typeface="Calibri"/>
                <a:ea typeface="Calibri"/>
              </a:rPr>
              <a:t>Chaque module inclut des ateliers pratiques. Durée indicative : 3 jours.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797"/>
          <p:cNvSpPr/>
          <p:nvPr/>
        </p:nvSpPr>
        <p:spPr>
          <a:xfrm>
            <a:off x="0" y="481896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Formation OpenSearch · 2026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939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459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657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I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n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t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r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o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d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u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c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t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i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o</a:t>
            </a: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n</a:t>
            </a:r>
            <a:endParaRPr b="0" lang="fr-FR" sz="8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202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203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783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278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Offre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1204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279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280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Composants principaux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205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1281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282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cluster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208"/>
          <p:cNvSpPr/>
          <p:nvPr/>
        </p:nvSpPr>
        <p:spPr>
          <a:xfrm>
            <a:off x="46177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898"/>
          <p:cNvSpPr/>
          <p:nvPr/>
        </p:nvSpPr>
        <p:spPr>
          <a:xfrm>
            <a:off x="46177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899"/>
          <p:cNvSpPr/>
          <p:nvPr/>
        </p:nvSpPr>
        <p:spPr>
          <a:xfrm>
            <a:off x="49651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Indexation et documents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1622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1624"/>
          <p:cNvSpPr/>
          <p:nvPr/>
        </p:nvSpPr>
        <p:spPr>
          <a:xfrm>
            <a:off x="-15480" y="4316040"/>
            <a:ext cx="130608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1900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1. 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623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1901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2.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625"/>
          <p:cNvSpPr/>
          <p:nvPr/>
        </p:nvSpPr>
        <p:spPr>
          <a:xfrm>
            <a:off x="-15480" y="4316040"/>
            <a:ext cx="130608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626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1902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3. 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Shape 1724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911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4.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725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912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5.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hape 1726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913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6.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727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1914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7.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Mo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nit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ori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2014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2276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539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2540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600" spc="-1" strike="noStrike">
                <a:solidFill>
                  <a:srgbClr val="ffffff"/>
                </a:solidFill>
                <a:latin typeface="Calibri"/>
                <a:ea typeface="Calibri"/>
              </a:rPr>
              <a:t>Offre</a:t>
            </a:r>
            <a:endParaRPr b="0" lang="fr-FR" sz="6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2277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541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Naissance   ·    Gouvernance    ·    Positionnement  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·    ElasticSearch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278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2279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542"/>
          <p:cNvSpPr/>
          <p:nvPr/>
        </p:nvSpPr>
        <p:spPr>
          <a:xfrm>
            <a:off x="0" y="4316040"/>
            <a:ext cx="144000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280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543"/>
          <p:cNvSpPr/>
          <p:nvPr/>
        </p:nvSpPr>
        <p:spPr>
          <a:xfrm>
            <a:off x="3441960" y="4546800"/>
            <a:ext cx="142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Composants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2544"/>
          <p:cNvSpPr/>
          <p:nvPr/>
        </p:nvSpPr>
        <p:spPr>
          <a:xfrm>
            <a:off x="3209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281"/>
          <p:cNvSpPr/>
          <p:nvPr/>
        </p:nvSpPr>
        <p:spPr>
          <a:xfrm>
            <a:off x="1980000" y="4528440"/>
            <a:ext cx="122364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545"/>
          <p:cNvSpPr/>
          <p:nvPr/>
        </p:nvSpPr>
        <p:spPr>
          <a:xfrm>
            <a:off x="1980000" y="4546800"/>
            <a:ext cx="1223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Offre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546"/>
          <p:cNvSpPr/>
          <p:nvPr/>
        </p:nvSpPr>
        <p:spPr>
          <a:xfrm>
            <a:off x="263376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547"/>
          <p:cNvSpPr/>
          <p:nvPr/>
        </p:nvSpPr>
        <p:spPr>
          <a:xfrm>
            <a:off x="4828680" y="4546800"/>
            <a:ext cx="12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Cluster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548"/>
          <p:cNvSpPr/>
          <p:nvPr/>
        </p:nvSpPr>
        <p:spPr>
          <a:xfrm>
            <a:off x="577512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549"/>
          <p:cNvSpPr/>
          <p:nvPr/>
        </p:nvSpPr>
        <p:spPr>
          <a:xfrm>
            <a:off x="6120000" y="4546800"/>
            <a:ext cx="2383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Indexation et documents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550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2551"/>
          <p:cNvSpPr/>
          <p:nvPr/>
        </p:nvSpPr>
        <p:spPr>
          <a:xfrm>
            <a:off x="4649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42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45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41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Naissance d'OpenSearch — Chronologie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46"/>
          <p:cNvSpPr/>
          <p:nvPr/>
        </p:nvSpPr>
        <p:spPr>
          <a:xfrm>
            <a:off x="1371600" y="914400"/>
            <a:ext cx="61560" cy="383796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47"/>
          <p:cNvSpPr/>
          <p:nvPr/>
        </p:nvSpPr>
        <p:spPr>
          <a:xfrm>
            <a:off x="1143000" y="932760"/>
            <a:ext cx="253440" cy="253440"/>
          </a:xfrm>
          <a:prstGeom prst="ellipse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3"/>
          <p:cNvSpPr/>
          <p:nvPr/>
        </p:nvSpPr>
        <p:spPr>
          <a:xfrm>
            <a:off x="91440" y="86868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2010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48"/>
          <p:cNvSpPr/>
          <p:nvPr/>
        </p:nvSpPr>
        <p:spPr>
          <a:xfrm>
            <a:off x="1554480" y="868680"/>
            <a:ext cx="7221240" cy="38160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44"/>
          <p:cNvSpPr/>
          <p:nvPr/>
        </p:nvSpPr>
        <p:spPr>
          <a:xfrm>
            <a:off x="1645920" y="86868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Création d'Elasticsearch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49"/>
          <p:cNvSpPr/>
          <p:nvPr/>
        </p:nvSpPr>
        <p:spPr>
          <a:xfrm>
            <a:off x="1143000" y="1472040"/>
            <a:ext cx="253440" cy="253440"/>
          </a:xfrm>
          <a:prstGeom prst="ellipse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46"/>
          <p:cNvSpPr/>
          <p:nvPr/>
        </p:nvSpPr>
        <p:spPr>
          <a:xfrm>
            <a:off x="91440" y="140832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2015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50"/>
          <p:cNvSpPr/>
          <p:nvPr/>
        </p:nvSpPr>
        <p:spPr>
          <a:xfrm>
            <a:off x="1554480" y="1408320"/>
            <a:ext cx="7221240" cy="38160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47"/>
          <p:cNvSpPr/>
          <p:nvPr/>
        </p:nvSpPr>
        <p:spPr>
          <a:xfrm>
            <a:off x="1645920" y="140832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Elastic Stack (ELK → Elastic Stack)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1"/>
          <p:cNvSpPr/>
          <p:nvPr/>
        </p:nvSpPr>
        <p:spPr>
          <a:xfrm>
            <a:off x="1143000" y="2011680"/>
            <a:ext cx="253440" cy="25344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8"/>
          <p:cNvSpPr/>
          <p:nvPr/>
        </p:nvSpPr>
        <p:spPr>
          <a:xfrm>
            <a:off x="91440" y="194760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Jan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52"/>
          <p:cNvSpPr/>
          <p:nvPr/>
        </p:nvSpPr>
        <p:spPr>
          <a:xfrm>
            <a:off x="1554480" y="1947600"/>
            <a:ext cx="7221240" cy="38160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49"/>
          <p:cNvSpPr/>
          <p:nvPr/>
        </p:nvSpPr>
        <p:spPr>
          <a:xfrm>
            <a:off x="1645920" y="194760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Elastic change la licence vers SSPL/Elastic License 2.0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53"/>
          <p:cNvSpPr/>
          <p:nvPr/>
        </p:nvSpPr>
        <p:spPr>
          <a:xfrm>
            <a:off x="1143000" y="2551320"/>
            <a:ext cx="253440" cy="253440"/>
          </a:xfrm>
          <a:prstGeom prst="ellipse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50"/>
          <p:cNvSpPr/>
          <p:nvPr/>
        </p:nvSpPr>
        <p:spPr>
          <a:xfrm>
            <a:off x="91440" y="248724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Avr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54"/>
          <p:cNvSpPr/>
          <p:nvPr/>
        </p:nvSpPr>
        <p:spPr>
          <a:xfrm>
            <a:off x="1554480" y="2487240"/>
            <a:ext cx="7221240" cy="381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51"/>
          <p:cNvSpPr/>
          <p:nvPr/>
        </p:nvSpPr>
        <p:spPr>
          <a:xfrm>
            <a:off x="1645920" y="248724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AWS fork ES 7.10 → OpenSearch 1.0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55"/>
          <p:cNvSpPr/>
          <p:nvPr/>
        </p:nvSpPr>
        <p:spPr>
          <a:xfrm>
            <a:off x="1143000" y="3090600"/>
            <a:ext cx="253440" cy="253440"/>
          </a:xfrm>
          <a:prstGeom prst="ellipse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52"/>
          <p:cNvSpPr/>
          <p:nvPr/>
        </p:nvSpPr>
        <p:spPr>
          <a:xfrm>
            <a:off x="91440" y="302652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Sep 2021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56"/>
          <p:cNvSpPr/>
          <p:nvPr/>
        </p:nvSpPr>
        <p:spPr>
          <a:xfrm>
            <a:off x="1554480" y="3026520"/>
            <a:ext cx="7221240" cy="381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53"/>
          <p:cNvSpPr/>
          <p:nvPr/>
        </p:nvSpPr>
        <p:spPr>
          <a:xfrm>
            <a:off x="1645920" y="302652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1.0 GA — Projet open source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57"/>
          <p:cNvSpPr/>
          <p:nvPr/>
        </p:nvSpPr>
        <p:spPr>
          <a:xfrm>
            <a:off x="1143000" y="3630240"/>
            <a:ext cx="253440" cy="25344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54"/>
          <p:cNvSpPr/>
          <p:nvPr/>
        </p:nvSpPr>
        <p:spPr>
          <a:xfrm>
            <a:off x="91440" y="356616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2023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58"/>
          <p:cNvSpPr/>
          <p:nvPr/>
        </p:nvSpPr>
        <p:spPr>
          <a:xfrm>
            <a:off x="1554480" y="3566160"/>
            <a:ext cx="7221240" cy="381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5"/>
          <p:cNvSpPr/>
          <p:nvPr/>
        </p:nvSpPr>
        <p:spPr>
          <a:xfrm>
            <a:off x="1645920" y="356616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Foundation (Linux Foundation)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59"/>
          <p:cNvSpPr/>
          <p:nvPr/>
        </p:nvSpPr>
        <p:spPr>
          <a:xfrm>
            <a:off x="1143000" y="4169520"/>
            <a:ext cx="253440" cy="25344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56"/>
          <p:cNvSpPr/>
          <p:nvPr/>
        </p:nvSpPr>
        <p:spPr>
          <a:xfrm>
            <a:off x="91440" y="4105800"/>
            <a:ext cx="10033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2024-25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60"/>
          <p:cNvSpPr/>
          <p:nvPr/>
        </p:nvSpPr>
        <p:spPr>
          <a:xfrm>
            <a:off x="1554480" y="4105800"/>
            <a:ext cx="7221240" cy="381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57"/>
          <p:cNvSpPr/>
          <p:nvPr/>
        </p:nvSpPr>
        <p:spPr>
          <a:xfrm>
            <a:off x="1645920" y="4105800"/>
            <a:ext cx="70383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2.x — roadmap indépendante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61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62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58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Pourquoi le fork ? — La rupture de licence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63"/>
          <p:cNvSpPr/>
          <p:nvPr/>
        </p:nvSpPr>
        <p:spPr>
          <a:xfrm>
            <a:off x="320040" y="749880"/>
            <a:ext cx="4203720" cy="4730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59"/>
          <p:cNvSpPr/>
          <p:nvPr/>
        </p:nvSpPr>
        <p:spPr>
          <a:xfrm>
            <a:off x="411480" y="749880"/>
            <a:ext cx="40208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Elastic — Elastic License 2.0 / SSPL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64"/>
          <p:cNvSpPr/>
          <p:nvPr/>
        </p:nvSpPr>
        <p:spPr>
          <a:xfrm>
            <a:off x="320040" y="132588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65"/>
          <p:cNvSpPr/>
          <p:nvPr/>
        </p:nvSpPr>
        <p:spPr>
          <a:xfrm>
            <a:off x="320040" y="1325880"/>
            <a:ext cx="61560" cy="7657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60"/>
          <p:cNvSpPr/>
          <p:nvPr/>
        </p:nvSpPr>
        <p:spPr>
          <a:xfrm>
            <a:off x="502920" y="132588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Restrictions sur l'utilisation dans les services cloud (AWS, GCP…)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66"/>
          <p:cNvSpPr/>
          <p:nvPr/>
        </p:nvSpPr>
        <p:spPr>
          <a:xfrm>
            <a:off x="320040" y="221292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67"/>
          <p:cNvSpPr/>
          <p:nvPr/>
        </p:nvSpPr>
        <p:spPr>
          <a:xfrm>
            <a:off x="320040" y="2212920"/>
            <a:ext cx="61560" cy="7657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61"/>
          <p:cNvSpPr/>
          <p:nvPr/>
        </p:nvSpPr>
        <p:spPr>
          <a:xfrm>
            <a:off x="502920" y="221292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Interdit de proposer ES/Kibana en tant que service managé sans accord commercial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68"/>
          <p:cNvSpPr/>
          <p:nvPr/>
        </p:nvSpPr>
        <p:spPr>
          <a:xfrm>
            <a:off x="320040" y="309996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9"/>
          <p:cNvSpPr/>
          <p:nvPr/>
        </p:nvSpPr>
        <p:spPr>
          <a:xfrm>
            <a:off x="320040" y="3099960"/>
            <a:ext cx="61560" cy="7657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62"/>
          <p:cNvSpPr/>
          <p:nvPr/>
        </p:nvSpPr>
        <p:spPr>
          <a:xfrm>
            <a:off x="502920" y="309996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Source disponible mais pas OSI Open Source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70"/>
          <p:cNvSpPr/>
          <p:nvPr/>
        </p:nvSpPr>
        <p:spPr>
          <a:xfrm>
            <a:off x="320040" y="398664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71"/>
          <p:cNvSpPr/>
          <p:nvPr/>
        </p:nvSpPr>
        <p:spPr>
          <a:xfrm>
            <a:off x="320040" y="3986640"/>
            <a:ext cx="61560" cy="7657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63"/>
          <p:cNvSpPr/>
          <p:nvPr/>
        </p:nvSpPr>
        <p:spPr>
          <a:xfrm>
            <a:off x="502920" y="398664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Fonctionnalités sécurité/monitoring devenues payantes (X-Pack)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72"/>
          <p:cNvSpPr/>
          <p:nvPr/>
        </p:nvSpPr>
        <p:spPr>
          <a:xfrm>
            <a:off x="4754880" y="749880"/>
            <a:ext cx="4203720" cy="47304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64"/>
          <p:cNvSpPr/>
          <p:nvPr/>
        </p:nvSpPr>
        <p:spPr>
          <a:xfrm>
            <a:off x="4846320" y="749880"/>
            <a:ext cx="402084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OpenSearch — Apache License 2.0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73"/>
          <p:cNvSpPr/>
          <p:nvPr/>
        </p:nvSpPr>
        <p:spPr>
          <a:xfrm>
            <a:off x="4754880" y="132588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74"/>
          <p:cNvSpPr/>
          <p:nvPr/>
        </p:nvSpPr>
        <p:spPr>
          <a:xfrm>
            <a:off x="4754880" y="1325880"/>
            <a:ext cx="61560" cy="7657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65"/>
          <p:cNvSpPr/>
          <p:nvPr/>
        </p:nvSpPr>
        <p:spPr>
          <a:xfrm>
            <a:off x="4937760" y="132588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Licence Apache 2.0 garantie pour toujours (engagement fondation)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75"/>
          <p:cNvSpPr/>
          <p:nvPr/>
        </p:nvSpPr>
        <p:spPr>
          <a:xfrm>
            <a:off x="4754880" y="221292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76"/>
          <p:cNvSpPr/>
          <p:nvPr/>
        </p:nvSpPr>
        <p:spPr>
          <a:xfrm>
            <a:off x="4754880" y="2212920"/>
            <a:ext cx="61560" cy="7657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66"/>
          <p:cNvSpPr/>
          <p:nvPr/>
        </p:nvSpPr>
        <p:spPr>
          <a:xfrm>
            <a:off x="4937760" y="221292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Sécurité, monitoring, alertes, ML : 100% gratuits et intégrés nativement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77"/>
          <p:cNvSpPr/>
          <p:nvPr/>
        </p:nvSpPr>
        <p:spPr>
          <a:xfrm>
            <a:off x="4754880" y="309996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78"/>
          <p:cNvSpPr/>
          <p:nvPr/>
        </p:nvSpPr>
        <p:spPr>
          <a:xfrm>
            <a:off x="4754880" y="3099960"/>
            <a:ext cx="61560" cy="7657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67"/>
          <p:cNvSpPr/>
          <p:nvPr/>
        </p:nvSpPr>
        <p:spPr>
          <a:xfrm>
            <a:off x="4937760" y="309996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Contributions ouvertes — gouvernance via OpenSearch Foundation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79"/>
          <p:cNvSpPr/>
          <p:nvPr/>
        </p:nvSpPr>
        <p:spPr>
          <a:xfrm>
            <a:off x="4754880" y="3986640"/>
            <a:ext cx="4203720" cy="765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80"/>
          <p:cNvSpPr/>
          <p:nvPr/>
        </p:nvSpPr>
        <p:spPr>
          <a:xfrm>
            <a:off x="4754880" y="3986640"/>
            <a:ext cx="61560" cy="7657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68"/>
          <p:cNvSpPr/>
          <p:nvPr/>
        </p:nvSpPr>
        <p:spPr>
          <a:xfrm>
            <a:off x="4937760" y="3986640"/>
            <a:ext cx="388368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Compatible cloud et on-premise sans restriction d'usage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Gouvernance et Écosystème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274320" y="804600"/>
            <a:ext cx="4158000" cy="17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274320" y="804600"/>
            <a:ext cx="4158000" cy="3632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384120" y="804600"/>
            <a:ext cx="40208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Indépendance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6"/>
          <p:cNvSpPr/>
          <p:nvPr/>
        </p:nvSpPr>
        <p:spPr>
          <a:xfrm>
            <a:off x="274320" y="1170360"/>
            <a:ext cx="61560" cy="13690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457200" y="1243440"/>
            <a:ext cx="390204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Depuis 2024, le projet est hébergé par la OpenSearch Software Foundation au sein de la Linux Foundation.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754880" y="804600"/>
            <a:ext cx="4158000" cy="17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4754880" y="804600"/>
            <a:ext cx="4158000" cy="363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4864680" y="804600"/>
            <a:ext cx="40208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Neutralité &amp; Contributeurs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4754880" y="1170360"/>
            <a:ext cx="61560" cy="13690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2"/>
          <p:cNvSpPr/>
          <p:nvPr/>
        </p:nvSpPr>
        <p:spPr>
          <a:xfrm>
            <a:off x="4937760" y="1243440"/>
            <a:ext cx="390204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Plus de 400 organisations contributrices : SAP, Uber, Capital One… </a:t>
            </a:r>
            <a:br>
              <a:rPr sz="1200"/>
            </a:b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Pas de dépendance exclusive à un seul fournisseur (Vendor Lock-in).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274320" y="2724840"/>
            <a:ext cx="4158000" cy="17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14"/>
          <p:cNvSpPr/>
          <p:nvPr/>
        </p:nvSpPr>
        <p:spPr>
          <a:xfrm>
            <a:off x="274320" y="2724840"/>
            <a:ext cx="4158000" cy="363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384120" y="2724840"/>
            <a:ext cx="40208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Chiffres clés (2026)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6"/>
          <p:cNvSpPr/>
          <p:nvPr/>
        </p:nvSpPr>
        <p:spPr>
          <a:xfrm>
            <a:off x="274320" y="3090600"/>
            <a:ext cx="61560" cy="1369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457200" y="3163680"/>
            <a:ext cx="390204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Plus d'1 milliard de téléchargements cumulés. Licence Apache 2.0 immuable. Communauté active et croissante.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8"/>
          <p:cNvSpPr/>
          <p:nvPr/>
        </p:nvSpPr>
        <p:spPr>
          <a:xfrm>
            <a:off x="4754880" y="2724840"/>
            <a:ext cx="4158000" cy="17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4754880" y="2724840"/>
            <a:ext cx="4158000" cy="363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4864680" y="2724840"/>
            <a:ext cx="40208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Écosystème de Plugins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1"/>
          <p:cNvSpPr/>
          <p:nvPr/>
        </p:nvSpPr>
        <p:spPr>
          <a:xfrm>
            <a:off x="4754880" y="3090600"/>
            <a:ext cx="61560" cy="1369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4937760" y="3163680"/>
            <a:ext cx="390204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Sécurité native, alertes, gestion de l'indexation (ISM), anomaly detection, observabilité, k-NN vectoriel.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Positionnement Technologique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320040" y="777240"/>
            <a:ext cx="85014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576b"/>
                </a:solidFill>
                <a:latin typeface="Calibri"/>
                <a:ea typeface="Calibri"/>
              </a:rPr>
              <a:t>OpenSearch : au-delà de la simple recherche full-text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274320" y="1298520"/>
            <a:ext cx="4158000" cy="155196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274320" y="1298520"/>
            <a:ext cx="61560" cy="155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274320" y="1298520"/>
            <a:ext cx="415800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384120" y="129852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1710000"/>
            <a:ext cx="390204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Analyse de logs, traces (OpenTelemetry native) et métriques en temps réel.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4754880" y="1298520"/>
            <a:ext cx="4158000" cy="155196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4754880" y="1298520"/>
            <a:ext cx="61560" cy="1551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4754880" y="1298520"/>
            <a:ext cx="4158000" cy="344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864680" y="129852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IA Générative &amp; Vecteurs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4937760" y="1710000"/>
            <a:ext cx="390204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Moteur de recherche vectorielle k-NN pour RAG (Retrieval-Augmented Generation) et LLM.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274320" y="2990160"/>
            <a:ext cx="4158000" cy="155196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274320" y="2990160"/>
            <a:ext cx="61560" cy="1551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274320" y="2990160"/>
            <a:ext cx="415800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384120" y="299016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Sécurité &amp; SIEM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457200" y="3401640"/>
            <a:ext cx="390204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Détection d'anomalies par Machine Learning et SIEM open-source intégré.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4754880" y="2990160"/>
            <a:ext cx="4158000" cy="155196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4754880" y="2990160"/>
            <a:ext cx="61560" cy="1551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21"/>
          <p:cNvSpPr/>
          <p:nvPr/>
        </p:nvSpPr>
        <p:spPr>
          <a:xfrm>
            <a:off x="4754880" y="2990160"/>
            <a:ext cx="4158000" cy="344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4864680" y="299016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Performance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4937760" y="3401640"/>
            <a:ext cx="390204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Optimisation continue des agrégations et </a:t>
            </a:r>
            <a:br>
              <a:rPr sz="1200"/>
            </a:b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stockage découplé (Searchable Snapshots) réduisant le volume des données chaudes.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Similarités avec Elasticsearch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274320" y="804600"/>
            <a:ext cx="8592840" cy="7290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4"/>
          <p:cNvSpPr/>
          <p:nvPr/>
        </p:nvSpPr>
        <p:spPr>
          <a:xfrm>
            <a:off x="274320" y="804600"/>
            <a:ext cx="61560" cy="729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457200" y="85032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76b"/>
                </a:solidFill>
                <a:latin typeface="Calibri"/>
                <a:ea typeface="Calibri"/>
              </a:rPr>
              <a:t>Apache Lucene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3108960" y="868680"/>
            <a:ext cx="56210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Les deux moteurs reposent sur Apache Lucene comme bibliothèque de recherche sous-jacente. Même index inversé, même scoring BM25.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3063240" y="896040"/>
            <a:ext cx="360" cy="53028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274320" y="1645920"/>
            <a:ext cx="8592840" cy="7290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274320" y="1645920"/>
            <a:ext cx="61560" cy="729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457200" y="169164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76b"/>
                </a:solidFill>
                <a:latin typeface="Calibri"/>
                <a:ea typeface="Calibri"/>
              </a:rPr>
              <a:t>Concepts fondamentaux identiques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3108960" y="1710000"/>
            <a:ext cx="56210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Index, document, shard, replica — les concepts de base sont rigoureusement identiques entre les deux plateformes.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2"/>
          <p:cNvSpPr/>
          <p:nvPr/>
        </p:nvSpPr>
        <p:spPr>
          <a:xfrm>
            <a:off x="3063240" y="1737360"/>
            <a:ext cx="360" cy="53028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3"/>
          <p:cNvSpPr/>
          <p:nvPr/>
        </p:nvSpPr>
        <p:spPr>
          <a:xfrm>
            <a:off x="274320" y="2487240"/>
            <a:ext cx="8592840" cy="7290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14"/>
          <p:cNvSpPr/>
          <p:nvPr/>
        </p:nvSpPr>
        <p:spPr>
          <a:xfrm>
            <a:off x="274320" y="2487240"/>
            <a:ext cx="61560" cy="729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457200" y="253296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76b"/>
                </a:solidFill>
                <a:latin typeface="Calibri"/>
                <a:ea typeface="Calibri"/>
              </a:rPr>
              <a:t>Query DSL hérité (v7.10)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3108960" y="2551320"/>
            <a:ext cx="56210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 Query DSL est quasi-identique, héritage direct de la version 7.10.2. Les requêtes, filtres et agrégations de base fonctionnent sans modification.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7"/>
          <p:cNvSpPr/>
          <p:nvPr/>
        </p:nvSpPr>
        <p:spPr>
          <a:xfrm>
            <a:off x="3063240" y="2578320"/>
            <a:ext cx="360" cy="53064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8"/>
          <p:cNvSpPr/>
          <p:nvPr/>
        </p:nvSpPr>
        <p:spPr>
          <a:xfrm>
            <a:off x="274320" y="3328560"/>
            <a:ext cx="8592840" cy="7290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9"/>
          <p:cNvSpPr/>
          <p:nvPr/>
        </p:nvSpPr>
        <p:spPr>
          <a:xfrm>
            <a:off x="274320" y="3328560"/>
            <a:ext cx="61560" cy="729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0"/>
          <p:cNvSpPr/>
          <p:nvPr/>
        </p:nvSpPr>
        <p:spPr>
          <a:xfrm>
            <a:off x="457200" y="337428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76b"/>
                </a:solidFill>
                <a:latin typeface="Calibri"/>
                <a:ea typeface="Calibri"/>
              </a:rPr>
              <a:t>API REST compatible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1"/>
          <p:cNvSpPr/>
          <p:nvPr/>
        </p:nvSpPr>
        <p:spPr>
          <a:xfrm>
            <a:off x="3108960" y="3392280"/>
            <a:ext cx="56210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CRUD (Index/Get/Delete), Search API, Bulk API, Cat API — les endpoints REST principaux sont pleinement compatibles.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2"/>
          <p:cNvSpPr/>
          <p:nvPr/>
        </p:nvSpPr>
        <p:spPr>
          <a:xfrm>
            <a:off x="3063240" y="3419640"/>
            <a:ext cx="360" cy="53028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3"/>
          <p:cNvSpPr/>
          <p:nvPr/>
        </p:nvSpPr>
        <p:spPr>
          <a:xfrm>
            <a:off x="274320" y="4169520"/>
            <a:ext cx="8592840" cy="7290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24"/>
          <p:cNvSpPr/>
          <p:nvPr/>
        </p:nvSpPr>
        <p:spPr>
          <a:xfrm>
            <a:off x="274320" y="4169520"/>
            <a:ext cx="61560" cy="7290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25"/>
          <p:cNvSpPr/>
          <p:nvPr/>
        </p:nvSpPr>
        <p:spPr>
          <a:xfrm>
            <a:off x="457200" y="421524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76b"/>
                </a:solidFill>
                <a:latin typeface="Calibri"/>
                <a:ea typeface="Calibri"/>
              </a:rPr>
              <a:t>Ingest pipelines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6"/>
          <p:cNvSpPr/>
          <p:nvPr/>
        </p:nvSpPr>
        <p:spPr>
          <a:xfrm>
            <a:off x="3108960" y="4233600"/>
            <a:ext cx="56210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Les pipelines d'ingestion avec processors (grok, date, rename…) fonctionnent de manière identique dans les deux solutions.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7"/>
          <p:cNvSpPr/>
          <p:nvPr/>
        </p:nvSpPr>
        <p:spPr>
          <a:xfrm>
            <a:off x="3063240" y="4260960"/>
            <a:ext cx="360" cy="53028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81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82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69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— Licences &amp; Gouvernance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83"/>
          <p:cNvSpPr/>
          <p:nvPr/>
        </p:nvSpPr>
        <p:spPr>
          <a:xfrm>
            <a:off x="274320" y="777240"/>
            <a:ext cx="2503080" cy="3999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70"/>
          <p:cNvSpPr/>
          <p:nvPr/>
        </p:nvSpPr>
        <p:spPr>
          <a:xfrm>
            <a:off x="365760" y="77724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Critère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84"/>
          <p:cNvSpPr/>
          <p:nvPr/>
        </p:nvSpPr>
        <p:spPr>
          <a:xfrm>
            <a:off x="2971800" y="777240"/>
            <a:ext cx="2868840" cy="3999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71"/>
          <p:cNvSpPr/>
          <p:nvPr/>
        </p:nvSpPr>
        <p:spPr>
          <a:xfrm>
            <a:off x="3063240" y="77724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Elasticsearch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85"/>
          <p:cNvSpPr/>
          <p:nvPr/>
        </p:nvSpPr>
        <p:spPr>
          <a:xfrm>
            <a:off x="5989320" y="777240"/>
            <a:ext cx="2868840" cy="3999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72"/>
          <p:cNvSpPr/>
          <p:nvPr/>
        </p:nvSpPr>
        <p:spPr>
          <a:xfrm>
            <a:off x="6080760" y="77724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86"/>
          <p:cNvSpPr/>
          <p:nvPr/>
        </p:nvSpPr>
        <p:spPr>
          <a:xfrm>
            <a:off x="274320" y="1216080"/>
            <a:ext cx="250308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73"/>
          <p:cNvSpPr/>
          <p:nvPr/>
        </p:nvSpPr>
        <p:spPr>
          <a:xfrm>
            <a:off x="365760" y="121608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Licence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87"/>
          <p:cNvSpPr/>
          <p:nvPr/>
        </p:nvSpPr>
        <p:spPr>
          <a:xfrm>
            <a:off x="2971800" y="121608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74"/>
          <p:cNvSpPr/>
          <p:nvPr/>
        </p:nvSpPr>
        <p:spPr>
          <a:xfrm>
            <a:off x="3063240" y="121608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Elastic License 2.0 / SSPL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88"/>
          <p:cNvSpPr/>
          <p:nvPr/>
        </p:nvSpPr>
        <p:spPr>
          <a:xfrm>
            <a:off x="5989320" y="121608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75"/>
          <p:cNvSpPr/>
          <p:nvPr/>
        </p:nvSpPr>
        <p:spPr>
          <a:xfrm>
            <a:off x="6080760" y="121608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Apache License 2.0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89"/>
          <p:cNvSpPr/>
          <p:nvPr/>
        </p:nvSpPr>
        <p:spPr>
          <a:xfrm>
            <a:off x="274320" y="1654920"/>
            <a:ext cx="250308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76"/>
          <p:cNvSpPr/>
          <p:nvPr/>
        </p:nvSpPr>
        <p:spPr>
          <a:xfrm>
            <a:off x="365760" y="165492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Propriétaire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90"/>
          <p:cNvSpPr/>
          <p:nvPr/>
        </p:nvSpPr>
        <p:spPr>
          <a:xfrm>
            <a:off x="2971800" y="1654920"/>
            <a:ext cx="286884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77"/>
          <p:cNvSpPr/>
          <p:nvPr/>
        </p:nvSpPr>
        <p:spPr>
          <a:xfrm>
            <a:off x="3063240" y="165492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Elastic N.V. (société commerciale)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91"/>
          <p:cNvSpPr/>
          <p:nvPr/>
        </p:nvSpPr>
        <p:spPr>
          <a:xfrm>
            <a:off x="5989320" y="1654920"/>
            <a:ext cx="286884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78"/>
          <p:cNvSpPr/>
          <p:nvPr/>
        </p:nvSpPr>
        <p:spPr>
          <a:xfrm>
            <a:off x="6080760" y="165492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OpenSearch Foundation (Linux Foundation)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92"/>
          <p:cNvSpPr/>
          <p:nvPr/>
        </p:nvSpPr>
        <p:spPr>
          <a:xfrm>
            <a:off x="274320" y="2094120"/>
            <a:ext cx="250308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79"/>
          <p:cNvSpPr/>
          <p:nvPr/>
        </p:nvSpPr>
        <p:spPr>
          <a:xfrm>
            <a:off x="365760" y="209412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Open Source OSI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93"/>
          <p:cNvSpPr/>
          <p:nvPr/>
        </p:nvSpPr>
        <p:spPr>
          <a:xfrm>
            <a:off x="2971800" y="209412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80"/>
          <p:cNvSpPr/>
          <p:nvPr/>
        </p:nvSpPr>
        <p:spPr>
          <a:xfrm>
            <a:off x="3063240" y="209412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Non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94"/>
          <p:cNvSpPr/>
          <p:nvPr/>
        </p:nvSpPr>
        <p:spPr>
          <a:xfrm>
            <a:off x="5989320" y="209412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81"/>
          <p:cNvSpPr/>
          <p:nvPr/>
        </p:nvSpPr>
        <p:spPr>
          <a:xfrm>
            <a:off x="6080760" y="209412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5e20"/>
                </a:solidFill>
                <a:latin typeface="Calibri"/>
                <a:ea typeface="Calibri"/>
              </a:rPr>
              <a:t>Oui ✔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95"/>
          <p:cNvSpPr/>
          <p:nvPr/>
        </p:nvSpPr>
        <p:spPr>
          <a:xfrm>
            <a:off x="274320" y="2532960"/>
            <a:ext cx="250308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82"/>
          <p:cNvSpPr/>
          <p:nvPr/>
        </p:nvSpPr>
        <p:spPr>
          <a:xfrm>
            <a:off x="365760" y="253296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Offre Cloud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96"/>
          <p:cNvSpPr/>
          <p:nvPr/>
        </p:nvSpPr>
        <p:spPr>
          <a:xfrm>
            <a:off x="2971800" y="2532960"/>
            <a:ext cx="286884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83"/>
          <p:cNvSpPr/>
          <p:nvPr/>
        </p:nvSpPr>
        <p:spPr>
          <a:xfrm>
            <a:off x="3063240" y="253296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Elastic Cloud (payant)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97"/>
          <p:cNvSpPr/>
          <p:nvPr/>
        </p:nvSpPr>
        <p:spPr>
          <a:xfrm>
            <a:off x="5989320" y="2532960"/>
            <a:ext cx="286884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84"/>
          <p:cNvSpPr/>
          <p:nvPr/>
        </p:nvSpPr>
        <p:spPr>
          <a:xfrm>
            <a:off x="6080760" y="253296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Amazon OpenSearch Service, self-managed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98"/>
          <p:cNvSpPr/>
          <p:nvPr/>
        </p:nvSpPr>
        <p:spPr>
          <a:xfrm>
            <a:off x="274320" y="2971800"/>
            <a:ext cx="250308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85"/>
          <p:cNvSpPr/>
          <p:nvPr/>
        </p:nvSpPr>
        <p:spPr>
          <a:xfrm>
            <a:off x="365760" y="297180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Sécurité gratuite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99"/>
          <p:cNvSpPr/>
          <p:nvPr/>
        </p:nvSpPr>
        <p:spPr>
          <a:xfrm>
            <a:off x="2971800" y="297180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86"/>
          <p:cNvSpPr/>
          <p:nvPr/>
        </p:nvSpPr>
        <p:spPr>
          <a:xfrm>
            <a:off x="3063240" y="297180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Non (avant 8.x)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00"/>
          <p:cNvSpPr/>
          <p:nvPr/>
        </p:nvSpPr>
        <p:spPr>
          <a:xfrm>
            <a:off x="5989320" y="297180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87"/>
          <p:cNvSpPr/>
          <p:nvPr/>
        </p:nvSpPr>
        <p:spPr>
          <a:xfrm>
            <a:off x="6080760" y="297180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Oui — intégrée nativement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01"/>
          <p:cNvSpPr/>
          <p:nvPr/>
        </p:nvSpPr>
        <p:spPr>
          <a:xfrm>
            <a:off x="274320" y="3410640"/>
            <a:ext cx="250308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88"/>
          <p:cNvSpPr/>
          <p:nvPr/>
        </p:nvSpPr>
        <p:spPr>
          <a:xfrm>
            <a:off x="365760" y="341064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Monitoring gratuit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02"/>
          <p:cNvSpPr/>
          <p:nvPr/>
        </p:nvSpPr>
        <p:spPr>
          <a:xfrm>
            <a:off x="2971800" y="3410640"/>
            <a:ext cx="286884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89"/>
          <p:cNvSpPr/>
          <p:nvPr/>
        </p:nvSpPr>
        <p:spPr>
          <a:xfrm>
            <a:off x="3063240" y="341064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Non (payant X-Pack)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03"/>
          <p:cNvSpPr/>
          <p:nvPr/>
        </p:nvSpPr>
        <p:spPr>
          <a:xfrm>
            <a:off x="5989320" y="3410640"/>
            <a:ext cx="2868840" cy="3999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90"/>
          <p:cNvSpPr/>
          <p:nvPr/>
        </p:nvSpPr>
        <p:spPr>
          <a:xfrm>
            <a:off x="6080760" y="341064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Oui — Performance Analyzer inclus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104"/>
          <p:cNvSpPr/>
          <p:nvPr/>
        </p:nvSpPr>
        <p:spPr>
          <a:xfrm>
            <a:off x="274320" y="3849480"/>
            <a:ext cx="250308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91"/>
          <p:cNvSpPr/>
          <p:nvPr/>
        </p:nvSpPr>
        <p:spPr>
          <a:xfrm>
            <a:off x="365760" y="3849480"/>
            <a:ext cx="237492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Machine Learning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105"/>
          <p:cNvSpPr/>
          <p:nvPr/>
        </p:nvSpPr>
        <p:spPr>
          <a:xfrm>
            <a:off x="2971800" y="384948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92"/>
          <p:cNvSpPr/>
          <p:nvPr/>
        </p:nvSpPr>
        <p:spPr>
          <a:xfrm>
            <a:off x="3063240" y="384948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Payant (Platinum)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06"/>
          <p:cNvSpPr/>
          <p:nvPr/>
        </p:nvSpPr>
        <p:spPr>
          <a:xfrm>
            <a:off x="5989320" y="3849480"/>
            <a:ext cx="2868840" cy="3999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93"/>
          <p:cNvSpPr/>
          <p:nvPr/>
        </p:nvSpPr>
        <p:spPr>
          <a:xfrm>
            <a:off x="6080760" y="3849480"/>
            <a:ext cx="27406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Oui — ML intégré gratuit (depuis 2.x)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2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107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94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Comparaison — APIs &amp; Compatibilité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08"/>
          <p:cNvSpPr/>
          <p:nvPr/>
        </p:nvSpPr>
        <p:spPr>
          <a:xfrm>
            <a:off x="274320" y="749880"/>
            <a:ext cx="2503080" cy="3722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95"/>
          <p:cNvSpPr/>
          <p:nvPr/>
        </p:nvSpPr>
        <p:spPr>
          <a:xfrm>
            <a:off x="365760" y="74988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API / Fonctionnalité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109"/>
          <p:cNvSpPr/>
          <p:nvPr/>
        </p:nvSpPr>
        <p:spPr>
          <a:xfrm>
            <a:off x="2971800" y="749880"/>
            <a:ext cx="2868840" cy="3722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96"/>
          <p:cNvSpPr/>
          <p:nvPr/>
        </p:nvSpPr>
        <p:spPr>
          <a:xfrm>
            <a:off x="3063240" y="7498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Elasticsearch 8.x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10"/>
          <p:cNvSpPr/>
          <p:nvPr/>
        </p:nvSpPr>
        <p:spPr>
          <a:xfrm>
            <a:off x="5989320" y="749880"/>
            <a:ext cx="2868840" cy="3722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97"/>
          <p:cNvSpPr/>
          <p:nvPr/>
        </p:nvSpPr>
        <p:spPr>
          <a:xfrm>
            <a:off x="6080760" y="7498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OpenSearch 2.x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11"/>
          <p:cNvSpPr/>
          <p:nvPr/>
        </p:nvSpPr>
        <p:spPr>
          <a:xfrm>
            <a:off x="274320" y="1152000"/>
            <a:ext cx="250308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98"/>
          <p:cNvSpPr/>
          <p:nvPr/>
        </p:nvSpPr>
        <p:spPr>
          <a:xfrm>
            <a:off x="365760" y="115200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Query DSL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12"/>
          <p:cNvSpPr/>
          <p:nvPr/>
        </p:nvSpPr>
        <p:spPr>
          <a:xfrm>
            <a:off x="2971800" y="115200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99"/>
          <p:cNvSpPr/>
          <p:nvPr/>
        </p:nvSpPr>
        <p:spPr>
          <a:xfrm>
            <a:off x="3063240" y="115200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Identique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13"/>
          <p:cNvSpPr/>
          <p:nvPr/>
        </p:nvSpPr>
        <p:spPr>
          <a:xfrm>
            <a:off x="5989320" y="115200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00"/>
          <p:cNvSpPr/>
          <p:nvPr/>
        </p:nvSpPr>
        <p:spPr>
          <a:xfrm>
            <a:off x="6080760" y="115200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Identique ✔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14"/>
          <p:cNvSpPr/>
          <p:nvPr/>
        </p:nvSpPr>
        <p:spPr>
          <a:xfrm>
            <a:off x="274320" y="1554480"/>
            <a:ext cx="250308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01"/>
          <p:cNvSpPr/>
          <p:nvPr/>
        </p:nvSpPr>
        <p:spPr>
          <a:xfrm>
            <a:off x="365760" y="155448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REST API CRUD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115"/>
          <p:cNvSpPr/>
          <p:nvPr/>
        </p:nvSpPr>
        <p:spPr>
          <a:xfrm>
            <a:off x="2971800" y="155448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02"/>
          <p:cNvSpPr/>
          <p:nvPr/>
        </p:nvSpPr>
        <p:spPr>
          <a:xfrm>
            <a:off x="3063240" y="15544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Identique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116"/>
          <p:cNvSpPr/>
          <p:nvPr/>
        </p:nvSpPr>
        <p:spPr>
          <a:xfrm>
            <a:off x="5989320" y="155448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03"/>
          <p:cNvSpPr/>
          <p:nvPr/>
        </p:nvSpPr>
        <p:spPr>
          <a:xfrm>
            <a:off x="6080760" y="15544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Identique ✔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17"/>
          <p:cNvSpPr/>
          <p:nvPr/>
        </p:nvSpPr>
        <p:spPr>
          <a:xfrm>
            <a:off x="274320" y="1956960"/>
            <a:ext cx="250308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04"/>
          <p:cNvSpPr/>
          <p:nvPr/>
        </p:nvSpPr>
        <p:spPr>
          <a:xfrm>
            <a:off x="365760" y="195696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Index API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18"/>
          <p:cNvSpPr/>
          <p:nvPr/>
        </p:nvSpPr>
        <p:spPr>
          <a:xfrm>
            <a:off x="2971800" y="19569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05"/>
          <p:cNvSpPr/>
          <p:nvPr/>
        </p:nvSpPr>
        <p:spPr>
          <a:xfrm>
            <a:off x="3063240" y="19569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Identique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19"/>
          <p:cNvSpPr/>
          <p:nvPr/>
        </p:nvSpPr>
        <p:spPr>
          <a:xfrm>
            <a:off x="5989320" y="19569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106"/>
          <p:cNvSpPr/>
          <p:nvPr/>
        </p:nvSpPr>
        <p:spPr>
          <a:xfrm>
            <a:off x="6080760" y="19569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Identique ✔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20"/>
          <p:cNvSpPr/>
          <p:nvPr/>
        </p:nvSpPr>
        <p:spPr>
          <a:xfrm>
            <a:off x="274320" y="2359080"/>
            <a:ext cx="250308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07"/>
          <p:cNvSpPr/>
          <p:nvPr/>
        </p:nvSpPr>
        <p:spPr>
          <a:xfrm>
            <a:off x="365760" y="235908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Agrégations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21"/>
          <p:cNvSpPr/>
          <p:nvPr/>
        </p:nvSpPr>
        <p:spPr>
          <a:xfrm>
            <a:off x="2971800" y="235908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08"/>
          <p:cNvSpPr/>
          <p:nvPr/>
        </p:nvSpPr>
        <p:spPr>
          <a:xfrm>
            <a:off x="3063240" y="23590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Identique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22"/>
          <p:cNvSpPr/>
          <p:nvPr/>
        </p:nvSpPr>
        <p:spPr>
          <a:xfrm>
            <a:off x="5989320" y="235908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09"/>
          <p:cNvSpPr/>
          <p:nvPr/>
        </p:nvSpPr>
        <p:spPr>
          <a:xfrm>
            <a:off x="6080760" y="23590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Identique ✔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23"/>
          <p:cNvSpPr/>
          <p:nvPr/>
        </p:nvSpPr>
        <p:spPr>
          <a:xfrm>
            <a:off x="274320" y="2761560"/>
            <a:ext cx="250308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110"/>
          <p:cNvSpPr/>
          <p:nvPr/>
        </p:nvSpPr>
        <p:spPr>
          <a:xfrm>
            <a:off x="365760" y="276156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Sécurité (TLS, RBAC)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24"/>
          <p:cNvSpPr/>
          <p:nvPr/>
        </p:nvSpPr>
        <p:spPr>
          <a:xfrm>
            <a:off x="2971800" y="27615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111"/>
          <p:cNvSpPr/>
          <p:nvPr/>
        </p:nvSpPr>
        <p:spPr>
          <a:xfrm>
            <a:off x="3063240" y="27615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X-Pack payant / inclus 8.x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25"/>
          <p:cNvSpPr/>
          <p:nvPr/>
        </p:nvSpPr>
        <p:spPr>
          <a:xfrm>
            <a:off x="5989320" y="27615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112"/>
          <p:cNvSpPr/>
          <p:nvPr/>
        </p:nvSpPr>
        <p:spPr>
          <a:xfrm>
            <a:off x="6080760" y="27615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Plugin Security — gratuit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26"/>
          <p:cNvSpPr/>
          <p:nvPr/>
        </p:nvSpPr>
        <p:spPr>
          <a:xfrm>
            <a:off x="274320" y="3163680"/>
            <a:ext cx="250308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 113"/>
          <p:cNvSpPr/>
          <p:nvPr/>
        </p:nvSpPr>
        <p:spPr>
          <a:xfrm>
            <a:off x="365760" y="316368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Index State Mgmt (ISM)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27"/>
          <p:cNvSpPr/>
          <p:nvPr/>
        </p:nvSpPr>
        <p:spPr>
          <a:xfrm>
            <a:off x="2971800" y="316368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114"/>
          <p:cNvSpPr/>
          <p:nvPr/>
        </p:nvSpPr>
        <p:spPr>
          <a:xfrm>
            <a:off x="3063240" y="31636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ILM (Elastic)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128"/>
          <p:cNvSpPr/>
          <p:nvPr/>
        </p:nvSpPr>
        <p:spPr>
          <a:xfrm>
            <a:off x="5989320" y="316368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 115"/>
          <p:cNvSpPr/>
          <p:nvPr/>
        </p:nvSpPr>
        <p:spPr>
          <a:xfrm>
            <a:off x="6080760" y="316368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ISM — équivalent libre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129"/>
          <p:cNvSpPr/>
          <p:nvPr/>
        </p:nvSpPr>
        <p:spPr>
          <a:xfrm>
            <a:off x="274320" y="3566160"/>
            <a:ext cx="250308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16"/>
          <p:cNvSpPr/>
          <p:nvPr/>
        </p:nvSpPr>
        <p:spPr>
          <a:xfrm>
            <a:off x="365760" y="356616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Alerting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30"/>
          <p:cNvSpPr/>
          <p:nvPr/>
        </p:nvSpPr>
        <p:spPr>
          <a:xfrm>
            <a:off x="2971800" y="35661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117"/>
          <p:cNvSpPr/>
          <p:nvPr/>
        </p:nvSpPr>
        <p:spPr>
          <a:xfrm>
            <a:off x="3063240" y="35661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Watcher (payant avant)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131"/>
          <p:cNvSpPr/>
          <p:nvPr/>
        </p:nvSpPr>
        <p:spPr>
          <a:xfrm>
            <a:off x="5989320" y="35661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118"/>
          <p:cNvSpPr/>
          <p:nvPr/>
        </p:nvSpPr>
        <p:spPr>
          <a:xfrm>
            <a:off x="6080760" y="35661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Alerting Plugin — gratuit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132"/>
          <p:cNvSpPr/>
          <p:nvPr/>
        </p:nvSpPr>
        <p:spPr>
          <a:xfrm>
            <a:off x="274320" y="3968640"/>
            <a:ext cx="250308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19"/>
          <p:cNvSpPr/>
          <p:nvPr/>
        </p:nvSpPr>
        <p:spPr>
          <a:xfrm>
            <a:off x="365760" y="396864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SQL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33"/>
          <p:cNvSpPr/>
          <p:nvPr/>
        </p:nvSpPr>
        <p:spPr>
          <a:xfrm>
            <a:off x="2971800" y="396864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120"/>
          <p:cNvSpPr/>
          <p:nvPr/>
        </p:nvSpPr>
        <p:spPr>
          <a:xfrm>
            <a:off x="3063240" y="396864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Payant (X-Pack)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34"/>
          <p:cNvSpPr/>
          <p:nvPr/>
        </p:nvSpPr>
        <p:spPr>
          <a:xfrm>
            <a:off x="5989320" y="3968640"/>
            <a:ext cx="2868840" cy="372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121"/>
          <p:cNvSpPr/>
          <p:nvPr/>
        </p:nvSpPr>
        <p:spPr>
          <a:xfrm>
            <a:off x="6080760" y="396864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SQL Plugin — gratuit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35"/>
          <p:cNvSpPr/>
          <p:nvPr/>
        </p:nvSpPr>
        <p:spPr>
          <a:xfrm>
            <a:off x="274320" y="4370760"/>
            <a:ext cx="250308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22"/>
          <p:cNvSpPr/>
          <p:nvPr/>
        </p:nvSpPr>
        <p:spPr>
          <a:xfrm>
            <a:off x="365760" y="4370760"/>
            <a:ext cx="237492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k-NN / Vectoriel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136"/>
          <p:cNvSpPr/>
          <p:nvPr/>
        </p:nvSpPr>
        <p:spPr>
          <a:xfrm>
            <a:off x="2971800" y="43707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123"/>
          <p:cNvSpPr/>
          <p:nvPr/>
        </p:nvSpPr>
        <p:spPr>
          <a:xfrm>
            <a:off x="3063240" y="43707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ESANN (payant)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137"/>
          <p:cNvSpPr/>
          <p:nvPr/>
        </p:nvSpPr>
        <p:spPr>
          <a:xfrm>
            <a:off x="5989320" y="4370760"/>
            <a:ext cx="2868840" cy="372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124"/>
          <p:cNvSpPr/>
          <p:nvPr/>
        </p:nvSpPr>
        <p:spPr>
          <a:xfrm>
            <a:off x="6080760" y="4370760"/>
            <a:ext cx="274068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k-NN Plugin — gratuit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138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Shape 139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125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Versions &amp; Compatibilité — Référence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26"/>
          <p:cNvSpPr/>
          <p:nvPr/>
        </p:nvSpPr>
        <p:spPr>
          <a:xfrm>
            <a:off x="365760" y="777240"/>
            <a:ext cx="8409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Point de départ commun : Elasticsearch 7.10.2 (open source, jan 2021)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140"/>
          <p:cNvSpPr/>
          <p:nvPr/>
        </p:nvSpPr>
        <p:spPr>
          <a:xfrm>
            <a:off x="365760" y="1261800"/>
            <a:ext cx="4112280" cy="363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127"/>
          <p:cNvSpPr/>
          <p:nvPr/>
        </p:nvSpPr>
        <p:spPr>
          <a:xfrm>
            <a:off x="457200" y="1261800"/>
            <a:ext cx="39294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Elasticsearch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141"/>
          <p:cNvSpPr/>
          <p:nvPr/>
        </p:nvSpPr>
        <p:spPr>
          <a:xfrm>
            <a:off x="365760" y="1737360"/>
            <a:ext cx="4112280" cy="820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42"/>
          <p:cNvSpPr/>
          <p:nvPr/>
        </p:nvSpPr>
        <p:spPr>
          <a:xfrm>
            <a:off x="365760" y="1737360"/>
            <a:ext cx="61560" cy="82044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128"/>
          <p:cNvSpPr/>
          <p:nvPr/>
        </p:nvSpPr>
        <p:spPr>
          <a:xfrm>
            <a:off x="548640" y="1792080"/>
            <a:ext cx="379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ES 7.10 (jan 2021)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29"/>
          <p:cNvSpPr/>
          <p:nvPr/>
        </p:nvSpPr>
        <p:spPr>
          <a:xfrm>
            <a:off x="548640" y="2139840"/>
            <a:ext cx="3792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Dernier commit open source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43"/>
          <p:cNvSpPr/>
          <p:nvPr/>
        </p:nvSpPr>
        <p:spPr>
          <a:xfrm>
            <a:off x="365760" y="2697480"/>
            <a:ext cx="4112280" cy="820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44"/>
          <p:cNvSpPr/>
          <p:nvPr/>
        </p:nvSpPr>
        <p:spPr>
          <a:xfrm>
            <a:off x="365760" y="2697480"/>
            <a:ext cx="61560" cy="8204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30"/>
          <p:cNvSpPr/>
          <p:nvPr/>
        </p:nvSpPr>
        <p:spPr>
          <a:xfrm>
            <a:off x="548640" y="2752200"/>
            <a:ext cx="379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ES 7.11+ (fév 2021)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31"/>
          <p:cNvSpPr/>
          <p:nvPr/>
        </p:nvSpPr>
        <p:spPr>
          <a:xfrm>
            <a:off x="548640" y="3099960"/>
            <a:ext cx="3792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Passage à Elastic License 2.0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45"/>
          <p:cNvSpPr/>
          <p:nvPr/>
        </p:nvSpPr>
        <p:spPr>
          <a:xfrm>
            <a:off x="365760" y="3657600"/>
            <a:ext cx="4112280" cy="820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46"/>
          <p:cNvSpPr/>
          <p:nvPr/>
        </p:nvSpPr>
        <p:spPr>
          <a:xfrm>
            <a:off x="365760" y="3657600"/>
            <a:ext cx="61560" cy="8204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132"/>
          <p:cNvSpPr/>
          <p:nvPr/>
        </p:nvSpPr>
        <p:spPr>
          <a:xfrm>
            <a:off x="548640" y="3712320"/>
            <a:ext cx="379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ES 8.x (2022+)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133"/>
          <p:cNvSpPr/>
          <p:nvPr/>
        </p:nvSpPr>
        <p:spPr>
          <a:xfrm>
            <a:off x="548640" y="4060080"/>
            <a:ext cx="3792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Sécurité activée par défaut, API breaking changes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47"/>
          <p:cNvSpPr/>
          <p:nvPr/>
        </p:nvSpPr>
        <p:spPr>
          <a:xfrm>
            <a:off x="4754880" y="1261800"/>
            <a:ext cx="4112280" cy="3632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134"/>
          <p:cNvSpPr/>
          <p:nvPr/>
        </p:nvSpPr>
        <p:spPr>
          <a:xfrm>
            <a:off x="4846320" y="1261800"/>
            <a:ext cx="39294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148"/>
          <p:cNvSpPr/>
          <p:nvPr/>
        </p:nvSpPr>
        <p:spPr>
          <a:xfrm>
            <a:off x="4754880" y="1737360"/>
            <a:ext cx="4112280" cy="820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49"/>
          <p:cNvSpPr/>
          <p:nvPr/>
        </p:nvSpPr>
        <p:spPr>
          <a:xfrm>
            <a:off x="4754880" y="1737360"/>
            <a:ext cx="61560" cy="8204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35"/>
          <p:cNvSpPr/>
          <p:nvPr/>
        </p:nvSpPr>
        <p:spPr>
          <a:xfrm>
            <a:off x="4937760" y="1792080"/>
            <a:ext cx="379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OS 1.0 (juil 2021)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36"/>
          <p:cNvSpPr/>
          <p:nvPr/>
        </p:nvSpPr>
        <p:spPr>
          <a:xfrm>
            <a:off x="4937760" y="2139840"/>
            <a:ext cx="3792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Fork ES 7.10, sécurité intégrée gratuite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50"/>
          <p:cNvSpPr/>
          <p:nvPr/>
        </p:nvSpPr>
        <p:spPr>
          <a:xfrm>
            <a:off x="4754880" y="2697480"/>
            <a:ext cx="4112280" cy="820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151"/>
          <p:cNvSpPr/>
          <p:nvPr/>
        </p:nvSpPr>
        <p:spPr>
          <a:xfrm>
            <a:off x="4754880" y="2697480"/>
            <a:ext cx="61560" cy="8204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37"/>
          <p:cNvSpPr/>
          <p:nvPr/>
        </p:nvSpPr>
        <p:spPr>
          <a:xfrm>
            <a:off x="4937760" y="2752200"/>
            <a:ext cx="379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OS 1.x (2021-2022)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138"/>
          <p:cNvSpPr/>
          <p:nvPr/>
        </p:nvSpPr>
        <p:spPr>
          <a:xfrm>
            <a:off x="4937760" y="3099960"/>
            <a:ext cx="3792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Stabilisation, plugins, Dashboards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152"/>
          <p:cNvSpPr/>
          <p:nvPr/>
        </p:nvSpPr>
        <p:spPr>
          <a:xfrm>
            <a:off x="4754880" y="3657600"/>
            <a:ext cx="4112280" cy="820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53"/>
          <p:cNvSpPr/>
          <p:nvPr/>
        </p:nvSpPr>
        <p:spPr>
          <a:xfrm>
            <a:off x="4754880" y="3657600"/>
            <a:ext cx="61560" cy="82044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39"/>
          <p:cNvSpPr/>
          <p:nvPr/>
        </p:nvSpPr>
        <p:spPr>
          <a:xfrm>
            <a:off x="4937760" y="3712320"/>
            <a:ext cx="379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OS 2.x (2022+)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140"/>
          <p:cNvSpPr/>
          <p:nvPr/>
        </p:nvSpPr>
        <p:spPr>
          <a:xfrm>
            <a:off x="4937760" y="4060080"/>
            <a:ext cx="37922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Améliorations ML, ISM, alerting, k-NN, SQL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Shape 2282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2552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2553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Composants principaux</a:t>
            </a:r>
            <a:endParaRPr b="0" lang="fr-F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283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2554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a8d4dc"/>
                </a:solidFill>
                <a:latin typeface="Calibri"/>
                <a:ea typeface="Calibri"/>
              </a:rPr>
              <a:t>OpenSearch · Dashboards · </a:t>
            </a:r>
            <a:r>
              <a:rPr b="0" lang="en-US" sz="1800" spc="-1" strike="noStrike">
                <a:solidFill>
                  <a:srgbClr val="a8d4dc"/>
                </a:solidFill>
                <a:latin typeface="Calibri"/>
                <a:ea typeface="Calibri"/>
              </a:rPr>
              <a:t>Plugins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2284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285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2555"/>
          <p:cNvSpPr/>
          <p:nvPr/>
        </p:nvSpPr>
        <p:spPr>
          <a:xfrm>
            <a:off x="0" y="4316040"/>
            <a:ext cx="144000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286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2556"/>
          <p:cNvSpPr/>
          <p:nvPr/>
        </p:nvSpPr>
        <p:spPr>
          <a:xfrm>
            <a:off x="1749960" y="4546800"/>
            <a:ext cx="142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Offre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2557"/>
          <p:cNvSpPr/>
          <p:nvPr/>
        </p:nvSpPr>
        <p:spPr>
          <a:xfrm>
            <a:off x="288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287"/>
          <p:cNvSpPr/>
          <p:nvPr/>
        </p:nvSpPr>
        <p:spPr>
          <a:xfrm>
            <a:off x="3331800" y="4528440"/>
            <a:ext cx="145584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2558"/>
          <p:cNvSpPr/>
          <p:nvPr/>
        </p:nvSpPr>
        <p:spPr>
          <a:xfrm>
            <a:off x="3387960" y="4546800"/>
            <a:ext cx="132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Composants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2559"/>
          <p:cNvSpPr/>
          <p:nvPr/>
        </p:nvSpPr>
        <p:spPr>
          <a:xfrm>
            <a:off x="414576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560"/>
          <p:cNvSpPr/>
          <p:nvPr/>
        </p:nvSpPr>
        <p:spPr>
          <a:xfrm>
            <a:off x="4828680" y="4546800"/>
            <a:ext cx="1233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Cluster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2561"/>
          <p:cNvSpPr/>
          <p:nvPr/>
        </p:nvSpPr>
        <p:spPr>
          <a:xfrm>
            <a:off x="577512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2562"/>
          <p:cNvSpPr/>
          <p:nvPr/>
        </p:nvSpPr>
        <p:spPr>
          <a:xfrm>
            <a:off x="6120000" y="4546800"/>
            <a:ext cx="2383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Indexation et documents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2563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2564"/>
          <p:cNvSpPr/>
          <p:nvPr/>
        </p:nvSpPr>
        <p:spPr>
          <a:xfrm>
            <a:off x="4649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168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169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154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OpenSearch — Caractéristiques principales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70"/>
          <p:cNvSpPr/>
          <p:nvPr/>
        </p:nvSpPr>
        <p:spPr>
          <a:xfrm>
            <a:off x="274320" y="822960"/>
            <a:ext cx="4158000" cy="109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71"/>
          <p:cNvSpPr/>
          <p:nvPr/>
        </p:nvSpPr>
        <p:spPr>
          <a:xfrm>
            <a:off x="274320" y="822960"/>
            <a:ext cx="61560" cy="1094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Shape 172"/>
          <p:cNvSpPr/>
          <p:nvPr/>
        </p:nvSpPr>
        <p:spPr>
          <a:xfrm>
            <a:off x="274320" y="822960"/>
            <a:ext cx="4158000" cy="34488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55"/>
          <p:cNvSpPr/>
          <p:nvPr/>
        </p:nvSpPr>
        <p:spPr>
          <a:xfrm>
            <a:off x="384120" y="82296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Distribué &amp; Scalable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156"/>
          <p:cNvSpPr/>
          <p:nvPr/>
        </p:nvSpPr>
        <p:spPr>
          <a:xfrm>
            <a:off x="384120" y="1225440"/>
            <a:ext cx="39294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Architecture massivement distribuée basée sur Lucene. Scaling horizontal natif — adapté au Big Data.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73"/>
          <p:cNvSpPr/>
          <p:nvPr/>
        </p:nvSpPr>
        <p:spPr>
          <a:xfrm>
            <a:off x="4754880" y="822960"/>
            <a:ext cx="4158000" cy="109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74"/>
          <p:cNvSpPr/>
          <p:nvPr/>
        </p:nvSpPr>
        <p:spPr>
          <a:xfrm>
            <a:off x="4754880" y="822960"/>
            <a:ext cx="61560" cy="1094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175"/>
          <p:cNvSpPr/>
          <p:nvPr/>
        </p:nvSpPr>
        <p:spPr>
          <a:xfrm>
            <a:off x="4754880" y="822960"/>
            <a:ext cx="4158000" cy="34488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157"/>
          <p:cNvSpPr/>
          <p:nvPr/>
        </p:nvSpPr>
        <p:spPr>
          <a:xfrm>
            <a:off x="4864680" y="82296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Haute disponibilité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158"/>
          <p:cNvSpPr/>
          <p:nvPr/>
        </p:nvSpPr>
        <p:spPr>
          <a:xfrm>
            <a:off x="4864680" y="1225440"/>
            <a:ext cx="39294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Réplication des shards sur plusieurs nœuds. Tolérance aux pannes sans interruption de service.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76"/>
          <p:cNvSpPr/>
          <p:nvPr/>
        </p:nvSpPr>
        <p:spPr>
          <a:xfrm>
            <a:off x="274320" y="2121480"/>
            <a:ext cx="4158000" cy="109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77"/>
          <p:cNvSpPr/>
          <p:nvPr/>
        </p:nvSpPr>
        <p:spPr>
          <a:xfrm>
            <a:off x="274320" y="2121480"/>
            <a:ext cx="61560" cy="1094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Shape 178"/>
          <p:cNvSpPr/>
          <p:nvPr/>
        </p:nvSpPr>
        <p:spPr>
          <a:xfrm>
            <a:off x="274320" y="2121480"/>
            <a:ext cx="4158000" cy="34488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159"/>
          <p:cNvSpPr/>
          <p:nvPr/>
        </p:nvSpPr>
        <p:spPr>
          <a:xfrm>
            <a:off x="384120" y="212148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Sécurité native gratuite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160"/>
          <p:cNvSpPr/>
          <p:nvPr/>
        </p:nvSpPr>
        <p:spPr>
          <a:xfrm>
            <a:off x="384120" y="2523600"/>
            <a:ext cx="39294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TLS, authentification, RBAC, audit logs — inclus sans licence supplémentaire.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79"/>
          <p:cNvSpPr/>
          <p:nvPr/>
        </p:nvSpPr>
        <p:spPr>
          <a:xfrm>
            <a:off x="4754880" y="2121480"/>
            <a:ext cx="4158000" cy="109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80"/>
          <p:cNvSpPr/>
          <p:nvPr/>
        </p:nvSpPr>
        <p:spPr>
          <a:xfrm>
            <a:off x="4754880" y="2121480"/>
            <a:ext cx="61560" cy="1094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Shape 181"/>
          <p:cNvSpPr/>
          <p:nvPr/>
        </p:nvSpPr>
        <p:spPr>
          <a:xfrm>
            <a:off x="4754880" y="2121480"/>
            <a:ext cx="4158000" cy="34488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161"/>
          <p:cNvSpPr/>
          <p:nvPr/>
        </p:nvSpPr>
        <p:spPr>
          <a:xfrm>
            <a:off x="4864680" y="212148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Query DSL complet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62"/>
          <p:cNvSpPr/>
          <p:nvPr/>
        </p:nvSpPr>
        <p:spPr>
          <a:xfrm>
            <a:off x="4864680" y="2523600"/>
            <a:ext cx="39294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Recherche exacte, full-text, vectorielle (k-NN), géolocalisation, agrégations complexes.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82"/>
          <p:cNvSpPr/>
          <p:nvPr/>
        </p:nvSpPr>
        <p:spPr>
          <a:xfrm>
            <a:off x="274320" y="3420000"/>
            <a:ext cx="4158000" cy="109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83"/>
          <p:cNvSpPr/>
          <p:nvPr/>
        </p:nvSpPr>
        <p:spPr>
          <a:xfrm>
            <a:off x="274320" y="3420000"/>
            <a:ext cx="61560" cy="1094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Shape 184"/>
          <p:cNvSpPr/>
          <p:nvPr/>
        </p:nvSpPr>
        <p:spPr>
          <a:xfrm>
            <a:off x="274320" y="3420000"/>
            <a:ext cx="4158000" cy="34488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63"/>
          <p:cNvSpPr/>
          <p:nvPr/>
        </p:nvSpPr>
        <p:spPr>
          <a:xfrm>
            <a:off x="384120" y="342000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API REST cohérente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164"/>
          <p:cNvSpPr/>
          <p:nvPr/>
        </p:nvSpPr>
        <p:spPr>
          <a:xfrm>
            <a:off x="384120" y="3822120"/>
            <a:ext cx="39294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API documentaire, index, cluster, cat, search — compatible avec les clients ES existants.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85"/>
          <p:cNvSpPr/>
          <p:nvPr/>
        </p:nvSpPr>
        <p:spPr>
          <a:xfrm>
            <a:off x="4754880" y="3420000"/>
            <a:ext cx="4158000" cy="1094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86"/>
          <p:cNvSpPr/>
          <p:nvPr/>
        </p:nvSpPr>
        <p:spPr>
          <a:xfrm>
            <a:off x="4754880" y="3420000"/>
            <a:ext cx="61560" cy="1094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187"/>
          <p:cNvSpPr/>
          <p:nvPr/>
        </p:nvSpPr>
        <p:spPr>
          <a:xfrm>
            <a:off x="4754880" y="3420000"/>
            <a:ext cx="4158000" cy="34488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165"/>
          <p:cNvSpPr/>
          <p:nvPr/>
        </p:nvSpPr>
        <p:spPr>
          <a:xfrm>
            <a:off x="4864680" y="342000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Plugins riches &amp; gratuits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166"/>
          <p:cNvSpPr/>
          <p:nvPr/>
        </p:nvSpPr>
        <p:spPr>
          <a:xfrm>
            <a:off x="4864680" y="3822120"/>
            <a:ext cx="392940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Alerting, SQL, Anomaly Detection, ML, ISM, Observability — tout gratuit et open source.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OpenSearch — Le moteur (Engine)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320040" y="777240"/>
            <a:ext cx="8501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576b"/>
                </a:solidFill>
                <a:latin typeface="Calibri"/>
                <a:ea typeface="Calibri"/>
              </a:rPr>
              <a:t>Le cœur : indexation + requêtage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274320" y="1490400"/>
            <a:ext cx="546120" cy="54612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5"/>
          <p:cNvSpPr/>
          <p:nvPr/>
        </p:nvSpPr>
        <p:spPr>
          <a:xfrm>
            <a:off x="274320" y="1490400"/>
            <a:ext cx="5461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6"/>
          <p:cNvSpPr/>
          <p:nvPr/>
        </p:nvSpPr>
        <p:spPr>
          <a:xfrm>
            <a:off x="548640" y="2039040"/>
            <a:ext cx="360" cy="548640"/>
          </a:xfrm>
          <a:prstGeom prst="line">
            <a:avLst/>
          </a:prstGeom>
          <a:ln w="190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1005840" y="1261800"/>
            <a:ext cx="7815600" cy="10490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8"/>
          <p:cNvSpPr/>
          <p:nvPr/>
        </p:nvSpPr>
        <p:spPr>
          <a:xfrm>
            <a:off x="1005840" y="1261800"/>
            <a:ext cx="61560" cy="1049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9"/>
          <p:cNvSpPr/>
          <p:nvPr/>
        </p:nvSpPr>
        <p:spPr>
          <a:xfrm>
            <a:off x="1170360" y="1334880"/>
            <a:ext cx="7541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Réception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10"/>
          <p:cNvSpPr/>
          <p:nvPr/>
        </p:nvSpPr>
        <p:spPr>
          <a:xfrm>
            <a:off x="1170360" y="1673280"/>
            <a:ext cx="754128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Documents JSON reçus via REST API (Index API, Bulk API). Validation et routage vers le shard primaire approprié.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11"/>
          <p:cNvSpPr/>
          <p:nvPr/>
        </p:nvSpPr>
        <p:spPr>
          <a:xfrm>
            <a:off x="274320" y="2697480"/>
            <a:ext cx="546120" cy="54612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12"/>
          <p:cNvSpPr/>
          <p:nvPr/>
        </p:nvSpPr>
        <p:spPr>
          <a:xfrm>
            <a:off x="274320" y="2697480"/>
            <a:ext cx="5461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3"/>
          <p:cNvSpPr/>
          <p:nvPr/>
        </p:nvSpPr>
        <p:spPr>
          <a:xfrm>
            <a:off x="548640" y="3246120"/>
            <a:ext cx="360" cy="548640"/>
          </a:xfrm>
          <a:prstGeom prst="line">
            <a:avLst/>
          </a:prstGeom>
          <a:ln w="190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4"/>
          <p:cNvSpPr/>
          <p:nvPr/>
        </p:nvSpPr>
        <p:spPr>
          <a:xfrm>
            <a:off x="1005840" y="2468880"/>
            <a:ext cx="7815600" cy="10490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5"/>
          <p:cNvSpPr/>
          <p:nvPr/>
        </p:nvSpPr>
        <p:spPr>
          <a:xfrm>
            <a:off x="1005840" y="2468880"/>
            <a:ext cx="61560" cy="1049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16"/>
          <p:cNvSpPr/>
          <p:nvPr/>
        </p:nvSpPr>
        <p:spPr>
          <a:xfrm>
            <a:off x="1170360" y="2541960"/>
            <a:ext cx="7541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Analyse textuelle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7"/>
          <p:cNvSpPr/>
          <p:nvPr/>
        </p:nvSpPr>
        <p:spPr>
          <a:xfrm>
            <a:off x="1170360" y="2880360"/>
            <a:ext cx="754128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Analyzers / Tokenizers : découpage du texte, lowercasing, stemming, stop words → construction de l'index inversé (Lucene).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8"/>
          <p:cNvSpPr/>
          <p:nvPr/>
        </p:nvSpPr>
        <p:spPr>
          <a:xfrm>
            <a:off x="274320" y="3904560"/>
            <a:ext cx="546120" cy="54612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19"/>
          <p:cNvSpPr/>
          <p:nvPr/>
        </p:nvSpPr>
        <p:spPr>
          <a:xfrm>
            <a:off x="274320" y="3904560"/>
            <a:ext cx="5461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20"/>
          <p:cNvSpPr/>
          <p:nvPr/>
        </p:nvSpPr>
        <p:spPr>
          <a:xfrm>
            <a:off x="1005840" y="3675960"/>
            <a:ext cx="7815600" cy="10490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21"/>
          <p:cNvSpPr/>
          <p:nvPr/>
        </p:nvSpPr>
        <p:spPr>
          <a:xfrm>
            <a:off x="1005840" y="3675960"/>
            <a:ext cx="61560" cy="1049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22"/>
          <p:cNvSpPr/>
          <p:nvPr/>
        </p:nvSpPr>
        <p:spPr>
          <a:xfrm>
            <a:off x="1170360" y="3749040"/>
            <a:ext cx="7541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Recherche &amp; Scoring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23"/>
          <p:cNvSpPr/>
          <p:nvPr/>
        </p:nvSpPr>
        <p:spPr>
          <a:xfrm>
            <a:off x="1170360" y="4087440"/>
            <a:ext cx="754128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Query DSL : full-text, exact match, vectoriel. Tri, scoring BM25/TF-IDF, agrégations statistiques et hiérarchiques.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Shape 188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Shape 189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167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OpenSearch Dashboards — Equivalent de Kibana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168"/>
          <p:cNvSpPr/>
          <p:nvPr/>
        </p:nvSpPr>
        <p:spPr>
          <a:xfrm>
            <a:off x="365760" y="749880"/>
            <a:ext cx="8409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a7480"/>
                </a:solidFill>
                <a:latin typeface="Calibri"/>
                <a:ea typeface="Calibri"/>
              </a:rPr>
              <a:t>Fork de Kibana 7.10 · Licence Apache 2.0 · Développement actif indépendant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90"/>
          <p:cNvSpPr/>
          <p:nvPr/>
        </p:nvSpPr>
        <p:spPr>
          <a:xfrm>
            <a:off x="320040" y="1188720"/>
            <a:ext cx="500400" cy="50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169"/>
          <p:cNvSpPr/>
          <p:nvPr/>
        </p:nvSpPr>
        <p:spPr>
          <a:xfrm>
            <a:off x="320040" y="118872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91"/>
          <p:cNvSpPr/>
          <p:nvPr/>
        </p:nvSpPr>
        <p:spPr>
          <a:xfrm>
            <a:off x="932760" y="1188720"/>
            <a:ext cx="7907040" cy="500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92"/>
          <p:cNvSpPr/>
          <p:nvPr/>
        </p:nvSpPr>
        <p:spPr>
          <a:xfrm>
            <a:off x="932760" y="1188720"/>
            <a:ext cx="61560" cy="5004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170"/>
          <p:cNvSpPr/>
          <p:nvPr/>
        </p:nvSpPr>
        <p:spPr>
          <a:xfrm>
            <a:off x="1097280" y="1216080"/>
            <a:ext cx="22834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DevTools Console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171"/>
          <p:cNvSpPr/>
          <p:nvPr/>
        </p:nvSpPr>
        <p:spPr>
          <a:xfrm>
            <a:off x="3520440" y="1188720"/>
            <a:ext cx="5163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Interface équivalente à la Dev Console Kibana pour tester les API REST OpenSearch directement dans le navigateur.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93"/>
          <p:cNvSpPr/>
          <p:nvPr/>
        </p:nvSpPr>
        <p:spPr>
          <a:xfrm>
            <a:off x="3383280" y="1280160"/>
            <a:ext cx="34200" cy="3175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94"/>
          <p:cNvSpPr/>
          <p:nvPr/>
        </p:nvSpPr>
        <p:spPr>
          <a:xfrm>
            <a:off x="320040" y="1819800"/>
            <a:ext cx="500400" cy="50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172"/>
          <p:cNvSpPr/>
          <p:nvPr/>
        </p:nvSpPr>
        <p:spPr>
          <a:xfrm>
            <a:off x="320040" y="181980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195"/>
          <p:cNvSpPr/>
          <p:nvPr/>
        </p:nvSpPr>
        <p:spPr>
          <a:xfrm>
            <a:off x="932760" y="1819800"/>
            <a:ext cx="7907040" cy="500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96"/>
          <p:cNvSpPr/>
          <p:nvPr/>
        </p:nvSpPr>
        <p:spPr>
          <a:xfrm>
            <a:off x="932760" y="1819800"/>
            <a:ext cx="61560" cy="5004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173"/>
          <p:cNvSpPr/>
          <p:nvPr/>
        </p:nvSpPr>
        <p:spPr>
          <a:xfrm>
            <a:off x="1097280" y="1847160"/>
            <a:ext cx="22834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Discover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174"/>
          <p:cNvSpPr/>
          <p:nvPr/>
        </p:nvSpPr>
        <p:spPr>
          <a:xfrm>
            <a:off x="3520440" y="1819800"/>
            <a:ext cx="5163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Exploration des données brutes — filtres, champs, timeline. Équivalent fonctionnel du Discover Kibana.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197"/>
          <p:cNvSpPr/>
          <p:nvPr/>
        </p:nvSpPr>
        <p:spPr>
          <a:xfrm>
            <a:off x="3383280" y="1911240"/>
            <a:ext cx="34200" cy="3175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98"/>
          <p:cNvSpPr/>
          <p:nvPr/>
        </p:nvSpPr>
        <p:spPr>
          <a:xfrm>
            <a:off x="320040" y="2450520"/>
            <a:ext cx="500400" cy="50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175"/>
          <p:cNvSpPr/>
          <p:nvPr/>
        </p:nvSpPr>
        <p:spPr>
          <a:xfrm>
            <a:off x="320040" y="245052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99"/>
          <p:cNvSpPr/>
          <p:nvPr/>
        </p:nvSpPr>
        <p:spPr>
          <a:xfrm>
            <a:off x="932760" y="2450520"/>
            <a:ext cx="7907040" cy="500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00"/>
          <p:cNvSpPr/>
          <p:nvPr/>
        </p:nvSpPr>
        <p:spPr>
          <a:xfrm>
            <a:off x="932760" y="2450520"/>
            <a:ext cx="61560" cy="5004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76"/>
          <p:cNvSpPr/>
          <p:nvPr/>
        </p:nvSpPr>
        <p:spPr>
          <a:xfrm>
            <a:off x="1097280" y="2477880"/>
            <a:ext cx="22834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Visualizations &amp; Dashboards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77"/>
          <p:cNvSpPr/>
          <p:nvPr/>
        </p:nvSpPr>
        <p:spPr>
          <a:xfrm>
            <a:off x="3520440" y="2450520"/>
            <a:ext cx="5163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Création de graphiques (barres, camemberts, cartes, métriques) et assemblage en tableaux de bord interactifs.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01"/>
          <p:cNvSpPr/>
          <p:nvPr/>
        </p:nvSpPr>
        <p:spPr>
          <a:xfrm>
            <a:off x="3383280" y="2541960"/>
            <a:ext cx="34200" cy="3175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202"/>
          <p:cNvSpPr/>
          <p:nvPr/>
        </p:nvSpPr>
        <p:spPr>
          <a:xfrm>
            <a:off x="320040" y="3081600"/>
            <a:ext cx="500400" cy="50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78"/>
          <p:cNvSpPr/>
          <p:nvPr/>
        </p:nvSpPr>
        <p:spPr>
          <a:xfrm>
            <a:off x="320040" y="308160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203"/>
          <p:cNvSpPr/>
          <p:nvPr/>
        </p:nvSpPr>
        <p:spPr>
          <a:xfrm>
            <a:off x="932760" y="3081600"/>
            <a:ext cx="7907040" cy="500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204"/>
          <p:cNvSpPr/>
          <p:nvPr/>
        </p:nvSpPr>
        <p:spPr>
          <a:xfrm>
            <a:off x="932760" y="3081600"/>
            <a:ext cx="61560" cy="5004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179"/>
          <p:cNvSpPr/>
          <p:nvPr/>
        </p:nvSpPr>
        <p:spPr>
          <a:xfrm>
            <a:off x="1097280" y="3108960"/>
            <a:ext cx="22834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Index Management (ISM)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180"/>
          <p:cNvSpPr/>
          <p:nvPr/>
        </p:nvSpPr>
        <p:spPr>
          <a:xfrm>
            <a:off x="3520440" y="3081600"/>
            <a:ext cx="5163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Gestion des politiques de cycle de vie des index — équivalent de l'ILM Elasticsearch mais gratuit.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205"/>
          <p:cNvSpPr/>
          <p:nvPr/>
        </p:nvSpPr>
        <p:spPr>
          <a:xfrm>
            <a:off x="3383280" y="3173040"/>
            <a:ext cx="34200" cy="3175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206"/>
          <p:cNvSpPr/>
          <p:nvPr/>
        </p:nvSpPr>
        <p:spPr>
          <a:xfrm>
            <a:off x="320040" y="3712320"/>
            <a:ext cx="500400" cy="50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181"/>
          <p:cNvSpPr/>
          <p:nvPr/>
        </p:nvSpPr>
        <p:spPr>
          <a:xfrm>
            <a:off x="320040" y="371232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207"/>
          <p:cNvSpPr/>
          <p:nvPr/>
        </p:nvSpPr>
        <p:spPr>
          <a:xfrm>
            <a:off x="932760" y="3712320"/>
            <a:ext cx="7907040" cy="500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208"/>
          <p:cNvSpPr/>
          <p:nvPr/>
        </p:nvSpPr>
        <p:spPr>
          <a:xfrm>
            <a:off x="932760" y="3712320"/>
            <a:ext cx="61560" cy="5004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182"/>
          <p:cNvSpPr/>
          <p:nvPr/>
        </p:nvSpPr>
        <p:spPr>
          <a:xfrm>
            <a:off x="1097280" y="3740040"/>
            <a:ext cx="22834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Security UI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183"/>
          <p:cNvSpPr/>
          <p:nvPr/>
        </p:nvSpPr>
        <p:spPr>
          <a:xfrm>
            <a:off x="3520440" y="3712320"/>
            <a:ext cx="5163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Gestion des utilisateurs, rôles, et permissions directement depuis l'interface — sans plugin payant.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209"/>
          <p:cNvSpPr/>
          <p:nvPr/>
        </p:nvSpPr>
        <p:spPr>
          <a:xfrm>
            <a:off x="3383280" y="3803760"/>
            <a:ext cx="34200" cy="3175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10"/>
          <p:cNvSpPr/>
          <p:nvPr/>
        </p:nvSpPr>
        <p:spPr>
          <a:xfrm>
            <a:off x="320040" y="4343400"/>
            <a:ext cx="500400" cy="50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184"/>
          <p:cNvSpPr/>
          <p:nvPr/>
        </p:nvSpPr>
        <p:spPr>
          <a:xfrm>
            <a:off x="320040" y="434340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211"/>
          <p:cNvSpPr/>
          <p:nvPr/>
        </p:nvSpPr>
        <p:spPr>
          <a:xfrm>
            <a:off x="932760" y="4343400"/>
            <a:ext cx="7907040" cy="5004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12"/>
          <p:cNvSpPr/>
          <p:nvPr/>
        </p:nvSpPr>
        <p:spPr>
          <a:xfrm>
            <a:off x="932760" y="4343400"/>
            <a:ext cx="61560" cy="5004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185"/>
          <p:cNvSpPr/>
          <p:nvPr/>
        </p:nvSpPr>
        <p:spPr>
          <a:xfrm>
            <a:off x="1097280" y="4370760"/>
            <a:ext cx="22834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Alerting &amp; Anomaly Detection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186"/>
          <p:cNvSpPr/>
          <p:nvPr/>
        </p:nvSpPr>
        <p:spPr>
          <a:xfrm>
            <a:off x="3520440" y="4343400"/>
            <a:ext cx="5163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Configuration d'alertes et détection d'anomalies ML via une interface dédiée.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13"/>
          <p:cNvSpPr/>
          <p:nvPr/>
        </p:nvSpPr>
        <p:spPr>
          <a:xfrm>
            <a:off x="3383280" y="4434840"/>
            <a:ext cx="34200" cy="3175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Plugins — Extensibilité par design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3"/>
          <p:cNvSpPr/>
          <p:nvPr/>
        </p:nvSpPr>
        <p:spPr>
          <a:xfrm>
            <a:off x="320040" y="77724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OpenSearch est extensible par design. Les plugins ajoutent des fonctionnalités (mappings, scripts, sécurité, observabilité…).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4"/>
          <p:cNvSpPr/>
          <p:nvPr/>
        </p:nvSpPr>
        <p:spPr>
          <a:xfrm>
            <a:off x="255960" y="14173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5"/>
          <p:cNvSpPr/>
          <p:nvPr/>
        </p:nvSpPr>
        <p:spPr>
          <a:xfrm>
            <a:off x="255960" y="1417320"/>
            <a:ext cx="202752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6"/>
          <p:cNvSpPr/>
          <p:nvPr/>
        </p:nvSpPr>
        <p:spPr>
          <a:xfrm>
            <a:off x="329040" y="14173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Security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7"/>
          <p:cNvSpPr/>
          <p:nvPr/>
        </p:nvSpPr>
        <p:spPr>
          <a:xfrm>
            <a:off x="347400" y="18288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TLS, authentification, RBAC, audit logs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8"/>
          <p:cNvSpPr/>
          <p:nvPr/>
        </p:nvSpPr>
        <p:spPr>
          <a:xfrm>
            <a:off x="2432160" y="14173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9"/>
          <p:cNvSpPr/>
          <p:nvPr/>
        </p:nvSpPr>
        <p:spPr>
          <a:xfrm>
            <a:off x="2432160" y="1417320"/>
            <a:ext cx="2027520" cy="344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10"/>
          <p:cNvSpPr/>
          <p:nvPr/>
        </p:nvSpPr>
        <p:spPr>
          <a:xfrm>
            <a:off x="2505600" y="14173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Alerting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11"/>
          <p:cNvSpPr/>
          <p:nvPr/>
        </p:nvSpPr>
        <p:spPr>
          <a:xfrm>
            <a:off x="2523600" y="18288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Notifications sur seuils et conditions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12"/>
          <p:cNvSpPr/>
          <p:nvPr/>
        </p:nvSpPr>
        <p:spPr>
          <a:xfrm>
            <a:off x="4608720" y="14173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13"/>
          <p:cNvSpPr/>
          <p:nvPr/>
        </p:nvSpPr>
        <p:spPr>
          <a:xfrm>
            <a:off x="4608720" y="1417320"/>
            <a:ext cx="202752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14"/>
          <p:cNvSpPr/>
          <p:nvPr/>
        </p:nvSpPr>
        <p:spPr>
          <a:xfrm>
            <a:off x="4681800" y="14173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Anomaly Detection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Text 15"/>
          <p:cNvSpPr/>
          <p:nvPr/>
        </p:nvSpPr>
        <p:spPr>
          <a:xfrm>
            <a:off x="4700160" y="18288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Détection d'anomalies par Machine Learning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16"/>
          <p:cNvSpPr/>
          <p:nvPr/>
        </p:nvSpPr>
        <p:spPr>
          <a:xfrm>
            <a:off x="6784920" y="14173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17"/>
          <p:cNvSpPr/>
          <p:nvPr/>
        </p:nvSpPr>
        <p:spPr>
          <a:xfrm>
            <a:off x="6784920" y="1417320"/>
            <a:ext cx="2027520" cy="344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18"/>
          <p:cNvSpPr/>
          <p:nvPr/>
        </p:nvSpPr>
        <p:spPr>
          <a:xfrm>
            <a:off x="6858000" y="14173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k-NN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19"/>
          <p:cNvSpPr/>
          <p:nvPr/>
        </p:nvSpPr>
        <p:spPr>
          <a:xfrm>
            <a:off x="6876360" y="18288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Recherche vectorielle pour IA/RAG/LLM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20"/>
          <p:cNvSpPr/>
          <p:nvPr/>
        </p:nvSpPr>
        <p:spPr>
          <a:xfrm>
            <a:off x="255960" y="30175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21"/>
          <p:cNvSpPr/>
          <p:nvPr/>
        </p:nvSpPr>
        <p:spPr>
          <a:xfrm>
            <a:off x="255960" y="3017520"/>
            <a:ext cx="202752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22"/>
          <p:cNvSpPr/>
          <p:nvPr/>
        </p:nvSpPr>
        <p:spPr>
          <a:xfrm>
            <a:off x="329040" y="30175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ISM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23"/>
          <p:cNvSpPr/>
          <p:nvPr/>
        </p:nvSpPr>
        <p:spPr>
          <a:xfrm>
            <a:off x="347400" y="34290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Index State Management : gestion cycle de vie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Shape 24"/>
          <p:cNvSpPr/>
          <p:nvPr/>
        </p:nvSpPr>
        <p:spPr>
          <a:xfrm>
            <a:off x="2432160" y="30175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25"/>
          <p:cNvSpPr/>
          <p:nvPr/>
        </p:nvSpPr>
        <p:spPr>
          <a:xfrm>
            <a:off x="2432160" y="3017520"/>
            <a:ext cx="2027520" cy="344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26"/>
          <p:cNvSpPr/>
          <p:nvPr/>
        </p:nvSpPr>
        <p:spPr>
          <a:xfrm>
            <a:off x="2505600" y="30175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SQL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27"/>
          <p:cNvSpPr/>
          <p:nvPr/>
        </p:nvSpPr>
        <p:spPr>
          <a:xfrm>
            <a:off x="2523600" y="34290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Requêtes SQL sur les index OpenSearch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28"/>
          <p:cNvSpPr/>
          <p:nvPr/>
        </p:nvSpPr>
        <p:spPr>
          <a:xfrm>
            <a:off x="4608720" y="30175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29"/>
          <p:cNvSpPr/>
          <p:nvPr/>
        </p:nvSpPr>
        <p:spPr>
          <a:xfrm>
            <a:off x="4608720" y="3017520"/>
            <a:ext cx="202752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30"/>
          <p:cNvSpPr/>
          <p:nvPr/>
        </p:nvSpPr>
        <p:spPr>
          <a:xfrm>
            <a:off x="4681800" y="30175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Observabilité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31"/>
          <p:cNvSpPr/>
          <p:nvPr/>
        </p:nvSpPr>
        <p:spPr>
          <a:xfrm>
            <a:off x="4700160" y="34290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Logs, traces, métriques (OTel native)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32"/>
          <p:cNvSpPr/>
          <p:nvPr/>
        </p:nvSpPr>
        <p:spPr>
          <a:xfrm>
            <a:off x="6784920" y="3017520"/>
            <a:ext cx="2027520" cy="14605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33"/>
          <p:cNvSpPr/>
          <p:nvPr/>
        </p:nvSpPr>
        <p:spPr>
          <a:xfrm>
            <a:off x="6784920" y="3017520"/>
            <a:ext cx="2027520" cy="344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34"/>
          <p:cNvSpPr/>
          <p:nvPr/>
        </p:nvSpPr>
        <p:spPr>
          <a:xfrm>
            <a:off x="6858000" y="3017520"/>
            <a:ext cx="1936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ML Commons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35"/>
          <p:cNvSpPr/>
          <p:nvPr/>
        </p:nvSpPr>
        <p:spPr>
          <a:xfrm>
            <a:off x="6876360" y="3429000"/>
            <a:ext cx="1881000" cy="9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Framework ML intégré gratuit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36"/>
          <p:cNvSpPr/>
          <p:nvPr/>
        </p:nvSpPr>
        <p:spPr>
          <a:xfrm>
            <a:off x="274320" y="4617720"/>
            <a:ext cx="85928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⚠  </a:t>
            </a:r>
            <a:r>
              <a:rPr b="0" i="1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Installation et configuration dépendantes du packaging (self-hosted vs managé). Attention aux compatibilités de versions.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154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141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142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du cluster</a:t>
            </a:r>
            <a:endParaRPr b="0" lang="fr-F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155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143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a8d4dc"/>
                </a:solidFill>
                <a:latin typeface="Calibri"/>
                <a:ea typeface="Calibri"/>
              </a:rPr>
              <a:t>Nœuds · Shards · Réplicas · Indexation et recherche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Shape 156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157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 144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158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45"/>
          <p:cNvSpPr/>
          <p:nvPr/>
        </p:nvSpPr>
        <p:spPr>
          <a:xfrm>
            <a:off x="1749960" y="4546800"/>
            <a:ext cx="142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Offre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146"/>
          <p:cNvSpPr/>
          <p:nvPr/>
        </p:nvSpPr>
        <p:spPr>
          <a:xfrm>
            <a:off x="288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59"/>
          <p:cNvSpPr/>
          <p:nvPr/>
        </p:nvSpPr>
        <p:spPr>
          <a:xfrm>
            <a:off x="4735800" y="4528440"/>
            <a:ext cx="145584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47"/>
          <p:cNvSpPr/>
          <p:nvPr/>
        </p:nvSpPr>
        <p:spPr>
          <a:xfrm>
            <a:off x="4791960" y="4546800"/>
            <a:ext cx="132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Cluster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148"/>
          <p:cNvSpPr/>
          <p:nvPr/>
        </p:nvSpPr>
        <p:spPr>
          <a:xfrm>
            <a:off x="554976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Text 149"/>
          <p:cNvSpPr/>
          <p:nvPr/>
        </p:nvSpPr>
        <p:spPr>
          <a:xfrm>
            <a:off x="3096000" y="4546800"/>
            <a:ext cx="156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Composants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 150"/>
          <p:cNvSpPr/>
          <p:nvPr/>
        </p:nvSpPr>
        <p:spPr>
          <a:xfrm>
            <a:off x="613512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51"/>
          <p:cNvSpPr/>
          <p:nvPr/>
        </p:nvSpPr>
        <p:spPr>
          <a:xfrm>
            <a:off x="6480000" y="4546800"/>
            <a:ext cx="2383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Indexation et documents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152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153"/>
          <p:cNvSpPr/>
          <p:nvPr/>
        </p:nvSpPr>
        <p:spPr>
          <a:xfrm>
            <a:off x="432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Cluster — Organisation et rôles des nœuds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Text 3"/>
          <p:cNvSpPr/>
          <p:nvPr/>
        </p:nvSpPr>
        <p:spPr>
          <a:xfrm>
            <a:off x="320040" y="777240"/>
            <a:ext cx="85014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Un cluster = plusieurs nœuds (VM / containers) qui coopèrent pour distribuer stockage et requêtes.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274320" y="1280160"/>
            <a:ext cx="2557800" cy="7106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5"/>
          <p:cNvSpPr/>
          <p:nvPr/>
        </p:nvSpPr>
        <p:spPr>
          <a:xfrm>
            <a:off x="320040" y="1280160"/>
            <a:ext cx="24663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cluster-manager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6"/>
          <p:cNvSpPr/>
          <p:nvPr/>
        </p:nvSpPr>
        <p:spPr>
          <a:xfrm>
            <a:off x="2971800" y="1280160"/>
            <a:ext cx="5895360" cy="7106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7"/>
          <p:cNvSpPr/>
          <p:nvPr/>
        </p:nvSpPr>
        <p:spPr>
          <a:xfrm>
            <a:off x="2971800" y="1280160"/>
            <a:ext cx="61560" cy="7106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8"/>
          <p:cNvSpPr/>
          <p:nvPr/>
        </p:nvSpPr>
        <p:spPr>
          <a:xfrm>
            <a:off x="3127320" y="1371600"/>
            <a:ext cx="5666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Gestion du cluster state, élections, routage des shards. Anciennement « master ».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9"/>
          <p:cNvSpPr/>
          <p:nvPr/>
        </p:nvSpPr>
        <p:spPr>
          <a:xfrm>
            <a:off x="274320" y="2148840"/>
            <a:ext cx="2557800" cy="710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10"/>
          <p:cNvSpPr/>
          <p:nvPr/>
        </p:nvSpPr>
        <p:spPr>
          <a:xfrm>
            <a:off x="320040" y="2148840"/>
            <a:ext cx="24663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1"/>
          <p:cNvSpPr/>
          <p:nvPr/>
        </p:nvSpPr>
        <p:spPr>
          <a:xfrm>
            <a:off x="2971800" y="2148840"/>
            <a:ext cx="5895360" cy="7106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2"/>
          <p:cNvSpPr/>
          <p:nvPr/>
        </p:nvSpPr>
        <p:spPr>
          <a:xfrm>
            <a:off x="2971800" y="2148840"/>
            <a:ext cx="61560" cy="710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13"/>
          <p:cNvSpPr/>
          <p:nvPr/>
        </p:nvSpPr>
        <p:spPr>
          <a:xfrm>
            <a:off x="3127320" y="2240280"/>
            <a:ext cx="5666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Stockage des shards. Exécute les opérations d'indexation et de recherche localement.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4"/>
          <p:cNvSpPr/>
          <p:nvPr/>
        </p:nvSpPr>
        <p:spPr>
          <a:xfrm>
            <a:off x="274320" y="3017520"/>
            <a:ext cx="2557800" cy="710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5"/>
          <p:cNvSpPr/>
          <p:nvPr/>
        </p:nvSpPr>
        <p:spPr>
          <a:xfrm>
            <a:off x="320040" y="3017520"/>
            <a:ext cx="24663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ingest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6"/>
          <p:cNvSpPr/>
          <p:nvPr/>
        </p:nvSpPr>
        <p:spPr>
          <a:xfrm>
            <a:off x="2971800" y="3017520"/>
            <a:ext cx="5895360" cy="7106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7"/>
          <p:cNvSpPr/>
          <p:nvPr/>
        </p:nvSpPr>
        <p:spPr>
          <a:xfrm>
            <a:off x="2971800" y="3017520"/>
            <a:ext cx="61560" cy="710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18"/>
          <p:cNvSpPr/>
          <p:nvPr/>
        </p:nvSpPr>
        <p:spPr>
          <a:xfrm>
            <a:off x="3127320" y="3108960"/>
            <a:ext cx="5666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Pré-traitement des documents avant indexation (pipelines ingest, enrichissement).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19"/>
          <p:cNvSpPr/>
          <p:nvPr/>
        </p:nvSpPr>
        <p:spPr>
          <a:xfrm>
            <a:off x="274320" y="3886200"/>
            <a:ext cx="2557800" cy="710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20"/>
          <p:cNvSpPr/>
          <p:nvPr/>
        </p:nvSpPr>
        <p:spPr>
          <a:xfrm>
            <a:off x="320040" y="3886200"/>
            <a:ext cx="246636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coordinating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1"/>
          <p:cNvSpPr/>
          <p:nvPr/>
        </p:nvSpPr>
        <p:spPr>
          <a:xfrm>
            <a:off x="2971800" y="3886200"/>
            <a:ext cx="5895360" cy="7106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2"/>
          <p:cNvSpPr/>
          <p:nvPr/>
        </p:nvSpPr>
        <p:spPr>
          <a:xfrm>
            <a:off x="2971800" y="3886200"/>
            <a:ext cx="61560" cy="710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Text 23"/>
          <p:cNvSpPr/>
          <p:nvPr/>
        </p:nvSpPr>
        <p:spPr>
          <a:xfrm>
            <a:off x="3127320" y="3977640"/>
            <a:ext cx="56667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Reçoit les requêtes client, les distribue aux shards concernés et agrège les résultats.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Shards et Réplicas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3"/>
          <p:cNvSpPr/>
          <p:nvPr/>
        </p:nvSpPr>
        <p:spPr>
          <a:xfrm>
            <a:off x="274320" y="82296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576b"/>
                </a:solidFill>
                <a:latin typeface="Calibri"/>
                <a:ea typeface="Calibri"/>
              </a:rPr>
              <a:t>Primary Shards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4"/>
          <p:cNvSpPr/>
          <p:nvPr/>
        </p:nvSpPr>
        <p:spPr>
          <a:xfrm>
            <a:off x="274320" y="1234440"/>
            <a:ext cx="40208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Un index est découpé en N primary shards (partitionnement horizontal).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Text 5"/>
          <p:cNvSpPr/>
          <p:nvPr/>
        </p:nvSpPr>
        <p:spPr>
          <a:xfrm>
            <a:off x="274320" y="1828800"/>
            <a:ext cx="40208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Chaque shard = instance Lucene indépendante.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Text 6"/>
          <p:cNvSpPr/>
          <p:nvPr/>
        </p:nvSpPr>
        <p:spPr>
          <a:xfrm>
            <a:off x="274320" y="2423160"/>
            <a:ext cx="40208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Distribués sur les nœuds du cluster pour paralléliser stockage et requêtes.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Text 7"/>
          <p:cNvSpPr/>
          <p:nvPr/>
        </p:nvSpPr>
        <p:spPr>
          <a:xfrm>
            <a:off x="274320" y="3017520"/>
            <a:ext cx="40208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⚠  </a:t>
            </a: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Nombre de shards fixé à la création — décision structurante.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8"/>
          <p:cNvSpPr/>
          <p:nvPr/>
        </p:nvSpPr>
        <p:spPr>
          <a:xfrm>
            <a:off x="274320" y="3657600"/>
            <a:ext cx="4020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834a"/>
                </a:solidFill>
                <a:latin typeface="Calibri"/>
                <a:ea typeface="Calibri"/>
              </a:rPr>
              <a:t>Réplicas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9"/>
          <p:cNvSpPr/>
          <p:nvPr/>
        </p:nvSpPr>
        <p:spPr>
          <a:xfrm>
            <a:off x="274320" y="4069080"/>
            <a:ext cx="40208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Copies des primary shards → Haute Disponibilité + parallélisme lecture.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10"/>
          <p:cNvSpPr/>
          <p:nvPr/>
        </p:nvSpPr>
        <p:spPr>
          <a:xfrm>
            <a:off x="274320" y="4526280"/>
            <a:ext cx="40208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alibri"/>
              </a:rPr>
              <a:t>Réplication = coût stockage + amélioration perf lecture.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11"/>
          <p:cNvSpPr/>
          <p:nvPr/>
        </p:nvSpPr>
        <p:spPr>
          <a:xfrm>
            <a:off x="4663440" y="822960"/>
            <a:ext cx="4203720" cy="4066560"/>
          </a:xfrm>
          <a:prstGeom prst="rect">
            <a:avLst/>
          </a:prstGeom>
          <a:solidFill>
            <a:srgbClr val="eaf4f6"/>
          </a:solidFill>
          <a:ln w="12700">
            <a:solidFill>
              <a:srgbClr val="c0d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12"/>
          <p:cNvSpPr/>
          <p:nvPr/>
        </p:nvSpPr>
        <p:spPr>
          <a:xfrm rot="16200000">
            <a:off x="4466520" y="1055160"/>
            <a:ext cx="720000" cy="32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4a7480"/>
                </a:solidFill>
                <a:latin typeface="Calibri"/>
                <a:ea typeface="Calibri"/>
              </a:rPr>
              <a:t>CLUSTER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3"/>
          <p:cNvSpPr/>
          <p:nvPr/>
        </p:nvSpPr>
        <p:spPr>
          <a:xfrm>
            <a:off x="5074920" y="1005840"/>
            <a:ext cx="1140480" cy="347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4"/>
          <p:cNvSpPr/>
          <p:nvPr/>
        </p:nvSpPr>
        <p:spPr>
          <a:xfrm>
            <a:off x="5074920" y="1005840"/>
            <a:ext cx="1140480" cy="3175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15"/>
          <p:cNvSpPr/>
          <p:nvPr/>
        </p:nvSpPr>
        <p:spPr>
          <a:xfrm>
            <a:off x="5093280" y="1005840"/>
            <a:ext cx="11037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1 ★ MANAGER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6"/>
          <p:cNvSpPr/>
          <p:nvPr/>
        </p:nvSpPr>
        <p:spPr>
          <a:xfrm>
            <a:off x="5184720" y="1508760"/>
            <a:ext cx="920880" cy="6375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17"/>
          <p:cNvSpPr/>
          <p:nvPr/>
        </p:nvSpPr>
        <p:spPr>
          <a:xfrm>
            <a:off x="5184720" y="1508760"/>
            <a:ext cx="9208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8"/>
          <p:cNvSpPr/>
          <p:nvPr/>
        </p:nvSpPr>
        <p:spPr>
          <a:xfrm>
            <a:off x="5184720" y="2880360"/>
            <a:ext cx="920880" cy="637560"/>
          </a:xfrm>
          <a:prstGeom prst="rect">
            <a:avLst/>
          </a:prstGeom>
          <a:solidFill>
            <a:srgbClr val="eaf4f6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19"/>
          <p:cNvSpPr/>
          <p:nvPr/>
        </p:nvSpPr>
        <p:spPr>
          <a:xfrm>
            <a:off x="5184720" y="2880360"/>
            <a:ext cx="9208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20"/>
          <p:cNvSpPr/>
          <p:nvPr/>
        </p:nvSpPr>
        <p:spPr>
          <a:xfrm>
            <a:off x="6309360" y="1005840"/>
            <a:ext cx="1140480" cy="347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21"/>
          <p:cNvSpPr/>
          <p:nvPr/>
        </p:nvSpPr>
        <p:spPr>
          <a:xfrm>
            <a:off x="6309360" y="1005840"/>
            <a:ext cx="1140480" cy="317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22"/>
          <p:cNvSpPr/>
          <p:nvPr/>
        </p:nvSpPr>
        <p:spPr>
          <a:xfrm>
            <a:off x="6327720" y="1005840"/>
            <a:ext cx="11037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2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23"/>
          <p:cNvSpPr/>
          <p:nvPr/>
        </p:nvSpPr>
        <p:spPr>
          <a:xfrm>
            <a:off x="6419160" y="1508760"/>
            <a:ext cx="920880" cy="637560"/>
          </a:xfrm>
          <a:prstGeom prst="rect">
            <a:avLst/>
          </a:prstGeom>
          <a:solidFill>
            <a:srgbClr val="eaf4f6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Text 24"/>
          <p:cNvSpPr/>
          <p:nvPr/>
        </p:nvSpPr>
        <p:spPr>
          <a:xfrm>
            <a:off x="6419160" y="1508760"/>
            <a:ext cx="9208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25"/>
          <p:cNvSpPr/>
          <p:nvPr/>
        </p:nvSpPr>
        <p:spPr>
          <a:xfrm>
            <a:off x="6419160" y="2880360"/>
            <a:ext cx="920880" cy="6375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26"/>
          <p:cNvSpPr/>
          <p:nvPr/>
        </p:nvSpPr>
        <p:spPr>
          <a:xfrm>
            <a:off x="6419160" y="2880360"/>
            <a:ext cx="9208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27"/>
          <p:cNvSpPr/>
          <p:nvPr/>
        </p:nvSpPr>
        <p:spPr>
          <a:xfrm>
            <a:off x="7543800" y="1005840"/>
            <a:ext cx="1140480" cy="3472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8"/>
          <p:cNvSpPr/>
          <p:nvPr/>
        </p:nvSpPr>
        <p:spPr>
          <a:xfrm>
            <a:off x="7543800" y="1005840"/>
            <a:ext cx="1140480" cy="317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29"/>
          <p:cNvSpPr/>
          <p:nvPr/>
        </p:nvSpPr>
        <p:spPr>
          <a:xfrm>
            <a:off x="7562160" y="1005840"/>
            <a:ext cx="11037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3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30"/>
          <p:cNvSpPr/>
          <p:nvPr/>
        </p:nvSpPr>
        <p:spPr>
          <a:xfrm>
            <a:off x="7653600" y="1508760"/>
            <a:ext cx="920880" cy="637560"/>
          </a:xfrm>
          <a:prstGeom prst="rect">
            <a:avLst/>
          </a:prstGeom>
          <a:solidFill>
            <a:srgbClr val="00576b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31"/>
          <p:cNvSpPr/>
          <p:nvPr/>
        </p:nvSpPr>
        <p:spPr>
          <a:xfrm>
            <a:off x="7653600" y="1508760"/>
            <a:ext cx="9208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32"/>
          <p:cNvSpPr/>
          <p:nvPr/>
        </p:nvSpPr>
        <p:spPr>
          <a:xfrm>
            <a:off x="7653600" y="2880360"/>
            <a:ext cx="920880" cy="637560"/>
          </a:xfrm>
          <a:prstGeom prst="rect">
            <a:avLst/>
          </a:prstGeom>
          <a:solidFill>
            <a:srgbClr val="eaf4f6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Text 33"/>
          <p:cNvSpPr/>
          <p:nvPr/>
        </p:nvSpPr>
        <p:spPr>
          <a:xfrm>
            <a:off x="7653600" y="2880360"/>
            <a:ext cx="9208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229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Shape 1736"/>
          <p:cNvSpPr/>
          <p:nvPr/>
        </p:nvSpPr>
        <p:spPr>
          <a:xfrm>
            <a:off x="0" y="0"/>
            <a:ext cx="502560" cy="822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2016"/>
          <p:cNvSpPr/>
          <p:nvPr/>
        </p:nvSpPr>
        <p:spPr>
          <a:xfrm>
            <a:off x="640080" y="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Gestion des shards — Perte d'un nœud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2021"/>
          <p:cNvSpPr/>
          <p:nvPr/>
        </p:nvSpPr>
        <p:spPr>
          <a:xfrm>
            <a:off x="201240" y="9144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Avant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2023"/>
          <p:cNvSpPr/>
          <p:nvPr/>
        </p:nvSpPr>
        <p:spPr>
          <a:xfrm>
            <a:off x="3420000" y="914400"/>
            <a:ext cx="2700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Après (30 sec)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Shape 1907"/>
          <p:cNvSpPr/>
          <p:nvPr/>
        </p:nvSpPr>
        <p:spPr>
          <a:xfrm>
            <a:off x="201240" y="1225440"/>
            <a:ext cx="804240" cy="169128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2048"/>
          <p:cNvSpPr/>
          <p:nvPr/>
        </p:nvSpPr>
        <p:spPr>
          <a:xfrm>
            <a:off x="201240" y="126180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A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2161"/>
          <p:cNvSpPr/>
          <p:nvPr/>
        </p:nvSpPr>
        <p:spPr>
          <a:xfrm>
            <a:off x="274320" y="1527120"/>
            <a:ext cx="6580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2049"/>
          <p:cNvSpPr/>
          <p:nvPr/>
        </p:nvSpPr>
        <p:spPr>
          <a:xfrm>
            <a:off x="274320" y="152712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Shape 2162"/>
          <p:cNvSpPr/>
          <p:nvPr/>
        </p:nvSpPr>
        <p:spPr>
          <a:xfrm>
            <a:off x="274320" y="1947600"/>
            <a:ext cx="6580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2051"/>
          <p:cNvSpPr/>
          <p:nvPr/>
        </p:nvSpPr>
        <p:spPr>
          <a:xfrm>
            <a:off x="274320" y="194760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Shape 2165"/>
          <p:cNvSpPr/>
          <p:nvPr/>
        </p:nvSpPr>
        <p:spPr>
          <a:xfrm>
            <a:off x="274320" y="2368440"/>
            <a:ext cx="6580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2399"/>
          <p:cNvSpPr/>
          <p:nvPr/>
        </p:nvSpPr>
        <p:spPr>
          <a:xfrm>
            <a:off x="274320" y="236844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2176"/>
          <p:cNvSpPr/>
          <p:nvPr/>
        </p:nvSpPr>
        <p:spPr>
          <a:xfrm>
            <a:off x="1115640" y="1225440"/>
            <a:ext cx="804240" cy="169128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2412"/>
          <p:cNvSpPr/>
          <p:nvPr/>
        </p:nvSpPr>
        <p:spPr>
          <a:xfrm>
            <a:off x="1115640" y="126180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B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Shape 2177"/>
          <p:cNvSpPr/>
          <p:nvPr/>
        </p:nvSpPr>
        <p:spPr>
          <a:xfrm>
            <a:off x="1188720" y="1527120"/>
            <a:ext cx="6580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2436"/>
          <p:cNvSpPr/>
          <p:nvPr/>
        </p:nvSpPr>
        <p:spPr>
          <a:xfrm>
            <a:off x="1188720" y="152712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2178"/>
          <p:cNvSpPr/>
          <p:nvPr/>
        </p:nvSpPr>
        <p:spPr>
          <a:xfrm>
            <a:off x="1188720" y="1947600"/>
            <a:ext cx="6580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2437"/>
          <p:cNvSpPr/>
          <p:nvPr/>
        </p:nvSpPr>
        <p:spPr>
          <a:xfrm>
            <a:off x="1188720" y="194760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Shape 2179"/>
          <p:cNvSpPr/>
          <p:nvPr/>
        </p:nvSpPr>
        <p:spPr>
          <a:xfrm>
            <a:off x="1188720" y="2368440"/>
            <a:ext cx="6580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2438"/>
          <p:cNvSpPr/>
          <p:nvPr/>
        </p:nvSpPr>
        <p:spPr>
          <a:xfrm>
            <a:off x="1188720" y="236844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Shape 2180"/>
          <p:cNvSpPr/>
          <p:nvPr/>
        </p:nvSpPr>
        <p:spPr>
          <a:xfrm>
            <a:off x="2030040" y="1225440"/>
            <a:ext cx="804240" cy="1691280"/>
          </a:xfrm>
          <a:prstGeom prst="rect">
            <a:avLst/>
          </a:prstGeom>
          <a:solidFill>
            <a:srgbClr val="3a0000"/>
          </a:solidFill>
          <a:ln w="254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 2439"/>
          <p:cNvSpPr/>
          <p:nvPr/>
        </p:nvSpPr>
        <p:spPr>
          <a:xfrm>
            <a:off x="2030040" y="126180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f4444"/>
                </a:solidFill>
                <a:latin typeface="Calibri"/>
                <a:ea typeface="Calibri"/>
              </a:rPr>
              <a:t>Nœud C ✕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Shape 2181"/>
          <p:cNvSpPr/>
          <p:nvPr/>
        </p:nvSpPr>
        <p:spPr>
          <a:xfrm>
            <a:off x="2103120" y="1527120"/>
            <a:ext cx="658080" cy="34704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2440"/>
          <p:cNvSpPr/>
          <p:nvPr/>
        </p:nvSpPr>
        <p:spPr>
          <a:xfrm>
            <a:off x="2103120" y="152712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Shape 2182"/>
          <p:cNvSpPr/>
          <p:nvPr/>
        </p:nvSpPr>
        <p:spPr>
          <a:xfrm>
            <a:off x="2103120" y="1947600"/>
            <a:ext cx="658080" cy="34704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Text 2441"/>
          <p:cNvSpPr/>
          <p:nvPr/>
        </p:nvSpPr>
        <p:spPr>
          <a:xfrm>
            <a:off x="2103120" y="194760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Shape 2183"/>
          <p:cNvSpPr/>
          <p:nvPr/>
        </p:nvSpPr>
        <p:spPr>
          <a:xfrm>
            <a:off x="2103120" y="2368440"/>
            <a:ext cx="658080" cy="34704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2442"/>
          <p:cNvSpPr/>
          <p:nvPr/>
        </p:nvSpPr>
        <p:spPr>
          <a:xfrm>
            <a:off x="2103120" y="236844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2443"/>
          <p:cNvSpPr/>
          <p:nvPr/>
        </p:nvSpPr>
        <p:spPr>
          <a:xfrm>
            <a:off x="2944440" y="19112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 2444"/>
          <p:cNvSpPr/>
          <p:nvPr/>
        </p:nvSpPr>
        <p:spPr>
          <a:xfrm>
            <a:off x="2944440" y="2249280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834a"/>
                </a:solidFill>
                <a:latin typeface="Calibri"/>
                <a:ea typeface="Calibri"/>
              </a:rPr>
              <a:t>30s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Shape 2184"/>
          <p:cNvSpPr/>
          <p:nvPr/>
        </p:nvSpPr>
        <p:spPr>
          <a:xfrm>
            <a:off x="3547800" y="1225440"/>
            <a:ext cx="804240" cy="169128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2445"/>
          <p:cNvSpPr/>
          <p:nvPr/>
        </p:nvSpPr>
        <p:spPr>
          <a:xfrm>
            <a:off x="3547800" y="126180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A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Shape 2185"/>
          <p:cNvSpPr/>
          <p:nvPr/>
        </p:nvSpPr>
        <p:spPr>
          <a:xfrm>
            <a:off x="3620880" y="1527120"/>
            <a:ext cx="6580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2446"/>
          <p:cNvSpPr/>
          <p:nvPr/>
        </p:nvSpPr>
        <p:spPr>
          <a:xfrm>
            <a:off x="3620880" y="152712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2186"/>
          <p:cNvSpPr/>
          <p:nvPr/>
        </p:nvSpPr>
        <p:spPr>
          <a:xfrm>
            <a:off x="3620880" y="1947600"/>
            <a:ext cx="6580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2447"/>
          <p:cNvSpPr/>
          <p:nvPr/>
        </p:nvSpPr>
        <p:spPr>
          <a:xfrm>
            <a:off x="3620880" y="194760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Shape 2187"/>
          <p:cNvSpPr/>
          <p:nvPr/>
        </p:nvSpPr>
        <p:spPr>
          <a:xfrm>
            <a:off x="3620880" y="2368440"/>
            <a:ext cx="658080" cy="347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2448"/>
          <p:cNvSpPr/>
          <p:nvPr/>
        </p:nvSpPr>
        <p:spPr>
          <a:xfrm>
            <a:off x="3620880" y="236844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R2→P2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Shape 2188"/>
          <p:cNvSpPr/>
          <p:nvPr/>
        </p:nvSpPr>
        <p:spPr>
          <a:xfrm>
            <a:off x="4462200" y="1225440"/>
            <a:ext cx="804240" cy="169128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Text 2449"/>
          <p:cNvSpPr/>
          <p:nvPr/>
        </p:nvSpPr>
        <p:spPr>
          <a:xfrm>
            <a:off x="4462200" y="126180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B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Shape 2189"/>
          <p:cNvSpPr/>
          <p:nvPr/>
        </p:nvSpPr>
        <p:spPr>
          <a:xfrm>
            <a:off x="4535280" y="1527120"/>
            <a:ext cx="6580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2450"/>
          <p:cNvSpPr/>
          <p:nvPr/>
        </p:nvSpPr>
        <p:spPr>
          <a:xfrm>
            <a:off x="4535280" y="152712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Shape 2190"/>
          <p:cNvSpPr/>
          <p:nvPr/>
        </p:nvSpPr>
        <p:spPr>
          <a:xfrm>
            <a:off x="4535280" y="1947600"/>
            <a:ext cx="6580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Text 2451"/>
          <p:cNvSpPr/>
          <p:nvPr/>
        </p:nvSpPr>
        <p:spPr>
          <a:xfrm>
            <a:off x="4535280" y="194760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Shape 2191"/>
          <p:cNvSpPr/>
          <p:nvPr/>
        </p:nvSpPr>
        <p:spPr>
          <a:xfrm>
            <a:off x="4535280" y="2368440"/>
            <a:ext cx="6580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2452"/>
          <p:cNvSpPr/>
          <p:nvPr/>
        </p:nvSpPr>
        <p:spPr>
          <a:xfrm>
            <a:off x="4535280" y="2368440"/>
            <a:ext cx="65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Shape 2192"/>
          <p:cNvSpPr/>
          <p:nvPr/>
        </p:nvSpPr>
        <p:spPr>
          <a:xfrm>
            <a:off x="5376600" y="1225440"/>
            <a:ext cx="804240" cy="169128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2453"/>
          <p:cNvSpPr/>
          <p:nvPr/>
        </p:nvSpPr>
        <p:spPr>
          <a:xfrm>
            <a:off x="5376600" y="1261800"/>
            <a:ext cx="804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444444"/>
                </a:solidFill>
                <a:latin typeface="Calibri"/>
                <a:ea typeface="Calibri"/>
              </a:rPr>
              <a:t>Nœud C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2454"/>
          <p:cNvSpPr/>
          <p:nvPr/>
        </p:nvSpPr>
        <p:spPr>
          <a:xfrm>
            <a:off x="5376600" y="1956960"/>
            <a:ext cx="804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55555"/>
                </a:solidFill>
                <a:latin typeface="Calibri"/>
                <a:ea typeface="Calibri"/>
              </a:rPr>
              <a:t>hors ligne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Shape 2193"/>
          <p:cNvSpPr/>
          <p:nvPr/>
        </p:nvSpPr>
        <p:spPr>
          <a:xfrm>
            <a:off x="201240" y="3008520"/>
            <a:ext cx="273960" cy="200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2458"/>
          <p:cNvSpPr/>
          <p:nvPr/>
        </p:nvSpPr>
        <p:spPr>
          <a:xfrm>
            <a:off x="530280" y="30085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Primaire (P)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Shape 2194"/>
          <p:cNvSpPr/>
          <p:nvPr/>
        </p:nvSpPr>
        <p:spPr>
          <a:xfrm>
            <a:off x="1397520" y="3008520"/>
            <a:ext cx="273960" cy="200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0" name="Text 2459"/>
          <p:cNvSpPr/>
          <p:nvPr/>
        </p:nvSpPr>
        <p:spPr>
          <a:xfrm rot="21597000">
            <a:off x="1798560" y="3008160"/>
            <a:ext cx="784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Réplica (R)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Shape 2195"/>
          <p:cNvSpPr/>
          <p:nvPr/>
        </p:nvSpPr>
        <p:spPr>
          <a:xfrm>
            <a:off x="2845800" y="3008520"/>
            <a:ext cx="273960" cy="200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2460"/>
          <p:cNvSpPr/>
          <p:nvPr/>
        </p:nvSpPr>
        <p:spPr>
          <a:xfrm>
            <a:off x="3246840" y="30085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Réplica → promu Primaire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Shape 2196"/>
          <p:cNvSpPr/>
          <p:nvPr/>
        </p:nvSpPr>
        <p:spPr>
          <a:xfrm>
            <a:off x="5014080" y="3008520"/>
            <a:ext cx="273960" cy="200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Text 2461"/>
          <p:cNvSpPr/>
          <p:nvPr/>
        </p:nvSpPr>
        <p:spPr>
          <a:xfrm>
            <a:off x="5415120" y="3008520"/>
            <a:ext cx="820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Nœud perdu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2197"/>
          <p:cNvSpPr/>
          <p:nvPr/>
        </p:nvSpPr>
        <p:spPr>
          <a:xfrm>
            <a:off x="6400800" y="914400"/>
            <a:ext cx="2605680" cy="2372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2462"/>
          <p:cNvSpPr/>
          <p:nvPr/>
        </p:nvSpPr>
        <p:spPr>
          <a:xfrm>
            <a:off x="6869880" y="914400"/>
            <a:ext cx="249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Ce qui se passe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Shape 2198"/>
          <p:cNvSpPr/>
          <p:nvPr/>
        </p:nvSpPr>
        <p:spPr>
          <a:xfrm>
            <a:off x="6400800" y="1216080"/>
            <a:ext cx="237240" cy="237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Text 2463"/>
          <p:cNvSpPr/>
          <p:nvPr/>
        </p:nvSpPr>
        <p:spPr>
          <a:xfrm>
            <a:off x="6400800" y="12160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Text 2464"/>
          <p:cNvSpPr/>
          <p:nvPr/>
        </p:nvSpPr>
        <p:spPr>
          <a:xfrm>
            <a:off x="6693480" y="121608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Heartbeat timeout (~30s) : le cluster_manager détecte la perte du nœud.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Shape 2199"/>
          <p:cNvSpPr/>
          <p:nvPr/>
        </p:nvSpPr>
        <p:spPr>
          <a:xfrm>
            <a:off x="6400800" y="1710000"/>
            <a:ext cx="237240" cy="23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2465"/>
          <p:cNvSpPr/>
          <p:nvPr/>
        </p:nvSpPr>
        <p:spPr>
          <a:xfrm>
            <a:off x="6400800" y="17100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Text 2466"/>
          <p:cNvSpPr/>
          <p:nvPr/>
        </p:nvSpPr>
        <p:spPr>
          <a:xfrm>
            <a:off x="6693480" y="171000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Les réplicas des shards primaires perdus sont promus </a:t>
            </a: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immédiatement en nouveaux primaires.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3" name="Shape 2200"/>
          <p:cNvSpPr/>
          <p:nvPr/>
        </p:nvSpPr>
        <p:spPr>
          <a:xfrm>
            <a:off x="6400800" y="2203560"/>
            <a:ext cx="237240" cy="237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2467"/>
          <p:cNvSpPr/>
          <p:nvPr/>
        </p:nvSpPr>
        <p:spPr>
          <a:xfrm>
            <a:off x="6400800" y="220356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2468"/>
          <p:cNvSpPr/>
          <p:nvPr/>
        </p:nvSpPr>
        <p:spPr>
          <a:xfrm>
            <a:off x="6693480" y="220356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Les réplicas manquants (ceux qui étaient sur le nœud perdu) passent UNASSIGNED.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Shape 2201"/>
          <p:cNvSpPr/>
          <p:nvPr/>
        </p:nvSpPr>
        <p:spPr>
          <a:xfrm>
            <a:off x="6400800" y="2697480"/>
            <a:ext cx="237240" cy="2372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Text 2469"/>
          <p:cNvSpPr/>
          <p:nvPr/>
        </p:nvSpPr>
        <p:spPr>
          <a:xfrm>
            <a:off x="6400800" y="269748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2470"/>
          <p:cNvSpPr/>
          <p:nvPr/>
        </p:nvSpPr>
        <p:spPr>
          <a:xfrm>
            <a:off x="6693480" y="266148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Après le délai delayed_timeout (1 min), la recovery démarre : copie depuis les primaires.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Shape 2202"/>
          <p:cNvSpPr/>
          <p:nvPr/>
        </p:nvSpPr>
        <p:spPr>
          <a:xfrm>
            <a:off x="6400800" y="3191400"/>
            <a:ext cx="237240" cy="237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0" name="Text 2471"/>
          <p:cNvSpPr/>
          <p:nvPr/>
        </p:nvSpPr>
        <p:spPr>
          <a:xfrm>
            <a:off x="6400800" y="3191400"/>
            <a:ext cx="237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 2472"/>
          <p:cNvSpPr/>
          <p:nvPr/>
        </p:nvSpPr>
        <p:spPr>
          <a:xfrm>
            <a:off x="6693480" y="3191400"/>
            <a:ext cx="2276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Cluster revient GREEN quand tous les réplicas sont reconstruits.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Shape 2203"/>
          <p:cNvSpPr/>
          <p:nvPr/>
        </p:nvSpPr>
        <p:spPr>
          <a:xfrm>
            <a:off x="182880" y="4736520"/>
            <a:ext cx="8777880" cy="38376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2473"/>
          <p:cNvSpPr/>
          <p:nvPr/>
        </p:nvSpPr>
        <p:spPr>
          <a:xfrm>
            <a:off x="292680" y="473652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⚙ 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index.unassigned.node_left.delayed_timeout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 (défaut 1m) — délai avant recovery pour laisser le nœud redémarrer. Réduire à 0 pour recovery immédiate.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2204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5" name="Shape 2205"/>
          <p:cNvSpPr/>
          <p:nvPr/>
        </p:nvSpPr>
        <p:spPr>
          <a:xfrm>
            <a:off x="0" y="0"/>
            <a:ext cx="502560" cy="822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6" name="Text 2474"/>
          <p:cNvSpPr/>
          <p:nvPr/>
        </p:nvSpPr>
        <p:spPr>
          <a:xfrm>
            <a:off x="640080" y="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Gestion des shards — Arrivée d'un nouveau nœud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2475"/>
          <p:cNvSpPr/>
          <p:nvPr/>
        </p:nvSpPr>
        <p:spPr>
          <a:xfrm>
            <a:off x="201240" y="9144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Avant (2 nœuds)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Text 2476"/>
          <p:cNvSpPr/>
          <p:nvPr/>
        </p:nvSpPr>
        <p:spPr>
          <a:xfrm>
            <a:off x="4462200" y="914400"/>
            <a:ext cx="4498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Après rebalancing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Shape 2206"/>
          <p:cNvSpPr/>
          <p:nvPr/>
        </p:nvSpPr>
        <p:spPr>
          <a:xfrm>
            <a:off x="201240" y="1225440"/>
            <a:ext cx="1078560" cy="21027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Text 2477"/>
          <p:cNvSpPr/>
          <p:nvPr/>
        </p:nvSpPr>
        <p:spPr>
          <a:xfrm>
            <a:off x="201240" y="1261800"/>
            <a:ext cx="1078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A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2207"/>
          <p:cNvSpPr/>
          <p:nvPr/>
        </p:nvSpPr>
        <p:spPr>
          <a:xfrm>
            <a:off x="292680" y="1527120"/>
            <a:ext cx="8956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2478"/>
          <p:cNvSpPr/>
          <p:nvPr/>
        </p:nvSpPr>
        <p:spPr>
          <a:xfrm>
            <a:off x="292680" y="152712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Shape 2208"/>
          <p:cNvSpPr/>
          <p:nvPr/>
        </p:nvSpPr>
        <p:spPr>
          <a:xfrm>
            <a:off x="292680" y="1947600"/>
            <a:ext cx="8956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Text 2479"/>
          <p:cNvSpPr/>
          <p:nvPr/>
        </p:nvSpPr>
        <p:spPr>
          <a:xfrm>
            <a:off x="292680" y="194760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2209"/>
          <p:cNvSpPr/>
          <p:nvPr/>
        </p:nvSpPr>
        <p:spPr>
          <a:xfrm>
            <a:off x="292680" y="2368440"/>
            <a:ext cx="8956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2480"/>
          <p:cNvSpPr/>
          <p:nvPr/>
        </p:nvSpPr>
        <p:spPr>
          <a:xfrm>
            <a:off x="292680" y="236844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Shape 2210"/>
          <p:cNvSpPr/>
          <p:nvPr/>
        </p:nvSpPr>
        <p:spPr>
          <a:xfrm>
            <a:off x="292680" y="2788920"/>
            <a:ext cx="8956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Text 2481"/>
          <p:cNvSpPr/>
          <p:nvPr/>
        </p:nvSpPr>
        <p:spPr>
          <a:xfrm>
            <a:off x="292680" y="278892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9" name="Shape 2211"/>
          <p:cNvSpPr/>
          <p:nvPr/>
        </p:nvSpPr>
        <p:spPr>
          <a:xfrm>
            <a:off x="1481400" y="1225440"/>
            <a:ext cx="1078560" cy="21027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2482"/>
          <p:cNvSpPr/>
          <p:nvPr/>
        </p:nvSpPr>
        <p:spPr>
          <a:xfrm>
            <a:off x="1481400" y="1261800"/>
            <a:ext cx="1078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B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Shape 2212"/>
          <p:cNvSpPr/>
          <p:nvPr/>
        </p:nvSpPr>
        <p:spPr>
          <a:xfrm>
            <a:off x="1572840" y="1527120"/>
            <a:ext cx="8956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2" name="Text 2483"/>
          <p:cNvSpPr/>
          <p:nvPr/>
        </p:nvSpPr>
        <p:spPr>
          <a:xfrm>
            <a:off x="1572840" y="152712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2213"/>
          <p:cNvSpPr/>
          <p:nvPr/>
        </p:nvSpPr>
        <p:spPr>
          <a:xfrm>
            <a:off x="1572840" y="1947600"/>
            <a:ext cx="89568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2484"/>
          <p:cNvSpPr/>
          <p:nvPr/>
        </p:nvSpPr>
        <p:spPr>
          <a:xfrm>
            <a:off x="1572840" y="194760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Shape 2214"/>
          <p:cNvSpPr/>
          <p:nvPr/>
        </p:nvSpPr>
        <p:spPr>
          <a:xfrm>
            <a:off x="1572840" y="2368440"/>
            <a:ext cx="8956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2485"/>
          <p:cNvSpPr/>
          <p:nvPr/>
        </p:nvSpPr>
        <p:spPr>
          <a:xfrm>
            <a:off x="1572840" y="236844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2215"/>
          <p:cNvSpPr/>
          <p:nvPr/>
        </p:nvSpPr>
        <p:spPr>
          <a:xfrm>
            <a:off x="1572840" y="2788920"/>
            <a:ext cx="89568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2486"/>
          <p:cNvSpPr/>
          <p:nvPr/>
        </p:nvSpPr>
        <p:spPr>
          <a:xfrm>
            <a:off x="1572840" y="2788920"/>
            <a:ext cx="895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Text 2487"/>
          <p:cNvSpPr/>
          <p:nvPr/>
        </p:nvSpPr>
        <p:spPr>
          <a:xfrm>
            <a:off x="201240" y="3563280"/>
            <a:ext cx="2358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4 shards chacun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2488"/>
          <p:cNvSpPr/>
          <p:nvPr/>
        </p:nvSpPr>
        <p:spPr>
          <a:xfrm>
            <a:off x="2834640" y="204840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2e7d32"/>
                </a:solidFill>
                <a:latin typeface="Calibri"/>
                <a:ea typeface="Calibri"/>
              </a:rPr>
              <a:t>→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Text 2489"/>
          <p:cNvSpPr/>
          <p:nvPr/>
        </p:nvSpPr>
        <p:spPr>
          <a:xfrm>
            <a:off x="2743200" y="2432160"/>
            <a:ext cx="685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Nœud C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Text 2490"/>
          <p:cNvSpPr/>
          <p:nvPr/>
        </p:nvSpPr>
        <p:spPr>
          <a:xfrm>
            <a:off x="2743200" y="2633400"/>
            <a:ext cx="685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rejoint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Shape 2216"/>
          <p:cNvSpPr/>
          <p:nvPr/>
        </p:nvSpPr>
        <p:spPr>
          <a:xfrm>
            <a:off x="4462200" y="1225440"/>
            <a:ext cx="1023840" cy="21027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2491"/>
          <p:cNvSpPr/>
          <p:nvPr/>
        </p:nvSpPr>
        <p:spPr>
          <a:xfrm>
            <a:off x="4462200" y="1261800"/>
            <a:ext cx="1023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A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2217"/>
          <p:cNvSpPr/>
          <p:nvPr/>
        </p:nvSpPr>
        <p:spPr>
          <a:xfrm>
            <a:off x="4535280" y="1527120"/>
            <a:ext cx="87732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Text 2492"/>
          <p:cNvSpPr/>
          <p:nvPr/>
        </p:nvSpPr>
        <p:spPr>
          <a:xfrm>
            <a:off x="4535280" y="152712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Shape 2218"/>
          <p:cNvSpPr/>
          <p:nvPr/>
        </p:nvSpPr>
        <p:spPr>
          <a:xfrm>
            <a:off x="4535280" y="1947600"/>
            <a:ext cx="87732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2493"/>
          <p:cNvSpPr/>
          <p:nvPr/>
        </p:nvSpPr>
        <p:spPr>
          <a:xfrm>
            <a:off x="4535280" y="194760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2219"/>
          <p:cNvSpPr/>
          <p:nvPr/>
        </p:nvSpPr>
        <p:spPr>
          <a:xfrm>
            <a:off x="4535280" y="2368440"/>
            <a:ext cx="87732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Text 2494"/>
          <p:cNvSpPr/>
          <p:nvPr/>
        </p:nvSpPr>
        <p:spPr>
          <a:xfrm>
            <a:off x="4535280" y="236844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2495"/>
          <p:cNvSpPr/>
          <p:nvPr/>
        </p:nvSpPr>
        <p:spPr>
          <a:xfrm>
            <a:off x="4462200" y="3563280"/>
            <a:ext cx="1023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3 shards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Shape 2220"/>
          <p:cNvSpPr/>
          <p:nvPr/>
        </p:nvSpPr>
        <p:spPr>
          <a:xfrm>
            <a:off x="5596200" y="1225440"/>
            <a:ext cx="1023840" cy="21027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3" name="Text 2496"/>
          <p:cNvSpPr/>
          <p:nvPr/>
        </p:nvSpPr>
        <p:spPr>
          <a:xfrm>
            <a:off x="5596200" y="1261800"/>
            <a:ext cx="1023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Nœud B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Shape 2221"/>
          <p:cNvSpPr/>
          <p:nvPr/>
        </p:nvSpPr>
        <p:spPr>
          <a:xfrm>
            <a:off x="5669280" y="1527120"/>
            <a:ext cx="877320" cy="347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5" name="Text 2497"/>
          <p:cNvSpPr/>
          <p:nvPr/>
        </p:nvSpPr>
        <p:spPr>
          <a:xfrm>
            <a:off x="5669280" y="152712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6" name="Shape 2222"/>
          <p:cNvSpPr/>
          <p:nvPr/>
        </p:nvSpPr>
        <p:spPr>
          <a:xfrm>
            <a:off x="5669280" y="1947600"/>
            <a:ext cx="87732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7" name="Text 2498"/>
          <p:cNvSpPr/>
          <p:nvPr/>
        </p:nvSpPr>
        <p:spPr>
          <a:xfrm>
            <a:off x="5669280" y="194760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2223"/>
          <p:cNvSpPr/>
          <p:nvPr/>
        </p:nvSpPr>
        <p:spPr>
          <a:xfrm>
            <a:off x="5669280" y="2368440"/>
            <a:ext cx="877320" cy="34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499"/>
          <p:cNvSpPr/>
          <p:nvPr/>
        </p:nvSpPr>
        <p:spPr>
          <a:xfrm>
            <a:off x="5669280" y="236844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2500"/>
          <p:cNvSpPr/>
          <p:nvPr/>
        </p:nvSpPr>
        <p:spPr>
          <a:xfrm>
            <a:off x="5596200" y="3563280"/>
            <a:ext cx="1023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3 shards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Shape 2224"/>
          <p:cNvSpPr/>
          <p:nvPr/>
        </p:nvSpPr>
        <p:spPr>
          <a:xfrm>
            <a:off x="6729840" y="1225440"/>
            <a:ext cx="1023840" cy="2102760"/>
          </a:xfrm>
          <a:prstGeom prst="rect">
            <a:avLst/>
          </a:prstGeom>
          <a:solidFill>
            <a:srgbClr val="005060"/>
          </a:solidFill>
          <a:ln w="254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Text 2501"/>
          <p:cNvSpPr/>
          <p:nvPr/>
        </p:nvSpPr>
        <p:spPr>
          <a:xfrm>
            <a:off x="6729840" y="1261800"/>
            <a:ext cx="1023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Nœud C ★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Shape 2225"/>
          <p:cNvSpPr/>
          <p:nvPr/>
        </p:nvSpPr>
        <p:spPr>
          <a:xfrm>
            <a:off x="6803280" y="1527120"/>
            <a:ext cx="877320" cy="347040"/>
          </a:xfrm>
          <a:prstGeom prst="rect">
            <a:avLst/>
          </a:prstGeom>
          <a:solidFill>
            <a:srgbClr val="1a5040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Text 2502"/>
          <p:cNvSpPr/>
          <p:nvPr/>
        </p:nvSpPr>
        <p:spPr>
          <a:xfrm>
            <a:off x="6803280" y="152712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Shape 2226"/>
          <p:cNvSpPr/>
          <p:nvPr/>
        </p:nvSpPr>
        <p:spPr>
          <a:xfrm>
            <a:off x="6803280" y="1947600"/>
            <a:ext cx="877320" cy="347040"/>
          </a:xfrm>
          <a:prstGeom prst="rect">
            <a:avLst/>
          </a:prstGeom>
          <a:solidFill>
            <a:srgbClr val="0d3545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Text 2503"/>
          <p:cNvSpPr/>
          <p:nvPr/>
        </p:nvSpPr>
        <p:spPr>
          <a:xfrm>
            <a:off x="6803280" y="194760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2227"/>
          <p:cNvSpPr/>
          <p:nvPr/>
        </p:nvSpPr>
        <p:spPr>
          <a:xfrm>
            <a:off x="6803280" y="2368440"/>
            <a:ext cx="877320" cy="347040"/>
          </a:xfrm>
          <a:prstGeom prst="rect">
            <a:avLst/>
          </a:prstGeom>
          <a:solidFill>
            <a:srgbClr val="0d3545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2504"/>
          <p:cNvSpPr/>
          <p:nvPr/>
        </p:nvSpPr>
        <p:spPr>
          <a:xfrm>
            <a:off x="6803280" y="2368440"/>
            <a:ext cx="877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2505"/>
          <p:cNvSpPr/>
          <p:nvPr/>
        </p:nvSpPr>
        <p:spPr>
          <a:xfrm>
            <a:off x="6729840" y="3563280"/>
            <a:ext cx="1023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★ </a:t>
            </a:r>
            <a:r>
              <a:rPr b="0" i="1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nouveau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Text 2506"/>
          <p:cNvSpPr/>
          <p:nvPr/>
        </p:nvSpPr>
        <p:spPr>
          <a:xfrm>
            <a:off x="7827120" y="157284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834a"/>
                </a:solidFill>
                <a:latin typeface="Calibri"/>
                <a:ea typeface="Calibri"/>
              </a:rPr>
              <a:t>RELOCATING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2228"/>
          <p:cNvSpPr/>
          <p:nvPr/>
        </p:nvSpPr>
        <p:spPr>
          <a:xfrm>
            <a:off x="7772400" y="1581840"/>
            <a:ext cx="54360" cy="237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2507"/>
          <p:cNvSpPr/>
          <p:nvPr/>
        </p:nvSpPr>
        <p:spPr>
          <a:xfrm>
            <a:off x="7827120" y="199332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8834a"/>
                </a:solidFill>
                <a:latin typeface="Calibri"/>
                <a:ea typeface="Calibri"/>
              </a:rPr>
              <a:t>RELOCATING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Shape 2229"/>
          <p:cNvSpPr/>
          <p:nvPr/>
        </p:nvSpPr>
        <p:spPr>
          <a:xfrm>
            <a:off x="7772400" y="2002680"/>
            <a:ext cx="54360" cy="237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2508"/>
          <p:cNvSpPr/>
          <p:nvPr/>
        </p:nvSpPr>
        <p:spPr>
          <a:xfrm>
            <a:off x="7772400" y="2688480"/>
            <a:ext cx="127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e7d32"/>
                </a:solidFill>
                <a:latin typeface="Calibri"/>
                <a:ea typeface="Calibri"/>
              </a:rPr>
              <a:t>Cluster : GREEN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e7d32"/>
                </a:solidFill>
                <a:latin typeface="Calibri"/>
                <a:ea typeface="Calibri"/>
              </a:rPr>
              <a:t>tout le long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Text 2509"/>
          <p:cNvSpPr/>
          <p:nvPr/>
        </p:nvSpPr>
        <p:spPr>
          <a:xfrm>
            <a:off x="201240" y="3272400"/>
            <a:ext cx="875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10152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États de shard à surveiller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Shape 2230"/>
          <p:cNvSpPr/>
          <p:nvPr/>
        </p:nvSpPr>
        <p:spPr>
          <a:xfrm>
            <a:off x="201240" y="3563280"/>
            <a:ext cx="8759520" cy="3286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Shape 2231"/>
          <p:cNvSpPr/>
          <p:nvPr/>
        </p:nvSpPr>
        <p:spPr>
          <a:xfrm>
            <a:off x="201240" y="3563280"/>
            <a:ext cx="1279800" cy="328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8" name="Text 2510"/>
          <p:cNvSpPr/>
          <p:nvPr/>
        </p:nvSpPr>
        <p:spPr>
          <a:xfrm>
            <a:off x="201240" y="356328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STARTED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2511"/>
          <p:cNvSpPr/>
          <p:nvPr/>
        </p:nvSpPr>
        <p:spPr>
          <a:xfrm>
            <a:off x="1536120" y="356328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Shard actif et opérationnel.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2512"/>
          <p:cNvSpPr/>
          <p:nvPr/>
        </p:nvSpPr>
        <p:spPr>
          <a:xfrm>
            <a:off x="5614560" y="356328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_cat/shards?v&amp;h=index,shard,prirep,state,node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Shape 2232"/>
          <p:cNvSpPr/>
          <p:nvPr/>
        </p:nvSpPr>
        <p:spPr>
          <a:xfrm>
            <a:off x="201240" y="3826800"/>
            <a:ext cx="8759520" cy="32868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Shape 2233"/>
          <p:cNvSpPr/>
          <p:nvPr/>
        </p:nvSpPr>
        <p:spPr>
          <a:xfrm>
            <a:off x="201240" y="3826800"/>
            <a:ext cx="1279800" cy="3286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Text 2513"/>
          <p:cNvSpPr/>
          <p:nvPr/>
        </p:nvSpPr>
        <p:spPr>
          <a:xfrm>
            <a:off x="201240" y="382680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INITIALIZING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2514"/>
          <p:cNvSpPr/>
          <p:nvPr/>
        </p:nvSpPr>
        <p:spPr>
          <a:xfrm>
            <a:off x="1536120" y="382680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En cours de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copie/récupération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depuis un autre nœud.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Text 2515"/>
          <p:cNvSpPr/>
          <p:nvPr/>
        </p:nvSpPr>
        <p:spPr>
          <a:xfrm>
            <a:off x="5614560" y="382680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_cat/recovery?v&amp;active_only=true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Shape 2234"/>
          <p:cNvSpPr/>
          <p:nvPr/>
        </p:nvSpPr>
        <p:spPr>
          <a:xfrm>
            <a:off x="201240" y="4090320"/>
            <a:ext cx="8759520" cy="32868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2235"/>
          <p:cNvSpPr/>
          <p:nvPr/>
        </p:nvSpPr>
        <p:spPr>
          <a:xfrm>
            <a:off x="201240" y="4090320"/>
            <a:ext cx="1279800" cy="328680"/>
          </a:xfrm>
          <a:prstGeom prst="rect">
            <a:avLst/>
          </a:prstGeom>
          <a:solidFill>
            <a:srgbClr val="b07000"/>
          </a:solidFill>
          <a:ln w="12700">
            <a:solidFill>
              <a:srgbClr val="b0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Text 2516"/>
          <p:cNvSpPr/>
          <p:nvPr/>
        </p:nvSpPr>
        <p:spPr>
          <a:xfrm>
            <a:off x="201240" y="409032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RELOCATING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2517"/>
          <p:cNvSpPr/>
          <p:nvPr/>
        </p:nvSpPr>
        <p:spPr>
          <a:xfrm>
            <a:off x="1536120" y="409032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En cours de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déplacement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vers un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nouveau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nœud.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2518"/>
          <p:cNvSpPr/>
          <p:nvPr/>
        </p:nvSpPr>
        <p:spPr>
          <a:xfrm>
            <a:off x="5614560" y="409032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_cat/shards?v  (chercher RELOCATING)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2236"/>
          <p:cNvSpPr/>
          <p:nvPr/>
        </p:nvSpPr>
        <p:spPr>
          <a:xfrm>
            <a:off x="201240" y="4353840"/>
            <a:ext cx="8759520" cy="32868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2237"/>
          <p:cNvSpPr/>
          <p:nvPr/>
        </p:nvSpPr>
        <p:spPr>
          <a:xfrm>
            <a:off x="201240" y="4353840"/>
            <a:ext cx="1279800" cy="32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2519"/>
          <p:cNvSpPr/>
          <p:nvPr/>
        </p:nvSpPr>
        <p:spPr>
          <a:xfrm>
            <a:off x="201240" y="4353840"/>
            <a:ext cx="1279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UNASSIGNED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2520"/>
          <p:cNvSpPr/>
          <p:nvPr/>
        </p:nvSpPr>
        <p:spPr>
          <a:xfrm>
            <a:off x="1536120" y="435384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Non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alloué —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cluster en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attente ou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en erreur.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Text 2521"/>
          <p:cNvSpPr/>
          <p:nvPr/>
        </p:nvSpPr>
        <p:spPr>
          <a:xfrm>
            <a:off x="5614560" y="4353840"/>
            <a:ext cx="3200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_cluster/allocation/explain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2238"/>
          <p:cNvSpPr/>
          <p:nvPr/>
        </p:nvSpPr>
        <p:spPr>
          <a:xfrm>
            <a:off x="182880" y="4736520"/>
            <a:ext cx="8777880" cy="38376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Text 2522"/>
          <p:cNvSpPr/>
          <p:nvPr/>
        </p:nvSpPr>
        <p:spPr>
          <a:xfrm>
            <a:off x="292680" y="4736520"/>
            <a:ext cx="8595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⚙ 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cluster.routing.rebalance.enable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 (all | primaries | none) — contrôle si OpenSearch rééquilibre automatiquement à l'arrivée d'un nœud.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9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Cycle d'indexation : du JSON au segment Lucene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3"/>
          <p:cNvSpPr/>
          <p:nvPr/>
        </p:nvSpPr>
        <p:spPr>
          <a:xfrm>
            <a:off x="530280" y="1526760"/>
            <a:ext cx="360" cy="164880"/>
          </a:xfrm>
          <a:prstGeom prst="line">
            <a:avLst/>
          </a:prstGeom>
          <a:ln w="254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4"/>
          <p:cNvSpPr/>
          <p:nvPr/>
        </p:nvSpPr>
        <p:spPr>
          <a:xfrm>
            <a:off x="274320" y="960120"/>
            <a:ext cx="500400" cy="50040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Text 5"/>
          <p:cNvSpPr/>
          <p:nvPr/>
        </p:nvSpPr>
        <p:spPr>
          <a:xfrm>
            <a:off x="274320" y="96012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6"/>
          <p:cNvSpPr/>
          <p:nvPr/>
        </p:nvSpPr>
        <p:spPr>
          <a:xfrm>
            <a:off x="914400" y="868680"/>
            <a:ext cx="7861320" cy="6559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7"/>
          <p:cNvSpPr/>
          <p:nvPr/>
        </p:nvSpPr>
        <p:spPr>
          <a:xfrm>
            <a:off x="914400" y="868680"/>
            <a:ext cx="6156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6" name="Text 8"/>
          <p:cNvSpPr/>
          <p:nvPr/>
        </p:nvSpPr>
        <p:spPr>
          <a:xfrm>
            <a:off x="1078920" y="923400"/>
            <a:ext cx="200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834a"/>
                </a:solidFill>
                <a:latin typeface="Calibri"/>
                <a:ea typeface="Calibri"/>
              </a:rPr>
              <a:t>Réception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Text 9"/>
          <p:cNvSpPr/>
          <p:nvPr/>
        </p:nvSpPr>
        <p:spPr>
          <a:xfrm>
            <a:off x="3200400" y="941760"/>
            <a:ext cx="548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Bulk / Index API reçoit le document JSON. Routage vers le shard primaire responsable.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0"/>
          <p:cNvSpPr/>
          <p:nvPr/>
        </p:nvSpPr>
        <p:spPr>
          <a:xfrm>
            <a:off x="3154680" y="960120"/>
            <a:ext cx="360" cy="47520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11"/>
          <p:cNvSpPr/>
          <p:nvPr/>
        </p:nvSpPr>
        <p:spPr>
          <a:xfrm>
            <a:off x="530280" y="2349720"/>
            <a:ext cx="360" cy="164880"/>
          </a:xfrm>
          <a:prstGeom prst="line">
            <a:avLst/>
          </a:prstGeom>
          <a:ln w="254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12"/>
          <p:cNvSpPr/>
          <p:nvPr/>
        </p:nvSpPr>
        <p:spPr>
          <a:xfrm>
            <a:off x="274320" y="1783080"/>
            <a:ext cx="500400" cy="5004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Text 13"/>
          <p:cNvSpPr/>
          <p:nvPr/>
        </p:nvSpPr>
        <p:spPr>
          <a:xfrm>
            <a:off x="274320" y="178308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4"/>
          <p:cNvSpPr/>
          <p:nvPr/>
        </p:nvSpPr>
        <p:spPr>
          <a:xfrm>
            <a:off x="914400" y="1691640"/>
            <a:ext cx="7861320" cy="6559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5"/>
          <p:cNvSpPr/>
          <p:nvPr/>
        </p:nvSpPr>
        <p:spPr>
          <a:xfrm>
            <a:off x="914400" y="1691640"/>
            <a:ext cx="61560" cy="655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Text 16"/>
          <p:cNvSpPr/>
          <p:nvPr/>
        </p:nvSpPr>
        <p:spPr>
          <a:xfrm>
            <a:off x="1078920" y="1746360"/>
            <a:ext cx="200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7a8a"/>
                </a:solidFill>
                <a:latin typeface="Calibri"/>
                <a:ea typeface="Calibri"/>
              </a:rPr>
              <a:t>Ingest Pipeline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Text 17"/>
          <p:cNvSpPr/>
          <p:nvPr/>
        </p:nvSpPr>
        <p:spPr>
          <a:xfrm>
            <a:off x="3200400" y="1764720"/>
            <a:ext cx="548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Optionnel : transformation, enrichissement, grok, date parsing, géolocalisation…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8"/>
          <p:cNvSpPr/>
          <p:nvPr/>
        </p:nvSpPr>
        <p:spPr>
          <a:xfrm>
            <a:off x="3154680" y="1783080"/>
            <a:ext cx="360" cy="47520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9"/>
          <p:cNvSpPr/>
          <p:nvPr/>
        </p:nvSpPr>
        <p:spPr>
          <a:xfrm>
            <a:off x="530280" y="3172680"/>
            <a:ext cx="360" cy="164880"/>
          </a:xfrm>
          <a:prstGeom prst="line">
            <a:avLst/>
          </a:prstGeom>
          <a:ln w="254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20"/>
          <p:cNvSpPr/>
          <p:nvPr/>
        </p:nvSpPr>
        <p:spPr>
          <a:xfrm>
            <a:off x="274320" y="2606040"/>
            <a:ext cx="500400" cy="50040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9" name="Text 21"/>
          <p:cNvSpPr/>
          <p:nvPr/>
        </p:nvSpPr>
        <p:spPr>
          <a:xfrm>
            <a:off x="274320" y="260604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22"/>
          <p:cNvSpPr/>
          <p:nvPr/>
        </p:nvSpPr>
        <p:spPr>
          <a:xfrm>
            <a:off x="914400" y="2514600"/>
            <a:ext cx="7861320" cy="6559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23"/>
          <p:cNvSpPr/>
          <p:nvPr/>
        </p:nvSpPr>
        <p:spPr>
          <a:xfrm>
            <a:off x="914400" y="2514600"/>
            <a:ext cx="6156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24"/>
          <p:cNvSpPr/>
          <p:nvPr/>
        </p:nvSpPr>
        <p:spPr>
          <a:xfrm>
            <a:off x="1078920" y="2569320"/>
            <a:ext cx="200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76b"/>
                </a:solidFill>
                <a:latin typeface="Calibri"/>
                <a:ea typeface="Calibri"/>
              </a:rPr>
              <a:t>Analyse textuelle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25"/>
          <p:cNvSpPr/>
          <p:nvPr/>
        </p:nvSpPr>
        <p:spPr>
          <a:xfrm>
            <a:off x="3200400" y="2587680"/>
            <a:ext cx="548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Tokenisation, lowercasing, stemming, suppression stop words → termes indexés.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26"/>
          <p:cNvSpPr/>
          <p:nvPr/>
        </p:nvSpPr>
        <p:spPr>
          <a:xfrm>
            <a:off x="3154680" y="2606040"/>
            <a:ext cx="360" cy="47520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27"/>
          <p:cNvSpPr/>
          <p:nvPr/>
        </p:nvSpPr>
        <p:spPr>
          <a:xfrm>
            <a:off x="530280" y="3995640"/>
            <a:ext cx="360" cy="164880"/>
          </a:xfrm>
          <a:prstGeom prst="line">
            <a:avLst/>
          </a:prstGeom>
          <a:ln w="254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28"/>
          <p:cNvSpPr/>
          <p:nvPr/>
        </p:nvSpPr>
        <p:spPr>
          <a:xfrm>
            <a:off x="274320" y="3429000"/>
            <a:ext cx="500400" cy="50040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Text 29"/>
          <p:cNvSpPr/>
          <p:nvPr/>
        </p:nvSpPr>
        <p:spPr>
          <a:xfrm>
            <a:off x="274320" y="342900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30"/>
          <p:cNvSpPr/>
          <p:nvPr/>
        </p:nvSpPr>
        <p:spPr>
          <a:xfrm>
            <a:off x="914400" y="3337560"/>
            <a:ext cx="7861320" cy="6559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1"/>
          <p:cNvSpPr/>
          <p:nvPr/>
        </p:nvSpPr>
        <p:spPr>
          <a:xfrm>
            <a:off x="914400" y="3337560"/>
            <a:ext cx="6156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Text 32"/>
          <p:cNvSpPr/>
          <p:nvPr/>
        </p:nvSpPr>
        <p:spPr>
          <a:xfrm>
            <a:off x="1078920" y="3392280"/>
            <a:ext cx="200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76b"/>
                </a:solidFill>
                <a:latin typeface="Calibri"/>
                <a:ea typeface="Calibri"/>
              </a:rPr>
              <a:t>Écriture Lucene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Text 33"/>
          <p:cNvSpPr/>
          <p:nvPr/>
        </p:nvSpPr>
        <p:spPr>
          <a:xfrm>
            <a:off x="3200400" y="3410640"/>
            <a:ext cx="548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Écriture dans segments Lucene en mémoire (buffer). Flush → segment sur disque.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34"/>
          <p:cNvSpPr/>
          <p:nvPr/>
        </p:nvSpPr>
        <p:spPr>
          <a:xfrm>
            <a:off x="3154680" y="3429000"/>
            <a:ext cx="360" cy="47520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5"/>
          <p:cNvSpPr/>
          <p:nvPr/>
        </p:nvSpPr>
        <p:spPr>
          <a:xfrm>
            <a:off x="274320" y="4251960"/>
            <a:ext cx="500400" cy="5004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36"/>
          <p:cNvSpPr/>
          <p:nvPr/>
        </p:nvSpPr>
        <p:spPr>
          <a:xfrm>
            <a:off x="274320" y="4251960"/>
            <a:ext cx="500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37"/>
          <p:cNvSpPr/>
          <p:nvPr/>
        </p:nvSpPr>
        <p:spPr>
          <a:xfrm>
            <a:off x="914400" y="4160520"/>
            <a:ext cx="7861320" cy="65592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38"/>
          <p:cNvSpPr/>
          <p:nvPr/>
        </p:nvSpPr>
        <p:spPr>
          <a:xfrm>
            <a:off x="914400" y="4160520"/>
            <a:ext cx="61560" cy="65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Text 39"/>
          <p:cNvSpPr/>
          <p:nvPr/>
        </p:nvSpPr>
        <p:spPr>
          <a:xfrm>
            <a:off x="1078920" y="4215240"/>
            <a:ext cx="20091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7d32"/>
                </a:solidFill>
                <a:latin typeface="Calibri"/>
                <a:ea typeface="Calibri"/>
              </a:rPr>
              <a:t>Refresh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Text 40"/>
          <p:cNvSpPr/>
          <p:nvPr/>
        </p:nvSpPr>
        <p:spPr>
          <a:xfrm>
            <a:off x="3200400" y="4233600"/>
            <a:ext cx="548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Refresh (défaut 1s) : nouveau segment devient visible → document « searchable ».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41"/>
          <p:cNvSpPr/>
          <p:nvPr/>
        </p:nvSpPr>
        <p:spPr>
          <a:xfrm>
            <a:off x="3154680" y="4251960"/>
            <a:ext cx="360" cy="475200"/>
          </a:xfrm>
          <a:prstGeom prst="line">
            <a:avLst/>
          </a:prstGeom>
          <a:ln w="12700">
            <a:solidFill>
              <a:srgbClr val="c0d0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Séquence d'une mise à jour (write path)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3"/>
          <p:cNvSpPr/>
          <p:nvPr/>
        </p:nvSpPr>
        <p:spPr>
          <a:xfrm>
            <a:off x="228600" y="822960"/>
            <a:ext cx="4935240" cy="3674880"/>
          </a:xfrm>
          <a:prstGeom prst="rect">
            <a:avLst/>
          </a:prstGeom>
          <a:solidFill>
            <a:srgbClr val="eaf4f6"/>
          </a:solidFill>
          <a:ln w="12700">
            <a:solidFill>
              <a:srgbClr val="c0d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Text 4"/>
          <p:cNvSpPr/>
          <p:nvPr/>
        </p:nvSpPr>
        <p:spPr>
          <a:xfrm rot="16200000">
            <a:off x="43200" y="1600920"/>
            <a:ext cx="720000" cy="255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4a7480"/>
                </a:solidFill>
                <a:latin typeface="Calibri"/>
                <a:ea typeface="Calibri"/>
              </a:rPr>
              <a:t>CLUSTER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5"/>
          <p:cNvSpPr/>
          <p:nvPr/>
        </p:nvSpPr>
        <p:spPr>
          <a:xfrm>
            <a:off x="640080" y="1325880"/>
            <a:ext cx="1323360" cy="301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6"/>
          <p:cNvSpPr/>
          <p:nvPr/>
        </p:nvSpPr>
        <p:spPr>
          <a:xfrm>
            <a:off x="640080" y="1325880"/>
            <a:ext cx="1323360" cy="2901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7"/>
          <p:cNvSpPr/>
          <p:nvPr/>
        </p:nvSpPr>
        <p:spPr>
          <a:xfrm>
            <a:off x="658440" y="1325880"/>
            <a:ext cx="12866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1 ★ MANAGER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8"/>
          <p:cNvSpPr/>
          <p:nvPr/>
        </p:nvSpPr>
        <p:spPr>
          <a:xfrm>
            <a:off x="749880" y="1783080"/>
            <a:ext cx="1103760" cy="591840"/>
          </a:xfrm>
          <a:prstGeom prst="rect">
            <a:avLst/>
          </a:prstGeom>
          <a:solidFill>
            <a:srgbClr val="e8edef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Text 9"/>
          <p:cNvSpPr/>
          <p:nvPr/>
        </p:nvSpPr>
        <p:spPr>
          <a:xfrm>
            <a:off x="749880" y="1783080"/>
            <a:ext cx="11037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2f"/>
                </a:solidFill>
                <a:latin typeface="Calibri"/>
                <a:ea typeface="Calibri"/>
              </a:rPr>
              <a:t>R0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10"/>
          <p:cNvSpPr/>
          <p:nvPr/>
        </p:nvSpPr>
        <p:spPr>
          <a:xfrm>
            <a:off x="749880" y="2971800"/>
            <a:ext cx="1103760" cy="5918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11"/>
          <p:cNvSpPr/>
          <p:nvPr/>
        </p:nvSpPr>
        <p:spPr>
          <a:xfrm>
            <a:off x="749880" y="2971800"/>
            <a:ext cx="11037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2"/>
          <p:cNvSpPr/>
          <p:nvPr/>
        </p:nvSpPr>
        <p:spPr>
          <a:xfrm>
            <a:off x="2057400" y="1325880"/>
            <a:ext cx="1323360" cy="301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3"/>
          <p:cNvSpPr/>
          <p:nvPr/>
        </p:nvSpPr>
        <p:spPr>
          <a:xfrm>
            <a:off x="2057400" y="1325880"/>
            <a:ext cx="1323360" cy="29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Text 14"/>
          <p:cNvSpPr/>
          <p:nvPr/>
        </p:nvSpPr>
        <p:spPr>
          <a:xfrm>
            <a:off x="2075760" y="1325880"/>
            <a:ext cx="12866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2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15"/>
          <p:cNvSpPr/>
          <p:nvPr/>
        </p:nvSpPr>
        <p:spPr>
          <a:xfrm>
            <a:off x="2167200" y="1783080"/>
            <a:ext cx="1103760" cy="591840"/>
          </a:xfrm>
          <a:prstGeom prst="rect">
            <a:avLst/>
          </a:prstGeom>
          <a:solidFill>
            <a:srgbClr val="e8edef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Text 16"/>
          <p:cNvSpPr/>
          <p:nvPr/>
        </p:nvSpPr>
        <p:spPr>
          <a:xfrm>
            <a:off x="2167200" y="1783080"/>
            <a:ext cx="11037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2f"/>
                </a:solidFill>
                <a:latin typeface="Calibri"/>
                <a:ea typeface="Calibri"/>
              </a:rPr>
              <a:t>R0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17"/>
          <p:cNvSpPr/>
          <p:nvPr/>
        </p:nvSpPr>
        <p:spPr>
          <a:xfrm>
            <a:off x="2167200" y="2971800"/>
            <a:ext cx="1103760" cy="591840"/>
          </a:xfrm>
          <a:prstGeom prst="rect">
            <a:avLst/>
          </a:prstGeom>
          <a:solidFill>
            <a:srgbClr val="e8edef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Text 18"/>
          <p:cNvSpPr/>
          <p:nvPr/>
        </p:nvSpPr>
        <p:spPr>
          <a:xfrm>
            <a:off x="2167200" y="2971800"/>
            <a:ext cx="11037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2f"/>
                </a:solidFill>
                <a:latin typeface="Calibri"/>
                <a:ea typeface="Calibri"/>
              </a:rPr>
              <a:t>R1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9"/>
          <p:cNvSpPr/>
          <p:nvPr/>
        </p:nvSpPr>
        <p:spPr>
          <a:xfrm>
            <a:off x="3474720" y="1325880"/>
            <a:ext cx="1323360" cy="3015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0"/>
          <p:cNvSpPr/>
          <p:nvPr/>
        </p:nvSpPr>
        <p:spPr>
          <a:xfrm>
            <a:off x="3474720" y="1325880"/>
            <a:ext cx="1323360" cy="29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21"/>
          <p:cNvSpPr/>
          <p:nvPr/>
        </p:nvSpPr>
        <p:spPr>
          <a:xfrm>
            <a:off x="3493080" y="1325880"/>
            <a:ext cx="12866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3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2"/>
          <p:cNvSpPr/>
          <p:nvPr/>
        </p:nvSpPr>
        <p:spPr>
          <a:xfrm>
            <a:off x="3584520" y="1783080"/>
            <a:ext cx="1103760" cy="591840"/>
          </a:xfrm>
          <a:prstGeom prst="rect">
            <a:avLst/>
          </a:prstGeom>
          <a:solidFill>
            <a:srgbClr val="00576b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Text 23"/>
          <p:cNvSpPr/>
          <p:nvPr/>
        </p:nvSpPr>
        <p:spPr>
          <a:xfrm>
            <a:off x="3584520" y="1783080"/>
            <a:ext cx="11037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4"/>
          <p:cNvSpPr/>
          <p:nvPr/>
        </p:nvSpPr>
        <p:spPr>
          <a:xfrm>
            <a:off x="3584520" y="2971800"/>
            <a:ext cx="1103760" cy="591840"/>
          </a:xfrm>
          <a:prstGeom prst="rect">
            <a:avLst/>
          </a:prstGeom>
          <a:solidFill>
            <a:srgbClr val="e8edef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Text 25"/>
          <p:cNvSpPr/>
          <p:nvPr/>
        </p:nvSpPr>
        <p:spPr>
          <a:xfrm>
            <a:off x="3584520" y="2971800"/>
            <a:ext cx="110376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2f"/>
                </a:solidFill>
                <a:latin typeface="Calibri"/>
                <a:ea typeface="Calibri"/>
              </a:rPr>
              <a:t>R1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6"/>
          <p:cNvSpPr/>
          <p:nvPr/>
        </p:nvSpPr>
        <p:spPr>
          <a:xfrm>
            <a:off x="5394960" y="93276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Text 27"/>
          <p:cNvSpPr/>
          <p:nvPr/>
        </p:nvSpPr>
        <p:spPr>
          <a:xfrm>
            <a:off x="5394960" y="93276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①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8"/>
          <p:cNvSpPr/>
          <p:nvPr/>
        </p:nvSpPr>
        <p:spPr>
          <a:xfrm>
            <a:off x="5897880" y="822960"/>
            <a:ext cx="296928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29"/>
          <p:cNvSpPr/>
          <p:nvPr/>
        </p:nvSpPr>
        <p:spPr>
          <a:xfrm>
            <a:off x="5897880" y="82296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Text 30"/>
          <p:cNvSpPr/>
          <p:nvPr/>
        </p:nvSpPr>
        <p:spPr>
          <a:xfrm>
            <a:off x="6016680" y="877680"/>
            <a:ext cx="27864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Le client envoie la requête vers le nœud 1 (coordinating).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31"/>
          <p:cNvSpPr/>
          <p:nvPr/>
        </p:nvSpPr>
        <p:spPr>
          <a:xfrm>
            <a:off x="5394960" y="189288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32"/>
          <p:cNvSpPr/>
          <p:nvPr/>
        </p:nvSpPr>
        <p:spPr>
          <a:xfrm>
            <a:off x="5394960" y="189288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②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33"/>
          <p:cNvSpPr/>
          <p:nvPr/>
        </p:nvSpPr>
        <p:spPr>
          <a:xfrm>
            <a:off x="5897880" y="1783080"/>
            <a:ext cx="296928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4"/>
          <p:cNvSpPr/>
          <p:nvPr/>
        </p:nvSpPr>
        <p:spPr>
          <a:xfrm>
            <a:off x="5897880" y="178308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35"/>
          <p:cNvSpPr/>
          <p:nvPr/>
        </p:nvSpPr>
        <p:spPr>
          <a:xfrm>
            <a:off x="6016680" y="1837800"/>
            <a:ext cx="27864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Nœud 1 déduit le shard cible (hash de _id) et transfère vers nœud 3 (shard P0 primaire).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36"/>
          <p:cNvSpPr/>
          <p:nvPr/>
        </p:nvSpPr>
        <p:spPr>
          <a:xfrm>
            <a:off x="5394960" y="285300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37"/>
          <p:cNvSpPr/>
          <p:nvPr/>
        </p:nvSpPr>
        <p:spPr>
          <a:xfrm>
            <a:off x="5394960" y="285300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③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38"/>
          <p:cNvSpPr/>
          <p:nvPr/>
        </p:nvSpPr>
        <p:spPr>
          <a:xfrm>
            <a:off x="5897880" y="2743200"/>
            <a:ext cx="296928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Shape 39"/>
          <p:cNvSpPr/>
          <p:nvPr/>
        </p:nvSpPr>
        <p:spPr>
          <a:xfrm>
            <a:off x="5897880" y="274320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Text 40"/>
          <p:cNvSpPr/>
          <p:nvPr/>
        </p:nvSpPr>
        <p:spPr>
          <a:xfrm>
            <a:off x="6016680" y="2797920"/>
            <a:ext cx="27864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Nœud 3 exécute sur le shard primaire, puis réplique en parallèle vers nœud 1 et nœud 2.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41"/>
          <p:cNvSpPr/>
          <p:nvPr/>
        </p:nvSpPr>
        <p:spPr>
          <a:xfrm>
            <a:off x="5394960" y="381312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42"/>
          <p:cNvSpPr/>
          <p:nvPr/>
        </p:nvSpPr>
        <p:spPr>
          <a:xfrm>
            <a:off x="5394960" y="381312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④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43"/>
          <p:cNvSpPr/>
          <p:nvPr/>
        </p:nvSpPr>
        <p:spPr>
          <a:xfrm>
            <a:off x="5897880" y="3703320"/>
            <a:ext cx="296928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44"/>
          <p:cNvSpPr/>
          <p:nvPr/>
        </p:nvSpPr>
        <p:spPr>
          <a:xfrm>
            <a:off x="5897880" y="370332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Text 45"/>
          <p:cNvSpPr/>
          <p:nvPr/>
        </p:nvSpPr>
        <p:spPr>
          <a:xfrm>
            <a:off x="6016680" y="3758040"/>
            <a:ext cx="27864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Après confirmation des réplicas, nœud 3 répond à nœud 1 qui répond au client.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214"/>
          <p:cNvSpPr/>
          <p:nvPr/>
        </p:nvSpPr>
        <p:spPr>
          <a:xfrm>
            <a:off x="180000" y="4641120"/>
            <a:ext cx="8592840" cy="50040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187"/>
          <p:cNvSpPr/>
          <p:nvPr/>
        </p:nvSpPr>
        <p:spPr>
          <a:xfrm>
            <a:off x="454320" y="4622040"/>
            <a:ext cx="83185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834a"/>
                </a:solidFill>
                <a:latin typeface="Consolas"/>
                <a:ea typeface="Consolas"/>
              </a:rPr>
              <a:t>Formule de routing :   shard = hash(routing_key) % nombre_de_shards_primaires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Requête : coordination &amp; exécution distribuée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Text 3"/>
          <p:cNvSpPr/>
          <p:nvPr/>
        </p:nvSpPr>
        <p:spPr>
          <a:xfrm>
            <a:off x="320040" y="777240"/>
            <a:ext cx="8501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576b"/>
                </a:solidFill>
                <a:latin typeface="Calibri"/>
                <a:ea typeface="Calibri"/>
              </a:rPr>
              <a:t>Deux phases principales : QUERY puis FETCH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4"/>
          <p:cNvSpPr/>
          <p:nvPr/>
        </p:nvSpPr>
        <p:spPr>
          <a:xfrm>
            <a:off x="274320" y="1261800"/>
            <a:ext cx="4158000" cy="3563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5"/>
          <p:cNvSpPr/>
          <p:nvPr/>
        </p:nvSpPr>
        <p:spPr>
          <a:xfrm>
            <a:off x="274320" y="1261800"/>
            <a:ext cx="4158000" cy="408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Text 6"/>
          <p:cNvSpPr/>
          <p:nvPr/>
        </p:nvSpPr>
        <p:spPr>
          <a:xfrm>
            <a:off x="384120" y="1261800"/>
            <a:ext cx="40208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Phase QUERY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7"/>
          <p:cNvSpPr/>
          <p:nvPr/>
        </p:nvSpPr>
        <p:spPr>
          <a:xfrm>
            <a:off x="274320" y="1673280"/>
            <a:ext cx="61560" cy="31521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Shape 8"/>
          <p:cNvSpPr/>
          <p:nvPr/>
        </p:nvSpPr>
        <p:spPr>
          <a:xfrm>
            <a:off x="438840" y="1865520"/>
            <a:ext cx="253440" cy="25344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 9"/>
          <p:cNvSpPr/>
          <p:nvPr/>
        </p:nvSpPr>
        <p:spPr>
          <a:xfrm>
            <a:off x="438840" y="186552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10"/>
          <p:cNvSpPr/>
          <p:nvPr/>
        </p:nvSpPr>
        <p:spPr>
          <a:xfrm>
            <a:off x="777240" y="181044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 nœud recevant la requête devient coordinateur.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1"/>
          <p:cNvSpPr/>
          <p:nvPr/>
        </p:nvSpPr>
        <p:spPr>
          <a:xfrm>
            <a:off x="438840" y="2578680"/>
            <a:ext cx="253440" cy="25344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Text 12"/>
          <p:cNvSpPr/>
          <p:nvPr/>
        </p:nvSpPr>
        <p:spPr>
          <a:xfrm>
            <a:off x="438840" y="257868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13"/>
          <p:cNvSpPr/>
          <p:nvPr/>
        </p:nvSpPr>
        <p:spPr>
          <a:xfrm>
            <a:off x="777240" y="252360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Il diffuse la requête à UNE copie (primaire ou réplique) de CHAQUE shard.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14"/>
          <p:cNvSpPr/>
          <p:nvPr/>
        </p:nvSpPr>
        <p:spPr>
          <a:xfrm>
            <a:off x="438840" y="3291840"/>
            <a:ext cx="253440" cy="25344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15"/>
          <p:cNvSpPr/>
          <p:nvPr/>
        </p:nvSpPr>
        <p:spPr>
          <a:xfrm>
            <a:off x="438840" y="329184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Text 16"/>
          <p:cNvSpPr/>
          <p:nvPr/>
        </p:nvSpPr>
        <p:spPr>
          <a:xfrm>
            <a:off x="777240" y="323712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Chaque shard exécute la recherche localement et construit une file de priorité (IDs + scores).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17"/>
          <p:cNvSpPr/>
          <p:nvPr/>
        </p:nvSpPr>
        <p:spPr>
          <a:xfrm>
            <a:off x="438840" y="4005000"/>
            <a:ext cx="253440" cy="25344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Text 18"/>
          <p:cNvSpPr/>
          <p:nvPr/>
        </p:nvSpPr>
        <p:spPr>
          <a:xfrm>
            <a:off x="438840" y="400500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Text 19"/>
          <p:cNvSpPr/>
          <p:nvPr/>
        </p:nvSpPr>
        <p:spPr>
          <a:xfrm>
            <a:off x="777240" y="395028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Les résultats partiels remontent au coordinateur.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20"/>
          <p:cNvSpPr/>
          <p:nvPr/>
        </p:nvSpPr>
        <p:spPr>
          <a:xfrm>
            <a:off x="4754880" y="1261800"/>
            <a:ext cx="4158000" cy="3563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21"/>
          <p:cNvSpPr/>
          <p:nvPr/>
        </p:nvSpPr>
        <p:spPr>
          <a:xfrm>
            <a:off x="4754880" y="1261800"/>
            <a:ext cx="4158000" cy="408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22"/>
          <p:cNvSpPr/>
          <p:nvPr/>
        </p:nvSpPr>
        <p:spPr>
          <a:xfrm>
            <a:off x="4864680" y="1261800"/>
            <a:ext cx="40208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Phase FETCH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23"/>
          <p:cNvSpPr/>
          <p:nvPr/>
        </p:nvSpPr>
        <p:spPr>
          <a:xfrm>
            <a:off x="4754880" y="1673280"/>
            <a:ext cx="61560" cy="3152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24"/>
          <p:cNvSpPr/>
          <p:nvPr/>
        </p:nvSpPr>
        <p:spPr>
          <a:xfrm>
            <a:off x="4919400" y="1865520"/>
            <a:ext cx="253440" cy="25344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Text 25"/>
          <p:cNvSpPr/>
          <p:nvPr/>
        </p:nvSpPr>
        <p:spPr>
          <a:xfrm>
            <a:off x="4919400" y="186552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Text 26"/>
          <p:cNvSpPr/>
          <p:nvPr/>
        </p:nvSpPr>
        <p:spPr>
          <a:xfrm>
            <a:off x="5257800" y="181044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 coordinateur agrège tous les résultats partiels.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27"/>
          <p:cNvSpPr/>
          <p:nvPr/>
        </p:nvSpPr>
        <p:spPr>
          <a:xfrm>
            <a:off x="4919400" y="2578680"/>
            <a:ext cx="253440" cy="25344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28"/>
          <p:cNvSpPr/>
          <p:nvPr/>
        </p:nvSpPr>
        <p:spPr>
          <a:xfrm>
            <a:off x="4919400" y="257868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29"/>
          <p:cNvSpPr/>
          <p:nvPr/>
        </p:nvSpPr>
        <p:spPr>
          <a:xfrm>
            <a:off x="5257800" y="252360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Tri global, application de la pagination (from/size).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Shape 30"/>
          <p:cNvSpPr/>
          <p:nvPr/>
        </p:nvSpPr>
        <p:spPr>
          <a:xfrm>
            <a:off x="4919400" y="3291840"/>
            <a:ext cx="253440" cy="25344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Text 31"/>
          <p:cNvSpPr/>
          <p:nvPr/>
        </p:nvSpPr>
        <p:spPr>
          <a:xfrm>
            <a:off x="4919400" y="329184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Text 32"/>
          <p:cNvSpPr/>
          <p:nvPr/>
        </p:nvSpPr>
        <p:spPr>
          <a:xfrm>
            <a:off x="5257800" y="323712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Récupération des documents complets via leurs IDs (_source).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Shape 33"/>
          <p:cNvSpPr/>
          <p:nvPr/>
        </p:nvSpPr>
        <p:spPr>
          <a:xfrm>
            <a:off x="4919400" y="4005000"/>
            <a:ext cx="253440" cy="25344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Text 34"/>
          <p:cNvSpPr/>
          <p:nvPr/>
        </p:nvSpPr>
        <p:spPr>
          <a:xfrm>
            <a:off x="4919400" y="4005000"/>
            <a:ext cx="2534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Text 35"/>
          <p:cNvSpPr/>
          <p:nvPr/>
        </p:nvSpPr>
        <p:spPr>
          <a:xfrm>
            <a:off x="5257800" y="3950280"/>
            <a:ext cx="3563640" cy="5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Renvoi de la réponse finale au client.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36"/>
          <p:cNvSpPr/>
          <p:nvPr/>
        </p:nvSpPr>
        <p:spPr>
          <a:xfrm>
            <a:off x="274320" y="4663440"/>
            <a:ext cx="8592840" cy="363240"/>
          </a:xfrm>
          <a:prstGeom prst="rect">
            <a:avLst/>
          </a:prstGeom>
          <a:solidFill>
            <a:srgbClr val="fff3e8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Text 37"/>
          <p:cNvSpPr/>
          <p:nvPr/>
        </p:nvSpPr>
        <p:spPr>
          <a:xfrm>
            <a:off x="411480" y="4681800"/>
            <a:ext cx="83185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⚠  </a:t>
            </a:r>
            <a:r>
              <a:rPr b="0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Impact perf : latence = shard le plus lent. Caches, filtres, tri, agrégations → coût CPU/mémoire.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Phase Query — Détail d'exécution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Text 3"/>
          <p:cNvSpPr/>
          <p:nvPr/>
        </p:nvSpPr>
        <p:spPr>
          <a:xfrm>
            <a:off x="320040" y="77724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Durant la 1ère phase, le coordinateur diffuse la requête à une copie (primaire ou réplique) de tous les shards.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Text 4"/>
          <p:cNvSpPr/>
          <p:nvPr/>
        </p:nvSpPr>
        <p:spPr>
          <a:xfrm>
            <a:off x="320040" y="1188720"/>
            <a:ext cx="85014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Chaque shard exécute la recherche et construit une file à priorité des documents qui matchent.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5"/>
          <p:cNvSpPr/>
          <p:nvPr/>
        </p:nvSpPr>
        <p:spPr>
          <a:xfrm>
            <a:off x="320040" y="1691640"/>
            <a:ext cx="4752360" cy="3106440"/>
          </a:xfrm>
          <a:prstGeom prst="rect">
            <a:avLst/>
          </a:prstGeom>
          <a:solidFill>
            <a:srgbClr val="eaf4f6"/>
          </a:solidFill>
          <a:ln w="12700">
            <a:solidFill>
              <a:srgbClr val="c0d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Text 6"/>
          <p:cNvSpPr/>
          <p:nvPr/>
        </p:nvSpPr>
        <p:spPr>
          <a:xfrm rot="16200000">
            <a:off x="30960" y="2325240"/>
            <a:ext cx="900000" cy="20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4a7480"/>
                </a:solidFill>
                <a:latin typeface="Calibri"/>
                <a:ea typeface="Calibri"/>
              </a:rPr>
              <a:t>CLUSTER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7"/>
          <p:cNvSpPr/>
          <p:nvPr/>
        </p:nvSpPr>
        <p:spPr>
          <a:xfrm>
            <a:off x="731520" y="2011680"/>
            <a:ext cx="1186200" cy="26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8"/>
          <p:cNvSpPr/>
          <p:nvPr/>
        </p:nvSpPr>
        <p:spPr>
          <a:xfrm>
            <a:off x="731520" y="2011680"/>
            <a:ext cx="1186200" cy="2718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Text 9"/>
          <p:cNvSpPr/>
          <p:nvPr/>
        </p:nvSpPr>
        <p:spPr>
          <a:xfrm>
            <a:off x="731520" y="2011680"/>
            <a:ext cx="11862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1 ★ MGR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10"/>
          <p:cNvSpPr/>
          <p:nvPr/>
        </p:nvSpPr>
        <p:spPr>
          <a:xfrm>
            <a:off x="822960" y="2450520"/>
            <a:ext cx="1003320" cy="500400"/>
          </a:xfrm>
          <a:prstGeom prst="rect">
            <a:avLst/>
          </a:prstGeom>
          <a:solidFill>
            <a:srgbClr val="e8edef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Text 11"/>
          <p:cNvSpPr/>
          <p:nvPr/>
        </p:nvSpPr>
        <p:spPr>
          <a:xfrm>
            <a:off x="822960" y="2450520"/>
            <a:ext cx="10033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12"/>
          <p:cNvSpPr/>
          <p:nvPr/>
        </p:nvSpPr>
        <p:spPr>
          <a:xfrm>
            <a:off x="822960" y="3474720"/>
            <a:ext cx="1003320" cy="5004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Text 13"/>
          <p:cNvSpPr/>
          <p:nvPr/>
        </p:nvSpPr>
        <p:spPr>
          <a:xfrm>
            <a:off x="822960" y="3474720"/>
            <a:ext cx="10033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14"/>
          <p:cNvSpPr/>
          <p:nvPr/>
        </p:nvSpPr>
        <p:spPr>
          <a:xfrm>
            <a:off x="2103120" y="2011680"/>
            <a:ext cx="1186200" cy="26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15"/>
          <p:cNvSpPr/>
          <p:nvPr/>
        </p:nvSpPr>
        <p:spPr>
          <a:xfrm>
            <a:off x="2103120" y="2011680"/>
            <a:ext cx="1186200" cy="27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Text 16"/>
          <p:cNvSpPr/>
          <p:nvPr/>
        </p:nvSpPr>
        <p:spPr>
          <a:xfrm>
            <a:off x="2103120" y="2011680"/>
            <a:ext cx="11862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2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17"/>
          <p:cNvSpPr/>
          <p:nvPr/>
        </p:nvSpPr>
        <p:spPr>
          <a:xfrm>
            <a:off x="2194560" y="2450520"/>
            <a:ext cx="1003320" cy="500400"/>
          </a:xfrm>
          <a:prstGeom prst="rect">
            <a:avLst/>
          </a:prstGeom>
          <a:solidFill>
            <a:srgbClr val="e8edef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Text 18"/>
          <p:cNvSpPr/>
          <p:nvPr/>
        </p:nvSpPr>
        <p:spPr>
          <a:xfrm>
            <a:off x="2194560" y="2450520"/>
            <a:ext cx="10033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19"/>
          <p:cNvSpPr/>
          <p:nvPr/>
        </p:nvSpPr>
        <p:spPr>
          <a:xfrm>
            <a:off x="2194560" y="3474720"/>
            <a:ext cx="1003320" cy="500400"/>
          </a:xfrm>
          <a:prstGeom prst="rect">
            <a:avLst/>
          </a:prstGeom>
          <a:solidFill>
            <a:srgbClr val="e8edef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Text 20"/>
          <p:cNvSpPr/>
          <p:nvPr/>
        </p:nvSpPr>
        <p:spPr>
          <a:xfrm>
            <a:off x="2194560" y="3474720"/>
            <a:ext cx="10033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21"/>
          <p:cNvSpPr/>
          <p:nvPr/>
        </p:nvSpPr>
        <p:spPr>
          <a:xfrm>
            <a:off x="3474720" y="2011680"/>
            <a:ext cx="1186200" cy="26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22"/>
          <p:cNvSpPr/>
          <p:nvPr/>
        </p:nvSpPr>
        <p:spPr>
          <a:xfrm>
            <a:off x="3474720" y="2011680"/>
            <a:ext cx="1186200" cy="271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23"/>
          <p:cNvSpPr/>
          <p:nvPr/>
        </p:nvSpPr>
        <p:spPr>
          <a:xfrm>
            <a:off x="3474720" y="2011680"/>
            <a:ext cx="11862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NODE 3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24"/>
          <p:cNvSpPr/>
          <p:nvPr/>
        </p:nvSpPr>
        <p:spPr>
          <a:xfrm>
            <a:off x="3566160" y="2450520"/>
            <a:ext cx="1003320" cy="500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25"/>
          <p:cNvSpPr/>
          <p:nvPr/>
        </p:nvSpPr>
        <p:spPr>
          <a:xfrm>
            <a:off x="3566160" y="2450520"/>
            <a:ext cx="10033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P0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26"/>
          <p:cNvSpPr/>
          <p:nvPr/>
        </p:nvSpPr>
        <p:spPr>
          <a:xfrm>
            <a:off x="3566160" y="3474720"/>
            <a:ext cx="1003320" cy="500400"/>
          </a:xfrm>
          <a:prstGeom prst="rect">
            <a:avLst/>
          </a:prstGeom>
          <a:solidFill>
            <a:srgbClr val="e8edef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Text 27"/>
          <p:cNvSpPr/>
          <p:nvPr/>
        </p:nvSpPr>
        <p:spPr>
          <a:xfrm>
            <a:off x="3566160" y="3474720"/>
            <a:ext cx="10033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28"/>
          <p:cNvSpPr/>
          <p:nvPr/>
        </p:nvSpPr>
        <p:spPr>
          <a:xfrm>
            <a:off x="5303520" y="185616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29"/>
          <p:cNvSpPr/>
          <p:nvPr/>
        </p:nvSpPr>
        <p:spPr>
          <a:xfrm>
            <a:off x="5303520" y="185616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①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30"/>
          <p:cNvSpPr/>
          <p:nvPr/>
        </p:nvSpPr>
        <p:spPr>
          <a:xfrm>
            <a:off x="5806440" y="1719000"/>
            <a:ext cx="306072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Shape 31"/>
          <p:cNvSpPr/>
          <p:nvPr/>
        </p:nvSpPr>
        <p:spPr>
          <a:xfrm>
            <a:off x="5806440" y="171900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32"/>
          <p:cNvSpPr/>
          <p:nvPr/>
        </p:nvSpPr>
        <p:spPr>
          <a:xfrm>
            <a:off x="5925240" y="1774080"/>
            <a:ext cx="28778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 coordinateur envoie la requête en parallèle vers une copie de chaque shard.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Shape 33"/>
          <p:cNvSpPr/>
          <p:nvPr/>
        </p:nvSpPr>
        <p:spPr>
          <a:xfrm>
            <a:off x="5303520" y="284364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34"/>
          <p:cNvSpPr/>
          <p:nvPr/>
        </p:nvSpPr>
        <p:spPr>
          <a:xfrm>
            <a:off x="5303520" y="284364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②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1" name="Shape 35"/>
          <p:cNvSpPr/>
          <p:nvPr/>
        </p:nvSpPr>
        <p:spPr>
          <a:xfrm>
            <a:off x="5806440" y="2706480"/>
            <a:ext cx="306072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Shape 36"/>
          <p:cNvSpPr/>
          <p:nvPr/>
        </p:nvSpPr>
        <p:spPr>
          <a:xfrm>
            <a:off x="5806440" y="270648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37"/>
          <p:cNvSpPr/>
          <p:nvPr/>
        </p:nvSpPr>
        <p:spPr>
          <a:xfrm>
            <a:off x="5925240" y="2761560"/>
            <a:ext cx="28778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Chaque shard exécute localement : scoring, tri, construction de la priority queue.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38"/>
          <p:cNvSpPr/>
          <p:nvPr/>
        </p:nvSpPr>
        <p:spPr>
          <a:xfrm>
            <a:off x="5303520" y="3831480"/>
            <a:ext cx="408960" cy="4089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39"/>
          <p:cNvSpPr/>
          <p:nvPr/>
        </p:nvSpPr>
        <p:spPr>
          <a:xfrm>
            <a:off x="5303520" y="3831480"/>
            <a:ext cx="408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③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40"/>
          <p:cNvSpPr/>
          <p:nvPr/>
        </p:nvSpPr>
        <p:spPr>
          <a:xfrm>
            <a:off x="5806440" y="3694320"/>
            <a:ext cx="3060720" cy="82044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41"/>
          <p:cNvSpPr/>
          <p:nvPr/>
        </p:nvSpPr>
        <p:spPr>
          <a:xfrm>
            <a:off x="5806440" y="3694320"/>
            <a:ext cx="5220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Text 42"/>
          <p:cNvSpPr/>
          <p:nvPr/>
        </p:nvSpPr>
        <p:spPr>
          <a:xfrm>
            <a:off x="5925240" y="3749040"/>
            <a:ext cx="287784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Chaque shard retourne ses top-N résultats (IDs + scores) au coordinateur.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Shape 0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1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 2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Phase Fetch — Récupération et retour des résultats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Text 3"/>
          <p:cNvSpPr/>
          <p:nvPr/>
        </p:nvSpPr>
        <p:spPr>
          <a:xfrm>
            <a:off x="320040" y="77724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Le coordinateur agrège les résultats des différents shards en fonction des paramètres de pagination et de tri.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Text 4"/>
          <p:cNvSpPr/>
          <p:nvPr/>
        </p:nvSpPr>
        <p:spPr>
          <a:xfrm>
            <a:off x="320040" y="1188720"/>
            <a:ext cx="8501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Il récupère ensuite les documents via leur _id et retourne la réponse au client.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5"/>
          <p:cNvSpPr/>
          <p:nvPr/>
        </p:nvSpPr>
        <p:spPr>
          <a:xfrm>
            <a:off x="274320" y="1737360"/>
            <a:ext cx="4158000" cy="14148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6"/>
          <p:cNvSpPr/>
          <p:nvPr/>
        </p:nvSpPr>
        <p:spPr>
          <a:xfrm>
            <a:off x="274320" y="1737360"/>
            <a:ext cx="61560" cy="14148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6" name="Shape 7"/>
          <p:cNvSpPr/>
          <p:nvPr/>
        </p:nvSpPr>
        <p:spPr>
          <a:xfrm>
            <a:off x="438840" y="1847160"/>
            <a:ext cx="344880" cy="34488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Text 8"/>
          <p:cNvSpPr/>
          <p:nvPr/>
        </p:nvSpPr>
        <p:spPr>
          <a:xfrm>
            <a:off x="438840" y="1847160"/>
            <a:ext cx="3448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①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Text 9"/>
          <p:cNvSpPr/>
          <p:nvPr/>
        </p:nvSpPr>
        <p:spPr>
          <a:xfrm>
            <a:off x="868680" y="1828800"/>
            <a:ext cx="3499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576b"/>
                </a:solidFill>
                <a:latin typeface="Calibri"/>
                <a:ea typeface="Calibri"/>
              </a:rPr>
              <a:t>Agrégation des résultats partiels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Text 10"/>
          <p:cNvSpPr/>
          <p:nvPr/>
        </p:nvSpPr>
        <p:spPr>
          <a:xfrm>
            <a:off x="457200" y="2267640"/>
            <a:ext cx="388368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 coordinateur collecte les priority queues de tous les shards et réalise un tri global.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11"/>
          <p:cNvSpPr/>
          <p:nvPr/>
        </p:nvSpPr>
        <p:spPr>
          <a:xfrm>
            <a:off x="4754880" y="1737360"/>
            <a:ext cx="4158000" cy="14148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12"/>
          <p:cNvSpPr/>
          <p:nvPr/>
        </p:nvSpPr>
        <p:spPr>
          <a:xfrm>
            <a:off x="4754880" y="1737360"/>
            <a:ext cx="61560" cy="1414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Shape 13"/>
          <p:cNvSpPr/>
          <p:nvPr/>
        </p:nvSpPr>
        <p:spPr>
          <a:xfrm>
            <a:off x="4919400" y="1847160"/>
            <a:ext cx="344880" cy="3448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Text 14"/>
          <p:cNvSpPr/>
          <p:nvPr/>
        </p:nvSpPr>
        <p:spPr>
          <a:xfrm>
            <a:off x="4919400" y="1847160"/>
            <a:ext cx="3448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②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Text 15"/>
          <p:cNvSpPr/>
          <p:nvPr/>
        </p:nvSpPr>
        <p:spPr>
          <a:xfrm>
            <a:off x="5349240" y="1828800"/>
            <a:ext cx="3499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7a8a"/>
                </a:solidFill>
                <a:latin typeface="Calibri"/>
                <a:ea typeface="Calibri"/>
              </a:rPr>
              <a:t>Pagination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 16"/>
          <p:cNvSpPr/>
          <p:nvPr/>
        </p:nvSpPr>
        <p:spPr>
          <a:xfrm>
            <a:off x="4937760" y="2267640"/>
            <a:ext cx="388368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Application des paramètres from / size. Sélection des N documents à retourner.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17"/>
          <p:cNvSpPr/>
          <p:nvPr/>
        </p:nvSpPr>
        <p:spPr>
          <a:xfrm>
            <a:off x="274320" y="3291840"/>
            <a:ext cx="4158000" cy="14148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18"/>
          <p:cNvSpPr/>
          <p:nvPr/>
        </p:nvSpPr>
        <p:spPr>
          <a:xfrm>
            <a:off x="274320" y="3291840"/>
            <a:ext cx="61560" cy="14148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Shape 19"/>
          <p:cNvSpPr/>
          <p:nvPr/>
        </p:nvSpPr>
        <p:spPr>
          <a:xfrm>
            <a:off x="438840" y="3401640"/>
            <a:ext cx="344880" cy="3448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20"/>
          <p:cNvSpPr/>
          <p:nvPr/>
        </p:nvSpPr>
        <p:spPr>
          <a:xfrm>
            <a:off x="438840" y="3401640"/>
            <a:ext cx="3448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③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Text 21"/>
          <p:cNvSpPr/>
          <p:nvPr/>
        </p:nvSpPr>
        <p:spPr>
          <a:xfrm>
            <a:off x="868680" y="3383280"/>
            <a:ext cx="3499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834a"/>
                </a:solidFill>
                <a:latin typeface="Calibri"/>
                <a:ea typeface="Calibri"/>
              </a:rPr>
              <a:t>Multi-get (_mget)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Text 22"/>
          <p:cNvSpPr/>
          <p:nvPr/>
        </p:nvSpPr>
        <p:spPr>
          <a:xfrm>
            <a:off x="457200" y="3822120"/>
            <a:ext cx="388368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Le coordinateur interroge les shards qui hébergent les documents sélectionnés pour récupérer leur _source.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23"/>
          <p:cNvSpPr/>
          <p:nvPr/>
        </p:nvSpPr>
        <p:spPr>
          <a:xfrm>
            <a:off x="4754880" y="3291840"/>
            <a:ext cx="4158000" cy="1414800"/>
          </a:xfrm>
          <a:prstGeom prst="rect">
            <a:avLst/>
          </a:prstGeom>
          <a:solidFill>
            <a:srgbClr val="eaf4f6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24"/>
          <p:cNvSpPr/>
          <p:nvPr/>
        </p:nvSpPr>
        <p:spPr>
          <a:xfrm>
            <a:off x="4754880" y="3291840"/>
            <a:ext cx="61560" cy="1414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Shape 25"/>
          <p:cNvSpPr/>
          <p:nvPr/>
        </p:nvSpPr>
        <p:spPr>
          <a:xfrm>
            <a:off x="4919400" y="3401640"/>
            <a:ext cx="344880" cy="344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5" name="Text 26"/>
          <p:cNvSpPr/>
          <p:nvPr/>
        </p:nvSpPr>
        <p:spPr>
          <a:xfrm>
            <a:off x="4919400" y="3401640"/>
            <a:ext cx="3448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④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Text 27"/>
          <p:cNvSpPr/>
          <p:nvPr/>
        </p:nvSpPr>
        <p:spPr>
          <a:xfrm>
            <a:off x="5349240" y="3383280"/>
            <a:ext cx="3499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2e7d32"/>
                </a:solidFill>
                <a:latin typeface="Calibri"/>
                <a:ea typeface="Calibri"/>
              </a:rPr>
              <a:t>Réponse au client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Text 28"/>
          <p:cNvSpPr/>
          <p:nvPr/>
        </p:nvSpPr>
        <p:spPr>
          <a:xfrm>
            <a:off x="4937760" y="3822120"/>
            <a:ext cx="388368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alibri"/>
              </a:rPr>
              <a:t>Assemblage de la réponse finale : hits, _score, _source, agrégations. Retour HTTP 200 au client.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215"/>
          <p:cNvSpPr/>
          <p:nvPr/>
        </p:nvSpPr>
        <p:spPr>
          <a:xfrm>
            <a:off x="0" y="0"/>
            <a:ext cx="9141480" cy="655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Shape 216"/>
          <p:cNvSpPr/>
          <p:nvPr/>
        </p:nvSpPr>
        <p:spPr>
          <a:xfrm>
            <a:off x="0" y="0"/>
            <a:ext cx="162000" cy="6559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188"/>
          <p:cNvSpPr/>
          <p:nvPr/>
        </p:nvSpPr>
        <p:spPr>
          <a:xfrm>
            <a:off x="347400" y="54720"/>
            <a:ext cx="84099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Installation &amp; Distributions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217"/>
          <p:cNvSpPr/>
          <p:nvPr/>
        </p:nvSpPr>
        <p:spPr>
          <a:xfrm>
            <a:off x="274320" y="822960"/>
            <a:ext cx="4158000" cy="4089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Text 189"/>
          <p:cNvSpPr/>
          <p:nvPr/>
        </p:nvSpPr>
        <p:spPr>
          <a:xfrm>
            <a:off x="384120" y="822960"/>
            <a:ext cx="3929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Tarball / ZIP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Shape 218"/>
          <p:cNvSpPr/>
          <p:nvPr/>
        </p:nvSpPr>
        <p:spPr>
          <a:xfrm>
            <a:off x="274320" y="1234440"/>
            <a:ext cx="4158000" cy="1414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219"/>
          <p:cNvSpPr/>
          <p:nvPr/>
        </p:nvSpPr>
        <p:spPr>
          <a:xfrm>
            <a:off x="274320" y="1234440"/>
            <a:ext cx="61560" cy="14148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Text 190"/>
          <p:cNvSpPr/>
          <p:nvPr/>
        </p:nvSpPr>
        <p:spPr>
          <a:xfrm>
            <a:off x="457200" y="1280160"/>
            <a:ext cx="3837960" cy="13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Téléchargement depuis opensearch.org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amazon : tar -xzf opensearch-2.x.x.tar.gz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220"/>
          <p:cNvSpPr/>
          <p:nvPr/>
        </p:nvSpPr>
        <p:spPr>
          <a:xfrm>
            <a:off x="4754880" y="822960"/>
            <a:ext cx="4158000" cy="4089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Text 191"/>
          <p:cNvSpPr/>
          <p:nvPr/>
        </p:nvSpPr>
        <p:spPr>
          <a:xfrm>
            <a:off x="4864680" y="822960"/>
            <a:ext cx="3929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Packages DEB / RPM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221"/>
          <p:cNvSpPr/>
          <p:nvPr/>
        </p:nvSpPr>
        <p:spPr>
          <a:xfrm>
            <a:off x="4754880" y="1234440"/>
            <a:ext cx="4158000" cy="1414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222"/>
          <p:cNvSpPr/>
          <p:nvPr/>
        </p:nvSpPr>
        <p:spPr>
          <a:xfrm>
            <a:off x="4754880" y="1234440"/>
            <a:ext cx="61560" cy="1414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Text 192"/>
          <p:cNvSpPr/>
          <p:nvPr/>
        </p:nvSpPr>
        <p:spPr>
          <a:xfrm>
            <a:off x="4937760" y="1280160"/>
            <a:ext cx="3837960" cy="13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apt install opensearch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yum install opensearch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223"/>
          <p:cNvSpPr/>
          <p:nvPr/>
        </p:nvSpPr>
        <p:spPr>
          <a:xfrm>
            <a:off x="274320" y="2880360"/>
            <a:ext cx="4158000" cy="40896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Text 193"/>
          <p:cNvSpPr/>
          <p:nvPr/>
        </p:nvSpPr>
        <p:spPr>
          <a:xfrm>
            <a:off x="384120" y="2880360"/>
            <a:ext cx="3929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Docker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224"/>
          <p:cNvSpPr/>
          <p:nvPr/>
        </p:nvSpPr>
        <p:spPr>
          <a:xfrm>
            <a:off x="274320" y="3291840"/>
            <a:ext cx="4158000" cy="1414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225"/>
          <p:cNvSpPr/>
          <p:nvPr/>
        </p:nvSpPr>
        <p:spPr>
          <a:xfrm>
            <a:off x="274320" y="3291840"/>
            <a:ext cx="61560" cy="14148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5" name="Text 194"/>
          <p:cNvSpPr/>
          <p:nvPr/>
        </p:nvSpPr>
        <p:spPr>
          <a:xfrm>
            <a:off x="457200" y="3337560"/>
            <a:ext cx="3837960" cy="13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docker pull opensearchproject/opensearch:latest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docker-compose (recommandé pour cluster)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226"/>
          <p:cNvSpPr/>
          <p:nvPr/>
        </p:nvSpPr>
        <p:spPr>
          <a:xfrm>
            <a:off x="4754880" y="2880360"/>
            <a:ext cx="4158000" cy="4089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Text 195"/>
          <p:cNvSpPr/>
          <p:nvPr/>
        </p:nvSpPr>
        <p:spPr>
          <a:xfrm>
            <a:off x="4864680" y="2880360"/>
            <a:ext cx="3929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Kubernetes / Helm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227"/>
          <p:cNvSpPr/>
          <p:nvPr/>
        </p:nvSpPr>
        <p:spPr>
          <a:xfrm>
            <a:off x="4754880" y="3291840"/>
            <a:ext cx="4158000" cy="1414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228"/>
          <p:cNvSpPr/>
          <p:nvPr/>
        </p:nvSpPr>
        <p:spPr>
          <a:xfrm>
            <a:off x="4754880" y="3291840"/>
            <a:ext cx="61560" cy="14148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Text 196"/>
          <p:cNvSpPr/>
          <p:nvPr/>
        </p:nvSpPr>
        <p:spPr>
          <a:xfrm>
            <a:off x="4937760" y="3337560"/>
            <a:ext cx="3837960" cy="13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Helm chart officiel OpenSearch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onsolas"/>
                <a:ea typeface="Consolas"/>
              </a:rPr>
              <a:t>Opensearch Operator (k8s natif)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230"/>
          <p:cNvSpPr/>
          <p:nvPr/>
        </p:nvSpPr>
        <p:spPr>
          <a:xfrm>
            <a:off x="274320" y="4617720"/>
            <a:ext cx="61560" cy="36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197"/>
          <p:cNvSpPr/>
          <p:nvPr/>
        </p:nvSpPr>
        <p:spPr>
          <a:xfrm>
            <a:off x="457200" y="4725720"/>
            <a:ext cx="822708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a7500"/>
                </a:solidFill>
                <a:latin typeface="Calibri"/>
                <a:ea typeface="Calibri"/>
              </a:rPr>
              <a:t>✏️  </a:t>
            </a:r>
            <a:r>
              <a:rPr b="1" lang="en-US" sz="1400" spc="-1" strike="noStrike">
                <a:solidFill>
                  <a:srgbClr val="ea7500"/>
                </a:solidFill>
                <a:latin typeface="Calibri"/>
                <a:ea typeface="Calibri"/>
              </a:rPr>
              <a:t>Atelier 1 — Installation cluster OpenSearch et premier démarrage</a:t>
            </a:r>
            <a:endParaRPr b="0" lang="fr-FR" sz="1400" spc="-1" strike="noStrike">
              <a:solidFill>
                <a:srgbClr val="ea7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Shape 160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Text 2565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Text 2566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Indexation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et Documents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Shape 161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2567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Structure d'un document JSON</a:t>
            </a:r>
            <a:r>
              <a:rPr b="0" lang="en-US" sz="2100" spc="-1" strike="noStrike">
                <a:solidFill>
                  <a:srgbClr val="a8d4dc"/>
                </a:solidFill>
                <a:latin typeface="Calibri"/>
                <a:ea typeface="Calibri"/>
              </a:rPr>
              <a:t> ·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Document API (CRUD)</a:t>
            </a:r>
            <a:r>
              <a:rPr b="0" lang="en-US" sz="2100" spc="-1" strike="noStrike">
                <a:solidFill>
                  <a:srgbClr val="a8d4dc"/>
                </a:solidFill>
                <a:latin typeface="Calibri"/>
                <a:ea typeface="Calibri"/>
              </a:rPr>
              <a:t> ·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Routing &amp; Distribution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Shape 162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Shape 163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Text 2568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Shape 164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ext 2569"/>
          <p:cNvSpPr/>
          <p:nvPr/>
        </p:nvSpPr>
        <p:spPr>
          <a:xfrm>
            <a:off x="1749960" y="4546800"/>
            <a:ext cx="1422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Offre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Text 2570"/>
          <p:cNvSpPr/>
          <p:nvPr/>
        </p:nvSpPr>
        <p:spPr>
          <a:xfrm>
            <a:off x="288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4" name="Shape 165"/>
          <p:cNvSpPr/>
          <p:nvPr/>
        </p:nvSpPr>
        <p:spPr>
          <a:xfrm>
            <a:off x="6067800" y="4528440"/>
            <a:ext cx="30042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2571"/>
          <p:cNvSpPr/>
          <p:nvPr/>
        </p:nvSpPr>
        <p:spPr>
          <a:xfrm>
            <a:off x="6183720" y="4546800"/>
            <a:ext cx="273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Indexation et documents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2573"/>
          <p:cNvSpPr/>
          <p:nvPr/>
        </p:nvSpPr>
        <p:spPr>
          <a:xfrm>
            <a:off x="3096000" y="4546800"/>
            <a:ext cx="156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Composants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7" name="Text 2575"/>
          <p:cNvSpPr/>
          <p:nvPr/>
        </p:nvSpPr>
        <p:spPr>
          <a:xfrm>
            <a:off x="4428000" y="454680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Cluster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Text 2576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Text 2577"/>
          <p:cNvSpPr/>
          <p:nvPr/>
        </p:nvSpPr>
        <p:spPr>
          <a:xfrm>
            <a:off x="432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Text 1"/>
          <p:cNvSpPr/>
          <p:nvPr/>
        </p:nvSpPr>
        <p:spPr>
          <a:xfrm>
            <a:off x="5441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Shape 546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Shape 547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3" name="Text 526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Structure d'un document OpenSearch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Shape 548"/>
          <p:cNvSpPr/>
          <p:nvPr/>
        </p:nvSpPr>
        <p:spPr>
          <a:xfrm>
            <a:off x="274320" y="822960"/>
            <a:ext cx="4113000" cy="118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549"/>
          <p:cNvSpPr/>
          <p:nvPr/>
        </p:nvSpPr>
        <p:spPr>
          <a:xfrm>
            <a:off x="274320" y="822960"/>
            <a:ext cx="62280" cy="1186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Text 527"/>
          <p:cNvSpPr/>
          <p:nvPr/>
        </p:nvSpPr>
        <p:spPr>
          <a:xfrm>
            <a:off x="457200" y="896040"/>
            <a:ext cx="3747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Champs typés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Text 528"/>
          <p:cNvSpPr/>
          <p:nvPr/>
        </p:nvSpPr>
        <p:spPr>
          <a:xfrm>
            <a:off x="457200" y="1243440"/>
            <a:ext cx="374724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Chaque champ a un type détecté automatiquement ou défini dans le mapping : text, keyword, integer, date, boolean, geo_point, object…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550"/>
          <p:cNvSpPr/>
          <p:nvPr/>
        </p:nvSpPr>
        <p:spPr>
          <a:xfrm>
            <a:off x="274320" y="2212920"/>
            <a:ext cx="4113000" cy="118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551"/>
          <p:cNvSpPr/>
          <p:nvPr/>
        </p:nvSpPr>
        <p:spPr>
          <a:xfrm>
            <a:off x="274320" y="2212920"/>
            <a:ext cx="62280" cy="1186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Text 529"/>
          <p:cNvSpPr/>
          <p:nvPr/>
        </p:nvSpPr>
        <p:spPr>
          <a:xfrm>
            <a:off x="457200" y="2286000"/>
            <a:ext cx="3747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Imbrication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Text 530"/>
          <p:cNvSpPr/>
          <p:nvPr/>
        </p:nvSpPr>
        <p:spPr>
          <a:xfrm>
            <a:off x="457200" y="2633400"/>
            <a:ext cx="374724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Un champ peut contenir un objet JSON imbriqué (object) ou un tableau de valeurs.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552"/>
          <p:cNvSpPr/>
          <p:nvPr/>
        </p:nvSpPr>
        <p:spPr>
          <a:xfrm>
            <a:off x="274320" y="3602880"/>
            <a:ext cx="4113000" cy="1186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553"/>
          <p:cNvSpPr/>
          <p:nvPr/>
        </p:nvSpPr>
        <p:spPr>
          <a:xfrm>
            <a:off x="274320" y="3602880"/>
            <a:ext cx="62280" cy="11869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Text 531"/>
          <p:cNvSpPr/>
          <p:nvPr/>
        </p:nvSpPr>
        <p:spPr>
          <a:xfrm>
            <a:off x="457200" y="3675960"/>
            <a:ext cx="3747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Méta-données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Text 532"/>
          <p:cNvSpPr/>
          <p:nvPr/>
        </p:nvSpPr>
        <p:spPr>
          <a:xfrm>
            <a:off x="457200" y="4023360"/>
            <a:ext cx="374724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_index, _id, _version, _seq_no, _primary_term — associées automatiquement à chaque document.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554"/>
          <p:cNvSpPr/>
          <p:nvPr/>
        </p:nvSpPr>
        <p:spPr>
          <a:xfrm>
            <a:off x="4663440" y="822960"/>
            <a:ext cx="4204440" cy="3564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Text 533"/>
          <p:cNvSpPr/>
          <p:nvPr/>
        </p:nvSpPr>
        <p:spPr>
          <a:xfrm>
            <a:off x="4773240" y="896040"/>
            <a:ext cx="3975840" cy="33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POST /clients/_doc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"name"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"John Smith"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,  // keyword/text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"age"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b5cea8"/>
                </a:solidFill>
                <a:latin typeface="Consolas"/>
                <a:ea typeface="Consolas"/>
              </a:rPr>
              <a:t>42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,        // integer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"actif"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569cd6"/>
                </a:solidFill>
                <a:latin typeface="Consolas"/>
                <a:ea typeface="Consolas"/>
              </a:rPr>
              <a:t>true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,   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// boolean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"inscription"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"2024-01-15"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,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// date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"adresse"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{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// object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"ville"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"Paris"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"cp"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"75001"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"tags"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[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"vip"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,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"premium"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]  </a:t>
            </a: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// tableau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555"/>
          <p:cNvSpPr/>
          <p:nvPr/>
        </p:nvSpPr>
        <p:spPr>
          <a:xfrm>
            <a:off x="274320" y="476172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556"/>
          <p:cNvSpPr/>
          <p:nvPr/>
        </p:nvSpPr>
        <p:spPr>
          <a:xfrm>
            <a:off x="274320" y="476172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ext 534"/>
          <p:cNvSpPr/>
          <p:nvPr/>
        </p:nvSpPr>
        <p:spPr>
          <a:xfrm>
            <a:off x="457200" y="476172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  <a:ea typeface="Calibri"/>
              </a:rPr>
              <a:t>⚠️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  <a:ea typeface="Calibri"/>
              </a:rPr>
              <a:t>OpenSearch : le champ _type (_doc) est déprécié depuis la v2 — un index = un type de document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Shape 557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2" name="Shape 558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Text 535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Document API — Opérations CRUD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559"/>
          <p:cNvSpPr/>
          <p:nvPr/>
        </p:nvSpPr>
        <p:spPr>
          <a:xfrm>
            <a:off x="274320" y="804600"/>
            <a:ext cx="912600" cy="47376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536"/>
          <p:cNvSpPr/>
          <p:nvPr/>
        </p:nvSpPr>
        <p:spPr>
          <a:xfrm>
            <a:off x="274320" y="804600"/>
            <a:ext cx="9126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POST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Text 537"/>
          <p:cNvSpPr/>
          <p:nvPr/>
        </p:nvSpPr>
        <p:spPr>
          <a:xfrm>
            <a:off x="1298520" y="804600"/>
            <a:ext cx="18270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Créer (ID auto)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560"/>
          <p:cNvSpPr/>
          <p:nvPr/>
        </p:nvSpPr>
        <p:spPr>
          <a:xfrm>
            <a:off x="3246120" y="804600"/>
            <a:ext cx="3198600" cy="4737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538"/>
          <p:cNvSpPr/>
          <p:nvPr/>
        </p:nvSpPr>
        <p:spPr>
          <a:xfrm>
            <a:off x="3337560" y="804600"/>
            <a:ext cx="30157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POST /mon-index/_doc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561"/>
          <p:cNvSpPr/>
          <p:nvPr/>
        </p:nvSpPr>
        <p:spPr>
          <a:xfrm>
            <a:off x="6537960" y="804600"/>
            <a:ext cx="2329920" cy="4737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Text 539"/>
          <p:cNvSpPr/>
          <p:nvPr/>
        </p:nvSpPr>
        <p:spPr>
          <a:xfrm>
            <a:off x="6629400" y="804600"/>
            <a:ext cx="21744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7480"/>
                </a:solidFill>
                <a:latin typeface="Calibri"/>
                <a:ea typeface="Calibri"/>
              </a:rPr>
              <a:t>ID généré automatiquement par OpenSearch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562"/>
          <p:cNvSpPr/>
          <p:nvPr/>
        </p:nvSpPr>
        <p:spPr>
          <a:xfrm>
            <a:off x="274320" y="1280160"/>
            <a:ext cx="8593560" cy="349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563"/>
          <p:cNvSpPr/>
          <p:nvPr/>
        </p:nvSpPr>
        <p:spPr>
          <a:xfrm>
            <a:off x="274320" y="1856160"/>
            <a:ext cx="912600" cy="4737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540"/>
          <p:cNvSpPr/>
          <p:nvPr/>
        </p:nvSpPr>
        <p:spPr>
          <a:xfrm>
            <a:off x="274320" y="1856160"/>
            <a:ext cx="9126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PUT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Text 541"/>
          <p:cNvSpPr/>
          <p:nvPr/>
        </p:nvSpPr>
        <p:spPr>
          <a:xfrm>
            <a:off x="1298520" y="1856160"/>
            <a:ext cx="18270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Créer / Remplacer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564"/>
          <p:cNvSpPr/>
          <p:nvPr/>
        </p:nvSpPr>
        <p:spPr>
          <a:xfrm>
            <a:off x="3246120" y="1856160"/>
            <a:ext cx="3198600" cy="4737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Text 542"/>
          <p:cNvSpPr/>
          <p:nvPr/>
        </p:nvSpPr>
        <p:spPr>
          <a:xfrm>
            <a:off x="3337560" y="1856160"/>
            <a:ext cx="30157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PUT /mon-index/_doc/{id}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565"/>
          <p:cNvSpPr/>
          <p:nvPr/>
        </p:nvSpPr>
        <p:spPr>
          <a:xfrm>
            <a:off x="6537960" y="1856160"/>
            <a:ext cx="2329920" cy="47376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Text 543"/>
          <p:cNvSpPr/>
          <p:nvPr/>
        </p:nvSpPr>
        <p:spPr>
          <a:xfrm>
            <a:off x="6629400" y="1856160"/>
            <a:ext cx="21744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7480"/>
                </a:solidFill>
                <a:latin typeface="Calibri"/>
                <a:ea typeface="Calibri"/>
              </a:rPr>
              <a:t>Crée ou remplace le document entier — _version incrémenté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566"/>
          <p:cNvSpPr/>
          <p:nvPr/>
        </p:nvSpPr>
        <p:spPr>
          <a:xfrm>
            <a:off x="274320" y="2331720"/>
            <a:ext cx="8593560" cy="349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567"/>
          <p:cNvSpPr/>
          <p:nvPr/>
        </p:nvSpPr>
        <p:spPr>
          <a:xfrm>
            <a:off x="274320" y="2907720"/>
            <a:ext cx="912600" cy="4737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Text 544"/>
          <p:cNvSpPr/>
          <p:nvPr/>
        </p:nvSpPr>
        <p:spPr>
          <a:xfrm>
            <a:off x="274320" y="2907720"/>
            <a:ext cx="9126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GET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Text 545"/>
          <p:cNvSpPr/>
          <p:nvPr/>
        </p:nvSpPr>
        <p:spPr>
          <a:xfrm>
            <a:off x="1298520" y="2907720"/>
            <a:ext cx="18270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Récupérer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568"/>
          <p:cNvSpPr/>
          <p:nvPr/>
        </p:nvSpPr>
        <p:spPr>
          <a:xfrm>
            <a:off x="3246120" y="2907720"/>
            <a:ext cx="3198600" cy="4737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4" name="Text 546"/>
          <p:cNvSpPr/>
          <p:nvPr/>
        </p:nvSpPr>
        <p:spPr>
          <a:xfrm>
            <a:off x="3337560" y="2907720"/>
            <a:ext cx="30157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GET /mon-index/_doc/{id}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Shape 569"/>
          <p:cNvSpPr/>
          <p:nvPr/>
        </p:nvSpPr>
        <p:spPr>
          <a:xfrm>
            <a:off x="6537960" y="2907720"/>
            <a:ext cx="2329920" cy="4737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Text 547"/>
          <p:cNvSpPr/>
          <p:nvPr/>
        </p:nvSpPr>
        <p:spPr>
          <a:xfrm>
            <a:off x="6629400" y="2907720"/>
            <a:ext cx="21744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7480"/>
                </a:solidFill>
                <a:latin typeface="Calibri"/>
                <a:ea typeface="Calibri"/>
              </a:rPr>
              <a:t>Retourne le document et ses méta-données (_index, _id, _version, _source)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570"/>
          <p:cNvSpPr/>
          <p:nvPr/>
        </p:nvSpPr>
        <p:spPr>
          <a:xfrm>
            <a:off x="274320" y="3383280"/>
            <a:ext cx="8593560" cy="3492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571"/>
          <p:cNvSpPr/>
          <p:nvPr/>
        </p:nvSpPr>
        <p:spPr>
          <a:xfrm>
            <a:off x="274320" y="3959280"/>
            <a:ext cx="912600" cy="47376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Text 548"/>
          <p:cNvSpPr/>
          <p:nvPr/>
        </p:nvSpPr>
        <p:spPr>
          <a:xfrm>
            <a:off x="274320" y="3959280"/>
            <a:ext cx="9126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DELETE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Text 549"/>
          <p:cNvSpPr/>
          <p:nvPr/>
        </p:nvSpPr>
        <p:spPr>
          <a:xfrm>
            <a:off x="1298520" y="3959280"/>
            <a:ext cx="18270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2b2f"/>
                </a:solidFill>
                <a:latin typeface="Calibri"/>
                <a:ea typeface="Calibri"/>
              </a:rPr>
              <a:t>Supprimer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572"/>
          <p:cNvSpPr/>
          <p:nvPr/>
        </p:nvSpPr>
        <p:spPr>
          <a:xfrm>
            <a:off x="3246120" y="3959280"/>
            <a:ext cx="3198600" cy="4737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Text 550"/>
          <p:cNvSpPr/>
          <p:nvPr/>
        </p:nvSpPr>
        <p:spPr>
          <a:xfrm>
            <a:off x="3337560" y="3959280"/>
            <a:ext cx="301572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DELETE /mon-index/_doc/{id}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573"/>
          <p:cNvSpPr/>
          <p:nvPr/>
        </p:nvSpPr>
        <p:spPr>
          <a:xfrm>
            <a:off x="6537960" y="3959280"/>
            <a:ext cx="2329920" cy="47376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Text 551"/>
          <p:cNvSpPr/>
          <p:nvPr/>
        </p:nvSpPr>
        <p:spPr>
          <a:xfrm>
            <a:off x="6629400" y="3959280"/>
            <a:ext cx="21744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a7480"/>
                </a:solidFill>
                <a:latin typeface="Calibri"/>
                <a:ea typeface="Calibri"/>
              </a:rPr>
              <a:t>Suppression asynchrone — répliques supprimées en batch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Shape 576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6" name="Shape 577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 553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Mise à jour partielle — _update &amp; Scripts Painless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578"/>
          <p:cNvSpPr/>
          <p:nvPr/>
        </p:nvSpPr>
        <p:spPr>
          <a:xfrm>
            <a:off x="274320" y="804600"/>
            <a:ext cx="4113000" cy="3823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" name="Text 554"/>
          <p:cNvSpPr/>
          <p:nvPr/>
        </p:nvSpPr>
        <p:spPr>
          <a:xfrm>
            <a:off x="365760" y="804600"/>
            <a:ext cx="3930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Principe — documents immuables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579"/>
          <p:cNvSpPr/>
          <p:nvPr/>
        </p:nvSpPr>
        <p:spPr>
          <a:xfrm>
            <a:off x="274320" y="1243440"/>
            <a:ext cx="4113000" cy="4737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580"/>
          <p:cNvSpPr/>
          <p:nvPr/>
        </p:nvSpPr>
        <p:spPr>
          <a:xfrm>
            <a:off x="347400" y="1362600"/>
            <a:ext cx="18108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2" name="Text 555"/>
          <p:cNvSpPr/>
          <p:nvPr/>
        </p:nvSpPr>
        <p:spPr>
          <a:xfrm>
            <a:off x="640080" y="1243440"/>
            <a:ext cx="3655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Les documents OpenSearch sont immuables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581"/>
          <p:cNvSpPr/>
          <p:nvPr/>
        </p:nvSpPr>
        <p:spPr>
          <a:xfrm>
            <a:off x="274320" y="1774080"/>
            <a:ext cx="4113000" cy="47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582"/>
          <p:cNvSpPr/>
          <p:nvPr/>
        </p:nvSpPr>
        <p:spPr>
          <a:xfrm>
            <a:off x="347400" y="1892880"/>
            <a:ext cx="18108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Text 556"/>
          <p:cNvSpPr/>
          <p:nvPr/>
        </p:nvSpPr>
        <p:spPr>
          <a:xfrm>
            <a:off x="640080" y="1774080"/>
            <a:ext cx="3655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Une mise à jour = récupération + fusion + réindexation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583"/>
          <p:cNvSpPr/>
          <p:nvPr/>
        </p:nvSpPr>
        <p:spPr>
          <a:xfrm>
            <a:off x="274320" y="2304360"/>
            <a:ext cx="4113000" cy="47376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584"/>
          <p:cNvSpPr/>
          <p:nvPr/>
        </p:nvSpPr>
        <p:spPr>
          <a:xfrm>
            <a:off x="347400" y="2423160"/>
            <a:ext cx="18108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Text 557"/>
          <p:cNvSpPr/>
          <p:nvPr/>
        </p:nvSpPr>
        <p:spPr>
          <a:xfrm>
            <a:off x="640080" y="2304360"/>
            <a:ext cx="3655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_update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 fusionne les champs fournis avec les champs existants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585"/>
          <p:cNvSpPr/>
          <p:nvPr/>
        </p:nvSpPr>
        <p:spPr>
          <a:xfrm>
            <a:off x="274320" y="2834640"/>
            <a:ext cx="4113000" cy="47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586"/>
          <p:cNvSpPr/>
          <p:nvPr/>
        </p:nvSpPr>
        <p:spPr>
          <a:xfrm>
            <a:off x="347400" y="2953440"/>
            <a:ext cx="18108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1" name="Text 558"/>
          <p:cNvSpPr/>
          <p:nvPr/>
        </p:nvSpPr>
        <p:spPr>
          <a:xfrm>
            <a:off x="640080" y="2834640"/>
            <a:ext cx="3655800" cy="4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Seuls les champs modifiés sont envoyés dans la requête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587"/>
          <p:cNvSpPr/>
          <p:nvPr/>
        </p:nvSpPr>
        <p:spPr>
          <a:xfrm>
            <a:off x="4572000" y="804600"/>
            <a:ext cx="4295880" cy="3823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Text 559"/>
          <p:cNvSpPr/>
          <p:nvPr/>
        </p:nvSpPr>
        <p:spPr>
          <a:xfrm>
            <a:off x="4663440" y="804600"/>
            <a:ext cx="411300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Exemples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588"/>
          <p:cNvSpPr/>
          <p:nvPr/>
        </p:nvSpPr>
        <p:spPr>
          <a:xfrm>
            <a:off x="4572000" y="1243440"/>
            <a:ext cx="4295880" cy="144288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Text 560"/>
          <p:cNvSpPr/>
          <p:nvPr/>
        </p:nvSpPr>
        <p:spPr>
          <a:xfrm>
            <a:off x="4663440" y="1298520"/>
            <a:ext cx="411300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Mise à jour partielle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POST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/clients/_update/1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 "doc": { "tags": ["vip"], "score": 99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589"/>
          <p:cNvSpPr/>
          <p:nvPr/>
        </p:nvSpPr>
        <p:spPr>
          <a:xfrm>
            <a:off x="4572000" y="2761560"/>
            <a:ext cx="4295880" cy="200988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7" name="Text 561"/>
          <p:cNvSpPr/>
          <p:nvPr/>
        </p:nvSpPr>
        <p:spPr>
          <a:xfrm>
            <a:off x="4663440" y="2816280"/>
            <a:ext cx="4113000" cy="19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Script Painless — incrément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POST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/clients/_update/1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"script"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{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"source"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"ctx._source.score += params.inc"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"params"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{ </a:t>
            </a:r>
            <a:r>
              <a:rPr b="0" lang="en-US" sz="1100" spc="-1" strike="noStrike">
                <a:solidFill>
                  <a:srgbClr val="9cdcfe"/>
                </a:solidFill>
                <a:latin typeface="Consolas"/>
                <a:ea typeface="Consolas"/>
              </a:rPr>
              <a:t>"inc"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: </a:t>
            </a:r>
            <a:r>
              <a:rPr b="0" lang="en-US" sz="1100" spc="-1" strike="noStrike">
                <a:solidFill>
                  <a:srgbClr val="b5cea8"/>
                </a:solidFill>
                <a:latin typeface="Consolas"/>
                <a:ea typeface="Consolas"/>
              </a:rPr>
              <a:t>10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Shape 590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Shape 591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Text 562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Bulk API — Opérations en lot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592"/>
          <p:cNvSpPr/>
          <p:nvPr/>
        </p:nvSpPr>
        <p:spPr>
          <a:xfrm>
            <a:off x="274320" y="804600"/>
            <a:ext cx="4158720" cy="814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593"/>
          <p:cNvSpPr/>
          <p:nvPr/>
        </p:nvSpPr>
        <p:spPr>
          <a:xfrm>
            <a:off x="274320" y="660600"/>
            <a:ext cx="62280" cy="10040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Text 563"/>
          <p:cNvSpPr/>
          <p:nvPr/>
        </p:nvSpPr>
        <p:spPr>
          <a:xfrm>
            <a:off x="457200" y="70632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Mode batch d'OpenSearch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Text 564"/>
          <p:cNvSpPr/>
          <p:nvPr/>
        </p:nvSpPr>
        <p:spPr>
          <a:xfrm>
            <a:off x="457200" y="1026360"/>
            <a:ext cx="38386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1a2b2f"/>
                </a:solidFill>
                <a:latin typeface="Calibri"/>
                <a:ea typeface="Calibri"/>
              </a:rPr>
              <a:t>Regroupe plusieurs opérations (create, index, update, delete) en une seule requête HTTP — réduit drastiquement la charge réseau.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Shape 594"/>
          <p:cNvSpPr/>
          <p:nvPr/>
        </p:nvSpPr>
        <p:spPr>
          <a:xfrm>
            <a:off x="4754880" y="804600"/>
            <a:ext cx="4158720" cy="8143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Shape 595"/>
          <p:cNvSpPr/>
          <p:nvPr/>
        </p:nvSpPr>
        <p:spPr>
          <a:xfrm>
            <a:off x="4754880" y="660600"/>
            <a:ext cx="62280" cy="10040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7" name="Text 565"/>
          <p:cNvSpPr/>
          <p:nvPr/>
        </p:nvSpPr>
        <p:spPr>
          <a:xfrm>
            <a:off x="4937760" y="706320"/>
            <a:ext cx="38386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576b"/>
                </a:solidFill>
                <a:latin typeface="Calibri"/>
                <a:ea typeface="Calibri"/>
              </a:rPr>
              <a:t>Traitement indépendant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Text 566"/>
          <p:cNvSpPr/>
          <p:nvPr/>
        </p:nvSpPr>
        <p:spPr>
          <a:xfrm>
            <a:off x="4937760" y="1026360"/>
            <a:ext cx="383868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00" spc="-1" strike="noStrike">
                <a:solidFill>
                  <a:srgbClr val="1a2b2f"/>
                </a:solidFill>
                <a:latin typeface="Calibri"/>
                <a:ea typeface="Calibri"/>
              </a:rPr>
              <a:t>Chaque opération est traitée séparément. L'échec d'une n'affecte pas les autres. ⚠️ La Bulk API ne supporte pas les transactions.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596"/>
          <p:cNvSpPr/>
          <p:nvPr/>
        </p:nvSpPr>
        <p:spPr>
          <a:xfrm>
            <a:off x="274320" y="1704240"/>
            <a:ext cx="4045680" cy="3639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Text 567"/>
          <p:cNvSpPr/>
          <p:nvPr/>
        </p:nvSpPr>
        <p:spPr>
          <a:xfrm>
            <a:off x="409320" y="1704240"/>
            <a:ext cx="3775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Format NDJSON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597"/>
          <p:cNvSpPr/>
          <p:nvPr/>
        </p:nvSpPr>
        <p:spPr>
          <a:xfrm>
            <a:off x="274320" y="2124720"/>
            <a:ext cx="4045680" cy="32724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Text 568"/>
          <p:cNvSpPr/>
          <p:nvPr/>
        </p:nvSpPr>
        <p:spPr>
          <a:xfrm>
            <a:off x="409320" y="2124720"/>
            <a:ext cx="384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ec9b0"/>
                </a:solidFill>
                <a:latin typeface="Consolas"/>
                <a:ea typeface="Consolas"/>
              </a:rPr>
              <a:t>{ action: { _index, _id } }  ← ligne action/metadata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598"/>
          <p:cNvSpPr/>
          <p:nvPr/>
        </p:nvSpPr>
        <p:spPr>
          <a:xfrm>
            <a:off x="274320" y="2472480"/>
            <a:ext cx="4045680" cy="327240"/>
          </a:xfrm>
          <a:prstGeom prst="rect">
            <a:avLst/>
          </a:prstGeom>
          <a:solidFill>
            <a:srgbClr val="0d3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Text 569"/>
          <p:cNvSpPr/>
          <p:nvPr/>
        </p:nvSpPr>
        <p:spPr>
          <a:xfrm>
            <a:off x="409320" y="2472480"/>
            <a:ext cx="384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corps du document }         ← ligne corps (sauf delete)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599"/>
          <p:cNvSpPr/>
          <p:nvPr/>
        </p:nvSpPr>
        <p:spPr>
          <a:xfrm>
            <a:off x="274320" y="2819880"/>
            <a:ext cx="4045680" cy="32724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Text 570"/>
          <p:cNvSpPr/>
          <p:nvPr/>
        </p:nvSpPr>
        <p:spPr>
          <a:xfrm>
            <a:off x="409320" y="2819880"/>
            <a:ext cx="384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ec9b0"/>
                </a:solidFill>
                <a:latin typeface="Consolas"/>
                <a:ea typeface="Consolas"/>
              </a:rPr>
              <a:t>{ action: { ... } }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600"/>
          <p:cNvSpPr/>
          <p:nvPr/>
        </p:nvSpPr>
        <p:spPr>
          <a:xfrm>
            <a:off x="274320" y="3167280"/>
            <a:ext cx="4045680" cy="327240"/>
          </a:xfrm>
          <a:prstGeom prst="rect">
            <a:avLst/>
          </a:prstGeom>
          <a:solidFill>
            <a:srgbClr val="0d35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 571"/>
          <p:cNvSpPr/>
          <p:nvPr/>
        </p:nvSpPr>
        <p:spPr>
          <a:xfrm>
            <a:off x="409320" y="3167280"/>
            <a:ext cx="384336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corps ... }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601"/>
          <p:cNvSpPr/>
          <p:nvPr/>
        </p:nvSpPr>
        <p:spPr>
          <a:xfrm>
            <a:off x="274320" y="3551400"/>
            <a:ext cx="404568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602"/>
          <p:cNvSpPr/>
          <p:nvPr/>
        </p:nvSpPr>
        <p:spPr>
          <a:xfrm>
            <a:off x="381960" y="3661200"/>
            <a:ext cx="26712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Text 572"/>
          <p:cNvSpPr/>
          <p:nvPr/>
        </p:nvSpPr>
        <p:spPr>
          <a:xfrm>
            <a:off x="787320" y="3551400"/>
            <a:ext cx="3438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Chaque ligne se termine par \n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603"/>
          <p:cNvSpPr/>
          <p:nvPr/>
        </p:nvSpPr>
        <p:spPr>
          <a:xfrm>
            <a:off x="274320" y="3935520"/>
            <a:ext cx="4045680" cy="345600"/>
          </a:xfrm>
          <a:prstGeom prst="rect">
            <a:avLst/>
          </a:prstGeom>
          <a:solidFill>
            <a:srgbClr val="e8ed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604"/>
          <p:cNvSpPr/>
          <p:nvPr/>
        </p:nvSpPr>
        <p:spPr>
          <a:xfrm>
            <a:off x="381960" y="4044960"/>
            <a:ext cx="26712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Text 573"/>
          <p:cNvSpPr/>
          <p:nvPr/>
        </p:nvSpPr>
        <p:spPr>
          <a:xfrm>
            <a:off x="787320" y="3935520"/>
            <a:ext cx="3438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Pas de formatage JSON multi-lignes — tout sur une seule ligne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605"/>
          <p:cNvSpPr/>
          <p:nvPr/>
        </p:nvSpPr>
        <p:spPr>
          <a:xfrm>
            <a:off x="274320" y="4391280"/>
            <a:ext cx="404568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606"/>
          <p:cNvSpPr/>
          <p:nvPr/>
        </p:nvSpPr>
        <p:spPr>
          <a:xfrm>
            <a:off x="381960" y="4429080"/>
            <a:ext cx="267120" cy="181080"/>
          </a:xfrm>
          <a:prstGeom prst="ellipse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Text 574"/>
          <p:cNvSpPr/>
          <p:nvPr/>
        </p:nvSpPr>
        <p:spPr>
          <a:xfrm>
            <a:off x="787320" y="4391280"/>
            <a:ext cx="3438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delete n'a pas de ligne corps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607"/>
          <p:cNvSpPr/>
          <p:nvPr/>
        </p:nvSpPr>
        <p:spPr>
          <a:xfrm>
            <a:off x="4392000" y="1704240"/>
            <a:ext cx="4500000" cy="3639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9" name="Text 575"/>
          <p:cNvSpPr/>
          <p:nvPr/>
        </p:nvSpPr>
        <p:spPr>
          <a:xfrm>
            <a:off x="4474080" y="1704240"/>
            <a:ext cx="4165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Exemple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608"/>
          <p:cNvSpPr/>
          <p:nvPr/>
        </p:nvSpPr>
        <p:spPr>
          <a:xfrm>
            <a:off x="4392000" y="2124720"/>
            <a:ext cx="4500000" cy="255528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1" name="Text 576"/>
          <p:cNvSpPr/>
          <p:nvPr/>
        </p:nvSpPr>
        <p:spPr>
          <a:xfrm>
            <a:off x="4462200" y="2179800"/>
            <a:ext cx="417780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POST /mon-index/_bulk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 "delete":  { "_id": "1"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 "create":  { "_id": "2"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{ "titre": "Premier article"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 "index":   { "_id": "3"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{ "titre": "Deuxième article"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 "update":  { "_id": "2"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e9178"/>
                </a:solidFill>
                <a:latin typeface="Consolas"/>
                <a:ea typeface="Consolas"/>
              </a:rPr>
              <a:t>{ "doc": { "titre": "Article mis à jour"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574"/>
          <p:cNvSpPr/>
          <p:nvPr/>
        </p:nvSpPr>
        <p:spPr>
          <a:xfrm>
            <a:off x="274320" y="475308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575"/>
          <p:cNvSpPr/>
          <p:nvPr/>
        </p:nvSpPr>
        <p:spPr>
          <a:xfrm>
            <a:off x="274320" y="475308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Text 552"/>
          <p:cNvSpPr/>
          <p:nvPr/>
        </p:nvSpPr>
        <p:spPr>
          <a:xfrm>
            <a:off x="457200" y="475308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a7500"/>
                </a:solidFill>
                <a:latin typeface="Calibri"/>
                <a:ea typeface="Calibri"/>
              </a:rPr>
              <a:t>✏️  </a:t>
            </a:r>
            <a:r>
              <a:rPr b="1" lang="en-US" sz="1300" spc="-1" strike="noStrike">
                <a:solidFill>
                  <a:srgbClr val="ea7500"/>
                </a:solidFill>
                <a:latin typeface="Calibri"/>
                <a:ea typeface="Calibri"/>
              </a:rPr>
              <a:t>Atelier 2.1 — Document API : CRUD sur un index OpenSearch</a:t>
            </a:r>
            <a:endParaRPr b="1" lang="fr-FR" sz="1300" spc="-1" strike="noStrike">
              <a:solidFill>
                <a:srgbClr val="ea7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Shape 632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Shape 633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Text 606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API de recherche — Search Lite &amp; Query DSL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634"/>
          <p:cNvSpPr/>
          <p:nvPr/>
        </p:nvSpPr>
        <p:spPr>
          <a:xfrm>
            <a:off x="274320" y="696600"/>
            <a:ext cx="4158720" cy="38232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Text 607"/>
          <p:cNvSpPr/>
          <p:nvPr/>
        </p:nvSpPr>
        <p:spPr>
          <a:xfrm>
            <a:off x="365760" y="696600"/>
            <a:ext cx="39758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Search Lite (URI Search)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635"/>
          <p:cNvSpPr/>
          <p:nvPr/>
        </p:nvSpPr>
        <p:spPr>
          <a:xfrm>
            <a:off x="274320" y="1188720"/>
            <a:ext cx="4158720" cy="136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636"/>
          <p:cNvSpPr/>
          <p:nvPr/>
        </p:nvSpPr>
        <p:spPr>
          <a:xfrm>
            <a:off x="274320" y="1080720"/>
            <a:ext cx="62280" cy="13698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Text 608"/>
          <p:cNvSpPr/>
          <p:nvPr/>
        </p:nvSpPr>
        <p:spPr>
          <a:xfrm>
            <a:off x="457200" y="1153800"/>
            <a:ext cx="38844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Paramètres passés directement dans l'URL via ?q=. Syntaxe Lucene Query String.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⚠️ 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À éviter en production : risque de sécurité, pas de contrôle fin des droits.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637"/>
          <p:cNvSpPr/>
          <p:nvPr/>
        </p:nvSpPr>
        <p:spPr>
          <a:xfrm>
            <a:off x="274320" y="2123280"/>
            <a:ext cx="4158720" cy="141552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4" name="Text 609"/>
          <p:cNvSpPr/>
          <p:nvPr/>
        </p:nvSpPr>
        <p:spPr>
          <a:xfrm>
            <a:off x="384120" y="2178000"/>
            <a:ext cx="3930120" cy="12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GET /mon-index/_search?q=titre:opensearch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638"/>
          <p:cNvSpPr/>
          <p:nvPr/>
        </p:nvSpPr>
        <p:spPr>
          <a:xfrm>
            <a:off x="4709160" y="696600"/>
            <a:ext cx="4158720" cy="3823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6" name="Text 610"/>
          <p:cNvSpPr/>
          <p:nvPr/>
        </p:nvSpPr>
        <p:spPr>
          <a:xfrm>
            <a:off x="4800600" y="696600"/>
            <a:ext cx="39758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Query DSL (corps JSON)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Shape 639"/>
          <p:cNvSpPr/>
          <p:nvPr/>
        </p:nvSpPr>
        <p:spPr>
          <a:xfrm>
            <a:off x="4709160" y="1080720"/>
            <a:ext cx="4158720" cy="1369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640"/>
          <p:cNvSpPr/>
          <p:nvPr/>
        </p:nvSpPr>
        <p:spPr>
          <a:xfrm>
            <a:off x="4709160" y="1080720"/>
            <a:ext cx="62280" cy="136980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9" name="Text 611"/>
          <p:cNvSpPr/>
          <p:nvPr/>
        </p:nvSpPr>
        <p:spPr>
          <a:xfrm>
            <a:off x="4892040" y="1153800"/>
            <a:ext cx="38844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Langage riche de requête passé dans le corps de la requête. C'est l'approche recommandée en production pour la précision, la lisibilité et la sécurité.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641"/>
          <p:cNvSpPr/>
          <p:nvPr/>
        </p:nvSpPr>
        <p:spPr>
          <a:xfrm>
            <a:off x="4709160" y="2123280"/>
            <a:ext cx="4158720" cy="141552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Text 612"/>
          <p:cNvSpPr/>
          <p:nvPr/>
        </p:nvSpPr>
        <p:spPr>
          <a:xfrm>
            <a:off x="4818960" y="2178000"/>
            <a:ext cx="3930120" cy="12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{ "query": { "match": { "titre": "opensearch" }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642"/>
          <p:cNvSpPr/>
          <p:nvPr/>
        </p:nvSpPr>
        <p:spPr>
          <a:xfrm>
            <a:off x="274320" y="3586680"/>
            <a:ext cx="8593560" cy="3639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Text 613"/>
          <p:cNvSpPr/>
          <p:nvPr/>
        </p:nvSpPr>
        <p:spPr>
          <a:xfrm>
            <a:off x="365760" y="3586680"/>
            <a:ext cx="831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Champs de la réponse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643"/>
          <p:cNvSpPr/>
          <p:nvPr/>
        </p:nvSpPr>
        <p:spPr>
          <a:xfrm>
            <a:off x="274320" y="4016520"/>
            <a:ext cx="4158720" cy="327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Text 614"/>
          <p:cNvSpPr/>
          <p:nvPr/>
        </p:nvSpPr>
        <p:spPr>
          <a:xfrm>
            <a:off x="365760" y="4016520"/>
            <a:ext cx="1186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hits.total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Text 615"/>
          <p:cNvSpPr/>
          <p:nvPr/>
        </p:nvSpPr>
        <p:spPr>
          <a:xfrm>
            <a:off x="1645920" y="4016520"/>
            <a:ext cx="27414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Nombre de documents correspondants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644"/>
          <p:cNvSpPr/>
          <p:nvPr/>
        </p:nvSpPr>
        <p:spPr>
          <a:xfrm>
            <a:off x="274320" y="4382280"/>
            <a:ext cx="4158720" cy="327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Text 616"/>
          <p:cNvSpPr/>
          <p:nvPr/>
        </p:nvSpPr>
        <p:spPr>
          <a:xfrm>
            <a:off x="365760" y="4382280"/>
            <a:ext cx="1186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hits.hits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Text 617"/>
          <p:cNvSpPr/>
          <p:nvPr/>
        </p:nvSpPr>
        <p:spPr>
          <a:xfrm>
            <a:off x="1645920" y="4382280"/>
            <a:ext cx="27414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Tableau des 10 premiers résultats (configurable via size)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645"/>
          <p:cNvSpPr/>
          <p:nvPr/>
        </p:nvSpPr>
        <p:spPr>
          <a:xfrm>
            <a:off x="274320" y="4748040"/>
            <a:ext cx="4158720" cy="327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Text 618"/>
          <p:cNvSpPr/>
          <p:nvPr/>
        </p:nvSpPr>
        <p:spPr>
          <a:xfrm>
            <a:off x="365760" y="4748040"/>
            <a:ext cx="1186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_score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Text 619"/>
          <p:cNvSpPr/>
          <p:nvPr/>
        </p:nvSpPr>
        <p:spPr>
          <a:xfrm>
            <a:off x="1645920" y="4748040"/>
            <a:ext cx="27414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Score de pertinence — tri par défaut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646"/>
          <p:cNvSpPr/>
          <p:nvPr/>
        </p:nvSpPr>
        <p:spPr>
          <a:xfrm>
            <a:off x="4709160" y="4016520"/>
            <a:ext cx="4158720" cy="327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Text 620"/>
          <p:cNvSpPr/>
          <p:nvPr/>
        </p:nvSpPr>
        <p:spPr>
          <a:xfrm>
            <a:off x="4800600" y="4016520"/>
            <a:ext cx="1186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took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Text 621"/>
          <p:cNvSpPr/>
          <p:nvPr/>
        </p:nvSpPr>
        <p:spPr>
          <a:xfrm>
            <a:off x="6080760" y="4016520"/>
            <a:ext cx="27414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Durée d'exécution en ms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647"/>
          <p:cNvSpPr/>
          <p:nvPr/>
        </p:nvSpPr>
        <p:spPr>
          <a:xfrm>
            <a:off x="4709160" y="4382280"/>
            <a:ext cx="4158720" cy="32724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Text 622"/>
          <p:cNvSpPr/>
          <p:nvPr/>
        </p:nvSpPr>
        <p:spPr>
          <a:xfrm>
            <a:off x="4800600" y="4382280"/>
            <a:ext cx="118692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_shards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Text 623"/>
          <p:cNvSpPr/>
          <p:nvPr/>
        </p:nvSpPr>
        <p:spPr>
          <a:xfrm>
            <a:off x="6080760" y="4382280"/>
            <a:ext cx="27414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Nombre de shards ayant participé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Shape 648"/>
          <p:cNvSpPr/>
          <p:nvPr/>
        </p:nvSpPr>
        <p:spPr>
          <a:xfrm>
            <a:off x="0" y="0"/>
            <a:ext cx="9142200" cy="65664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0" name="Shape 649"/>
          <p:cNvSpPr/>
          <p:nvPr/>
        </p:nvSpPr>
        <p:spPr>
          <a:xfrm>
            <a:off x="0" y="0"/>
            <a:ext cx="162720" cy="6566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1" name="Text 624"/>
          <p:cNvSpPr/>
          <p:nvPr/>
        </p:nvSpPr>
        <p:spPr>
          <a:xfrm>
            <a:off x="347400" y="54720"/>
            <a:ext cx="8410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Paramètres de recherche — Pagination &amp; Options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650"/>
          <p:cNvSpPr/>
          <p:nvPr/>
        </p:nvSpPr>
        <p:spPr>
          <a:xfrm>
            <a:off x="274320" y="804600"/>
            <a:ext cx="4113000" cy="38232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3" name="Text 625"/>
          <p:cNvSpPr/>
          <p:nvPr/>
        </p:nvSpPr>
        <p:spPr>
          <a:xfrm>
            <a:off x="365760" y="804600"/>
            <a:ext cx="3930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Pagination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651"/>
          <p:cNvSpPr/>
          <p:nvPr/>
        </p:nvSpPr>
        <p:spPr>
          <a:xfrm>
            <a:off x="274320" y="1243440"/>
            <a:ext cx="4113000" cy="200988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Text 626"/>
          <p:cNvSpPr/>
          <p:nvPr/>
        </p:nvSpPr>
        <p:spPr>
          <a:xfrm>
            <a:off x="384120" y="1298520"/>
            <a:ext cx="3893400" cy="19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Page 1 (défaut : 10 résultats)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GET /mon-index/_search?size=10&amp;from=0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Page 2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4ec9b0"/>
                </a:solidFill>
                <a:latin typeface="Consolas"/>
                <a:ea typeface="Consolas"/>
              </a:rPr>
              <a:t>GET /mon-index/_search?size=10&amp;from=10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Ou dans le corps DSL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 "from": 20, "size": 10,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"query": { ... } }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652"/>
          <p:cNvSpPr/>
          <p:nvPr/>
        </p:nvSpPr>
        <p:spPr>
          <a:xfrm>
            <a:off x="274320" y="3310200"/>
            <a:ext cx="4113000" cy="74808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653"/>
          <p:cNvSpPr/>
          <p:nvPr/>
        </p:nvSpPr>
        <p:spPr>
          <a:xfrm>
            <a:off x="274320" y="3310200"/>
            <a:ext cx="62280" cy="74808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8" name="Text 627"/>
          <p:cNvSpPr/>
          <p:nvPr/>
        </p:nvSpPr>
        <p:spPr>
          <a:xfrm>
            <a:off x="457200" y="3337560"/>
            <a:ext cx="374724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⚠️ 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Deep pagination (from &gt; 10 000) : éviter — utiliser l'API scroll ou search_after pour les grands volumes.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654"/>
          <p:cNvSpPr/>
          <p:nvPr/>
        </p:nvSpPr>
        <p:spPr>
          <a:xfrm>
            <a:off x="4663440" y="804600"/>
            <a:ext cx="4204440" cy="3823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0" name="Text 628"/>
          <p:cNvSpPr/>
          <p:nvPr/>
        </p:nvSpPr>
        <p:spPr>
          <a:xfrm>
            <a:off x="4754880" y="804600"/>
            <a:ext cx="402156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Options courantes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655"/>
          <p:cNvSpPr/>
          <p:nvPr/>
        </p:nvSpPr>
        <p:spPr>
          <a:xfrm>
            <a:off x="4663440" y="1243440"/>
            <a:ext cx="4204440" cy="4554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Text 629"/>
          <p:cNvSpPr/>
          <p:nvPr/>
        </p:nvSpPr>
        <p:spPr>
          <a:xfrm>
            <a:off x="4754880" y="124344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?pretty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Text 630"/>
          <p:cNvSpPr/>
          <p:nvPr/>
        </p:nvSpPr>
        <p:spPr>
          <a:xfrm>
            <a:off x="6400800" y="124344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Formate le JSON pour la lisibilité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656"/>
          <p:cNvSpPr/>
          <p:nvPr/>
        </p:nvSpPr>
        <p:spPr>
          <a:xfrm>
            <a:off x="4663440" y="1755720"/>
            <a:ext cx="4204440" cy="45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Text 631"/>
          <p:cNvSpPr/>
          <p:nvPr/>
        </p:nvSpPr>
        <p:spPr>
          <a:xfrm>
            <a:off x="4754880" y="175572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?_source=false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Text 632"/>
          <p:cNvSpPr/>
          <p:nvPr/>
        </p:nvSpPr>
        <p:spPr>
          <a:xfrm>
            <a:off x="6400800" y="175572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Exclut le document source de la réponse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Shape 657"/>
          <p:cNvSpPr/>
          <p:nvPr/>
        </p:nvSpPr>
        <p:spPr>
          <a:xfrm>
            <a:off x="4663440" y="2267640"/>
            <a:ext cx="4204440" cy="4554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Text 633"/>
          <p:cNvSpPr/>
          <p:nvPr/>
        </p:nvSpPr>
        <p:spPr>
          <a:xfrm>
            <a:off x="4754880" y="226764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?_source_includes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Text 634"/>
          <p:cNvSpPr/>
          <p:nvPr/>
        </p:nvSpPr>
        <p:spPr>
          <a:xfrm>
            <a:off x="6400800" y="226764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Sélectionne des champs spécifiques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658"/>
          <p:cNvSpPr/>
          <p:nvPr/>
        </p:nvSpPr>
        <p:spPr>
          <a:xfrm>
            <a:off x="4663440" y="2779920"/>
            <a:ext cx="4204440" cy="45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Text 635"/>
          <p:cNvSpPr/>
          <p:nvPr/>
        </p:nvSpPr>
        <p:spPr>
          <a:xfrm>
            <a:off x="4754880" y="277992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?sort=champ:desc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Text 636"/>
          <p:cNvSpPr/>
          <p:nvPr/>
        </p:nvSpPr>
        <p:spPr>
          <a:xfrm>
            <a:off x="6400800" y="277992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Tri personnalisé (ex: date:desc)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659"/>
          <p:cNvSpPr/>
          <p:nvPr/>
        </p:nvSpPr>
        <p:spPr>
          <a:xfrm>
            <a:off x="4663440" y="3291840"/>
            <a:ext cx="4204440" cy="4554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Text 637"/>
          <p:cNvSpPr/>
          <p:nvPr/>
        </p:nvSpPr>
        <p:spPr>
          <a:xfrm>
            <a:off x="4754880" y="329184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?timeout=5s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Text 638"/>
          <p:cNvSpPr/>
          <p:nvPr/>
        </p:nvSpPr>
        <p:spPr>
          <a:xfrm>
            <a:off x="6400800" y="329184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Timeout — retourne les hits trouvés à expiration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660"/>
          <p:cNvSpPr/>
          <p:nvPr/>
        </p:nvSpPr>
        <p:spPr>
          <a:xfrm>
            <a:off x="4663440" y="3803760"/>
            <a:ext cx="4204440" cy="455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Text 639"/>
          <p:cNvSpPr/>
          <p:nvPr/>
        </p:nvSpPr>
        <p:spPr>
          <a:xfrm>
            <a:off x="4754880" y="380376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?explain=true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Text 640"/>
          <p:cNvSpPr/>
          <p:nvPr/>
        </p:nvSpPr>
        <p:spPr>
          <a:xfrm>
            <a:off x="6400800" y="380376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Explication du score de pertinence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661"/>
          <p:cNvSpPr/>
          <p:nvPr/>
        </p:nvSpPr>
        <p:spPr>
          <a:xfrm>
            <a:off x="4663440" y="4316040"/>
            <a:ext cx="4204440" cy="4554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Text 641"/>
          <p:cNvSpPr/>
          <p:nvPr/>
        </p:nvSpPr>
        <p:spPr>
          <a:xfrm>
            <a:off x="4754880" y="4316040"/>
            <a:ext cx="1552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onsolas"/>
                <a:ea typeface="Consolas"/>
              </a:rPr>
              <a:t>?filter_path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Text 642"/>
          <p:cNvSpPr/>
          <p:nvPr/>
        </p:nvSpPr>
        <p:spPr>
          <a:xfrm>
            <a:off x="6400800" y="4316040"/>
            <a:ext cx="2329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Filtre les champs de la réponse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662"/>
          <p:cNvSpPr/>
          <p:nvPr/>
        </p:nvSpPr>
        <p:spPr>
          <a:xfrm>
            <a:off x="274320" y="4745160"/>
            <a:ext cx="8593560" cy="3639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" name="Text 643"/>
          <p:cNvSpPr/>
          <p:nvPr/>
        </p:nvSpPr>
        <p:spPr>
          <a:xfrm>
            <a:off x="365760" y="4781160"/>
            <a:ext cx="8410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4ec9b0"/>
                </a:solidFill>
                <a:latin typeface="Consolas"/>
                <a:ea typeface="Consolas"/>
              </a:rPr>
              <a:t>GET /_search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  <a:ea typeface="Consolas"/>
              </a:rPr>
              <a:t># tous index    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  <a:ea typeface="Consolas"/>
              </a:rPr>
              <a:t>GET /index1/_search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  <a:ea typeface="Consolas"/>
              </a:rPr>
              <a:t># index unique     </a:t>
            </a:r>
            <a:r>
              <a:rPr b="0" lang="en-US" sz="1000" spc="-1" strike="noStrike">
                <a:solidFill>
                  <a:srgbClr val="4ec9b0"/>
                </a:solidFill>
                <a:latin typeface="Consolas"/>
                <a:ea typeface="Consolas"/>
              </a:rPr>
              <a:t>GET /idx1,idx2/_search    </a:t>
            </a:r>
            <a:r>
              <a:rPr b="0" lang="en-US" sz="1000" spc="-1" strike="noStrike">
                <a:solidFill>
                  <a:srgbClr val="6a9955"/>
                </a:solidFill>
                <a:latin typeface="Consolas"/>
                <a:ea typeface="Consolas"/>
              </a:rPr>
              <a:t># multi-index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Shape 609"/>
          <p:cNvSpPr/>
          <p:nvPr/>
        </p:nvSpPr>
        <p:spPr>
          <a:xfrm>
            <a:off x="0" y="0"/>
            <a:ext cx="9142560" cy="8215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5" name="Shape 610"/>
          <p:cNvSpPr/>
          <p:nvPr/>
        </p:nvSpPr>
        <p:spPr>
          <a:xfrm>
            <a:off x="0" y="0"/>
            <a:ext cx="501480" cy="821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" name="Text 577"/>
          <p:cNvSpPr/>
          <p:nvPr/>
        </p:nvSpPr>
        <p:spPr>
          <a:xfrm>
            <a:off x="640080" y="0"/>
            <a:ext cx="72223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Pagination avancée — Scroll API &amp; search_after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613"/>
          <p:cNvSpPr/>
          <p:nvPr/>
        </p:nvSpPr>
        <p:spPr>
          <a:xfrm>
            <a:off x="274320" y="860760"/>
            <a:ext cx="53280" cy="3826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8" name="Text 579"/>
          <p:cNvSpPr/>
          <p:nvPr/>
        </p:nvSpPr>
        <p:spPr>
          <a:xfrm>
            <a:off x="420480" y="860760"/>
            <a:ext cx="83196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⚠  </a:t>
            </a:r>
            <a:r>
              <a:rPr b="0" i="1" lang="en-US" sz="1100" spc="-1" strike="noStrike">
                <a:solidFill>
                  <a:srgbClr val="1a2b2f"/>
                </a:solidFill>
                <a:latin typeface="Calibri"/>
                <a:ea typeface="Calibri"/>
              </a:rPr>
              <a:t>Deep pagination  : coût mémoire exponentiel — OpenSearch doit charger et trier TOUS les résultats précédents.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614"/>
          <p:cNvSpPr/>
          <p:nvPr/>
        </p:nvSpPr>
        <p:spPr>
          <a:xfrm>
            <a:off x="274320" y="1264680"/>
            <a:ext cx="4159080" cy="3826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0" name="Text 580"/>
          <p:cNvSpPr/>
          <p:nvPr/>
        </p:nvSpPr>
        <p:spPr>
          <a:xfrm>
            <a:off x="365760" y="1264680"/>
            <a:ext cx="40219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Scroll API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615"/>
          <p:cNvSpPr/>
          <p:nvPr/>
        </p:nvSpPr>
        <p:spPr>
          <a:xfrm>
            <a:off x="274320" y="1721880"/>
            <a:ext cx="775800" cy="291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Text 581"/>
          <p:cNvSpPr/>
          <p:nvPr/>
        </p:nvSpPr>
        <p:spPr>
          <a:xfrm>
            <a:off x="274320" y="1721880"/>
            <a:ext cx="7758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USAGE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Text 582"/>
          <p:cNvSpPr/>
          <p:nvPr/>
        </p:nvSpPr>
        <p:spPr>
          <a:xfrm>
            <a:off x="1115640" y="1721880"/>
            <a:ext cx="3272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2b2f"/>
                </a:solidFill>
                <a:latin typeface="Calibri"/>
                <a:ea typeface="Calibri"/>
              </a:rPr>
              <a:t>Export massif, traitement batch (ETL, réindexation)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616"/>
          <p:cNvSpPr/>
          <p:nvPr/>
        </p:nvSpPr>
        <p:spPr>
          <a:xfrm>
            <a:off x="274320" y="2106000"/>
            <a:ext cx="272880" cy="2728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5" name="Text 583"/>
          <p:cNvSpPr/>
          <p:nvPr/>
        </p:nvSpPr>
        <p:spPr>
          <a:xfrm>
            <a:off x="274320" y="210600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Text 584"/>
          <p:cNvSpPr/>
          <p:nvPr/>
        </p:nvSpPr>
        <p:spPr>
          <a:xfrm>
            <a:off x="621720" y="2106000"/>
            <a:ext cx="3774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576b"/>
                </a:solidFill>
                <a:latin typeface="Calibri"/>
                <a:ea typeface="Calibri"/>
              </a:rPr>
              <a:t>Initialiser le contexte :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617"/>
          <p:cNvSpPr/>
          <p:nvPr/>
        </p:nvSpPr>
        <p:spPr>
          <a:xfrm>
            <a:off x="274320" y="2398680"/>
            <a:ext cx="4159080" cy="510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" name="Text 585"/>
          <p:cNvSpPr/>
          <p:nvPr/>
        </p:nvSpPr>
        <p:spPr>
          <a:xfrm>
            <a:off x="365760" y="2398680"/>
            <a:ext cx="40219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ourier New"/>
                <a:ea typeface="Courier New"/>
              </a:rPr>
              <a:t>GET 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/mon-index/_search?scroll=</a:t>
            </a:r>
            <a:r>
              <a:rPr b="0" lang="en-US" sz="900" spc="-1" strike="noStrike">
                <a:solidFill>
                  <a:srgbClr val="98e4c8"/>
                </a:solidFill>
                <a:latin typeface="Courier New"/>
                <a:ea typeface="Courier New"/>
              </a:rPr>
              <a:t>1m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{ "size": 1000, "query": { "match_all": {} } }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618"/>
          <p:cNvSpPr/>
          <p:nvPr/>
        </p:nvSpPr>
        <p:spPr>
          <a:xfrm>
            <a:off x="274320" y="2983680"/>
            <a:ext cx="272880" cy="2728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0" name="Text 586"/>
          <p:cNvSpPr/>
          <p:nvPr/>
        </p:nvSpPr>
        <p:spPr>
          <a:xfrm>
            <a:off x="274320" y="298368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Text 587"/>
          <p:cNvSpPr/>
          <p:nvPr/>
        </p:nvSpPr>
        <p:spPr>
          <a:xfrm>
            <a:off x="621720" y="2983680"/>
            <a:ext cx="3774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576b"/>
                </a:solidFill>
                <a:latin typeface="Calibri"/>
                <a:ea typeface="Calibri"/>
              </a:rPr>
              <a:t>Paginer avec le _scroll_id :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619"/>
          <p:cNvSpPr/>
          <p:nvPr/>
        </p:nvSpPr>
        <p:spPr>
          <a:xfrm>
            <a:off x="274320" y="3276360"/>
            <a:ext cx="4159080" cy="5104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3" name="Text 588"/>
          <p:cNvSpPr/>
          <p:nvPr/>
        </p:nvSpPr>
        <p:spPr>
          <a:xfrm>
            <a:off x="365760" y="3276360"/>
            <a:ext cx="402192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8834a"/>
                </a:solidFill>
                <a:latin typeface="Courier New"/>
                <a:ea typeface="Courier New"/>
              </a:rPr>
              <a:t>POST 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/_search/scroll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{ "scroll": "1m", "scroll_id": "&lt;id&gt;" }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620"/>
          <p:cNvSpPr/>
          <p:nvPr/>
        </p:nvSpPr>
        <p:spPr>
          <a:xfrm>
            <a:off x="274320" y="3861720"/>
            <a:ext cx="4159080" cy="327600"/>
          </a:xfrm>
          <a:prstGeom prst="rect">
            <a:avLst/>
          </a:prstGeom>
          <a:solidFill>
            <a:srgbClr val="fff3e8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621"/>
          <p:cNvSpPr/>
          <p:nvPr/>
        </p:nvSpPr>
        <p:spPr>
          <a:xfrm>
            <a:off x="274320" y="3861720"/>
            <a:ext cx="44280" cy="3276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6" name="Text 589"/>
          <p:cNvSpPr/>
          <p:nvPr/>
        </p:nvSpPr>
        <p:spPr>
          <a:xfrm>
            <a:off x="384120" y="3861720"/>
            <a:ext cx="40035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a04010"/>
                </a:solidFill>
                <a:latin typeface="Calibri"/>
                <a:ea typeface="Calibri"/>
              </a:rPr>
              <a:t>Contexte maintenu en mémoire côté serveur · Déconseillé pour requêtes temps réel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622"/>
          <p:cNvSpPr/>
          <p:nvPr/>
        </p:nvSpPr>
        <p:spPr>
          <a:xfrm>
            <a:off x="4754880" y="1264680"/>
            <a:ext cx="4159080" cy="382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8" name="Text 590"/>
          <p:cNvSpPr/>
          <p:nvPr/>
        </p:nvSpPr>
        <p:spPr>
          <a:xfrm>
            <a:off x="4846320" y="1264680"/>
            <a:ext cx="40219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search_after  ✓  Recommandé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Shape 623"/>
          <p:cNvSpPr/>
          <p:nvPr/>
        </p:nvSpPr>
        <p:spPr>
          <a:xfrm>
            <a:off x="4754880" y="1721880"/>
            <a:ext cx="775800" cy="291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0" name="Text 591"/>
          <p:cNvSpPr/>
          <p:nvPr/>
        </p:nvSpPr>
        <p:spPr>
          <a:xfrm>
            <a:off x="4754880" y="1721880"/>
            <a:ext cx="7758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USAGE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Text 592"/>
          <p:cNvSpPr/>
          <p:nvPr/>
        </p:nvSpPr>
        <p:spPr>
          <a:xfrm>
            <a:off x="5596200" y="1721880"/>
            <a:ext cx="32720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1a2b2f"/>
                </a:solidFill>
                <a:latin typeface="Calibri"/>
                <a:ea typeface="Calibri"/>
              </a:rPr>
              <a:t>Pagination profonde temps réel, UI infinite scroll, APIs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624"/>
          <p:cNvSpPr/>
          <p:nvPr/>
        </p:nvSpPr>
        <p:spPr>
          <a:xfrm>
            <a:off x="4754880" y="2106000"/>
            <a:ext cx="272880" cy="27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" name="Text 593"/>
          <p:cNvSpPr/>
          <p:nvPr/>
        </p:nvSpPr>
        <p:spPr>
          <a:xfrm>
            <a:off x="4754880" y="210600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Text 594"/>
          <p:cNvSpPr/>
          <p:nvPr/>
        </p:nvSpPr>
        <p:spPr>
          <a:xfrm>
            <a:off x="5102280" y="2106000"/>
            <a:ext cx="3774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32"/>
                </a:solidFill>
                <a:latin typeface="Calibri"/>
                <a:ea typeface="Calibri"/>
              </a:rPr>
              <a:t>Première requête (avec sort obligatoire) :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625"/>
          <p:cNvSpPr/>
          <p:nvPr/>
        </p:nvSpPr>
        <p:spPr>
          <a:xfrm>
            <a:off x="4754880" y="2398680"/>
            <a:ext cx="4159080" cy="62028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Text 595"/>
          <p:cNvSpPr/>
          <p:nvPr/>
        </p:nvSpPr>
        <p:spPr>
          <a:xfrm>
            <a:off x="4846320" y="2398680"/>
            <a:ext cx="402192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e8834a"/>
                </a:solidFill>
                <a:latin typeface="Courier New"/>
                <a:ea typeface="Courier New"/>
              </a:rPr>
              <a:t>GET 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/mon-index/_search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{ "size": 1000,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"sort": [ { "@timestamp": "asc" }, { "_id": "asc" } ] }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626"/>
          <p:cNvSpPr/>
          <p:nvPr/>
        </p:nvSpPr>
        <p:spPr>
          <a:xfrm>
            <a:off x="4754880" y="3093480"/>
            <a:ext cx="272880" cy="27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8" name="Text 596"/>
          <p:cNvSpPr/>
          <p:nvPr/>
        </p:nvSpPr>
        <p:spPr>
          <a:xfrm>
            <a:off x="4754880" y="3093480"/>
            <a:ext cx="2728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Text 597"/>
          <p:cNvSpPr/>
          <p:nvPr/>
        </p:nvSpPr>
        <p:spPr>
          <a:xfrm>
            <a:off x="5102280" y="3093480"/>
            <a:ext cx="377496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32"/>
                </a:solidFill>
                <a:latin typeface="Calibri"/>
                <a:ea typeface="Calibri"/>
              </a:rPr>
              <a:t>Page suivante — utiliser sort du dernier hit :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627"/>
          <p:cNvSpPr/>
          <p:nvPr/>
        </p:nvSpPr>
        <p:spPr>
          <a:xfrm>
            <a:off x="4754880" y="3386160"/>
            <a:ext cx="4159080" cy="41904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" name="Text 598"/>
          <p:cNvSpPr/>
          <p:nvPr/>
        </p:nvSpPr>
        <p:spPr>
          <a:xfrm>
            <a:off x="4846320" y="3386160"/>
            <a:ext cx="40219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{ "search_after": [</a:t>
            </a:r>
            <a:r>
              <a:rPr b="0" lang="en-US" sz="900" spc="-1" strike="noStrike">
                <a:solidFill>
                  <a:srgbClr val="98e4c8"/>
                </a:solidFill>
                <a:latin typeface="Courier New"/>
                <a:ea typeface="Courier New"/>
              </a:rPr>
              <a:t>"2024-01-15T10:00:00"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, </a:t>
            </a:r>
            <a:r>
              <a:rPr b="0" lang="en-US" sz="900" spc="-1" strike="noStrike">
                <a:solidFill>
                  <a:srgbClr val="98e4c8"/>
                </a:solidFill>
                <a:latin typeface="Courier New"/>
                <a:ea typeface="Courier New"/>
              </a:rPr>
              <a:t>"abc123"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],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  </a:t>
            </a:r>
            <a:r>
              <a:rPr b="0" lang="en-US" sz="900" spc="-1" strike="noStrike">
                <a:solidFill>
                  <a:srgbClr val="a8d4dc"/>
                </a:solidFill>
                <a:latin typeface="Courier New"/>
                <a:ea typeface="Courier New"/>
              </a:rPr>
              <a:t>"sort": [ { "@timestamp": "asc" }, { "_id": "asc" } ] }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628"/>
          <p:cNvSpPr/>
          <p:nvPr/>
        </p:nvSpPr>
        <p:spPr>
          <a:xfrm>
            <a:off x="4754880" y="3861720"/>
            <a:ext cx="4159080" cy="32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629"/>
          <p:cNvSpPr/>
          <p:nvPr/>
        </p:nvSpPr>
        <p:spPr>
          <a:xfrm>
            <a:off x="4754880" y="3861720"/>
            <a:ext cx="44280" cy="327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4" name="Text 599"/>
          <p:cNvSpPr/>
          <p:nvPr/>
        </p:nvSpPr>
        <p:spPr>
          <a:xfrm>
            <a:off x="4864680" y="3861720"/>
            <a:ext cx="40035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2e7d32"/>
                </a:solidFill>
                <a:latin typeface="Calibri"/>
                <a:ea typeface="Calibri"/>
              </a:rPr>
              <a:t>Stateless — aucun contexte serveur · Stable avec index actif · PIT (Point In Time) recommandé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611"/>
          <p:cNvSpPr/>
          <p:nvPr/>
        </p:nvSpPr>
        <p:spPr>
          <a:xfrm>
            <a:off x="274320" y="475308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631"/>
          <p:cNvSpPr/>
          <p:nvPr/>
        </p:nvSpPr>
        <p:spPr>
          <a:xfrm>
            <a:off x="274320" y="475308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Text 578"/>
          <p:cNvSpPr/>
          <p:nvPr/>
        </p:nvSpPr>
        <p:spPr>
          <a:xfrm>
            <a:off x="457200" y="475308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a7500"/>
                </a:solidFill>
                <a:latin typeface="Calibri"/>
                <a:ea typeface="Calibri"/>
              </a:rPr>
              <a:t>✏️  </a:t>
            </a:r>
            <a:r>
              <a:rPr b="1" lang="en-US" sz="1600" spc="-1" strike="noStrike">
                <a:solidFill>
                  <a:srgbClr val="ea7500"/>
                </a:solidFill>
                <a:latin typeface="Calibri"/>
                <a:ea typeface="Calibri"/>
              </a:rPr>
              <a:t>Atelier 2.2 — Search Lite</a:t>
            </a:r>
            <a:endParaRPr b="0" lang="fr-FR" sz="1600" spc="-1" strike="noStrike">
              <a:solidFill>
                <a:srgbClr val="ea7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Shape 543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" name="Text 2584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Text 2586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Mapping</a:t>
            </a:r>
            <a:endParaRPr b="0" lang="fr-FR" sz="8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Shape 544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Shape 545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Text 2587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Text 2588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Types de données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" name="Shape 2288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6" name="Text 2589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Text 2590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Contrôle du mapping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Shape 2289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Text 2591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0" name="Text 2592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Gabarits d’index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1" name="Shape 2290"/>
          <p:cNvSpPr/>
          <p:nvPr/>
        </p:nvSpPr>
        <p:spPr>
          <a:xfrm>
            <a:off x="46177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2" name="Text 2593"/>
          <p:cNvSpPr/>
          <p:nvPr/>
        </p:nvSpPr>
        <p:spPr>
          <a:xfrm>
            <a:off x="46177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Text 2594"/>
          <p:cNvSpPr/>
          <p:nvPr/>
        </p:nvSpPr>
        <p:spPr>
          <a:xfrm>
            <a:off x="49651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Datastream et ILM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4" name="Shape 2291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Text 2595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1.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6" name="Shape 2292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7" name="Shape 2293"/>
          <p:cNvSpPr/>
          <p:nvPr/>
        </p:nvSpPr>
        <p:spPr>
          <a:xfrm>
            <a:off x="1316520" y="4316040"/>
            <a:ext cx="130608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Text 2596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2. 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9" name="Shape 2294"/>
          <p:cNvSpPr/>
          <p:nvPr/>
        </p:nvSpPr>
        <p:spPr>
          <a:xfrm>
            <a:off x="1316520" y="4316040"/>
            <a:ext cx="130608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Shape 2295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1" name="Text 2597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3. 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Shape 2296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Text 2598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4.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4" name="Shape 2297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5" name="Text 2599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5.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6" name="Shape 2298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Text 2600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6.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8" name="Shape 2299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9" name="Text 2601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7.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Monitoring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Text 2602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Shape 2310"/>
          <p:cNvSpPr/>
          <p:nvPr/>
        </p:nvSpPr>
        <p:spPr>
          <a:xfrm>
            <a:off x="510480" y="3358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" name="Text 2635"/>
          <p:cNvSpPr/>
          <p:nvPr/>
        </p:nvSpPr>
        <p:spPr>
          <a:xfrm>
            <a:off x="510480" y="3358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3" name="Text 2636"/>
          <p:cNvSpPr/>
          <p:nvPr/>
        </p:nvSpPr>
        <p:spPr>
          <a:xfrm>
            <a:off x="857880" y="3303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Alias et migration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Shape 166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Text 519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6" name="Text 520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Types de données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7" name="Shape 167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Text 521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Index inversé – Text vs keyword – Objets embarqués - Analyseurs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Shape 539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Shape 540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1" name="Text 522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Mapping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2" name="Shape 541"/>
          <p:cNvSpPr/>
          <p:nvPr/>
        </p:nvSpPr>
        <p:spPr>
          <a:xfrm flipH="1">
            <a:off x="1433520" y="4316040"/>
            <a:ext cx="6120" cy="8276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3" name="Text 523"/>
          <p:cNvSpPr/>
          <p:nvPr/>
        </p:nvSpPr>
        <p:spPr>
          <a:xfrm>
            <a:off x="2556000" y="4546800"/>
            <a:ext cx="1897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Contrôle du mapping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Text 524"/>
          <p:cNvSpPr/>
          <p:nvPr/>
        </p:nvSpPr>
        <p:spPr>
          <a:xfrm>
            <a:off x="4154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5" name="Shape 542"/>
          <p:cNvSpPr/>
          <p:nvPr/>
        </p:nvSpPr>
        <p:spPr>
          <a:xfrm>
            <a:off x="1583640" y="4564440"/>
            <a:ext cx="75636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Text 525"/>
          <p:cNvSpPr/>
          <p:nvPr/>
        </p:nvSpPr>
        <p:spPr>
          <a:xfrm>
            <a:off x="1440000" y="4546800"/>
            <a:ext cx="1157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Types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7" name="Text 775"/>
          <p:cNvSpPr/>
          <p:nvPr/>
        </p:nvSpPr>
        <p:spPr>
          <a:xfrm>
            <a:off x="2158200" y="4582800"/>
            <a:ext cx="6213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8" name="Text 2578"/>
          <p:cNvSpPr/>
          <p:nvPr/>
        </p:nvSpPr>
        <p:spPr>
          <a:xfrm>
            <a:off x="4572000" y="4546800"/>
            <a:ext cx="156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Gabarits d’index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Text 2580"/>
          <p:cNvSpPr/>
          <p:nvPr/>
        </p:nvSpPr>
        <p:spPr>
          <a:xfrm>
            <a:off x="6192000" y="4546800"/>
            <a:ext cx="18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Datastream et ILM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Text 2581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Text 2582"/>
          <p:cNvSpPr/>
          <p:nvPr/>
        </p:nvSpPr>
        <p:spPr>
          <a:xfrm>
            <a:off x="5909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Text 2583"/>
          <p:cNvSpPr/>
          <p:nvPr/>
        </p:nvSpPr>
        <p:spPr>
          <a:xfrm>
            <a:off x="2201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3" name="Text 2637"/>
          <p:cNvSpPr/>
          <p:nvPr/>
        </p:nvSpPr>
        <p:spPr>
          <a:xfrm>
            <a:off x="8136000" y="4546800"/>
            <a:ext cx="9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Migration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4" name="Text 2638"/>
          <p:cNvSpPr/>
          <p:nvPr/>
        </p:nvSpPr>
        <p:spPr>
          <a:xfrm>
            <a:off x="7781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Shape 264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Shape 265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7" name="Text 230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Index inversé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Text 232"/>
          <p:cNvSpPr/>
          <p:nvPr/>
        </p:nvSpPr>
        <p:spPr>
          <a:xfrm>
            <a:off x="320040" y="914400"/>
            <a:ext cx="411228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Afin d'accélérer les recherches, OpenSearch utilise une structure de données nommée </a:t>
            </a:r>
            <a:r>
              <a:rPr b="1" lang="en-US" sz="1100" spc="-1" strike="noStrike">
                <a:solidFill>
                  <a:srgbClr val="007a8a"/>
                </a:solidFill>
                <a:latin typeface="Calibri"/>
              </a:rPr>
              <a:t>index inversé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. Cela consiste en une liste de mots uniques où chaque terme est associé aux documents dans lesquels il apparaît.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Text 233"/>
          <p:cNvSpPr/>
          <p:nvPr/>
        </p:nvSpPr>
        <p:spPr>
          <a:xfrm>
            <a:off x="320040" y="1783080"/>
            <a:ext cx="4020840" cy="24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Principe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1. Le texte est analysé → tokenisé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2. Chaque token est ajouté à l'index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3. La recherche consulte l'index inversé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   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(pas les documents directement)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</a:rPr>
              <a:t>→ </a:t>
            </a:r>
            <a:r>
              <a:rPr b="0" i="1" lang="en-US" sz="1100" spc="-1" strike="noStrike">
                <a:solidFill>
                  <a:srgbClr val="4a7480"/>
                </a:solidFill>
                <a:latin typeface="Calibri"/>
              </a:rPr>
              <a:t>Recherche en O(1) quelle que soit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7480"/>
                </a:solidFill>
                <a:latin typeface="Calibri"/>
              </a:rPr>
              <a:t>   </a:t>
            </a:r>
            <a:r>
              <a:rPr b="0" i="1" lang="en-US" sz="1100" spc="-1" strike="noStrike">
                <a:solidFill>
                  <a:srgbClr val="4a7480"/>
                </a:solidFill>
                <a:latin typeface="Calibri"/>
              </a:rPr>
              <a:t>la taille du corpus.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267"/>
          <p:cNvSpPr/>
          <p:nvPr/>
        </p:nvSpPr>
        <p:spPr>
          <a:xfrm>
            <a:off x="4709160" y="960120"/>
            <a:ext cx="4112280" cy="333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Shape 268"/>
          <p:cNvSpPr/>
          <p:nvPr/>
        </p:nvSpPr>
        <p:spPr>
          <a:xfrm>
            <a:off x="4709160" y="960120"/>
            <a:ext cx="4112280" cy="38160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Text 234"/>
          <p:cNvSpPr/>
          <p:nvPr/>
        </p:nvSpPr>
        <p:spPr>
          <a:xfrm>
            <a:off x="4782240" y="960120"/>
            <a:ext cx="39294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Index inversé — exemple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269"/>
          <p:cNvSpPr/>
          <p:nvPr/>
        </p:nvSpPr>
        <p:spPr>
          <a:xfrm>
            <a:off x="4709160" y="1344240"/>
            <a:ext cx="2054880" cy="29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Shape 270"/>
          <p:cNvSpPr/>
          <p:nvPr/>
        </p:nvSpPr>
        <p:spPr>
          <a:xfrm>
            <a:off x="6766560" y="1344240"/>
            <a:ext cx="2054880" cy="29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5" name="Text 235"/>
          <p:cNvSpPr/>
          <p:nvPr/>
        </p:nvSpPr>
        <p:spPr>
          <a:xfrm>
            <a:off x="4754880" y="1344240"/>
            <a:ext cx="19634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Terme (token)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Text 236"/>
          <p:cNvSpPr/>
          <p:nvPr/>
        </p:nvSpPr>
        <p:spPr>
          <a:xfrm>
            <a:off x="6812280" y="1344240"/>
            <a:ext cx="19634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Documents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271"/>
          <p:cNvSpPr/>
          <p:nvPr/>
        </p:nvSpPr>
        <p:spPr>
          <a:xfrm>
            <a:off x="4709160" y="163692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272"/>
          <p:cNvSpPr/>
          <p:nvPr/>
        </p:nvSpPr>
        <p:spPr>
          <a:xfrm>
            <a:off x="6766560" y="163692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Text 237"/>
          <p:cNvSpPr/>
          <p:nvPr/>
        </p:nvSpPr>
        <p:spPr>
          <a:xfrm>
            <a:off x="4754880" y="163692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pizza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Text 238"/>
          <p:cNvSpPr/>
          <p:nvPr/>
        </p:nvSpPr>
        <p:spPr>
          <a:xfrm>
            <a:off x="6812280" y="163692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3, 5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273"/>
          <p:cNvSpPr/>
          <p:nvPr/>
        </p:nvSpPr>
        <p:spPr>
          <a:xfrm>
            <a:off x="4709160" y="188820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274"/>
          <p:cNvSpPr/>
          <p:nvPr/>
        </p:nvSpPr>
        <p:spPr>
          <a:xfrm>
            <a:off x="6766560" y="188820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Text 239"/>
          <p:cNvSpPr/>
          <p:nvPr/>
        </p:nvSpPr>
        <p:spPr>
          <a:xfrm>
            <a:off x="4754880" y="188820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paris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Text 240"/>
          <p:cNvSpPr/>
          <p:nvPr/>
        </p:nvSpPr>
        <p:spPr>
          <a:xfrm>
            <a:off x="6812280" y="188820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1, 10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275"/>
          <p:cNvSpPr/>
          <p:nvPr/>
        </p:nvSpPr>
        <p:spPr>
          <a:xfrm>
            <a:off x="4709160" y="213984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276"/>
          <p:cNvSpPr/>
          <p:nvPr/>
        </p:nvSpPr>
        <p:spPr>
          <a:xfrm>
            <a:off x="6766560" y="213984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Text 241"/>
          <p:cNvSpPr/>
          <p:nvPr/>
        </p:nvSpPr>
        <p:spPr>
          <a:xfrm>
            <a:off x="4754880" y="213984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lucene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Text 242"/>
          <p:cNvSpPr/>
          <p:nvPr/>
        </p:nvSpPr>
        <p:spPr>
          <a:xfrm>
            <a:off x="6812280" y="213984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2, 3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277"/>
          <p:cNvSpPr/>
          <p:nvPr/>
        </p:nvSpPr>
        <p:spPr>
          <a:xfrm>
            <a:off x="4709160" y="239112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278"/>
          <p:cNvSpPr/>
          <p:nvPr/>
        </p:nvSpPr>
        <p:spPr>
          <a:xfrm>
            <a:off x="6766560" y="239112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Text 243"/>
          <p:cNvSpPr/>
          <p:nvPr/>
        </p:nvSpPr>
        <p:spPr>
          <a:xfrm>
            <a:off x="4754880" y="239112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opensearch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Text 244"/>
          <p:cNvSpPr/>
          <p:nvPr/>
        </p:nvSpPr>
        <p:spPr>
          <a:xfrm>
            <a:off x="6812280" y="239112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2, 4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279"/>
          <p:cNvSpPr/>
          <p:nvPr/>
        </p:nvSpPr>
        <p:spPr>
          <a:xfrm>
            <a:off x="4709160" y="264276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280"/>
          <p:cNvSpPr/>
          <p:nvPr/>
        </p:nvSpPr>
        <p:spPr>
          <a:xfrm>
            <a:off x="6766560" y="264276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Text 245"/>
          <p:cNvSpPr/>
          <p:nvPr/>
        </p:nvSpPr>
        <p:spPr>
          <a:xfrm>
            <a:off x="4754880" y="264276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tomorrow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Text 246"/>
          <p:cNvSpPr/>
          <p:nvPr/>
        </p:nvSpPr>
        <p:spPr>
          <a:xfrm>
            <a:off x="6812280" y="264276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1, 2, 4, 10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281"/>
          <p:cNvSpPr/>
          <p:nvPr/>
        </p:nvSpPr>
        <p:spPr>
          <a:xfrm>
            <a:off x="4709160" y="289404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282"/>
          <p:cNvSpPr/>
          <p:nvPr/>
        </p:nvSpPr>
        <p:spPr>
          <a:xfrm>
            <a:off x="6766560" y="289404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Text 247"/>
          <p:cNvSpPr/>
          <p:nvPr/>
        </p:nvSpPr>
        <p:spPr>
          <a:xfrm>
            <a:off x="4754880" y="289404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caffè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Text 248"/>
          <p:cNvSpPr/>
          <p:nvPr/>
        </p:nvSpPr>
        <p:spPr>
          <a:xfrm>
            <a:off x="6812280" y="289404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3, 5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283"/>
          <p:cNvSpPr/>
          <p:nvPr/>
        </p:nvSpPr>
        <p:spPr>
          <a:xfrm>
            <a:off x="4709160" y="314568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284"/>
          <p:cNvSpPr/>
          <p:nvPr/>
        </p:nvSpPr>
        <p:spPr>
          <a:xfrm>
            <a:off x="6766560" y="314568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Text 249"/>
          <p:cNvSpPr/>
          <p:nvPr/>
        </p:nvSpPr>
        <p:spPr>
          <a:xfrm>
            <a:off x="4754880" y="314568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big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Text 250"/>
          <p:cNvSpPr/>
          <p:nvPr/>
        </p:nvSpPr>
        <p:spPr>
          <a:xfrm>
            <a:off x="6812280" y="314568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285"/>
          <p:cNvSpPr/>
          <p:nvPr/>
        </p:nvSpPr>
        <p:spPr>
          <a:xfrm>
            <a:off x="4709160" y="339696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286"/>
          <p:cNvSpPr/>
          <p:nvPr/>
        </p:nvSpPr>
        <p:spPr>
          <a:xfrm>
            <a:off x="6766560" y="339696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Text 251"/>
          <p:cNvSpPr/>
          <p:nvPr/>
        </p:nvSpPr>
        <p:spPr>
          <a:xfrm>
            <a:off x="4754880" y="339696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brown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Text 252"/>
          <p:cNvSpPr/>
          <p:nvPr/>
        </p:nvSpPr>
        <p:spPr>
          <a:xfrm>
            <a:off x="6812280" y="339696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287"/>
          <p:cNvSpPr/>
          <p:nvPr/>
        </p:nvSpPr>
        <p:spPr>
          <a:xfrm>
            <a:off x="4709160" y="364860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288"/>
          <p:cNvSpPr/>
          <p:nvPr/>
        </p:nvSpPr>
        <p:spPr>
          <a:xfrm>
            <a:off x="6766560" y="364860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Text 253"/>
          <p:cNvSpPr/>
          <p:nvPr/>
        </p:nvSpPr>
        <p:spPr>
          <a:xfrm>
            <a:off x="4754880" y="364860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fox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Text 254"/>
          <p:cNvSpPr/>
          <p:nvPr/>
        </p:nvSpPr>
        <p:spPr>
          <a:xfrm>
            <a:off x="6812280" y="364860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289"/>
          <p:cNvSpPr/>
          <p:nvPr/>
        </p:nvSpPr>
        <p:spPr>
          <a:xfrm>
            <a:off x="4709160" y="389988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290"/>
          <p:cNvSpPr/>
          <p:nvPr/>
        </p:nvSpPr>
        <p:spPr>
          <a:xfrm>
            <a:off x="6766560" y="3899880"/>
            <a:ext cx="2054880" cy="24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Text 255"/>
          <p:cNvSpPr/>
          <p:nvPr/>
        </p:nvSpPr>
        <p:spPr>
          <a:xfrm>
            <a:off x="4754880" y="389988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jump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Text 256"/>
          <p:cNvSpPr/>
          <p:nvPr/>
        </p:nvSpPr>
        <p:spPr>
          <a:xfrm>
            <a:off x="6812280" y="389988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291"/>
          <p:cNvSpPr/>
          <p:nvPr/>
        </p:nvSpPr>
        <p:spPr>
          <a:xfrm>
            <a:off x="4709160" y="415152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292"/>
          <p:cNvSpPr/>
          <p:nvPr/>
        </p:nvSpPr>
        <p:spPr>
          <a:xfrm>
            <a:off x="6766560" y="4151520"/>
            <a:ext cx="2054880" cy="2491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Text 257"/>
          <p:cNvSpPr/>
          <p:nvPr/>
        </p:nvSpPr>
        <p:spPr>
          <a:xfrm>
            <a:off x="4754880" y="415152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576b"/>
                </a:solidFill>
                <a:latin typeface="Consolas"/>
                <a:ea typeface="Consolas"/>
              </a:rPr>
              <a:t>the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Text 258"/>
          <p:cNvSpPr/>
          <p:nvPr/>
        </p:nvSpPr>
        <p:spPr>
          <a:xfrm>
            <a:off x="6812280" y="4151520"/>
            <a:ext cx="196344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1,2,4,5,6,8,9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293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Text 259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💡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Les champs keyword utilisent doc_values (index colonne) — non l'index inversé. Optimisé pour le tri, l'agrégation, et le filtrage exact.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Shape 239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4" name="Shape 240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5" name="Text 207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Types de données — Types simples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242"/>
          <p:cNvSpPr/>
          <p:nvPr/>
        </p:nvSpPr>
        <p:spPr>
          <a:xfrm>
            <a:off x="274320" y="960120"/>
            <a:ext cx="2694960" cy="15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243"/>
          <p:cNvSpPr/>
          <p:nvPr/>
        </p:nvSpPr>
        <p:spPr>
          <a:xfrm>
            <a:off x="274320" y="960120"/>
            <a:ext cx="269496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8" name="Text 209"/>
          <p:cNvSpPr/>
          <p:nvPr/>
        </p:nvSpPr>
        <p:spPr>
          <a:xfrm>
            <a:off x="347400" y="960120"/>
            <a:ext cx="2557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Texte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Text 210"/>
          <p:cNvSpPr/>
          <p:nvPr/>
        </p:nvSpPr>
        <p:spPr>
          <a:xfrm>
            <a:off x="384120" y="1362600"/>
            <a:ext cx="251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text  — full-text analysé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keyword  — valeur exacte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244"/>
          <p:cNvSpPr/>
          <p:nvPr/>
        </p:nvSpPr>
        <p:spPr>
          <a:xfrm>
            <a:off x="3246120" y="960120"/>
            <a:ext cx="2694960" cy="15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245"/>
          <p:cNvSpPr/>
          <p:nvPr/>
        </p:nvSpPr>
        <p:spPr>
          <a:xfrm>
            <a:off x="3246120" y="960120"/>
            <a:ext cx="269496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2" name="Text 211"/>
          <p:cNvSpPr/>
          <p:nvPr/>
        </p:nvSpPr>
        <p:spPr>
          <a:xfrm>
            <a:off x="3319200" y="960120"/>
            <a:ext cx="2557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Numériques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Text 212"/>
          <p:cNvSpPr/>
          <p:nvPr/>
        </p:nvSpPr>
        <p:spPr>
          <a:xfrm>
            <a:off x="3355920" y="1362600"/>
            <a:ext cx="251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byte, short, integer, long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float, double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token_count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246"/>
          <p:cNvSpPr/>
          <p:nvPr/>
        </p:nvSpPr>
        <p:spPr>
          <a:xfrm>
            <a:off x="6217920" y="960120"/>
            <a:ext cx="2694960" cy="15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247"/>
          <p:cNvSpPr/>
          <p:nvPr/>
        </p:nvSpPr>
        <p:spPr>
          <a:xfrm>
            <a:off x="6217920" y="960120"/>
            <a:ext cx="2694960" cy="34488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6" name="Text 213"/>
          <p:cNvSpPr/>
          <p:nvPr/>
        </p:nvSpPr>
        <p:spPr>
          <a:xfrm>
            <a:off x="6291000" y="960120"/>
            <a:ext cx="2557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Dates &amp; Booléens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Text 214"/>
          <p:cNvSpPr/>
          <p:nvPr/>
        </p:nvSpPr>
        <p:spPr>
          <a:xfrm>
            <a:off x="6327720" y="1362600"/>
            <a:ext cx="251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date  (ISO8601, epoch ms)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boolean  (true/false)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binary  (base64)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248"/>
          <p:cNvSpPr/>
          <p:nvPr/>
        </p:nvSpPr>
        <p:spPr>
          <a:xfrm>
            <a:off x="274320" y="2834640"/>
            <a:ext cx="2694960" cy="15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249"/>
          <p:cNvSpPr/>
          <p:nvPr/>
        </p:nvSpPr>
        <p:spPr>
          <a:xfrm>
            <a:off x="274320" y="2834640"/>
            <a:ext cx="269496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0" name="Text 215"/>
          <p:cNvSpPr/>
          <p:nvPr/>
        </p:nvSpPr>
        <p:spPr>
          <a:xfrm>
            <a:off x="347400" y="2834640"/>
            <a:ext cx="2557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Intervalles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Text 216"/>
          <p:cNvSpPr/>
          <p:nvPr/>
        </p:nvSpPr>
        <p:spPr>
          <a:xfrm>
            <a:off x="384120" y="3237120"/>
            <a:ext cx="251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integer_range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float_range / long_range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date_range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250"/>
          <p:cNvSpPr/>
          <p:nvPr/>
        </p:nvSpPr>
        <p:spPr>
          <a:xfrm>
            <a:off x="3246120" y="2834640"/>
            <a:ext cx="2694960" cy="15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251"/>
          <p:cNvSpPr/>
          <p:nvPr/>
        </p:nvSpPr>
        <p:spPr>
          <a:xfrm>
            <a:off x="3246120" y="2834640"/>
            <a:ext cx="2694960" cy="344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4" name="Text 217"/>
          <p:cNvSpPr/>
          <p:nvPr/>
        </p:nvSpPr>
        <p:spPr>
          <a:xfrm>
            <a:off x="3319200" y="2834640"/>
            <a:ext cx="2557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Géolocalisation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Text 218"/>
          <p:cNvSpPr/>
          <p:nvPr/>
        </p:nvSpPr>
        <p:spPr>
          <a:xfrm>
            <a:off x="3355920" y="3237120"/>
            <a:ext cx="251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geo_point  (lat/lon)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geo_shape  (polygones)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252"/>
          <p:cNvSpPr/>
          <p:nvPr/>
        </p:nvSpPr>
        <p:spPr>
          <a:xfrm>
            <a:off x="6217920" y="2834640"/>
            <a:ext cx="2694960" cy="15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253"/>
          <p:cNvSpPr/>
          <p:nvPr/>
        </p:nvSpPr>
        <p:spPr>
          <a:xfrm>
            <a:off x="6217920" y="2834640"/>
            <a:ext cx="2694960" cy="344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Text 219"/>
          <p:cNvSpPr/>
          <p:nvPr/>
        </p:nvSpPr>
        <p:spPr>
          <a:xfrm>
            <a:off x="6291000" y="2834640"/>
            <a:ext cx="25578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Spéciaux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Text 220"/>
          <p:cNvSpPr/>
          <p:nvPr/>
        </p:nvSpPr>
        <p:spPr>
          <a:xfrm>
            <a:off x="6327720" y="3237120"/>
            <a:ext cx="251208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ip  (IPv4 ou IPv6)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1a2b2f"/>
                </a:solidFill>
                <a:latin typeface="Calibri"/>
                <a:ea typeface="Calibri"/>
              </a:rPr>
              <a:t>percolator  (requête JSON)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254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Text 221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⚠️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Le type string n'existe plus dans OpenSearch. Utiliser text (recherche full-text) ou keyword (valeur exacte, tri, agrégation) selon l'usage.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Shape 255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3" name="Shape 256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4" name="Text 222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keyword vs text — Valeur exacte ou Full-text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Text 223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258"/>
          <p:cNvSpPr/>
          <p:nvPr/>
        </p:nvSpPr>
        <p:spPr>
          <a:xfrm>
            <a:off x="274320" y="960120"/>
            <a:ext cx="4020840" cy="33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259"/>
          <p:cNvSpPr/>
          <p:nvPr/>
        </p:nvSpPr>
        <p:spPr>
          <a:xfrm>
            <a:off x="274320" y="960120"/>
            <a:ext cx="4020840" cy="408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" name="Text 224"/>
          <p:cNvSpPr/>
          <p:nvPr/>
        </p:nvSpPr>
        <p:spPr>
          <a:xfrm>
            <a:off x="347400" y="960120"/>
            <a:ext cx="38836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keyword  — Valeur exacte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Text 225"/>
          <p:cNvSpPr/>
          <p:nvPr/>
        </p:nvSpPr>
        <p:spPr>
          <a:xfrm>
            <a:off x="411480" y="1463040"/>
            <a:ext cx="3746520" cy="17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Stockée telle quelle — aucune analyse.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Opérateurs : 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term, terms, filter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Usages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IDs, codes, emails, statuts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Tri et agrégations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f4444"/>
                </a:solidFill>
                <a:latin typeface="Consolas"/>
                <a:ea typeface="Consolas"/>
              </a:rPr>
              <a:t>Sensible à la casse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f4444"/>
                </a:solidFill>
                <a:latin typeface="Consolas"/>
                <a:ea typeface="Consolas"/>
              </a:rPr>
              <a:t>"Foo"  ≠  "foo"  ≠  "FOO"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260"/>
          <p:cNvSpPr/>
          <p:nvPr/>
        </p:nvSpPr>
        <p:spPr>
          <a:xfrm>
            <a:off x="347400" y="3063240"/>
            <a:ext cx="3837960" cy="114048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1" name="Text 226"/>
          <p:cNvSpPr/>
          <p:nvPr/>
        </p:nvSpPr>
        <p:spPr>
          <a:xfrm>
            <a:off x="457200" y="3136320"/>
            <a:ext cx="361836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GET /clients/_search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"query":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"term": { "status": "actif" 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261"/>
          <p:cNvSpPr/>
          <p:nvPr/>
        </p:nvSpPr>
        <p:spPr>
          <a:xfrm>
            <a:off x="4846320" y="960120"/>
            <a:ext cx="4020840" cy="3380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262"/>
          <p:cNvSpPr/>
          <p:nvPr/>
        </p:nvSpPr>
        <p:spPr>
          <a:xfrm>
            <a:off x="4846320" y="960120"/>
            <a:ext cx="4020840" cy="408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4" name="Text 227"/>
          <p:cNvSpPr/>
          <p:nvPr/>
        </p:nvSpPr>
        <p:spPr>
          <a:xfrm>
            <a:off x="4987800" y="1073520"/>
            <a:ext cx="2090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text  — Full-text analysé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Text 228"/>
          <p:cNvSpPr/>
          <p:nvPr/>
        </p:nvSpPr>
        <p:spPr>
          <a:xfrm>
            <a:off x="4919400" y="1463040"/>
            <a:ext cx="3746520" cy="17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Analysée et découpée en tokens.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Opérateurs : </a:t>
            </a:r>
            <a:r>
              <a:rPr b="0" lang="en-US" sz="1100" spc="-1" strike="noStrike">
                <a:solidFill>
                  <a:srgbClr val="1a2b2f"/>
                </a:solidFill>
                <a:latin typeface="Calibri"/>
              </a:rPr>
              <a:t>match, match_phrase, query_string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Usages 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Textes, articles, commentaires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1" lang="en-US" sz="1100" spc="-1" strike="noStrike">
                <a:solidFill>
                  <a:srgbClr val="1a2b2f"/>
                </a:solidFill>
                <a:latin typeface="Calibri"/>
              </a:rPr>
              <a:t>Recherche en langage naturel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"Paris"  →  token: "paris"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263"/>
          <p:cNvSpPr/>
          <p:nvPr/>
        </p:nvSpPr>
        <p:spPr>
          <a:xfrm>
            <a:off x="4919400" y="3063240"/>
            <a:ext cx="3837960" cy="114048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Text 229"/>
          <p:cNvSpPr/>
          <p:nvPr/>
        </p:nvSpPr>
        <p:spPr>
          <a:xfrm>
            <a:off x="5029200" y="3136320"/>
            <a:ext cx="3618360" cy="99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GET /articles/_search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"query":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"match": { "titre": "moteur recherche" 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Shape 294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9" name="Shape 295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0" name="Text 260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Types complexes — array, object, nested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Text 261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297"/>
          <p:cNvSpPr/>
          <p:nvPr/>
        </p:nvSpPr>
        <p:spPr>
          <a:xfrm>
            <a:off x="255960" y="960120"/>
            <a:ext cx="2832120" cy="374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Shape 298"/>
          <p:cNvSpPr/>
          <p:nvPr/>
        </p:nvSpPr>
        <p:spPr>
          <a:xfrm>
            <a:off x="255960" y="960120"/>
            <a:ext cx="2832120" cy="381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Text 262"/>
          <p:cNvSpPr/>
          <p:nvPr/>
        </p:nvSpPr>
        <p:spPr>
          <a:xfrm>
            <a:off x="329040" y="960120"/>
            <a:ext cx="2694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[ ]  Tableaux (array)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Text 263"/>
          <p:cNvSpPr/>
          <p:nvPr/>
        </p:nvSpPr>
        <p:spPr>
          <a:xfrm>
            <a:off x="347400" y="1417320"/>
            <a:ext cx="26492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Pas de type de mapping spécial.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Chaque champ accepte 0, 1 ou n valeurs.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Les valeurs doivent être du même type.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Un champ null ≡ tableau vide.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299"/>
          <p:cNvSpPr/>
          <p:nvPr/>
        </p:nvSpPr>
        <p:spPr>
          <a:xfrm>
            <a:off x="329040" y="3063240"/>
            <a:ext cx="2685960" cy="141480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Text 264"/>
          <p:cNvSpPr/>
          <p:nvPr/>
        </p:nvSpPr>
        <p:spPr>
          <a:xfrm>
            <a:off x="438840" y="3136320"/>
            <a:ext cx="246636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 "tags": ["search", "nosql", "api"]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300"/>
          <p:cNvSpPr/>
          <p:nvPr/>
        </p:nvSpPr>
        <p:spPr>
          <a:xfrm>
            <a:off x="3227760" y="960120"/>
            <a:ext cx="2832120" cy="374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Shape 301"/>
          <p:cNvSpPr/>
          <p:nvPr/>
        </p:nvSpPr>
        <p:spPr>
          <a:xfrm>
            <a:off x="3227760" y="960120"/>
            <a:ext cx="2832120" cy="381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0" name="Text 265"/>
          <p:cNvSpPr/>
          <p:nvPr/>
        </p:nvSpPr>
        <p:spPr>
          <a:xfrm>
            <a:off x="3300840" y="960120"/>
            <a:ext cx="2694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{ }  Objets imbriqués (object)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Text 266"/>
          <p:cNvSpPr/>
          <p:nvPr/>
        </p:nvSpPr>
        <p:spPr>
          <a:xfrm>
            <a:off x="3319200" y="1417320"/>
            <a:ext cx="26492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Structure JSON embarquée.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OpenSearch aplatit les objets en interne.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Accès par chemin pointé : adresse.ville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Mapping auto sous properties.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302"/>
          <p:cNvSpPr/>
          <p:nvPr/>
        </p:nvSpPr>
        <p:spPr>
          <a:xfrm>
            <a:off x="3300840" y="3063240"/>
            <a:ext cx="2685960" cy="141480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3" name="Text 267"/>
          <p:cNvSpPr/>
          <p:nvPr/>
        </p:nvSpPr>
        <p:spPr>
          <a:xfrm>
            <a:off x="3410640" y="3136320"/>
            <a:ext cx="246636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 "adresse":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"ville": "Paris",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"cp": "75001"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Shape 303"/>
          <p:cNvSpPr/>
          <p:nvPr/>
        </p:nvSpPr>
        <p:spPr>
          <a:xfrm>
            <a:off x="6199560" y="960120"/>
            <a:ext cx="2832120" cy="3746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Shape 304"/>
          <p:cNvSpPr/>
          <p:nvPr/>
        </p:nvSpPr>
        <p:spPr>
          <a:xfrm>
            <a:off x="6199560" y="960120"/>
            <a:ext cx="2832120" cy="38160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" name="Text 268"/>
          <p:cNvSpPr/>
          <p:nvPr/>
        </p:nvSpPr>
        <p:spPr>
          <a:xfrm>
            <a:off x="6272640" y="960120"/>
            <a:ext cx="2694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⊞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Nested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Text 269"/>
          <p:cNvSpPr/>
          <p:nvPr/>
        </p:nvSpPr>
        <p:spPr>
          <a:xfrm>
            <a:off x="6291000" y="1417320"/>
            <a:ext cx="2649240" cy="15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Tableau de structures embarquées.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Chaque élément = document Lucene caché.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Permet des requêtes corrélées sur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les sous-objets.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305"/>
          <p:cNvSpPr/>
          <p:nvPr/>
        </p:nvSpPr>
        <p:spPr>
          <a:xfrm>
            <a:off x="6272640" y="3063240"/>
            <a:ext cx="2685960" cy="141480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9" name="Text 270"/>
          <p:cNvSpPr/>
          <p:nvPr/>
        </p:nvSpPr>
        <p:spPr>
          <a:xfrm>
            <a:off x="6382440" y="3136320"/>
            <a:ext cx="246636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 "tags": [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{"nom":"Alice","role":"admin"},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{"nom":"Bob","role":"user"}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]}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Shape 306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Text 271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⚠️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Nested génère beaucoup de documents Lucene internes — à utiliser avec parcimonie sur les champs à très haut volume.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Shape 307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3" name="Shape 308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" name="Text 272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Mapping des objets embarqués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Text 273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Text 274"/>
          <p:cNvSpPr/>
          <p:nvPr/>
        </p:nvSpPr>
        <p:spPr>
          <a:xfrm>
            <a:off x="320040" y="91440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</a:rPr>
              <a:t>OpenSearch détecte dynamiquement les champs objets et les mappe comme </a:t>
            </a:r>
            <a:r>
              <a:rPr b="1" lang="en-US" sz="1150" spc="-1" strike="noStrike">
                <a:solidFill>
                  <a:srgbClr val="007a8a"/>
                </a:solidFill>
                <a:latin typeface="Consolas"/>
                <a:ea typeface="Consolas"/>
              </a:rPr>
              <a:t>object</a:t>
            </a: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onsolas"/>
              </a:rPr>
              <a:t>. Chaque sous-champ est listé sous </a:t>
            </a:r>
            <a:r>
              <a:rPr b="1" lang="en-US" sz="1150" spc="-1" strike="noStrike">
                <a:solidFill>
                  <a:srgbClr val="007a8a"/>
                </a:solidFill>
                <a:latin typeface="Consolas"/>
                <a:ea typeface="Consolas"/>
              </a:rPr>
              <a:t>properties</a:t>
            </a: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onsolas"/>
              </a:rPr>
              <a:t>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310"/>
          <p:cNvSpPr/>
          <p:nvPr/>
        </p:nvSpPr>
        <p:spPr>
          <a:xfrm>
            <a:off x="274320" y="1508760"/>
            <a:ext cx="3975120" cy="28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311"/>
          <p:cNvSpPr/>
          <p:nvPr/>
        </p:nvSpPr>
        <p:spPr>
          <a:xfrm>
            <a:off x="274320" y="1508760"/>
            <a:ext cx="397512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9" name="Text 275"/>
          <p:cNvSpPr/>
          <p:nvPr/>
        </p:nvSpPr>
        <p:spPr>
          <a:xfrm>
            <a:off x="347400" y="1508760"/>
            <a:ext cx="3837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Document JSON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312"/>
          <p:cNvSpPr/>
          <p:nvPr/>
        </p:nvSpPr>
        <p:spPr>
          <a:xfrm>
            <a:off x="347400" y="1920240"/>
            <a:ext cx="3792240" cy="235656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1" name="Text 276"/>
          <p:cNvSpPr/>
          <p:nvPr/>
        </p:nvSpPr>
        <p:spPr>
          <a:xfrm>
            <a:off x="457200" y="1993320"/>
            <a:ext cx="3572640" cy="22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POST /social/_doc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"tweet": "Je cherche avec OpenSearch",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"user":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"id": "u001",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"age": 28,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"name":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"first": "Alice",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"last":  "Dupont"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Shape 313"/>
          <p:cNvSpPr/>
          <p:nvPr/>
        </p:nvSpPr>
        <p:spPr>
          <a:xfrm>
            <a:off x="4572000" y="1508760"/>
            <a:ext cx="4249440" cy="28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Shape 314"/>
          <p:cNvSpPr/>
          <p:nvPr/>
        </p:nvSpPr>
        <p:spPr>
          <a:xfrm>
            <a:off x="4572000" y="1508760"/>
            <a:ext cx="424944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4" name="Text 277"/>
          <p:cNvSpPr/>
          <p:nvPr/>
        </p:nvSpPr>
        <p:spPr>
          <a:xfrm>
            <a:off x="4645080" y="1508760"/>
            <a:ext cx="41122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Mapping généré automatiquement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Shape 315"/>
          <p:cNvSpPr/>
          <p:nvPr/>
        </p:nvSpPr>
        <p:spPr>
          <a:xfrm>
            <a:off x="4645080" y="1920240"/>
            <a:ext cx="4066560" cy="235656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6" name="Text 278"/>
          <p:cNvSpPr/>
          <p:nvPr/>
        </p:nvSpPr>
        <p:spPr>
          <a:xfrm>
            <a:off x="4754880" y="1993320"/>
            <a:ext cx="3846960" cy="22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GET /social/_mapping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"tweet": { "type": "text"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"user":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"type": "object",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"id":  { "type": "text"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"age": { "type": "long"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"name":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"type": "object",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"first": { "type": "text"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"last":  { "type": "text"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Shape 316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Text 279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💡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En interne, OpenSearch aplatit user.name.first — il n'y a pas de JSON imbriqué stocké, mais des champs à chemin pointé (dot notation).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Shape 317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0" name="Shape 318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Text 280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Analyseurs — Principe et pipeline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Text 281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Text 282"/>
          <p:cNvSpPr/>
          <p:nvPr/>
        </p:nvSpPr>
        <p:spPr>
          <a:xfrm>
            <a:off x="320040" y="91440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</a:rPr>
              <a:t>Les analyseurs transforment un champ </a:t>
            </a:r>
            <a:r>
              <a:rPr b="1" lang="en-US" sz="1150" spc="-1" strike="noStrike">
                <a:solidFill>
                  <a:srgbClr val="007a8a"/>
                </a:solidFill>
                <a:latin typeface="Consolas"/>
                <a:ea typeface="Consolas"/>
              </a:rPr>
              <a:t>text</a:t>
            </a: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onsolas"/>
              </a:rPr>
              <a:t> en un flux de tokens qui constituent l'</a:t>
            </a:r>
            <a:r>
              <a:rPr b="1" lang="en-US" sz="1150" spc="-1" strike="noStrike">
                <a:solidFill>
                  <a:srgbClr val="007a8a"/>
                </a:solidFill>
                <a:latin typeface="Calibri"/>
                <a:ea typeface="Consolas"/>
              </a:rPr>
              <a:t>index inversé</a:t>
            </a:r>
            <a:r>
              <a:rPr b="0" lang="en-US" sz="1150" spc="-1" strike="noStrike">
                <a:solidFill>
                  <a:srgbClr val="1a2b2f"/>
                </a:solidFill>
                <a:latin typeface="Calibri"/>
                <a:ea typeface="Consolas"/>
              </a:rPr>
              <a:t>. Ils s'appliquent à l'indexation ET à la recherche.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Shape 320"/>
          <p:cNvSpPr/>
          <p:nvPr/>
        </p:nvSpPr>
        <p:spPr>
          <a:xfrm>
            <a:off x="1371600" y="1508760"/>
            <a:ext cx="454680" cy="4546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Text 283"/>
          <p:cNvSpPr/>
          <p:nvPr/>
        </p:nvSpPr>
        <p:spPr>
          <a:xfrm>
            <a:off x="1371600" y="150876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Shape 321"/>
          <p:cNvSpPr/>
          <p:nvPr/>
        </p:nvSpPr>
        <p:spPr>
          <a:xfrm>
            <a:off x="457200" y="2057400"/>
            <a:ext cx="2374920" cy="10033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Text 284"/>
          <p:cNvSpPr/>
          <p:nvPr/>
        </p:nvSpPr>
        <p:spPr>
          <a:xfrm>
            <a:off x="502920" y="2057400"/>
            <a:ext cx="22834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Character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Filters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Text 285"/>
          <p:cNvSpPr/>
          <p:nvPr/>
        </p:nvSpPr>
        <p:spPr>
          <a:xfrm>
            <a:off x="502920" y="2532960"/>
            <a:ext cx="22834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Pré-traitement du texte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(strip HTML, remplacements)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Shape 322"/>
          <p:cNvSpPr/>
          <p:nvPr/>
        </p:nvSpPr>
        <p:spPr>
          <a:xfrm>
            <a:off x="4206240" y="1508760"/>
            <a:ext cx="454680" cy="4546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0" name="Text 286"/>
          <p:cNvSpPr/>
          <p:nvPr/>
        </p:nvSpPr>
        <p:spPr>
          <a:xfrm>
            <a:off x="4206240" y="150876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Shape 323"/>
          <p:cNvSpPr/>
          <p:nvPr/>
        </p:nvSpPr>
        <p:spPr>
          <a:xfrm>
            <a:off x="3291840" y="2057400"/>
            <a:ext cx="2374920" cy="100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2" name="Text 287"/>
          <p:cNvSpPr/>
          <p:nvPr/>
        </p:nvSpPr>
        <p:spPr>
          <a:xfrm>
            <a:off x="3337560" y="2057400"/>
            <a:ext cx="22834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Tokenizer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Text 288"/>
          <p:cNvSpPr/>
          <p:nvPr/>
        </p:nvSpPr>
        <p:spPr>
          <a:xfrm>
            <a:off x="3337560" y="2532960"/>
            <a:ext cx="22834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Découpe en tokens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(standard, whitespace, ngram)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Shape 324"/>
          <p:cNvSpPr/>
          <p:nvPr/>
        </p:nvSpPr>
        <p:spPr>
          <a:xfrm>
            <a:off x="7040880" y="1508760"/>
            <a:ext cx="454680" cy="4546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5" name="Text 289"/>
          <p:cNvSpPr/>
          <p:nvPr/>
        </p:nvSpPr>
        <p:spPr>
          <a:xfrm>
            <a:off x="7040880" y="150876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Shape 325"/>
          <p:cNvSpPr/>
          <p:nvPr/>
        </p:nvSpPr>
        <p:spPr>
          <a:xfrm>
            <a:off x="6126480" y="2057400"/>
            <a:ext cx="2374920" cy="1003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7" name="Text 290"/>
          <p:cNvSpPr/>
          <p:nvPr/>
        </p:nvSpPr>
        <p:spPr>
          <a:xfrm>
            <a:off x="6172200" y="2057400"/>
            <a:ext cx="228348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Token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Filters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Text 291"/>
          <p:cNvSpPr/>
          <p:nvPr/>
        </p:nvSpPr>
        <p:spPr>
          <a:xfrm>
            <a:off x="6172200" y="2532960"/>
            <a:ext cx="22834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Normalise les tokens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(lowercase, stop words, stem)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9" name="Text 292"/>
          <p:cNvSpPr/>
          <p:nvPr/>
        </p:nvSpPr>
        <p:spPr>
          <a:xfrm>
            <a:off x="2834640" y="2331720"/>
            <a:ext cx="454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576b"/>
                </a:solidFill>
                <a:latin typeface="Calibri"/>
              </a:rPr>
              <a:t>→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Text 293"/>
          <p:cNvSpPr/>
          <p:nvPr/>
        </p:nvSpPr>
        <p:spPr>
          <a:xfrm>
            <a:off x="5669280" y="2331720"/>
            <a:ext cx="454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00576b"/>
                </a:solidFill>
                <a:latin typeface="Calibri"/>
              </a:rPr>
              <a:t>→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Shape 326"/>
          <p:cNvSpPr/>
          <p:nvPr/>
        </p:nvSpPr>
        <p:spPr>
          <a:xfrm>
            <a:off x="274320" y="3200400"/>
            <a:ext cx="859284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Shape 327"/>
          <p:cNvSpPr/>
          <p:nvPr/>
        </p:nvSpPr>
        <p:spPr>
          <a:xfrm>
            <a:off x="274320" y="3200400"/>
            <a:ext cx="8592840" cy="34488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Text 294"/>
          <p:cNvSpPr/>
          <p:nvPr/>
        </p:nvSpPr>
        <p:spPr>
          <a:xfrm>
            <a:off x="365760" y="3200400"/>
            <a:ext cx="8409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Exemple avec l'analyseur french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Shape 328"/>
          <p:cNvSpPr/>
          <p:nvPr/>
        </p:nvSpPr>
        <p:spPr>
          <a:xfrm>
            <a:off x="384120" y="3593520"/>
            <a:ext cx="1570320" cy="637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Text 295"/>
          <p:cNvSpPr/>
          <p:nvPr/>
        </p:nvSpPr>
        <p:spPr>
          <a:xfrm>
            <a:off x="420480" y="3611880"/>
            <a:ext cx="14972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576b"/>
                </a:solidFill>
                <a:latin typeface="Calibri"/>
              </a:rPr>
              <a:t>Original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Text 296"/>
          <p:cNvSpPr/>
          <p:nvPr/>
        </p:nvSpPr>
        <p:spPr>
          <a:xfrm>
            <a:off x="420480" y="3822120"/>
            <a:ext cx="149724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"Les données sont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analysées"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Text 297"/>
          <p:cNvSpPr/>
          <p:nvPr/>
        </p:nvSpPr>
        <p:spPr>
          <a:xfrm>
            <a:off x="1956960" y="3703320"/>
            <a:ext cx="125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→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" name="Shape 329"/>
          <p:cNvSpPr/>
          <p:nvPr/>
        </p:nvSpPr>
        <p:spPr>
          <a:xfrm>
            <a:off x="2084760" y="3593520"/>
            <a:ext cx="1570320" cy="637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Text 298"/>
          <p:cNvSpPr/>
          <p:nvPr/>
        </p:nvSpPr>
        <p:spPr>
          <a:xfrm>
            <a:off x="2121480" y="3611880"/>
            <a:ext cx="14972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7a8a"/>
                </a:solidFill>
                <a:latin typeface="Calibri"/>
              </a:rPr>
              <a:t>Tokenizer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Text 299"/>
          <p:cNvSpPr/>
          <p:nvPr/>
        </p:nvSpPr>
        <p:spPr>
          <a:xfrm>
            <a:off x="2121480" y="3822120"/>
            <a:ext cx="149724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"Les" "données"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"sont" "analysées"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Text 300"/>
          <p:cNvSpPr/>
          <p:nvPr/>
        </p:nvSpPr>
        <p:spPr>
          <a:xfrm>
            <a:off x="3657600" y="3703320"/>
            <a:ext cx="125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→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Shape 330"/>
          <p:cNvSpPr/>
          <p:nvPr/>
        </p:nvSpPr>
        <p:spPr>
          <a:xfrm>
            <a:off x="3785760" y="3593520"/>
            <a:ext cx="1570320" cy="637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Text 301"/>
          <p:cNvSpPr/>
          <p:nvPr/>
        </p:nvSpPr>
        <p:spPr>
          <a:xfrm>
            <a:off x="3822120" y="3611880"/>
            <a:ext cx="14972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</a:rPr>
              <a:t>Lowercase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Text 302"/>
          <p:cNvSpPr/>
          <p:nvPr/>
        </p:nvSpPr>
        <p:spPr>
          <a:xfrm>
            <a:off x="3822120" y="3822120"/>
            <a:ext cx="149724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"les" "données"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"sont" "analysées"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Text 303"/>
          <p:cNvSpPr/>
          <p:nvPr/>
        </p:nvSpPr>
        <p:spPr>
          <a:xfrm>
            <a:off x="5358240" y="3703320"/>
            <a:ext cx="125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→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Shape 331"/>
          <p:cNvSpPr/>
          <p:nvPr/>
        </p:nvSpPr>
        <p:spPr>
          <a:xfrm>
            <a:off x="5486400" y="3593520"/>
            <a:ext cx="1570320" cy="637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Text 304"/>
          <p:cNvSpPr/>
          <p:nvPr/>
        </p:nvSpPr>
        <p:spPr>
          <a:xfrm>
            <a:off x="5523120" y="3611880"/>
            <a:ext cx="14972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2e7d32"/>
                </a:solidFill>
                <a:latin typeface="Calibri"/>
              </a:rPr>
              <a:t>Stop words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Text 305"/>
          <p:cNvSpPr/>
          <p:nvPr/>
        </p:nvSpPr>
        <p:spPr>
          <a:xfrm>
            <a:off x="5523120" y="3822120"/>
            <a:ext cx="149724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"données"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"analysées"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Text 306"/>
          <p:cNvSpPr/>
          <p:nvPr/>
        </p:nvSpPr>
        <p:spPr>
          <a:xfrm>
            <a:off x="7059240" y="3703320"/>
            <a:ext cx="1256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a7480"/>
                </a:solidFill>
                <a:latin typeface="Calibri"/>
              </a:rPr>
              <a:t>→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" name="Shape 332"/>
          <p:cNvSpPr/>
          <p:nvPr/>
        </p:nvSpPr>
        <p:spPr>
          <a:xfrm>
            <a:off x="7187040" y="3593520"/>
            <a:ext cx="1570320" cy="6375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Text 307"/>
          <p:cNvSpPr/>
          <p:nvPr/>
        </p:nvSpPr>
        <p:spPr>
          <a:xfrm>
            <a:off x="7223760" y="3611880"/>
            <a:ext cx="14972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7a8a"/>
                </a:solidFill>
                <a:latin typeface="Calibri"/>
              </a:rPr>
              <a:t>Stemming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2" name="Text 308"/>
          <p:cNvSpPr/>
          <p:nvPr/>
        </p:nvSpPr>
        <p:spPr>
          <a:xfrm>
            <a:off x="7223760" y="3822120"/>
            <a:ext cx="149724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"donn"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1a2b2f"/>
                </a:solidFill>
                <a:latin typeface="Consolas"/>
                <a:ea typeface="Consolas"/>
              </a:rPr>
              <a:t>"analys"</a:t>
            </a:r>
            <a:endParaRPr b="0" lang="fr-FR" sz="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Shape 333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Shape 334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Text 309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Analyseurs intégrés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" name="Text 310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Shape 336"/>
          <p:cNvSpPr/>
          <p:nvPr/>
        </p:nvSpPr>
        <p:spPr>
          <a:xfrm>
            <a:off x="274320" y="960120"/>
            <a:ext cx="2283480" cy="3175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Text 311"/>
          <p:cNvSpPr/>
          <p:nvPr/>
        </p:nvSpPr>
        <p:spPr>
          <a:xfrm>
            <a:off x="329040" y="960120"/>
            <a:ext cx="21736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Analyseur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Shape 337"/>
          <p:cNvSpPr/>
          <p:nvPr/>
        </p:nvSpPr>
        <p:spPr>
          <a:xfrm>
            <a:off x="2560320" y="960120"/>
            <a:ext cx="4386600" cy="3175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" name="Text 312"/>
          <p:cNvSpPr/>
          <p:nvPr/>
        </p:nvSpPr>
        <p:spPr>
          <a:xfrm>
            <a:off x="2615040" y="960120"/>
            <a:ext cx="4276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Description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Shape 338"/>
          <p:cNvSpPr/>
          <p:nvPr/>
        </p:nvSpPr>
        <p:spPr>
          <a:xfrm>
            <a:off x="6949440" y="960120"/>
            <a:ext cx="1917720" cy="3175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Text 313"/>
          <p:cNvSpPr/>
          <p:nvPr/>
        </p:nvSpPr>
        <p:spPr>
          <a:xfrm>
            <a:off x="7004160" y="960120"/>
            <a:ext cx="18079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Usage typique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Shape 339"/>
          <p:cNvSpPr/>
          <p:nvPr/>
        </p:nvSpPr>
        <p:spPr>
          <a:xfrm>
            <a:off x="274320" y="1280160"/>
            <a:ext cx="228348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" name="Shape 340"/>
          <p:cNvSpPr/>
          <p:nvPr/>
        </p:nvSpPr>
        <p:spPr>
          <a:xfrm>
            <a:off x="2560320" y="1280160"/>
            <a:ext cx="438660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Shape 341"/>
          <p:cNvSpPr/>
          <p:nvPr/>
        </p:nvSpPr>
        <p:spPr>
          <a:xfrm>
            <a:off x="6949440" y="1280160"/>
            <a:ext cx="191772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Shape 342"/>
          <p:cNvSpPr/>
          <p:nvPr/>
        </p:nvSpPr>
        <p:spPr>
          <a:xfrm>
            <a:off x="347400" y="1380600"/>
            <a:ext cx="180360" cy="1803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7" name="Text 314"/>
          <p:cNvSpPr/>
          <p:nvPr/>
        </p:nvSpPr>
        <p:spPr>
          <a:xfrm>
            <a:off x="576000" y="128016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576b"/>
                </a:solidFill>
                <a:latin typeface="Consolas"/>
                <a:ea typeface="Consolas"/>
              </a:rPr>
              <a:t>standard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Text 315"/>
          <p:cNvSpPr/>
          <p:nvPr/>
        </p:nvSpPr>
        <p:spPr>
          <a:xfrm>
            <a:off x="2633400" y="128016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Sépare en mots, supprime la ponctuation, passe en minuscule. (défaut)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Text 316"/>
          <p:cNvSpPr/>
          <p:nvPr/>
        </p:nvSpPr>
        <p:spPr>
          <a:xfrm>
            <a:off x="6995160" y="128016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Usage général, multilingue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Shape 343"/>
          <p:cNvSpPr/>
          <p:nvPr/>
        </p:nvSpPr>
        <p:spPr>
          <a:xfrm>
            <a:off x="274320" y="1682640"/>
            <a:ext cx="228348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1" name="Shape 344"/>
          <p:cNvSpPr/>
          <p:nvPr/>
        </p:nvSpPr>
        <p:spPr>
          <a:xfrm>
            <a:off x="2560320" y="1682640"/>
            <a:ext cx="438660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Shape 345"/>
          <p:cNvSpPr/>
          <p:nvPr/>
        </p:nvSpPr>
        <p:spPr>
          <a:xfrm>
            <a:off x="6949440" y="1682640"/>
            <a:ext cx="191772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Shape 346"/>
          <p:cNvSpPr/>
          <p:nvPr/>
        </p:nvSpPr>
        <p:spPr>
          <a:xfrm>
            <a:off x="347400" y="1783080"/>
            <a:ext cx="180360" cy="1803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4" name="Text 317"/>
          <p:cNvSpPr/>
          <p:nvPr/>
        </p:nvSpPr>
        <p:spPr>
          <a:xfrm>
            <a:off x="576000" y="168264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a8a"/>
                </a:solidFill>
                <a:latin typeface="Consolas"/>
                <a:ea typeface="Consolas"/>
              </a:rPr>
              <a:t>french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5" name="Text 318"/>
          <p:cNvSpPr/>
          <p:nvPr/>
        </p:nvSpPr>
        <p:spPr>
          <a:xfrm>
            <a:off x="2633400" y="168264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Stemming français, élision (l', d'…), stop words français.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6" name="Text 319"/>
          <p:cNvSpPr/>
          <p:nvPr/>
        </p:nvSpPr>
        <p:spPr>
          <a:xfrm>
            <a:off x="6995160" y="168264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Textes en français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7" name="Shape 347"/>
          <p:cNvSpPr/>
          <p:nvPr/>
        </p:nvSpPr>
        <p:spPr>
          <a:xfrm>
            <a:off x="274320" y="2084760"/>
            <a:ext cx="228348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8" name="Shape 348"/>
          <p:cNvSpPr/>
          <p:nvPr/>
        </p:nvSpPr>
        <p:spPr>
          <a:xfrm>
            <a:off x="2560320" y="2084760"/>
            <a:ext cx="438660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" name="Shape 349"/>
          <p:cNvSpPr/>
          <p:nvPr/>
        </p:nvSpPr>
        <p:spPr>
          <a:xfrm>
            <a:off x="6949440" y="2084760"/>
            <a:ext cx="191772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0" name="Shape 350"/>
          <p:cNvSpPr/>
          <p:nvPr/>
        </p:nvSpPr>
        <p:spPr>
          <a:xfrm>
            <a:off x="347400" y="2185560"/>
            <a:ext cx="180360" cy="1803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1" name="Text 320"/>
          <p:cNvSpPr/>
          <p:nvPr/>
        </p:nvSpPr>
        <p:spPr>
          <a:xfrm>
            <a:off x="576000" y="208476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a8a"/>
                </a:solidFill>
                <a:latin typeface="Consolas"/>
                <a:ea typeface="Consolas"/>
              </a:rPr>
              <a:t>english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2" name="Text 321"/>
          <p:cNvSpPr/>
          <p:nvPr/>
        </p:nvSpPr>
        <p:spPr>
          <a:xfrm>
            <a:off x="2633400" y="208476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Stemming anglais (Snowball), stop words anglais.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3" name="Text 322"/>
          <p:cNvSpPr/>
          <p:nvPr/>
        </p:nvSpPr>
        <p:spPr>
          <a:xfrm>
            <a:off x="6995160" y="208476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Textes en anglais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" name="Shape 351"/>
          <p:cNvSpPr/>
          <p:nvPr/>
        </p:nvSpPr>
        <p:spPr>
          <a:xfrm>
            <a:off x="274320" y="2487240"/>
            <a:ext cx="228348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5" name="Shape 352"/>
          <p:cNvSpPr/>
          <p:nvPr/>
        </p:nvSpPr>
        <p:spPr>
          <a:xfrm>
            <a:off x="2560320" y="2487240"/>
            <a:ext cx="438660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6" name="Shape 353"/>
          <p:cNvSpPr/>
          <p:nvPr/>
        </p:nvSpPr>
        <p:spPr>
          <a:xfrm>
            <a:off x="6949440" y="2487240"/>
            <a:ext cx="191772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7" name="Shape 354"/>
          <p:cNvSpPr/>
          <p:nvPr/>
        </p:nvSpPr>
        <p:spPr>
          <a:xfrm>
            <a:off x="347400" y="2587680"/>
            <a:ext cx="180360" cy="18036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8" name="Text 323"/>
          <p:cNvSpPr/>
          <p:nvPr/>
        </p:nvSpPr>
        <p:spPr>
          <a:xfrm>
            <a:off x="576000" y="248724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nsolas"/>
                <a:ea typeface="Consolas"/>
              </a:rPr>
              <a:t>whitespace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" name="Text 324"/>
          <p:cNvSpPr/>
          <p:nvPr/>
        </p:nvSpPr>
        <p:spPr>
          <a:xfrm>
            <a:off x="2633400" y="248724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Découpe uniquement sur les espaces. Préserve la casse et la ponctuation.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0" name="Text 325"/>
          <p:cNvSpPr/>
          <p:nvPr/>
        </p:nvSpPr>
        <p:spPr>
          <a:xfrm>
            <a:off x="6995160" y="248724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Codes avec séparateurs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Shape 355"/>
          <p:cNvSpPr/>
          <p:nvPr/>
        </p:nvSpPr>
        <p:spPr>
          <a:xfrm>
            <a:off x="274320" y="2889360"/>
            <a:ext cx="228348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" name="Shape 356"/>
          <p:cNvSpPr/>
          <p:nvPr/>
        </p:nvSpPr>
        <p:spPr>
          <a:xfrm>
            <a:off x="2560320" y="2889360"/>
            <a:ext cx="438660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3" name="Shape 357"/>
          <p:cNvSpPr/>
          <p:nvPr/>
        </p:nvSpPr>
        <p:spPr>
          <a:xfrm>
            <a:off x="6949440" y="2889360"/>
            <a:ext cx="191772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Shape 358"/>
          <p:cNvSpPr/>
          <p:nvPr/>
        </p:nvSpPr>
        <p:spPr>
          <a:xfrm>
            <a:off x="347400" y="2990160"/>
            <a:ext cx="180360" cy="180360"/>
          </a:xfrm>
          <a:prstGeom prst="ellipse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5" name="Text 326"/>
          <p:cNvSpPr/>
          <p:nvPr/>
        </p:nvSpPr>
        <p:spPr>
          <a:xfrm>
            <a:off x="576000" y="288936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404f"/>
                </a:solidFill>
                <a:latin typeface="Consolas"/>
                <a:ea typeface="Consolas"/>
              </a:rPr>
              <a:t>keyword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" name="Text 327"/>
          <p:cNvSpPr/>
          <p:nvPr/>
        </p:nvSpPr>
        <p:spPr>
          <a:xfrm>
            <a:off x="2633400" y="288936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Aucune analyse. La valeur entière est un seul token.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Text 328"/>
          <p:cNvSpPr/>
          <p:nvPr/>
        </p:nvSpPr>
        <p:spPr>
          <a:xfrm>
            <a:off x="6995160" y="288936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Champs non analysés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8" name="Shape 359"/>
          <p:cNvSpPr/>
          <p:nvPr/>
        </p:nvSpPr>
        <p:spPr>
          <a:xfrm>
            <a:off x="274320" y="3291840"/>
            <a:ext cx="228348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" name="Shape 360"/>
          <p:cNvSpPr/>
          <p:nvPr/>
        </p:nvSpPr>
        <p:spPr>
          <a:xfrm>
            <a:off x="2560320" y="3291840"/>
            <a:ext cx="438660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Shape 361"/>
          <p:cNvSpPr/>
          <p:nvPr/>
        </p:nvSpPr>
        <p:spPr>
          <a:xfrm>
            <a:off x="6949440" y="3291840"/>
            <a:ext cx="191772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1" name="Shape 362"/>
          <p:cNvSpPr/>
          <p:nvPr/>
        </p:nvSpPr>
        <p:spPr>
          <a:xfrm>
            <a:off x="347400" y="3392280"/>
            <a:ext cx="180360" cy="180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2" name="Text 329"/>
          <p:cNvSpPr/>
          <p:nvPr/>
        </p:nvSpPr>
        <p:spPr>
          <a:xfrm>
            <a:off x="576000" y="329184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2e7d32"/>
                </a:solidFill>
                <a:latin typeface="Consolas"/>
                <a:ea typeface="Consolas"/>
              </a:rPr>
              <a:t>simple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Text 330"/>
          <p:cNvSpPr/>
          <p:nvPr/>
        </p:nvSpPr>
        <p:spPr>
          <a:xfrm>
            <a:off x="2633400" y="329184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Découpe sur les non-lettres, passe en minuscule.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" name="Text 331"/>
          <p:cNvSpPr/>
          <p:nvPr/>
        </p:nvSpPr>
        <p:spPr>
          <a:xfrm>
            <a:off x="6995160" y="329184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Texte simple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5" name="Shape 363"/>
          <p:cNvSpPr/>
          <p:nvPr/>
        </p:nvSpPr>
        <p:spPr>
          <a:xfrm>
            <a:off x="274320" y="3694320"/>
            <a:ext cx="228348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Shape 364"/>
          <p:cNvSpPr/>
          <p:nvPr/>
        </p:nvSpPr>
        <p:spPr>
          <a:xfrm>
            <a:off x="2560320" y="3694320"/>
            <a:ext cx="438660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" name="Shape 365"/>
          <p:cNvSpPr/>
          <p:nvPr/>
        </p:nvSpPr>
        <p:spPr>
          <a:xfrm>
            <a:off x="6949440" y="3694320"/>
            <a:ext cx="1917720" cy="399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" name="Shape 366"/>
          <p:cNvSpPr/>
          <p:nvPr/>
        </p:nvSpPr>
        <p:spPr>
          <a:xfrm>
            <a:off x="347400" y="3794760"/>
            <a:ext cx="180360" cy="180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9" name="Text 332"/>
          <p:cNvSpPr/>
          <p:nvPr/>
        </p:nvSpPr>
        <p:spPr>
          <a:xfrm>
            <a:off x="576000" y="369432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7c3aed"/>
                </a:solidFill>
                <a:latin typeface="Consolas"/>
                <a:ea typeface="Consolas"/>
              </a:rPr>
              <a:t>stop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0" name="Text 333"/>
          <p:cNvSpPr/>
          <p:nvPr/>
        </p:nvSpPr>
        <p:spPr>
          <a:xfrm>
            <a:off x="2633400" y="369432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Comme simple + suppression des mots courants (stop words).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1" name="Text 334"/>
          <p:cNvSpPr/>
          <p:nvPr/>
        </p:nvSpPr>
        <p:spPr>
          <a:xfrm>
            <a:off x="6995160" y="369432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Textes avec mots courants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Shape 367"/>
          <p:cNvSpPr/>
          <p:nvPr/>
        </p:nvSpPr>
        <p:spPr>
          <a:xfrm>
            <a:off x="274320" y="4096440"/>
            <a:ext cx="228348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" name="Shape 368"/>
          <p:cNvSpPr/>
          <p:nvPr/>
        </p:nvSpPr>
        <p:spPr>
          <a:xfrm>
            <a:off x="2560320" y="4096440"/>
            <a:ext cx="438660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4" name="Shape 369"/>
          <p:cNvSpPr/>
          <p:nvPr/>
        </p:nvSpPr>
        <p:spPr>
          <a:xfrm>
            <a:off x="6949440" y="4096440"/>
            <a:ext cx="1917720" cy="39996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Shape 370"/>
          <p:cNvSpPr/>
          <p:nvPr/>
        </p:nvSpPr>
        <p:spPr>
          <a:xfrm>
            <a:off x="347400" y="4197240"/>
            <a:ext cx="180360" cy="180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6" name="Text 335"/>
          <p:cNvSpPr/>
          <p:nvPr/>
        </p:nvSpPr>
        <p:spPr>
          <a:xfrm>
            <a:off x="576000" y="4096440"/>
            <a:ext cx="19360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b45309"/>
                </a:solidFill>
                <a:latin typeface="Consolas"/>
                <a:ea typeface="Consolas"/>
              </a:rPr>
              <a:t>pattern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7" name="Text 336"/>
          <p:cNvSpPr/>
          <p:nvPr/>
        </p:nvSpPr>
        <p:spPr>
          <a:xfrm>
            <a:off x="2633400" y="4096440"/>
            <a:ext cx="424944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a2b2f"/>
                </a:solidFill>
                <a:latin typeface="Calibri"/>
              </a:rPr>
              <a:t>Découpe selon une expression régulière (défaut : \W+).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Text 337"/>
          <p:cNvSpPr/>
          <p:nvPr/>
        </p:nvSpPr>
        <p:spPr>
          <a:xfrm>
            <a:off x="6995160" y="4096440"/>
            <a:ext cx="1826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Logs, CSV, formats structurés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9" name="Shape 371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0" name="Text 338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💡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L'analyseur à l'indexation DOIT être identique à celui de la recherche — sinon les tokens ne correspondent pas et les résultats sont vides.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Shape 372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" name="Shape 373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3" name="Text 339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Test des analyseurs — API _analyze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Text 340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Text 341"/>
          <p:cNvSpPr/>
          <p:nvPr/>
        </p:nvSpPr>
        <p:spPr>
          <a:xfrm>
            <a:off x="320040" y="914400"/>
            <a:ext cx="8501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50" spc="-1" strike="noStrike">
                <a:solidFill>
                  <a:srgbClr val="1a2b2f"/>
                </a:solidFill>
                <a:latin typeface="Calibri"/>
              </a:rPr>
              <a:t>OpenSearch expose l'API </a:t>
            </a:r>
            <a:r>
              <a:rPr b="1" i="1" lang="fr-FR" sz="1150" spc="-1" strike="noStrike">
                <a:solidFill>
                  <a:srgbClr val="1a2b2f"/>
                </a:solidFill>
                <a:latin typeface="Calibri"/>
              </a:rPr>
              <a:t>_analyze</a:t>
            </a:r>
            <a:r>
              <a:rPr b="0" lang="fr-FR" sz="1150" spc="-1" strike="noStrike">
                <a:solidFill>
                  <a:srgbClr val="1a2b2f"/>
                </a:solidFill>
                <a:latin typeface="Calibri"/>
              </a:rPr>
              <a:t> pour tester le comportement d'un analyseur sur un texte, sans indexer de document.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6" name="Shape 375"/>
          <p:cNvSpPr/>
          <p:nvPr/>
        </p:nvSpPr>
        <p:spPr>
          <a:xfrm>
            <a:off x="274320" y="1417320"/>
            <a:ext cx="4066560" cy="29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Shape 376"/>
          <p:cNvSpPr/>
          <p:nvPr/>
        </p:nvSpPr>
        <p:spPr>
          <a:xfrm>
            <a:off x="274320" y="1417320"/>
            <a:ext cx="406656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8" name="Text 342"/>
          <p:cNvSpPr/>
          <p:nvPr/>
        </p:nvSpPr>
        <p:spPr>
          <a:xfrm>
            <a:off x="347400" y="141732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Requête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Shape 377"/>
          <p:cNvSpPr/>
          <p:nvPr/>
        </p:nvSpPr>
        <p:spPr>
          <a:xfrm>
            <a:off x="347400" y="1828800"/>
            <a:ext cx="3883680" cy="237492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0" name="Text 343"/>
          <p:cNvSpPr/>
          <p:nvPr/>
        </p:nvSpPr>
        <p:spPr>
          <a:xfrm>
            <a:off x="457200" y="1901880"/>
            <a:ext cx="366408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a8d4dc"/>
                </a:solidFill>
                <a:latin typeface="Consolas"/>
                <a:ea typeface="Consolas"/>
              </a:rPr>
              <a:t># Sur l'index (avec son analyzer déclaré)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GET /mon-index/_analyze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"analyzer": "french",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fr-FR" sz="850" spc="-1" strike="noStrike">
                <a:solidFill>
                  <a:srgbClr val="a8d4dc"/>
                </a:solidFill>
                <a:latin typeface="Consolas"/>
                <a:ea typeface="Consolas"/>
              </a:rPr>
              <a:t>"text": "Les données sont analysées"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# Sur un analyzer global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GET /_analyze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"analyzer": "standard",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"text": "Text to analyze"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" name="Shape 378"/>
          <p:cNvSpPr/>
          <p:nvPr/>
        </p:nvSpPr>
        <p:spPr>
          <a:xfrm>
            <a:off x="4617720" y="1417320"/>
            <a:ext cx="4203720" cy="2923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Shape 379"/>
          <p:cNvSpPr/>
          <p:nvPr/>
        </p:nvSpPr>
        <p:spPr>
          <a:xfrm>
            <a:off x="4617720" y="1417320"/>
            <a:ext cx="420372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3" name="Text 344"/>
          <p:cNvSpPr/>
          <p:nvPr/>
        </p:nvSpPr>
        <p:spPr>
          <a:xfrm>
            <a:off x="4690800" y="1417320"/>
            <a:ext cx="40665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Réponse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4" name="Shape 380"/>
          <p:cNvSpPr/>
          <p:nvPr/>
        </p:nvSpPr>
        <p:spPr>
          <a:xfrm>
            <a:off x="4690800" y="1828800"/>
            <a:ext cx="4020840" cy="237492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5" name="Text 345"/>
          <p:cNvSpPr/>
          <p:nvPr/>
        </p:nvSpPr>
        <p:spPr>
          <a:xfrm>
            <a:off x="4800600" y="1901880"/>
            <a:ext cx="3801240" cy="22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"tokens": [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"token":        "text",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"start_offset": 0,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"end_offset":   4,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"type":         "&lt;ALPHANUM&gt;",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"position":     1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"token":        "analyz",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"start_offset": 8,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"end_offset":   15,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"type":         "&lt;ALPHANUM&gt;",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"position":     3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]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" name="Shape 381"/>
          <p:cNvSpPr/>
          <p:nvPr/>
        </p:nvSpPr>
        <p:spPr>
          <a:xfrm>
            <a:off x="274320" y="4382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7" name="Text 346"/>
          <p:cNvSpPr/>
          <p:nvPr/>
        </p:nvSpPr>
        <p:spPr>
          <a:xfrm>
            <a:off x="384120" y="4382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💡  </a:t>
            </a: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start_offset / end_offset / position permettent de comprendre le highlighting et les recherches de proximité (phrase queries).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Shape 612"/>
          <p:cNvSpPr/>
          <p:nvPr/>
        </p:nvSpPr>
        <p:spPr>
          <a:xfrm>
            <a:off x="274320" y="475308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Shape 663"/>
          <p:cNvSpPr/>
          <p:nvPr/>
        </p:nvSpPr>
        <p:spPr>
          <a:xfrm>
            <a:off x="274320" y="475308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0" name="Text 601"/>
          <p:cNvSpPr/>
          <p:nvPr/>
        </p:nvSpPr>
        <p:spPr>
          <a:xfrm>
            <a:off x="457200" y="475308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a7500"/>
                </a:solidFill>
                <a:latin typeface="Calibri"/>
                <a:ea typeface="Calibri"/>
              </a:rPr>
              <a:t>✏️  </a:t>
            </a:r>
            <a:r>
              <a:rPr b="1" lang="en-US" sz="1300" spc="-1" strike="noStrike">
                <a:solidFill>
                  <a:srgbClr val="ea7500"/>
                </a:solidFill>
                <a:latin typeface="Calibri"/>
                <a:ea typeface="Calibri"/>
              </a:rPr>
              <a:t>Atelier 3.1 — Test des analyseurs</a:t>
            </a:r>
            <a:endParaRPr b="0" lang="fr-FR" sz="1300" spc="-1" strike="noStrike">
              <a:solidFill>
                <a:srgbClr val="ea7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Shape 23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2" name="Text 198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3" name="Text 199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Contrôle du mapping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4" name="Shape 232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5" name="Text 200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Dynamic mapping – Mapping explicite – Dynamic templates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6" name="Shape 233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7" name="Shape 234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8" name="Text 201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Mapping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9" name="Shape 235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0" name="Text 202"/>
          <p:cNvSpPr/>
          <p:nvPr/>
        </p:nvSpPr>
        <p:spPr>
          <a:xfrm>
            <a:off x="1404000" y="4546800"/>
            <a:ext cx="93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Types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1" name="Text 203"/>
          <p:cNvSpPr/>
          <p:nvPr/>
        </p:nvSpPr>
        <p:spPr>
          <a:xfrm>
            <a:off x="4262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2" name="Shape 236"/>
          <p:cNvSpPr/>
          <p:nvPr/>
        </p:nvSpPr>
        <p:spPr>
          <a:xfrm>
            <a:off x="2304000" y="4528440"/>
            <a:ext cx="2160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3" name="Text 204"/>
          <p:cNvSpPr/>
          <p:nvPr/>
        </p:nvSpPr>
        <p:spPr>
          <a:xfrm>
            <a:off x="2187720" y="4546800"/>
            <a:ext cx="2348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Contrôle du mapping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4" name="Text 205"/>
          <p:cNvSpPr/>
          <p:nvPr/>
        </p:nvSpPr>
        <p:spPr>
          <a:xfrm>
            <a:off x="3495600" y="4582800"/>
            <a:ext cx="773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5" name="Text 206"/>
          <p:cNvSpPr/>
          <p:nvPr/>
        </p:nvSpPr>
        <p:spPr>
          <a:xfrm>
            <a:off x="4680000" y="4546800"/>
            <a:ext cx="156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Gabarits d’index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6" name="Text 2585"/>
          <p:cNvSpPr/>
          <p:nvPr/>
        </p:nvSpPr>
        <p:spPr>
          <a:xfrm>
            <a:off x="3286800" y="4582800"/>
            <a:ext cx="374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7" name="Text 2603"/>
          <p:cNvSpPr/>
          <p:nvPr/>
        </p:nvSpPr>
        <p:spPr>
          <a:xfrm>
            <a:off x="6264000" y="4546800"/>
            <a:ext cx="18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Datastream et ILM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8" name="Text 2604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9" name="Text 2605"/>
          <p:cNvSpPr/>
          <p:nvPr/>
        </p:nvSpPr>
        <p:spPr>
          <a:xfrm>
            <a:off x="60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0" name="Text 2606"/>
          <p:cNvSpPr/>
          <p:nvPr/>
        </p:nvSpPr>
        <p:spPr>
          <a:xfrm>
            <a:off x="1949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1" name="Text 2640"/>
          <p:cNvSpPr/>
          <p:nvPr/>
        </p:nvSpPr>
        <p:spPr>
          <a:xfrm>
            <a:off x="78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2" name="Text 1207"/>
          <p:cNvSpPr/>
          <p:nvPr/>
        </p:nvSpPr>
        <p:spPr>
          <a:xfrm>
            <a:off x="8136000" y="4546800"/>
            <a:ext cx="9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Migration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Shape 417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4" name="Shape 418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5" name="Text 381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Dynamic Mapping — true / false / strict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Text 382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" name="Text 383"/>
          <p:cNvSpPr/>
          <p:nvPr/>
        </p:nvSpPr>
        <p:spPr>
          <a:xfrm>
            <a:off x="320040" y="91440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50" spc="-1" strike="noStrike">
                <a:solidFill>
                  <a:srgbClr val="1a2b2f"/>
                </a:solidFill>
                <a:latin typeface="Calibri"/>
              </a:rPr>
              <a:t>La propriété </a:t>
            </a:r>
            <a:r>
              <a:rPr b="1" lang="fr-FR" sz="1150" spc="-1" strike="noStrike">
                <a:solidFill>
                  <a:srgbClr val="007a8a"/>
                </a:solidFill>
                <a:latin typeface="Consolas"/>
                <a:ea typeface="Consolas"/>
              </a:rPr>
              <a:t>dynamic</a:t>
            </a:r>
            <a:r>
              <a:rPr b="0" lang="fr-FR" sz="1150" spc="-1" strike="noStrike">
                <a:solidFill>
                  <a:srgbClr val="1a2b2f"/>
                </a:solidFill>
                <a:latin typeface="Calibri"/>
                <a:ea typeface="Consolas"/>
              </a:rPr>
              <a:t> contrôle le comportement lors de l'apparition d'un nouveau champ non connu dans un document indexé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Shape 420"/>
          <p:cNvSpPr/>
          <p:nvPr/>
        </p:nvSpPr>
        <p:spPr>
          <a:xfrm>
            <a:off x="274320" y="1463040"/>
            <a:ext cx="2832120" cy="28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Shape 421"/>
          <p:cNvSpPr/>
          <p:nvPr/>
        </p:nvSpPr>
        <p:spPr>
          <a:xfrm>
            <a:off x="274320" y="1463040"/>
            <a:ext cx="2832120" cy="473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0" name="Text 384"/>
          <p:cNvSpPr/>
          <p:nvPr/>
        </p:nvSpPr>
        <p:spPr>
          <a:xfrm>
            <a:off x="347400" y="1463040"/>
            <a:ext cx="26949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dynamic: true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Text 385"/>
          <p:cNvSpPr/>
          <p:nvPr/>
        </p:nvSpPr>
        <p:spPr>
          <a:xfrm>
            <a:off x="365760" y="1993320"/>
            <a:ext cx="2649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2e7d32"/>
                </a:solidFill>
                <a:latin typeface="Calibri"/>
              </a:rPr>
              <a:t>Ajout automatique (défaut)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Text 386"/>
          <p:cNvSpPr/>
          <p:nvPr/>
        </p:nvSpPr>
        <p:spPr>
          <a:xfrm>
            <a:off x="365760" y="2331720"/>
            <a:ext cx="264924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Tout nouveau champ est automatiquement détecté et ajouté au mapping.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" name="Shape 422"/>
          <p:cNvSpPr/>
          <p:nvPr/>
        </p:nvSpPr>
        <p:spPr>
          <a:xfrm>
            <a:off x="347400" y="3310200"/>
            <a:ext cx="2685960" cy="8935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Text 387"/>
          <p:cNvSpPr/>
          <p:nvPr/>
        </p:nvSpPr>
        <p:spPr>
          <a:xfrm>
            <a:off x="402480" y="3337560"/>
            <a:ext cx="2557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Risque de mapping explosion si les documents ont des structures très variables.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Shape 423"/>
          <p:cNvSpPr/>
          <p:nvPr/>
        </p:nvSpPr>
        <p:spPr>
          <a:xfrm>
            <a:off x="3246120" y="1463040"/>
            <a:ext cx="2832120" cy="28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6" name="Shape 424"/>
          <p:cNvSpPr/>
          <p:nvPr/>
        </p:nvSpPr>
        <p:spPr>
          <a:xfrm>
            <a:off x="3246120" y="1463040"/>
            <a:ext cx="2832120" cy="4730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Text 388"/>
          <p:cNvSpPr/>
          <p:nvPr/>
        </p:nvSpPr>
        <p:spPr>
          <a:xfrm>
            <a:off x="3319200" y="1463040"/>
            <a:ext cx="26949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⏭️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dynamic: false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Text 389"/>
          <p:cNvSpPr/>
          <p:nvPr/>
        </p:nvSpPr>
        <p:spPr>
          <a:xfrm>
            <a:off x="3337560" y="1993320"/>
            <a:ext cx="2649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</a:rPr>
              <a:t>Ignoré silencieusement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" name="Text 390"/>
          <p:cNvSpPr/>
          <p:nvPr/>
        </p:nvSpPr>
        <p:spPr>
          <a:xfrm>
            <a:off x="3337560" y="2331720"/>
            <a:ext cx="264924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Les nouveaux champs sont acceptés dans _source mais ne sont pas indexés ni interrogeables.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Shape 425"/>
          <p:cNvSpPr/>
          <p:nvPr/>
        </p:nvSpPr>
        <p:spPr>
          <a:xfrm>
            <a:off x="3319200" y="3310200"/>
            <a:ext cx="2685960" cy="8935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Text 391"/>
          <p:cNvSpPr/>
          <p:nvPr/>
        </p:nvSpPr>
        <p:spPr>
          <a:xfrm>
            <a:off x="3374280" y="3337560"/>
            <a:ext cx="2557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Utile pour les champs volatils à stocker sans indexer.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" name="Shape 426"/>
          <p:cNvSpPr/>
          <p:nvPr/>
        </p:nvSpPr>
        <p:spPr>
          <a:xfrm>
            <a:off x="6217920" y="1463040"/>
            <a:ext cx="2832120" cy="28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Shape 427"/>
          <p:cNvSpPr/>
          <p:nvPr/>
        </p:nvSpPr>
        <p:spPr>
          <a:xfrm>
            <a:off x="6217920" y="1463040"/>
            <a:ext cx="2832120" cy="47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4" name="Text 392"/>
          <p:cNvSpPr/>
          <p:nvPr/>
        </p:nvSpPr>
        <p:spPr>
          <a:xfrm>
            <a:off x="6291000" y="1463040"/>
            <a:ext cx="269496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🚫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dynamic: "strict"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5" name="Text 393"/>
          <p:cNvSpPr/>
          <p:nvPr/>
        </p:nvSpPr>
        <p:spPr>
          <a:xfrm>
            <a:off x="6309360" y="1993320"/>
            <a:ext cx="2649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f4444"/>
                </a:solidFill>
                <a:latin typeface="Calibri"/>
              </a:rPr>
              <a:t>Exception levée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Text 394"/>
          <p:cNvSpPr/>
          <p:nvPr/>
        </p:nvSpPr>
        <p:spPr>
          <a:xfrm>
            <a:off x="6309360" y="2331720"/>
            <a:ext cx="264924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Tout nouveau champ inconnu déclenche une erreur 400 à l'indexation.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7" name="Shape 428"/>
          <p:cNvSpPr/>
          <p:nvPr/>
        </p:nvSpPr>
        <p:spPr>
          <a:xfrm>
            <a:off x="6291000" y="3310200"/>
            <a:ext cx="2685960" cy="89352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" name="Text 395"/>
          <p:cNvSpPr/>
          <p:nvPr/>
        </p:nvSpPr>
        <p:spPr>
          <a:xfrm>
            <a:off x="6346080" y="3337560"/>
            <a:ext cx="2557800" cy="83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4a7480"/>
                </a:solidFill>
                <a:latin typeface="Calibri"/>
              </a:rPr>
              <a:t>Recommandé en production pour garantir la cohérence du schéma.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Shape 429"/>
          <p:cNvSpPr/>
          <p:nvPr/>
        </p:nvSpPr>
        <p:spPr>
          <a:xfrm>
            <a:off x="274320" y="4316040"/>
            <a:ext cx="8592840" cy="56448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0" name="Text 396"/>
          <p:cNvSpPr/>
          <p:nvPr/>
        </p:nvSpPr>
        <p:spPr>
          <a:xfrm>
            <a:off x="384120" y="4389120"/>
            <a:ext cx="8373240" cy="41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PUT /my_index { "mappings": { "dynamic": "strict", "properties": { "title": {"type":"text"}, "stash": {"type":"object","dynamic":true}}}}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Shape 382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2" name="Shape 383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3" name="Text 347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Comportement par défaut du mapping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" name="Text 348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Text 349"/>
          <p:cNvSpPr/>
          <p:nvPr/>
        </p:nvSpPr>
        <p:spPr>
          <a:xfrm>
            <a:off x="320040" y="91440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a2b2f"/>
                </a:solidFill>
                <a:latin typeface="Calibri"/>
              </a:rPr>
              <a:t>Lorsqu'OpenSearch détecte un nouveau champ </a:t>
            </a:r>
            <a:r>
              <a:rPr b="1" lang="en-US" sz="1200" spc="-1" strike="noStrike">
                <a:solidFill>
                  <a:srgbClr val="007a8a"/>
                </a:solidFill>
                <a:latin typeface="Consolas"/>
                <a:ea typeface="Consolas"/>
              </a:rPr>
              <a:t>string</a:t>
            </a: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onsolas"/>
              </a:rPr>
              <a:t>, il le configure automatiquement comme </a:t>
            </a:r>
            <a:r>
              <a:rPr b="1" lang="en-US" sz="1200" spc="-1" strike="noStrike">
                <a:solidFill>
                  <a:srgbClr val="007a8a"/>
                </a:solidFill>
                <a:latin typeface="Calibri"/>
                <a:ea typeface="Consolas"/>
              </a:rPr>
              <a:t>2 champs</a:t>
            </a:r>
            <a:r>
              <a:rPr b="0" lang="en-US" sz="1200" spc="-1" strike="noStrike">
                <a:solidFill>
                  <a:srgbClr val="1a2b2f"/>
                </a:solidFill>
                <a:latin typeface="Calibri"/>
                <a:ea typeface="Consolas"/>
              </a:rPr>
              <a:t> :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6" name="Shape 385"/>
          <p:cNvSpPr/>
          <p:nvPr/>
        </p:nvSpPr>
        <p:spPr>
          <a:xfrm>
            <a:off x="914400" y="1463040"/>
            <a:ext cx="3197880" cy="16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" name="Shape 386"/>
          <p:cNvSpPr/>
          <p:nvPr/>
        </p:nvSpPr>
        <p:spPr>
          <a:xfrm>
            <a:off x="914400" y="1463040"/>
            <a:ext cx="3197880" cy="381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8" name="Text 350"/>
          <p:cNvSpPr/>
          <p:nvPr/>
        </p:nvSpPr>
        <p:spPr>
          <a:xfrm>
            <a:off x="987480" y="1463040"/>
            <a:ext cx="30607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576b"/>
                </a:solidFill>
                <a:latin typeface="Calibri"/>
              </a:rPr>
              <a:t>Champ text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9" name="Text 351"/>
          <p:cNvSpPr/>
          <p:nvPr/>
        </p:nvSpPr>
        <p:spPr>
          <a:xfrm>
            <a:off x="1005840" y="1920240"/>
            <a:ext cx="301500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Analyseur standard appliqué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Utilisable pour les recherches full-text (match)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Non utilisable pour le tri ou les agrégations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" name="Text 352"/>
          <p:cNvSpPr/>
          <p:nvPr/>
        </p:nvSpPr>
        <p:spPr>
          <a:xfrm>
            <a:off x="4206240" y="1783080"/>
            <a:ext cx="72900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576b"/>
                </a:solidFill>
                <a:latin typeface="Calibri"/>
              </a:rPr>
              <a:t>+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Shape 387"/>
          <p:cNvSpPr/>
          <p:nvPr/>
        </p:nvSpPr>
        <p:spPr>
          <a:xfrm>
            <a:off x="5029200" y="1463040"/>
            <a:ext cx="3197880" cy="16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2" name="Shape 388"/>
          <p:cNvSpPr/>
          <p:nvPr/>
        </p:nvSpPr>
        <p:spPr>
          <a:xfrm>
            <a:off x="5029200" y="1463040"/>
            <a:ext cx="3197880" cy="381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3" name="Text 353"/>
          <p:cNvSpPr/>
          <p:nvPr/>
        </p:nvSpPr>
        <p:spPr>
          <a:xfrm>
            <a:off x="5102280" y="1463040"/>
            <a:ext cx="306072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Sous-champ keyword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Text 354"/>
          <p:cNvSpPr/>
          <p:nvPr/>
        </p:nvSpPr>
        <p:spPr>
          <a:xfrm>
            <a:off x="5120640" y="1920240"/>
            <a:ext cx="3015000" cy="11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Valeur exacte, non analysée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0" lang="fr-FR" sz="1050" spc="-1" strike="noStrike">
                <a:solidFill>
                  <a:srgbClr val="1a2b2f"/>
                </a:solidFill>
                <a:latin typeface="Calibri"/>
              </a:rPr>
              <a:t>Tri, agrégations, filtres exacts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af-ZA" sz="1050" spc="-1" strike="noStrike">
                <a:solidFill>
                  <a:srgbClr val="1a2b2f"/>
                </a:solidFill>
                <a:latin typeface="Calibri"/>
              </a:rPr>
              <a:t>• </a:t>
            </a:r>
            <a:r>
              <a:rPr b="0" lang="af-ZA" sz="1050" spc="-1" strike="noStrike">
                <a:solidFill>
                  <a:srgbClr val="1a2b2f"/>
                </a:solidFill>
                <a:latin typeface="Calibri"/>
              </a:rPr>
              <a:t>Accès via </a:t>
            </a:r>
            <a:r>
              <a:rPr b="0" lang="af-ZA" sz="1050" spc="-1" strike="noStrike">
                <a:solidFill>
                  <a:srgbClr val="007a8a"/>
                </a:solidFill>
                <a:latin typeface="Consolas"/>
                <a:ea typeface="Consolas"/>
              </a:rPr>
              <a:t>nom.keyword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" name="Shape 389"/>
          <p:cNvSpPr/>
          <p:nvPr/>
        </p:nvSpPr>
        <p:spPr>
          <a:xfrm>
            <a:off x="320040" y="3246120"/>
            <a:ext cx="8501400" cy="107640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6" name="Text 355"/>
          <p:cNvSpPr/>
          <p:nvPr/>
        </p:nvSpPr>
        <p:spPr>
          <a:xfrm>
            <a:off x="429840" y="3319200"/>
            <a:ext cx="8281800" cy="9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# "city" génère : city (text) + city.keyword (keyword)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GET /clients/_search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"query": { "match":  { "city": "paris" }},               ← full-text (text)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"aggs":  { "villes": { "terms": { "field": "city.keyword" }}}  ← agrégation (keyword)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Shape 390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8" name="Text 356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⚠️  </a:t>
            </a: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Pour éviter ce double mapping automatique, spécifier le mapping explicitement à la création de l'index.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Shape 430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0" name="Shape 431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1" name="Text 397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Règles de détection par défaut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2" name="Text 398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Shape 433"/>
          <p:cNvSpPr/>
          <p:nvPr/>
        </p:nvSpPr>
        <p:spPr>
          <a:xfrm>
            <a:off x="274320" y="921960"/>
            <a:ext cx="3197880" cy="3175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4" name="Text 400"/>
          <p:cNvSpPr/>
          <p:nvPr/>
        </p:nvSpPr>
        <p:spPr>
          <a:xfrm>
            <a:off x="347400" y="921960"/>
            <a:ext cx="3088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Type JSON détecté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5" name="Shape 434"/>
          <p:cNvSpPr/>
          <p:nvPr/>
        </p:nvSpPr>
        <p:spPr>
          <a:xfrm>
            <a:off x="3520440" y="921960"/>
            <a:ext cx="5346720" cy="31752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6" name="Text 401"/>
          <p:cNvSpPr/>
          <p:nvPr/>
        </p:nvSpPr>
        <p:spPr>
          <a:xfrm>
            <a:off x="3593520" y="921960"/>
            <a:ext cx="52369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Type OpenSearch assigné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7" name="Shape 435"/>
          <p:cNvSpPr/>
          <p:nvPr/>
        </p:nvSpPr>
        <p:spPr>
          <a:xfrm>
            <a:off x="274320" y="1242000"/>
            <a:ext cx="319788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" name="Shape 436"/>
          <p:cNvSpPr/>
          <p:nvPr/>
        </p:nvSpPr>
        <p:spPr>
          <a:xfrm>
            <a:off x="3520440" y="1242000"/>
            <a:ext cx="534672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Shape 437"/>
          <p:cNvSpPr/>
          <p:nvPr/>
        </p:nvSpPr>
        <p:spPr>
          <a:xfrm>
            <a:off x="347400" y="1315080"/>
            <a:ext cx="180360" cy="180360"/>
          </a:xfrm>
          <a:prstGeom prst="ellipse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0" name="Text 402"/>
          <p:cNvSpPr/>
          <p:nvPr/>
        </p:nvSpPr>
        <p:spPr>
          <a:xfrm>
            <a:off x="576000" y="124200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null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1" name="Text 403"/>
          <p:cNvSpPr/>
          <p:nvPr/>
        </p:nvSpPr>
        <p:spPr>
          <a:xfrm>
            <a:off x="3584520" y="124200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Champ ignoré — non ajouté au mapping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" name="Shape 438"/>
          <p:cNvSpPr/>
          <p:nvPr/>
        </p:nvSpPr>
        <p:spPr>
          <a:xfrm>
            <a:off x="274320" y="1580400"/>
            <a:ext cx="319788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3" name="Shape 439"/>
          <p:cNvSpPr/>
          <p:nvPr/>
        </p:nvSpPr>
        <p:spPr>
          <a:xfrm>
            <a:off x="3520440" y="1580400"/>
            <a:ext cx="534672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4" name="Shape 440"/>
          <p:cNvSpPr/>
          <p:nvPr/>
        </p:nvSpPr>
        <p:spPr>
          <a:xfrm>
            <a:off x="347400" y="1653480"/>
            <a:ext cx="180360" cy="1803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5" name="Text 404"/>
          <p:cNvSpPr/>
          <p:nvPr/>
        </p:nvSpPr>
        <p:spPr>
          <a:xfrm>
            <a:off x="576000" y="158040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true / false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6" name="Text 405"/>
          <p:cNvSpPr/>
          <p:nvPr/>
        </p:nvSpPr>
        <p:spPr>
          <a:xfrm>
            <a:off x="3584520" y="158040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boolean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" name="Shape 441"/>
          <p:cNvSpPr/>
          <p:nvPr/>
        </p:nvSpPr>
        <p:spPr>
          <a:xfrm>
            <a:off x="274320" y="1918440"/>
            <a:ext cx="319788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" name="Shape 442"/>
          <p:cNvSpPr/>
          <p:nvPr/>
        </p:nvSpPr>
        <p:spPr>
          <a:xfrm>
            <a:off x="3520440" y="1918440"/>
            <a:ext cx="534672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Shape 443"/>
          <p:cNvSpPr/>
          <p:nvPr/>
        </p:nvSpPr>
        <p:spPr>
          <a:xfrm>
            <a:off x="347400" y="1991880"/>
            <a:ext cx="180360" cy="18036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0" name="Text 406"/>
          <p:cNvSpPr/>
          <p:nvPr/>
        </p:nvSpPr>
        <p:spPr>
          <a:xfrm>
            <a:off x="576000" y="191844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Entier (42)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" name="Text 407"/>
          <p:cNvSpPr/>
          <p:nvPr/>
        </p:nvSpPr>
        <p:spPr>
          <a:xfrm>
            <a:off x="3584520" y="191844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long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2" name="Shape 444"/>
          <p:cNvSpPr/>
          <p:nvPr/>
        </p:nvSpPr>
        <p:spPr>
          <a:xfrm>
            <a:off x="274320" y="2256840"/>
            <a:ext cx="319788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" name="Shape 445"/>
          <p:cNvSpPr/>
          <p:nvPr/>
        </p:nvSpPr>
        <p:spPr>
          <a:xfrm>
            <a:off x="3520440" y="2256840"/>
            <a:ext cx="534672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4" name="Shape 446"/>
          <p:cNvSpPr/>
          <p:nvPr/>
        </p:nvSpPr>
        <p:spPr>
          <a:xfrm>
            <a:off x="347400" y="2329920"/>
            <a:ext cx="180360" cy="1803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5" name="Text 408"/>
          <p:cNvSpPr/>
          <p:nvPr/>
        </p:nvSpPr>
        <p:spPr>
          <a:xfrm>
            <a:off x="576000" y="225684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Décimal (3.14)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6" name="Text 409"/>
          <p:cNvSpPr/>
          <p:nvPr/>
        </p:nvSpPr>
        <p:spPr>
          <a:xfrm>
            <a:off x="3584520" y="225684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float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" name="Shape 447"/>
          <p:cNvSpPr/>
          <p:nvPr/>
        </p:nvSpPr>
        <p:spPr>
          <a:xfrm>
            <a:off x="274320" y="2595240"/>
            <a:ext cx="319788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8" name="Shape 448"/>
          <p:cNvSpPr/>
          <p:nvPr/>
        </p:nvSpPr>
        <p:spPr>
          <a:xfrm>
            <a:off x="3520440" y="2595240"/>
            <a:ext cx="534672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" name="Shape 449"/>
          <p:cNvSpPr/>
          <p:nvPr/>
        </p:nvSpPr>
        <p:spPr>
          <a:xfrm>
            <a:off x="347400" y="2668320"/>
            <a:ext cx="180360" cy="18036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" name="Text 410"/>
          <p:cNvSpPr/>
          <p:nvPr/>
        </p:nvSpPr>
        <p:spPr>
          <a:xfrm>
            <a:off x="576000" y="259524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{ ... }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1" name="Text 411"/>
          <p:cNvSpPr/>
          <p:nvPr/>
        </p:nvSpPr>
        <p:spPr>
          <a:xfrm>
            <a:off x="3584520" y="259524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object (sous-champs dans properties)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2" name="Shape 450"/>
          <p:cNvSpPr/>
          <p:nvPr/>
        </p:nvSpPr>
        <p:spPr>
          <a:xfrm>
            <a:off x="274320" y="2933640"/>
            <a:ext cx="319788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3" name="Shape 451"/>
          <p:cNvSpPr/>
          <p:nvPr/>
        </p:nvSpPr>
        <p:spPr>
          <a:xfrm>
            <a:off x="3520440" y="2933640"/>
            <a:ext cx="534672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" name="Shape 452"/>
          <p:cNvSpPr/>
          <p:nvPr/>
        </p:nvSpPr>
        <p:spPr>
          <a:xfrm>
            <a:off x="347400" y="3006720"/>
            <a:ext cx="180360" cy="180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5" name="Text 412"/>
          <p:cNvSpPr/>
          <p:nvPr/>
        </p:nvSpPr>
        <p:spPr>
          <a:xfrm>
            <a:off x="576000" y="293364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[ ... ]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" name="Text 413"/>
          <p:cNvSpPr/>
          <p:nvPr/>
        </p:nvSpPr>
        <p:spPr>
          <a:xfrm>
            <a:off x="3584520" y="293364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Dépend du type de la première valeur non-nulle du tableau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7" name="Shape 453"/>
          <p:cNvSpPr/>
          <p:nvPr/>
        </p:nvSpPr>
        <p:spPr>
          <a:xfrm>
            <a:off x="274320" y="3272040"/>
            <a:ext cx="319788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8" name="Shape 454"/>
          <p:cNvSpPr/>
          <p:nvPr/>
        </p:nvSpPr>
        <p:spPr>
          <a:xfrm>
            <a:off x="3520440" y="3272040"/>
            <a:ext cx="534672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9" name="Shape 455"/>
          <p:cNvSpPr/>
          <p:nvPr/>
        </p:nvSpPr>
        <p:spPr>
          <a:xfrm>
            <a:off x="347400" y="3345120"/>
            <a:ext cx="180360" cy="1803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" name="Text 414"/>
          <p:cNvSpPr/>
          <p:nvPr/>
        </p:nvSpPr>
        <p:spPr>
          <a:xfrm>
            <a:off x="576000" y="327204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"2024-01-15"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1" name="Text 415"/>
          <p:cNvSpPr/>
          <p:nvPr/>
        </p:nvSpPr>
        <p:spPr>
          <a:xfrm>
            <a:off x="3584520" y="327204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date (si le format correspond aux formats configurés)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" name="Shape 456"/>
          <p:cNvSpPr/>
          <p:nvPr/>
        </p:nvSpPr>
        <p:spPr>
          <a:xfrm>
            <a:off x="274320" y="3610080"/>
            <a:ext cx="319788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3" name="Shape 457"/>
          <p:cNvSpPr/>
          <p:nvPr/>
        </p:nvSpPr>
        <p:spPr>
          <a:xfrm>
            <a:off x="3520440" y="3610080"/>
            <a:ext cx="5346720" cy="335880"/>
          </a:xfrm>
          <a:prstGeom prst="rect">
            <a:avLst/>
          </a:prstGeom>
          <a:solidFill>
            <a:srgbClr val="f5f9fa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4" name="Shape 458"/>
          <p:cNvSpPr/>
          <p:nvPr/>
        </p:nvSpPr>
        <p:spPr>
          <a:xfrm>
            <a:off x="347400" y="3683520"/>
            <a:ext cx="180360" cy="1803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5" name="Text 416"/>
          <p:cNvSpPr/>
          <p:nvPr/>
        </p:nvSpPr>
        <p:spPr>
          <a:xfrm>
            <a:off x="576000" y="361008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"42" / "3.14"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6" name="Text 417"/>
          <p:cNvSpPr/>
          <p:nvPr/>
        </p:nvSpPr>
        <p:spPr>
          <a:xfrm>
            <a:off x="3584520" y="361008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long ou float (si numeric_detection: true)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" name="Shape 459"/>
          <p:cNvSpPr/>
          <p:nvPr/>
        </p:nvSpPr>
        <p:spPr>
          <a:xfrm>
            <a:off x="274320" y="3948480"/>
            <a:ext cx="319788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" name="Shape 460"/>
          <p:cNvSpPr/>
          <p:nvPr/>
        </p:nvSpPr>
        <p:spPr>
          <a:xfrm>
            <a:off x="3520440" y="3948480"/>
            <a:ext cx="5346720" cy="33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" name="Shape 461"/>
          <p:cNvSpPr/>
          <p:nvPr/>
        </p:nvSpPr>
        <p:spPr>
          <a:xfrm>
            <a:off x="347400" y="4057560"/>
            <a:ext cx="180360" cy="180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0" name="Text 418"/>
          <p:cNvSpPr/>
          <p:nvPr/>
        </p:nvSpPr>
        <p:spPr>
          <a:xfrm>
            <a:off x="576000" y="3948480"/>
            <a:ext cx="28321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1a2b2f"/>
                </a:solidFill>
                <a:latin typeface="Consolas"/>
                <a:ea typeface="Consolas"/>
              </a:rPr>
              <a:t>"Paris"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Text 419"/>
          <p:cNvSpPr/>
          <p:nvPr/>
        </p:nvSpPr>
        <p:spPr>
          <a:xfrm>
            <a:off x="3584520" y="3948480"/>
            <a:ext cx="520956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text (analyseur standard) + sous-champ keyword (.raw)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2" name="Shape 462"/>
          <p:cNvSpPr/>
          <p:nvPr/>
        </p:nvSpPr>
        <p:spPr>
          <a:xfrm>
            <a:off x="274320" y="4310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3" name="Text 420"/>
          <p:cNvSpPr/>
          <p:nvPr/>
        </p:nvSpPr>
        <p:spPr>
          <a:xfrm>
            <a:off x="384120" y="4238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💡  </a:t>
            </a: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Configurer dynamic_date_formats et numeric_detection: true pour adapter la détection automatique à votre format de données.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" name="Shape 510"/>
          <p:cNvSpPr/>
          <p:nvPr/>
        </p:nvSpPr>
        <p:spPr>
          <a:xfrm>
            <a:off x="274320" y="475308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5" name="Shape 511"/>
          <p:cNvSpPr/>
          <p:nvPr/>
        </p:nvSpPr>
        <p:spPr>
          <a:xfrm>
            <a:off x="274320" y="475308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6" name="Text 399"/>
          <p:cNvSpPr/>
          <p:nvPr/>
        </p:nvSpPr>
        <p:spPr>
          <a:xfrm>
            <a:off x="457200" y="475308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576b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a7500"/>
                </a:solidFill>
                <a:latin typeface="Calibri"/>
                <a:ea typeface="Calibri"/>
              </a:rPr>
              <a:t>Atelier 3.2 — Mapping dynamique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Shape 478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8" name="Shape 479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9" name="Text 440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Création d'index — settings, mappings, aliases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" name="Text 442"/>
          <p:cNvSpPr/>
          <p:nvPr/>
        </p:nvSpPr>
        <p:spPr>
          <a:xfrm>
            <a:off x="320040" y="914400"/>
            <a:ext cx="85014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</a:rPr>
              <a:t>Lors de la création d'un index, 3 blocs peuvent être configurés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" name="Shape 481"/>
          <p:cNvSpPr/>
          <p:nvPr/>
        </p:nvSpPr>
        <p:spPr>
          <a:xfrm>
            <a:off x="457200" y="1353240"/>
            <a:ext cx="2557800" cy="5461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2" name="Text 443"/>
          <p:cNvSpPr/>
          <p:nvPr/>
        </p:nvSpPr>
        <p:spPr>
          <a:xfrm>
            <a:off x="457200" y="135324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aliases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" name="Text 444"/>
          <p:cNvSpPr/>
          <p:nvPr/>
        </p:nvSpPr>
        <p:spPr>
          <a:xfrm>
            <a:off x="457200" y="1673280"/>
            <a:ext cx="25578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Noms secondaires pour l'index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" name="Shape 482"/>
          <p:cNvSpPr/>
          <p:nvPr/>
        </p:nvSpPr>
        <p:spPr>
          <a:xfrm>
            <a:off x="3383280" y="1353240"/>
            <a:ext cx="2557800" cy="546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5" name="Text 445"/>
          <p:cNvSpPr/>
          <p:nvPr/>
        </p:nvSpPr>
        <p:spPr>
          <a:xfrm>
            <a:off x="3383280" y="135324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settings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6" name="Text 446"/>
          <p:cNvSpPr/>
          <p:nvPr/>
        </p:nvSpPr>
        <p:spPr>
          <a:xfrm>
            <a:off x="3383280" y="1673280"/>
            <a:ext cx="25578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Shards, répliques, analyzers...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" name="Shape 483"/>
          <p:cNvSpPr/>
          <p:nvPr/>
        </p:nvSpPr>
        <p:spPr>
          <a:xfrm>
            <a:off x="6309360" y="1353240"/>
            <a:ext cx="2557800" cy="546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" name="Text 447"/>
          <p:cNvSpPr/>
          <p:nvPr/>
        </p:nvSpPr>
        <p:spPr>
          <a:xfrm>
            <a:off x="6309360" y="1353240"/>
            <a:ext cx="25578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mappings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" name="Text 448"/>
          <p:cNvSpPr/>
          <p:nvPr/>
        </p:nvSpPr>
        <p:spPr>
          <a:xfrm>
            <a:off x="6309360" y="1673280"/>
            <a:ext cx="25578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Types de champs, analyzers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0" name="Shape 484"/>
          <p:cNvSpPr/>
          <p:nvPr/>
        </p:nvSpPr>
        <p:spPr>
          <a:xfrm>
            <a:off x="274320" y="1993320"/>
            <a:ext cx="8592840" cy="253296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1" name="Text 449"/>
          <p:cNvSpPr/>
          <p:nvPr/>
        </p:nvSpPr>
        <p:spPr>
          <a:xfrm>
            <a:off x="384120" y="2066400"/>
            <a:ext cx="8373240" cy="22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PUT /mon_index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"aliases":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"logs": {},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"logs_recent": { "filter": { "range": { "date": { "gte": "now-7d" }}}}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"settings":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"number_of_shards":   3, "number_of_replicas": 1, "refresh_interval":   "1s",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"analysis": { analyzer":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"mon_fr": { "type": "custom", "tokenizer": "standard", "filter": ["french"]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 }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"mappings":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"dynamic": "strict",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"titre":     { "type": "text",    "analyzer": "mon_fr"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"categorie": { "type": "keyword"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"date":      { "type": "date",    "format": "yyyy-MM-dd"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"score":     { "type": "float",   "index": false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 }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" name="Shape 485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3" name="Text 450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⚠️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number_of_shards est immuable après création. Anticiper la volumétrie ! number_of_replicas peut être modifié à tout moment.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Shape 391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5" name="Shape 392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6" name="Text 357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Mapping personnalisé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7" name="Text 358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8" name="Text 359"/>
          <p:cNvSpPr/>
          <p:nvPr/>
        </p:nvSpPr>
        <p:spPr>
          <a:xfrm>
            <a:off x="320040" y="914400"/>
            <a:ext cx="8501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50" spc="-1" strike="noStrike">
                <a:solidFill>
                  <a:srgbClr val="1a2b2f"/>
                </a:solidFill>
                <a:latin typeface="Calibri"/>
              </a:rPr>
              <a:t>Un mapping personnalisé permet de contrôler précisément la structure et le comportement de chaque champ :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9" name="Shape 394"/>
          <p:cNvSpPr/>
          <p:nvPr/>
        </p:nvSpPr>
        <p:spPr>
          <a:xfrm>
            <a:off x="274320" y="1463040"/>
            <a:ext cx="269496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0" name="Shape 395"/>
          <p:cNvSpPr/>
          <p:nvPr/>
        </p:nvSpPr>
        <p:spPr>
          <a:xfrm>
            <a:off x="274320" y="1463040"/>
            <a:ext cx="70560" cy="1140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1" name="Text 360"/>
          <p:cNvSpPr/>
          <p:nvPr/>
        </p:nvSpPr>
        <p:spPr>
          <a:xfrm>
            <a:off x="438840" y="153612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🎯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Type de champ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" name="Text 361"/>
          <p:cNvSpPr/>
          <p:nvPr/>
        </p:nvSpPr>
        <p:spPr>
          <a:xfrm>
            <a:off x="438840" y="1901880"/>
            <a:ext cx="2466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7480"/>
                </a:solidFill>
                <a:latin typeface="Calibri"/>
              </a:rPr>
              <a:t>Forcer geo_point, ip, date avec format custom, nested...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" name="Shape 396"/>
          <p:cNvSpPr/>
          <p:nvPr/>
        </p:nvSpPr>
        <p:spPr>
          <a:xfrm>
            <a:off x="3246120" y="1463040"/>
            <a:ext cx="269496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4" name="Shape 397"/>
          <p:cNvSpPr/>
          <p:nvPr/>
        </p:nvSpPr>
        <p:spPr>
          <a:xfrm>
            <a:off x="3246120" y="1463040"/>
            <a:ext cx="70560" cy="1140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5" name="Text 362"/>
          <p:cNvSpPr/>
          <p:nvPr/>
        </p:nvSpPr>
        <p:spPr>
          <a:xfrm>
            <a:off x="3410640" y="153612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🔍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Analyseur spécifique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" name="Text 363"/>
          <p:cNvSpPr/>
          <p:nvPr/>
        </p:nvSpPr>
        <p:spPr>
          <a:xfrm>
            <a:off x="3410640" y="1901880"/>
            <a:ext cx="2466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4a7480"/>
                </a:solidFill>
                <a:latin typeface="Calibri"/>
              </a:rPr>
              <a:t>Assigner french, english ou un analyseur custom à un champ text.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" name="Shape 398"/>
          <p:cNvSpPr/>
          <p:nvPr/>
        </p:nvSpPr>
        <p:spPr>
          <a:xfrm>
            <a:off x="6217920" y="1463040"/>
            <a:ext cx="269496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" name="Shape 399"/>
          <p:cNvSpPr/>
          <p:nvPr/>
        </p:nvSpPr>
        <p:spPr>
          <a:xfrm>
            <a:off x="6217920" y="1463040"/>
            <a:ext cx="70560" cy="1140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9" name="Text 364"/>
          <p:cNvSpPr/>
          <p:nvPr/>
        </p:nvSpPr>
        <p:spPr>
          <a:xfrm>
            <a:off x="6382440" y="153612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🔑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Exact vs Full-text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" name="Text 365"/>
          <p:cNvSpPr/>
          <p:nvPr/>
        </p:nvSpPr>
        <p:spPr>
          <a:xfrm>
            <a:off x="6382440" y="1901880"/>
            <a:ext cx="2466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4a7480"/>
                </a:solidFill>
                <a:latin typeface="Calibri"/>
              </a:rPr>
              <a:t>Décider si un champ est keyword (exact) ou text (analysé).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" name="Shape 400"/>
          <p:cNvSpPr/>
          <p:nvPr/>
        </p:nvSpPr>
        <p:spPr>
          <a:xfrm>
            <a:off x="274320" y="2834640"/>
            <a:ext cx="269496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2" name="Shape 401"/>
          <p:cNvSpPr/>
          <p:nvPr/>
        </p:nvSpPr>
        <p:spPr>
          <a:xfrm>
            <a:off x="274320" y="2834640"/>
            <a:ext cx="70560" cy="1140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3" name="Text 366"/>
          <p:cNvSpPr/>
          <p:nvPr/>
        </p:nvSpPr>
        <p:spPr>
          <a:xfrm>
            <a:off x="438840" y="290772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📅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Format de date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" name="Text 367"/>
          <p:cNvSpPr/>
          <p:nvPr/>
        </p:nvSpPr>
        <p:spPr>
          <a:xfrm>
            <a:off x="438840" y="3273480"/>
            <a:ext cx="2466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4a7480"/>
                </a:solidFill>
                <a:latin typeface="Calibri"/>
              </a:rPr>
              <a:t>Spécifier le format attendu : yyyy-MM-dd, epoch_millis, etc.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Shape 402"/>
          <p:cNvSpPr/>
          <p:nvPr/>
        </p:nvSpPr>
        <p:spPr>
          <a:xfrm>
            <a:off x="3246120" y="2834640"/>
            <a:ext cx="269496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6" name="Shape 403"/>
          <p:cNvSpPr/>
          <p:nvPr/>
        </p:nvSpPr>
        <p:spPr>
          <a:xfrm>
            <a:off x="3246120" y="2834640"/>
            <a:ext cx="70560" cy="1140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7" name="Text 368"/>
          <p:cNvSpPr/>
          <p:nvPr/>
        </p:nvSpPr>
        <p:spPr>
          <a:xfrm>
            <a:off x="3410640" y="290772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🚫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Désactiver l'index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8" name="Text 369"/>
          <p:cNvSpPr/>
          <p:nvPr/>
        </p:nvSpPr>
        <p:spPr>
          <a:xfrm>
            <a:off x="3410640" y="3273480"/>
            <a:ext cx="2466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4a7480"/>
                </a:solidFill>
                <a:latin typeface="Calibri"/>
              </a:rPr>
              <a:t>"index": false pour stocker sans permettre la recherche.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" name="Shape 404"/>
          <p:cNvSpPr/>
          <p:nvPr/>
        </p:nvSpPr>
        <p:spPr>
          <a:xfrm>
            <a:off x="6217920" y="2834640"/>
            <a:ext cx="2694960" cy="11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0" name="Shape 405"/>
          <p:cNvSpPr/>
          <p:nvPr/>
        </p:nvSpPr>
        <p:spPr>
          <a:xfrm>
            <a:off x="6217920" y="2834640"/>
            <a:ext cx="70560" cy="1140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1" name="Text 370"/>
          <p:cNvSpPr/>
          <p:nvPr/>
        </p:nvSpPr>
        <p:spPr>
          <a:xfrm>
            <a:off x="6382440" y="2907720"/>
            <a:ext cx="24663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⚙️  </a:t>
            </a:r>
            <a:r>
              <a:rPr b="1" lang="en-US" sz="1100" spc="-1" strike="noStrike">
                <a:solidFill>
                  <a:srgbClr val="00576b"/>
                </a:solidFill>
                <a:latin typeface="Calibri"/>
              </a:rPr>
              <a:t>Multi-fields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Text 371"/>
          <p:cNvSpPr/>
          <p:nvPr/>
        </p:nvSpPr>
        <p:spPr>
          <a:xfrm>
            <a:off x="6382440" y="3273480"/>
            <a:ext cx="246636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950" spc="-1" strike="noStrike">
                <a:solidFill>
                  <a:srgbClr val="4a7480"/>
                </a:solidFill>
                <a:latin typeface="Calibri"/>
              </a:rPr>
              <a:t>Un même champ avec plusieurs types (text + keyword + analyzer dédié).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3" name="Shape 406"/>
          <p:cNvSpPr/>
          <p:nvPr/>
        </p:nvSpPr>
        <p:spPr>
          <a:xfrm>
            <a:off x="274320" y="4526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4" name="Text 372"/>
          <p:cNvSpPr/>
          <p:nvPr/>
        </p:nvSpPr>
        <p:spPr>
          <a:xfrm>
            <a:off x="384120" y="4526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⚠️  </a:t>
            </a: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Le mapping d'un champ existant ne peut </a:t>
            </a:r>
            <a:r>
              <a:rPr b="1" i="1" lang="fr-FR" sz="900" spc="-1" strike="noStrike">
                <a:solidFill>
                  <a:srgbClr val="00576b"/>
                </a:solidFill>
                <a:latin typeface="Calibri"/>
              </a:rPr>
              <a:t>PAS</a:t>
            </a:r>
            <a:r>
              <a:rPr b="0" i="1" lang="fr-FR" sz="900" spc="-1" strike="noStrike">
                <a:solidFill>
                  <a:srgbClr val="00576b"/>
                </a:solidFill>
                <a:latin typeface="Calibri"/>
              </a:rPr>
              <a:t> être modifié. Seul l'ajout de nouveaux champs est possible via PUT /index/_mapping.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Shape 407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6" name="Shape 408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7" name="Text 373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Spécification du mapping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8" name="Text 374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9" name="Text 375"/>
          <p:cNvSpPr/>
          <p:nvPr/>
        </p:nvSpPr>
        <p:spPr>
          <a:xfrm>
            <a:off x="320040" y="914400"/>
            <a:ext cx="8501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50" spc="-1" strike="noStrike">
                <a:solidFill>
                  <a:srgbClr val="1a2b2f"/>
                </a:solidFill>
                <a:latin typeface="Calibri"/>
              </a:rPr>
              <a:t>On peut spécifier le mapping lors de la création d'un index, ou lors de l'ajout d'un nouveau champ dans un index existant.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0" name="Shape 410"/>
          <p:cNvSpPr/>
          <p:nvPr/>
        </p:nvSpPr>
        <p:spPr>
          <a:xfrm>
            <a:off x="274320" y="1417320"/>
            <a:ext cx="4066560" cy="29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1" name="Shape 411"/>
          <p:cNvSpPr/>
          <p:nvPr/>
        </p:nvSpPr>
        <p:spPr>
          <a:xfrm>
            <a:off x="274320" y="1417320"/>
            <a:ext cx="4066560" cy="34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2" name="Text 376"/>
          <p:cNvSpPr/>
          <p:nvPr/>
        </p:nvSpPr>
        <p:spPr>
          <a:xfrm>
            <a:off x="347400" y="141732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Création de l'index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3" name="Shape 412"/>
          <p:cNvSpPr/>
          <p:nvPr/>
        </p:nvSpPr>
        <p:spPr>
          <a:xfrm>
            <a:off x="347400" y="1828800"/>
            <a:ext cx="3883680" cy="242064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4" name="Text 377"/>
          <p:cNvSpPr/>
          <p:nvPr/>
        </p:nvSpPr>
        <p:spPr>
          <a:xfrm>
            <a:off x="457200" y="1901880"/>
            <a:ext cx="3664080" cy="22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PUT /gb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"mappings":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"tweet":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"type":     "text",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"analyzer": "french"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"date":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"type":   "date",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"format": "yyyy-MM-dd"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"name":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"type": "keyword"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"user_id":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"type": "long"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5" name="Shape 413"/>
          <p:cNvSpPr/>
          <p:nvPr/>
        </p:nvSpPr>
        <p:spPr>
          <a:xfrm>
            <a:off x="4800600" y="1417320"/>
            <a:ext cx="4066560" cy="29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Shape 414"/>
          <p:cNvSpPr/>
          <p:nvPr/>
        </p:nvSpPr>
        <p:spPr>
          <a:xfrm>
            <a:off x="4800600" y="1417320"/>
            <a:ext cx="4066560" cy="34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7" name="Text 378"/>
          <p:cNvSpPr/>
          <p:nvPr/>
        </p:nvSpPr>
        <p:spPr>
          <a:xfrm>
            <a:off x="4873680" y="1417320"/>
            <a:ext cx="392940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Ajout sur index existant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8" name="Shape 415"/>
          <p:cNvSpPr/>
          <p:nvPr/>
        </p:nvSpPr>
        <p:spPr>
          <a:xfrm>
            <a:off x="4873680" y="1828800"/>
            <a:ext cx="3883680" cy="164340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9" name="Text 379"/>
          <p:cNvSpPr/>
          <p:nvPr/>
        </p:nvSpPr>
        <p:spPr>
          <a:xfrm>
            <a:off x="4983480" y="1901880"/>
            <a:ext cx="3664080" cy="149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PUT /gb/_mapping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"tag":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"type":  "keyword"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"score": {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"type":  "float",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"index": false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0" name="Shape 416"/>
          <p:cNvSpPr/>
          <p:nvPr/>
        </p:nvSpPr>
        <p:spPr>
          <a:xfrm>
            <a:off x="4873680" y="3547800"/>
            <a:ext cx="3883680" cy="8204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1" name="Text 380"/>
          <p:cNvSpPr/>
          <p:nvPr/>
        </p:nvSpPr>
        <p:spPr>
          <a:xfrm>
            <a:off x="4956120" y="3566160"/>
            <a:ext cx="37008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ef4444"/>
                </a:solidFill>
                <a:latin typeface="Calibri"/>
              </a:rPr>
              <a:t>⚠️  </a:t>
            </a:r>
            <a:r>
              <a:rPr b="1" lang="en-US" sz="950" spc="-1" strike="noStrike">
                <a:solidFill>
                  <a:srgbClr val="ef4444"/>
                </a:solidFill>
                <a:latin typeface="Calibri"/>
              </a:rPr>
              <a:t>Champ déjà indexé = immuable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1a2b2f"/>
                </a:solidFill>
                <a:latin typeface="Calibri"/>
              </a:rPr>
              <a:t>Pour modifier un type : créer un nouvel index + </a:t>
            </a:r>
            <a:r>
              <a:rPr b="0" lang="en-US" sz="950" spc="-1" strike="noStrike">
                <a:solidFill>
                  <a:srgbClr val="00576b"/>
                </a:solidFill>
                <a:latin typeface="Consolas"/>
                <a:ea typeface="Consolas"/>
              </a:rPr>
              <a:t>POST /_reindex</a:t>
            </a:r>
            <a:r>
              <a:rPr b="0" lang="en-US" sz="950" spc="-1" strike="noStrike">
                <a:solidFill>
                  <a:srgbClr val="1a2b2f"/>
                </a:solidFill>
                <a:latin typeface="Calibri"/>
                <a:ea typeface="Consolas"/>
              </a:rPr>
              <a:t>, puis basculer l'alias.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" name="Shape 512"/>
          <p:cNvSpPr/>
          <p:nvPr/>
        </p:nvSpPr>
        <p:spPr>
          <a:xfrm>
            <a:off x="274320" y="475308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3" name="Shape 513"/>
          <p:cNvSpPr/>
          <p:nvPr/>
        </p:nvSpPr>
        <p:spPr>
          <a:xfrm>
            <a:off x="274320" y="475308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4" name="Text 477"/>
          <p:cNvSpPr/>
          <p:nvPr/>
        </p:nvSpPr>
        <p:spPr>
          <a:xfrm>
            <a:off x="457200" y="475308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a7500"/>
                </a:solidFill>
                <a:latin typeface="Calibri"/>
                <a:ea typeface="Calibri"/>
              </a:rPr>
              <a:t>✏️  </a:t>
            </a:r>
            <a:r>
              <a:rPr b="1" lang="en-US" sz="1300" spc="-1" strike="noStrike">
                <a:solidFill>
                  <a:srgbClr val="ea7500"/>
                </a:solidFill>
                <a:latin typeface="Calibri"/>
                <a:ea typeface="Calibri"/>
              </a:rPr>
              <a:t>Atelier 3.3 — Mapping explicite</a:t>
            </a:r>
            <a:endParaRPr b="0" lang="fr-FR" sz="1300" spc="-1" strike="noStrike">
              <a:solidFill>
                <a:srgbClr val="ea7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Shape 463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6" name="Shape 464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7" name="Text 421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Gabarits dynamiques — dynamic_templates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" name="Text 422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9" name="Text 423"/>
          <p:cNvSpPr/>
          <p:nvPr/>
        </p:nvSpPr>
        <p:spPr>
          <a:xfrm>
            <a:off x="320040" y="914400"/>
            <a:ext cx="850140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150" spc="-1" strike="noStrike">
                <a:solidFill>
                  <a:srgbClr val="1a2b2f"/>
                </a:solidFill>
                <a:latin typeface="Calibri"/>
              </a:rPr>
              <a:t>Les </a:t>
            </a:r>
            <a:r>
              <a:rPr b="1" lang="fr-FR" sz="1150" spc="-1" strike="noStrike">
                <a:solidFill>
                  <a:srgbClr val="007a8a"/>
                </a:solidFill>
                <a:latin typeface="Consolas"/>
                <a:ea typeface="Consolas"/>
              </a:rPr>
              <a:t>dynamic_templates</a:t>
            </a:r>
            <a:r>
              <a:rPr b="0" lang="fr-FR" sz="1150" spc="-1" strike="noStrike">
                <a:solidFill>
                  <a:srgbClr val="1a2b2f"/>
                </a:solidFill>
                <a:latin typeface="Calibri"/>
                <a:ea typeface="Consolas"/>
              </a:rPr>
              <a:t> définissent des règles de mapping personnalisées appliquées automatiquement aux nouveaux champs détectés. Les règles sont traitées dans l'ordre — la première qui correspond est appliquée.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0" name="Shape 466"/>
          <p:cNvSpPr/>
          <p:nvPr/>
        </p:nvSpPr>
        <p:spPr>
          <a:xfrm>
            <a:off x="274320" y="1508760"/>
            <a:ext cx="2832120" cy="28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" name="Shape 467"/>
          <p:cNvSpPr/>
          <p:nvPr/>
        </p:nvSpPr>
        <p:spPr>
          <a:xfrm>
            <a:off x="274320" y="1508760"/>
            <a:ext cx="2832120" cy="3632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2" name="Text 424"/>
          <p:cNvSpPr/>
          <p:nvPr/>
        </p:nvSpPr>
        <p:spPr>
          <a:xfrm>
            <a:off x="347400" y="1508760"/>
            <a:ext cx="26949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Critères de matching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3" name="Shape 468"/>
          <p:cNvSpPr/>
          <p:nvPr/>
        </p:nvSpPr>
        <p:spPr>
          <a:xfrm>
            <a:off x="347400" y="1947600"/>
            <a:ext cx="1460520" cy="2901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4" name="Text 425"/>
          <p:cNvSpPr/>
          <p:nvPr/>
        </p:nvSpPr>
        <p:spPr>
          <a:xfrm>
            <a:off x="347400" y="194760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8d4dc"/>
                </a:solidFill>
                <a:latin typeface="Consolas"/>
                <a:ea typeface="Consolas"/>
              </a:rPr>
              <a:t>match_mapping_type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5" name="Text 426"/>
          <p:cNvSpPr/>
          <p:nvPr/>
        </p:nvSpPr>
        <p:spPr>
          <a:xfrm>
            <a:off x="1847160" y="1947600"/>
            <a:ext cx="11862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b2f"/>
                </a:solidFill>
                <a:latin typeface="Calibri"/>
              </a:rPr>
              <a:t>Type JSON détecté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" name="Shape 469"/>
          <p:cNvSpPr/>
          <p:nvPr/>
        </p:nvSpPr>
        <p:spPr>
          <a:xfrm>
            <a:off x="347400" y="2304360"/>
            <a:ext cx="1460520" cy="2901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7" name="Text 427"/>
          <p:cNvSpPr/>
          <p:nvPr/>
        </p:nvSpPr>
        <p:spPr>
          <a:xfrm>
            <a:off x="347400" y="230436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8d4dc"/>
                </a:solidFill>
                <a:latin typeface="Consolas"/>
                <a:ea typeface="Consolas"/>
              </a:rPr>
              <a:t>match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8" name="Text 428"/>
          <p:cNvSpPr/>
          <p:nvPr/>
        </p:nvSpPr>
        <p:spPr>
          <a:xfrm>
            <a:off x="1847160" y="2304360"/>
            <a:ext cx="11862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b2f"/>
                </a:solidFill>
                <a:latin typeface="Calibri"/>
              </a:rPr>
              <a:t>Pattern sur le nom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" name="Shape 470"/>
          <p:cNvSpPr/>
          <p:nvPr/>
        </p:nvSpPr>
        <p:spPr>
          <a:xfrm>
            <a:off x="347400" y="2660760"/>
            <a:ext cx="1460520" cy="2901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0" name="Text 429"/>
          <p:cNvSpPr/>
          <p:nvPr/>
        </p:nvSpPr>
        <p:spPr>
          <a:xfrm>
            <a:off x="347400" y="266076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8d4dc"/>
                </a:solidFill>
                <a:latin typeface="Consolas"/>
                <a:ea typeface="Consolas"/>
              </a:rPr>
              <a:t>unmatch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1" name="Text 430"/>
          <p:cNvSpPr/>
          <p:nvPr/>
        </p:nvSpPr>
        <p:spPr>
          <a:xfrm>
            <a:off x="1847160" y="2660760"/>
            <a:ext cx="11862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b2f"/>
                </a:solidFill>
                <a:latin typeface="Calibri"/>
              </a:rPr>
              <a:t>Exclusion de nom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2" name="Shape 471"/>
          <p:cNvSpPr/>
          <p:nvPr/>
        </p:nvSpPr>
        <p:spPr>
          <a:xfrm>
            <a:off x="347400" y="3017520"/>
            <a:ext cx="1460520" cy="2901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3" name="Text 431"/>
          <p:cNvSpPr/>
          <p:nvPr/>
        </p:nvSpPr>
        <p:spPr>
          <a:xfrm>
            <a:off x="347400" y="301752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8d4dc"/>
                </a:solidFill>
                <a:latin typeface="Consolas"/>
                <a:ea typeface="Consolas"/>
              </a:rPr>
              <a:t>match_pattern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4" name="Text 432"/>
          <p:cNvSpPr/>
          <p:nvPr/>
        </p:nvSpPr>
        <p:spPr>
          <a:xfrm>
            <a:off x="1847160" y="3017520"/>
            <a:ext cx="11862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b2f"/>
                </a:solidFill>
                <a:latin typeface="Calibri"/>
              </a:rPr>
              <a:t>Regex sur le nom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5" name="Shape 472"/>
          <p:cNvSpPr/>
          <p:nvPr/>
        </p:nvSpPr>
        <p:spPr>
          <a:xfrm>
            <a:off x="347400" y="3374280"/>
            <a:ext cx="1460520" cy="2901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" name="Text 433"/>
          <p:cNvSpPr/>
          <p:nvPr/>
        </p:nvSpPr>
        <p:spPr>
          <a:xfrm>
            <a:off x="347400" y="337428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8d4dc"/>
                </a:solidFill>
                <a:latin typeface="Consolas"/>
                <a:ea typeface="Consolas"/>
              </a:rPr>
              <a:t>path_match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7" name="Text 434"/>
          <p:cNvSpPr/>
          <p:nvPr/>
        </p:nvSpPr>
        <p:spPr>
          <a:xfrm>
            <a:off x="1847160" y="3374280"/>
            <a:ext cx="11862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b2f"/>
                </a:solidFill>
                <a:latin typeface="Calibri"/>
              </a:rPr>
              <a:t>Chemin complet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" name="Shape 473"/>
          <p:cNvSpPr/>
          <p:nvPr/>
        </p:nvSpPr>
        <p:spPr>
          <a:xfrm>
            <a:off x="347400" y="3730680"/>
            <a:ext cx="1460520" cy="290160"/>
          </a:xfrm>
          <a:prstGeom prst="rect">
            <a:avLst/>
          </a:prstGeom>
          <a:solidFill>
            <a:srgbClr val="1a2b2f"/>
          </a:solidFill>
          <a:ln w="12700">
            <a:solidFill>
              <a:srgbClr val="1a2b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9" name="Text 435"/>
          <p:cNvSpPr/>
          <p:nvPr/>
        </p:nvSpPr>
        <p:spPr>
          <a:xfrm>
            <a:off x="347400" y="3730680"/>
            <a:ext cx="146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a8d4dc"/>
                </a:solidFill>
                <a:latin typeface="Consolas"/>
                <a:ea typeface="Consolas"/>
              </a:rPr>
              <a:t>path_unmatch</a:t>
            </a:r>
            <a:endParaRPr b="0" lang="fr-FR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0" name="Text 436"/>
          <p:cNvSpPr/>
          <p:nvPr/>
        </p:nvSpPr>
        <p:spPr>
          <a:xfrm>
            <a:off x="1847160" y="3730680"/>
            <a:ext cx="118620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1a2b2f"/>
                </a:solidFill>
                <a:latin typeface="Calibri"/>
              </a:rPr>
              <a:t>Exclusion de chemin</a:t>
            </a:r>
            <a:endParaRPr b="0" lang="fr-FR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1" name="Shape 474"/>
          <p:cNvSpPr/>
          <p:nvPr/>
        </p:nvSpPr>
        <p:spPr>
          <a:xfrm>
            <a:off x="3337560" y="1508760"/>
            <a:ext cx="5483880" cy="28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2" name="Shape 475"/>
          <p:cNvSpPr/>
          <p:nvPr/>
        </p:nvSpPr>
        <p:spPr>
          <a:xfrm>
            <a:off x="3337560" y="1508760"/>
            <a:ext cx="5483880" cy="363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3" name="Text 437"/>
          <p:cNvSpPr/>
          <p:nvPr/>
        </p:nvSpPr>
        <p:spPr>
          <a:xfrm>
            <a:off x="3410640" y="1508760"/>
            <a:ext cx="5346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Exemple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" name="Shape 476"/>
          <p:cNvSpPr/>
          <p:nvPr/>
        </p:nvSpPr>
        <p:spPr>
          <a:xfrm>
            <a:off x="3410640" y="1938600"/>
            <a:ext cx="5301000" cy="238140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5" name="Text 438"/>
          <p:cNvSpPr/>
          <p:nvPr/>
        </p:nvSpPr>
        <p:spPr>
          <a:xfrm>
            <a:off x="3520440" y="2011680"/>
            <a:ext cx="5081400" cy="21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PUT my_index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"mappings": 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"dynamic_templates": [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"integers": 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"match_mapping_type": "long",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"mapping": { "type": "integer" 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"strings": 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"match_mapping_type": "string",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"mapping": 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"type": "text",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"fields": {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"raw": { "type": "keyword", "ignore_above": 256 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]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0" lang="fr-FR" sz="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6" name="Shape 477"/>
          <p:cNvSpPr/>
          <p:nvPr/>
        </p:nvSpPr>
        <p:spPr>
          <a:xfrm>
            <a:off x="274320" y="4382280"/>
            <a:ext cx="8592840" cy="381600"/>
          </a:xfrm>
          <a:prstGeom prst="rect">
            <a:avLst/>
          </a:prstGeom>
          <a:solidFill>
            <a:srgbClr val="f5f9fa"/>
          </a:solidFill>
          <a:ln w="12700">
            <a:solidFill>
              <a:srgbClr val="a8d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7" name="Text 439"/>
          <p:cNvSpPr/>
          <p:nvPr/>
        </p:nvSpPr>
        <p:spPr>
          <a:xfrm>
            <a:off x="384120" y="4382280"/>
            <a:ext cx="8409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💡  </a:t>
            </a:r>
            <a:r>
              <a:rPr b="0" i="1" lang="en-US" sz="900" spc="-1" strike="noStrike">
                <a:solidFill>
                  <a:srgbClr val="00576b"/>
                </a:solidFill>
                <a:latin typeface="Calibri"/>
              </a:rPr>
              <a:t>Les gabarits d'index (index templates) définissent en général des dynamic_templates réutilisables sur tous les index du pattern.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8" name="Shape 514"/>
          <p:cNvSpPr/>
          <p:nvPr/>
        </p:nvSpPr>
        <p:spPr>
          <a:xfrm>
            <a:off x="274320" y="4753080"/>
            <a:ext cx="8593560" cy="345600"/>
          </a:xfrm>
          <a:prstGeom prst="rect">
            <a:avLst/>
          </a:prstGeom>
          <a:solidFill>
            <a:srgbClr val="eaf4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" name="Shape 515"/>
          <p:cNvSpPr/>
          <p:nvPr/>
        </p:nvSpPr>
        <p:spPr>
          <a:xfrm>
            <a:off x="274320" y="4753080"/>
            <a:ext cx="62280" cy="345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0" name="Text 478"/>
          <p:cNvSpPr/>
          <p:nvPr/>
        </p:nvSpPr>
        <p:spPr>
          <a:xfrm>
            <a:off x="457200" y="4753080"/>
            <a:ext cx="82278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a7500"/>
                </a:solidFill>
                <a:latin typeface="Calibri"/>
                <a:ea typeface="Calibri"/>
              </a:rPr>
              <a:t>✏️  </a:t>
            </a:r>
            <a:r>
              <a:rPr b="1" lang="en-US" sz="1400" spc="-1" strike="noStrike">
                <a:solidFill>
                  <a:srgbClr val="ea7500"/>
                </a:solidFill>
                <a:latin typeface="Calibri"/>
                <a:ea typeface="Calibri"/>
              </a:rPr>
              <a:t>Atelier 3.4 — Dynamic templates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Shape 237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2" name="Text 2607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3" name="Text 2608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Gabarits d’index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4" name="Shape 238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5" name="Text 2609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Index template – Component template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" name="Shape 2300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7" name="Shape 2301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" name="Text 2610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Mapping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" name="Shape 2302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0" name="Text 2611"/>
          <p:cNvSpPr/>
          <p:nvPr/>
        </p:nvSpPr>
        <p:spPr>
          <a:xfrm>
            <a:off x="1404000" y="4546800"/>
            <a:ext cx="93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Types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1" name="Text 2612"/>
          <p:cNvSpPr/>
          <p:nvPr/>
        </p:nvSpPr>
        <p:spPr>
          <a:xfrm>
            <a:off x="3830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2" name="Shape 2303"/>
          <p:cNvSpPr/>
          <p:nvPr/>
        </p:nvSpPr>
        <p:spPr>
          <a:xfrm>
            <a:off x="4338000" y="4528440"/>
            <a:ext cx="182916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3" name="Text 2613"/>
          <p:cNvSpPr/>
          <p:nvPr/>
        </p:nvSpPr>
        <p:spPr>
          <a:xfrm>
            <a:off x="4239720" y="4546800"/>
            <a:ext cx="1988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Gabarits d’index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4" name="Text 2615"/>
          <p:cNvSpPr/>
          <p:nvPr/>
        </p:nvSpPr>
        <p:spPr>
          <a:xfrm>
            <a:off x="2088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Contrôle du mapping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5" name="Text 2617"/>
          <p:cNvSpPr/>
          <p:nvPr/>
        </p:nvSpPr>
        <p:spPr>
          <a:xfrm>
            <a:off x="6264000" y="4546800"/>
            <a:ext cx="18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Datastream et ILM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6" name="Text 2618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7" name="Text 2619"/>
          <p:cNvSpPr/>
          <p:nvPr/>
        </p:nvSpPr>
        <p:spPr>
          <a:xfrm>
            <a:off x="60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" name="Text 2620"/>
          <p:cNvSpPr/>
          <p:nvPr/>
        </p:nvSpPr>
        <p:spPr>
          <a:xfrm>
            <a:off x="1949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9" name="Text 2642"/>
          <p:cNvSpPr/>
          <p:nvPr/>
        </p:nvSpPr>
        <p:spPr>
          <a:xfrm>
            <a:off x="78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0" name="Text 2393"/>
          <p:cNvSpPr/>
          <p:nvPr/>
        </p:nvSpPr>
        <p:spPr>
          <a:xfrm>
            <a:off x="8136000" y="4546800"/>
            <a:ext cx="9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Migration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a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Shape 499"/>
          <p:cNvSpPr/>
          <p:nvPr/>
        </p:nvSpPr>
        <p:spPr>
          <a:xfrm>
            <a:off x="0" y="0"/>
            <a:ext cx="9141480" cy="820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2" name="Shape 500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3" name="Text 464"/>
          <p:cNvSpPr/>
          <p:nvPr/>
        </p:nvSpPr>
        <p:spPr>
          <a:xfrm>
            <a:off x="640080" y="0"/>
            <a:ext cx="795276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Gabarits d'index — Index Templates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" name="Text 465"/>
          <p:cNvSpPr/>
          <p:nvPr/>
        </p:nvSpPr>
        <p:spPr>
          <a:xfrm>
            <a:off x="7955280" y="155520"/>
            <a:ext cx="10033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576b"/>
                </a:solidFill>
                <a:latin typeface="Calibri"/>
              </a:rPr>
              <a:t>Module 2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5" name="Text 466"/>
          <p:cNvSpPr/>
          <p:nvPr/>
        </p:nvSpPr>
        <p:spPr>
          <a:xfrm>
            <a:off x="320040" y="914400"/>
            <a:ext cx="85014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a2b2f"/>
                </a:solidFill>
                <a:latin typeface="Calibri"/>
              </a:rPr>
              <a:t>Un index template définit automatiquement les </a:t>
            </a:r>
            <a:r>
              <a:rPr b="1" lang="en-US" sz="1150" spc="-1" strike="noStrike">
                <a:solidFill>
                  <a:srgbClr val="007a8a"/>
                </a:solidFill>
                <a:latin typeface="Calibri"/>
              </a:rPr>
              <a:t>settings, mappings et aliases</a:t>
            </a:r>
            <a:r>
              <a:rPr b="0" lang="en-US" sz="1150" spc="-1" strike="noStrike">
                <a:solidFill>
                  <a:srgbClr val="1a2b2f"/>
                </a:solidFill>
                <a:latin typeface="Calibri"/>
              </a:rPr>
              <a:t> appliqués à chaque nouvel index dont le nom correspond au pattern défini.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6" name="Shape 502"/>
          <p:cNvSpPr/>
          <p:nvPr/>
        </p:nvSpPr>
        <p:spPr>
          <a:xfrm>
            <a:off x="320040" y="1417320"/>
            <a:ext cx="1917720" cy="774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7" name="Text 467"/>
          <p:cNvSpPr/>
          <p:nvPr/>
        </p:nvSpPr>
        <p:spPr>
          <a:xfrm>
            <a:off x="365760" y="1417320"/>
            <a:ext cx="182628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Nouveau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doc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vers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logs-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2025-03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8" name="Text 468"/>
          <p:cNvSpPr/>
          <p:nvPr/>
        </p:nvSpPr>
        <p:spPr>
          <a:xfrm>
            <a:off x="2240280" y="1572840"/>
            <a:ext cx="2901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576b"/>
                </a:solidFill>
                <a:latin typeface="Calibri"/>
              </a:rPr>
              <a:t>→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9" name="Shape 503"/>
          <p:cNvSpPr/>
          <p:nvPr/>
        </p:nvSpPr>
        <p:spPr>
          <a:xfrm>
            <a:off x="2532960" y="1417320"/>
            <a:ext cx="1917720" cy="77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0" name="Text 469"/>
          <p:cNvSpPr/>
          <p:nvPr/>
        </p:nvSpPr>
        <p:spPr>
          <a:xfrm>
            <a:off x="2578680" y="1417320"/>
            <a:ext cx="182628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Pattern match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logs-*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1" name="Text 470"/>
          <p:cNvSpPr/>
          <p:nvPr/>
        </p:nvSpPr>
        <p:spPr>
          <a:xfrm>
            <a:off x="4453200" y="1572840"/>
            <a:ext cx="2901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576b"/>
                </a:solidFill>
                <a:latin typeface="Calibri"/>
              </a:rPr>
              <a:t>→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Shape 504"/>
          <p:cNvSpPr/>
          <p:nvPr/>
        </p:nvSpPr>
        <p:spPr>
          <a:xfrm>
            <a:off x="4745880" y="1417320"/>
            <a:ext cx="1917720" cy="774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3" name="Text 471"/>
          <p:cNvSpPr/>
          <p:nvPr/>
        </p:nvSpPr>
        <p:spPr>
          <a:xfrm>
            <a:off x="4791600" y="1417320"/>
            <a:ext cx="182628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Template appliqué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automatiquement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4" name="Text 472"/>
          <p:cNvSpPr/>
          <p:nvPr/>
        </p:nvSpPr>
        <p:spPr>
          <a:xfrm>
            <a:off x="6666120" y="1572840"/>
            <a:ext cx="29016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576b"/>
                </a:solidFill>
                <a:latin typeface="Calibri"/>
              </a:rPr>
              <a:t>→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5" name="Shape 505"/>
          <p:cNvSpPr/>
          <p:nvPr/>
        </p:nvSpPr>
        <p:spPr>
          <a:xfrm>
            <a:off x="6958440" y="1417320"/>
            <a:ext cx="1917720" cy="774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6" name="Text 473"/>
          <p:cNvSpPr/>
          <p:nvPr/>
        </p:nvSpPr>
        <p:spPr>
          <a:xfrm>
            <a:off x="7004160" y="1417320"/>
            <a:ext cx="182628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Ind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ex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cré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é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av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ec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le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bo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n 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ma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ppi</a:t>
            </a: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ng</a:t>
            </a:r>
            <a:endParaRPr b="0" lang="fr-F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7" name="Shape 506"/>
          <p:cNvSpPr/>
          <p:nvPr/>
        </p:nvSpPr>
        <p:spPr>
          <a:xfrm>
            <a:off x="274320" y="2286000"/>
            <a:ext cx="8592840" cy="208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f4f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8" name="Shape 507"/>
          <p:cNvSpPr/>
          <p:nvPr/>
        </p:nvSpPr>
        <p:spPr>
          <a:xfrm>
            <a:off x="274320" y="2286000"/>
            <a:ext cx="8592840" cy="344880"/>
          </a:xfrm>
          <a:prstGeom prst="rect">
            <a:avLst/>
          </a:prstGeom>
          <a:solidFill>
            <a:srgbClr val="00404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9" name="Text 474"/>
          <p:cNvSpPr/>
          <p:nvPr/>
        </p:nvSpPr>
        <p:spPr>
          <a:xfrm>
            <a:off x="365760" y="2286000"/>
            <a:ext cx="8409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Créati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on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d'un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index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templ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ate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" name="Shape 508"/>
          <p:cNvSpPr/>
          <p:nvPr/>
        </p:nvSpPr>
        <p:spPr>
          <a:xfrm>
            <a:off x="347400" y="2697480"/>
            <a:ext cx="8318520" cy="2342160"/>
          </a:xfrm>
          <a:prstGeom prst="rect">
            <a:avLst/>
          </a:prstGeom>
          <a:solidFill>
            <a:srgbClr val="1a2b2f"/>
          </a:solidFill>
          <a:ln w="12700">
            <a:solidFill>
              <a:srgbClr val="0040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1" name="Text 475"/>
          <p:cNvSpPr/>
          <p:nvPr/>
        </p:nvSpPr>
        <p:spPr>
          <a:xfrm>
            <a:off x="457200" y="2770560"/>
            <a:ext cx="8098920" cy="13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PUT _index_template/template_logs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{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"index_patterns": ["logs-*"],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"priority": 500,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"template": {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"settings": { "number_of_shards": 1, "number_of_replicas": 1, "refresh_interval": "5s" },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"mappings": {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"dynamic": "strict",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"properties": {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"@timestamp": { "type": "date" },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"level":      { "type": "keyword" },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"message":    { "type": "text", "analyzer": "standard" },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"service":    { "type": "keyword" }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},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"aliases": { "all_logs": {} }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a8d4dc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Shape 2347"/>
          <p:cNvSpPr/>
          <p:nvPr/>
        </p:nvSpPr>
        <p:spPr>
          <a:xfrm>
            <a:off x="540000" y="0"/>
            <a:ext cx="860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3" name="Text 1180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Component Templates — Gabarits de composants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4" name="Text 1181"/>
          <p:cNvSpPr/>
          <p:nvPr/>
        </p:nvSpPr>
        <p:spPr>
          <a:xfrm>
            <a:off x="320040" y="91440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Depuis OpenSearch 1.x (ES 7.8+), les index templates sont construits à partir de </a:t>
            </a:r>
            <a:r>
              <a:rPr b="1" lang="en-US" sz="1150" spc="-1" strike="noStrike">
                <a:solidFill>
                  <a:srgbClr val="e8834a"/>
                </a:solidFill>
                <a:latin typeface="Calibri"/>
              </a:rPr>
              <a:t>component templates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 — des blocs réutilisables indépendants.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5" name="Shape 1133"/>
          <p:cNvSpPr/>
          <p:nvPr/>
        </p:nvSpPr>
        <p:spPr>
          <a:xfrm>
            <a:off x="255960" y="1463040"/>
            <a:ext cx="2833560" cy="2833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6" name="Shape 1134"/>
          <p:cNvSpPr/>
          <p:nvPr/>
        </p:nvSpPr>
        <p:spPr>
          <a:xfrm>
            <a:off x="255960" y="1463040"/>
            <a:ext cx="2833560" cy="4014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7" name="Shape 1383"/>
          <p:cNvSpPr/>
          <p:nvPr/>
        </p:nvSpPr>
        <p:spPr>
          <a:xfrm>
            <a:off x="275760" y="1463040"/>
            <a:ext cx="2833560" cy="4014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8" name="Text 1198"/>
          <p:cNvSpPr/>
          <p:nvPr/>
        </p:nvSpPr>
        <p:spPr>
          <a:xfrm>
            <a:off x="329040" y="1463040"/>
            <a:ext cx="2696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🧩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Component template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9" name="Text 1199"/>
          <p:cNvSpPr/>
          <p:nvPr/>
        </p:nvSpPr>
        <p:spPr>
          <a:xfrm>
            <a:off x="365760" y="1920240"/>
            <a:ext cx="263232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Bloc de configuration réutilisable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Définit mappings, settings ou aliases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Ne s'applique PAS directement à un index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Peut être partagé entre plusieurs index templates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0" name="Shape 1135"/>
          <p:cNvSpPr/>
          <p:nvPr/>
        </p:nvSpPr>
        <p:spPr>
          <a:xfrm>
            <a:off x="3227760" y="1463040"/>
            <a:ext cx="2833560" cy="2833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1" name="Shape 1136"/>
          <p:cNvSpPr/>
          <p:nvPr/>
        </p:nvSpPr>
        <p:spPr>
          <a:xfrm>
            <a:off x="3227760" y="1463040"/>
            <a:ext cx="2833560" cy="4014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2" name="Text 1201"/>
          <p:cNvSpPr/>
          <p:nvPr/>
        </p:nvSpPr>
        <p:spPr>
          <a:xfrm>
            <a:off x="3300840" y="1463040"/>
            <a:ext cx="2696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📐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Index template (composé)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3" name="Text 1202"/>
          <p:cNvSpPr/>
          <p:nvPr/>
        </p:nvSpPr>
        <p:spPr>
          <a:xfrm>
            <a:off x="3337560" y="1920240"/>
            <a:ext cx="263232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Référence un ou plusieurs component templates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Peut ajouter ses propres settings/mappings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S'applique aux index dont le nom match le pattern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Priorité configurable (en cas de conflit)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4" name="Shape 1137"/>
          <p:cNvSpPr/>
          <p:nvPr/>
        </p:nvSpPr>
        <p:spPr>
          <a:xfrm>
            <a:off x="6199560" y="1463040"/>
            <a:ext cx="2833560" cy="2833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5" name="Shape 1138"/>
          <p:cNvSpPr/>
          <p:nvPr/>
        </p:nvSpPr>
        <p:spPr>
          <a:xfrm>
            <a:off x="6199560" y="1463040"/>
            <a:ext cx="2833560" cy="4014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6" name="Text 1203"/>
          <p:cNvSpPr/>
          <p:nvPr/>
        </p:nvSpPr>
        <p:spPr>
          <a:xfrm>
            <a:off x="6272640" y="1463040"/>
            <a:ext cx="26964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🗂️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Gabarits prédéfinis OpenSearch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7" name="Text 1204"/>
          <p:cNvSpPr/>
          <p:nvPr/>
        </p:nvSpPr>
        <p:spPr>
          <a:xfrm>
            <a:off x="6309360" y="1920240"/>
            <a:ext cx="2632320" cy="23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logs-*-*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metrics-*-*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synthetics-*-*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profiling-*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8" name="Shape 1139"/>
          <p:cNvSpPr/>
          <p:nvPr/>
        </p:nvSpPr>
        <p:spPr>
          <a:xfrm>
            <a:off x="274320" y="4526280"/>
            <a:ext cx="859428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5a9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9" name="Text 1205"/>
          <p:cNvSpPr/>
          <p:nvPr/>
        </p:nvSpPr>
        <p:spPr>
          <a:xfrm>
            <a:off x="384120" y="4526280"/>
            <a:ext cx="8411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ffff"/>
                </a:solidFill>
                <a:latin typeface="Calibri"/>
              </a:rPr>
              <a:t>💡  </a:t>
            </a:r>
            <a:r>
              <a:rPr b="0" i="1" lang="en-US" sz="900" spc="-1" strike="noStrike">
                <a:solidFill>
                  <a:srgbClr val="ffffff"/>
                </a:solidFill>
                <a:latin typeface="Calibri"/>
              </a:rPr>
              <a:t>Les component templates n'ont pas d'effet tant qu'ils ne sont pas référencés par un index template via composed_of.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0" name="Shape 1114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Shape 2357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2" name="Text 2729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Création de component templates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3" name="Text 2731"/>
          <p:cNvSpPr/>
          <p:nvPr/>
        </p:nvSpPr>
        <p:spPr>
          <a:xfrm>
            <a:off x="320040" y="914400"/>
            <a:ext cx="8502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On crée des component templates indépendants, puis on les assemble dans un index template via composed_of :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4" name="Shape 2360"/>
          <p:cNvSpPr/>
          <p:nvPr/>
        </p:nvSpPr>
        <p:spPr>
          <a:xfrm>
            <a:off x="274320" y="1417320"/>
            <a:ext cx="4045680" cy="3262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5" name="Shape 2361"/>
          <p:cNvSpPr/>
          <p:nvPr/>
        </p:nvSpPr>
        <p:spPr>
          <a:xfrm>
            <a:off x="274320" y="1417320"/>
            <a:ext cx="4045680" cy="346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6" name="Text 2732"/>
          <p:cNvSpPr/>
          <p:nvPr/>
        </p:nvSpPr>
        <p:spPr>
          <a:xfrm>
            <a:off x="347400" y="141732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Component 1 — champ @timestamp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7" name="Shape 2362"/>
          <p:cNvSpPr/>
          <p:nvPr/>
        </p:nvSpPr>
        <p:spPr>
          <a:xfrm>
            <a:off x="347400" y="1828800"/>
            <a:ext cx="3930840" cy="2491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8" name="Text 2733"/>
          <p:cNvSpPr/>
          <p:nvPr/>
        </p:nvSpPr>
        <p:spPr>
          <a:xfrm>
            <a:off x="457200" y="1901880"/>
            <a:ext cx="3711240" cy="9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PUT _component_template/component_timestamp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{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"template": {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"mappings": {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"properties": {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"@timestamp": { "type": "date" }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9" name="Shape 2363"/>
          <p:cNvSpPr/>
          <p:nvPr/>
        </p:nvSpPr>
        <p:spPr>
          <a:xfrm>
            <a:off x="4754880" y="1417320"/>
            <a:ext cx="4113720" cy="3262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0" name="Shape 2364"/>
          <p:cNvSpPr/>
          <p:nvPr/>
        </p:nvSpPr>
        <p:spPr>
          <a:xfrm>
            <a:off x="4754880" y="1417320"/>
            <a:ext cx="4113720" cy="346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1" name="Text 2734"/>
          <p:cNvSpPr/>
          <p:nvPr/>
        </p:nvSpPr>
        <p:spPr>
          <a:xfrm>
            <a:off x="4827960" y="1417320"/>
            <a:ext cx="3976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Component 2 — champ runtime calculé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2" name="Shape 2365"/>
          <p:cNvSpPr/>
          <p:nvPr/>
        </p:nvSpPr>
        <p:spPr>
          <a:xfrm>
            <a:off x="4827960" y="1828800"/>
            <a:ext cx="3930840" cy="2491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3" name="Text 2735"/>
          <p:cNvSpPr/>
          <p:nvPr/>
        </p:nvSpPr>
        <p:spPr>
          <a:xfrm>
            <a:off x="4937760" y="1901880"/>
            <a:ext cx="3711240" cy="241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PUT _component_template/component_runtime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"template":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"mappings":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"runtime":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"jour_semaine":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"type": "keyword",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"script": { "source":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"emit(doc['@timestamp'].value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.dayOfWeekEnum.getDisplayName(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TextStyle.FULL, Locale.FRENCH))"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4" name="Shape 1140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Shape 501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6" name="Text 2392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Assemblage dans index template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7" name="Shape 2142"/>
          <p:cNvSpPr/>
          <p:nvPr/>
        </p:nvSpPr>
        <p:spPr>
          <a:xfrm>
            <a:off x="274320" y="1308960"/>
            <a:ext cx="8594280" cy="2284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8" name="Shape 2143"/>
          <p:cNvSpPr/>
          <p:nvPr/>
        </p:nvSpPr>
        <p:spPr>
          <a:xfrm>
            <a:off x="274320" y="948960"/>
            <a:ext cx="8594280" cy="3463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9" name="Text 2413"/>
          <p:cNvSpPr/>
          <p:nvPr/>
        </p:nvSpPr>
        <p:spPr>
          <a:xfrm>
            <a:off x="365760" y="948960"/>
            <a:ext cx="8411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Index template composé — assemblage des component templates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0" name="Shape 2144"/>
          <p:cNvSpPr/>
          <p:nvPr/>
        </p:nvSpPr>
        <p:spPr>
          <a:xfrm>
            <a:off x="347400" y="1360440"/>
            <a:ext cx="8319960" cy="20595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1" name="Text 2414"/>
          <p:cNvSpPr/>
          <p:nvPr/>
        </p:nvSpPr>
        <p:spPr>
          <a:xfrm>
            <a:off x="457200" y="1577520"/>
            <a:ext cx="8100360" cy="63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PUT _index_template/template_logs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"index_patterns": ["logs-*"],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"priority": 500,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"composed_of": ["component_timestamp", "component_runtime"],    ← assemblage des composants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"template":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"settings": { "number_of_shards": 1, "number_of_replicas": 1 },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"mappings": { "properties": { "level": { "type": "keyword" }, "message": { "type": "text" }}},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"aliases": { "all_logs": {} 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"version": 1,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"_meta": { "description": "Template logs OpenSearch" 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2" name="Shape 2145"/>
          <p:cNvSpPr/>
          <p:nvPr/>
        </p:nvSpPr>
        <p:spPr>
          <a:xfrm>
            <a:off x="274320" y="3770280"/>
            <a:ext cx="859428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5a9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3" name="Text 2415"/>
          <p:cNvSpPr/>
          <p:nvPr/>
        </p:nvSpPr>
        <p:spPr>
          <a:xfrm>
            <a:off x="384120" y="3770280"/>
            <a:ext cx="8411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ffff"/>
                </a:solidFill>
                <a:latin typeface="Calibri"/>
              </a:rPr>
              <a:t>💡  </a:t>
            </a:r>
            <a:r>
              <a:rPr b="0" i="1" lang="en-US" sz="900" spc="-1" strike="noStrike">
                <a:solidFill>
                  <a:srgbClr val="ffffff"/>
                </a:solidFill>
                <a:latin typeface="Calibri"/>
              </a:rPr>
              <a:t>Les mappings du template composé sont fusionnés avec ceux des component templates. En cas de conflit, le template composé l'emporte.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4" name="Shape 2146"/>
          <p:cNvSpPr/>
          <p:nvPr/>
        </p:nvSpPr>
        <p:spPr>
          <a:xfrm>
            <a:off x="0" y="0"/>
            <a:ext cx="500400" cy="820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Shape 2304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6" name="Text 2621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7" name="Text 2622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Datastreams et ILM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8" name="Shape 2305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9" name="Text 2623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Roll over - Policy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0" name="Shape 2306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1" name="Shape 2307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2" name="Text 2624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Mapping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3" name="Shape 2308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4" name="Text 2625"/>
          <p:cNvSpPr/>
          <p:nvPr/>
        </p:nvSpPr>
        <p:spPr>
          <a:xfrm>
            <a:off x="1404000" y="4546800"/>
            <a:ext cx="93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Types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5" name="Text 2626"/>
          <p:cNvSpPr/>
          <p:nvPr/>
        </p:nvSpPr>
        <p:spPr>
          <a:xfrm>
            <a:off x="3830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6" name="Shape 2309"/>
          <p:cNvSpPr/>
          <p:nvPr/>
        </p:nvSpPr>
        <p:spPr>
          <a:xfrm>
            <a:off x="5967720" y="4564440"/>
            <a:ext cx="192744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7" name="Text 2627"/>
          <p:cNvSpPr/>
          <p:nvPr/>
        </p:nvSpPr>
        <p:spPr>
          <a:xfrm>
            <a:off x="5967720" y="4582800"/>
            <a:ext cx="1988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Datastreams et ILM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8" name="Text 2628"/>
          <p:cNvSpPr/>
          <p:nvPr/>
        </p:nvSpPr>
        <p:spPr>
          <a:xfrm>
            <a:off x="7075080" y="4582800"/>
            <a:ext cx="654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9" name="Text 2629"/>
          <p:cNvSpPr/>
          <p:nvPr/>
        </p:nvSpPr>
        <p:spPr>
          <a:xfrm>
            <a:off x="2088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Contrôle du mapping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" name="Text 2631"/>
          <p:cNvSpPr/>
          <p:nvPr/>
        </p:nvSpPr>
        <p:spPr>
          <a:xfrm>
            <a:off x="4032000" y="4546800"/>
            <a:ext cx="18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Gabarits d’index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1" name="Text 2632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2" name="Text 2633"/>
          <p:cNvSpPr/>
          <p:nvPr/>
        </p:nvSpPr>
        <p:spPr>
          <a:xfrm>
            <a:off x="7745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3" name="Text 2634"/>
          <p:cNvSpPr/>
          <p:nvPr/>
        </p:nvSpPr>
        <p:spPr>
          <a:xfrm>
            <a:off x="1949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4" name="Text 2644"/>
          <p:cNvSpPr/>
          <p:nvPr/>
        </p:nvSpPr>
        <p:spPr>
          <a:xfrm>
            <a:off x="558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5" name="Text 2394"/>
          <p:cNvSpPr/>
          <p:nvPr/>
        </p:nvSpPr>
        <p:spPr>
          <a:xfrm>
            <a:off x="8136000" y="4546800"/>
            <a:ext cx="9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Migration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Shape 1141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7" name="Shape 1142"/>
          <p:cNvSpPr/>
          <p:nvPr/>
        </p:nvSpPr>
        <p:spPr>
          <a:xfrm>
            <a:off x="0" y="0"/>
            <a:ext cx="501840" cy="821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8" name="Text 1206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Datastreams — Introduction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9" name="Text 1208"/>
          <p:cNvSpPr/>
          <p:nvPr/>
        </p:nvSpPr>
        <p:spPr>
          <a:xfrm>
            <a:off x="320040" y="914400"/>
            <a:ext cx="8502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Les </a:t>
            </a:r>
            <a:r>
              <a:rPr b="1" lang="en-US" sz="1150" spc="-1" strike="noStrike">
                <a:solidFill>
                  <a:srgbClr val="e8834a"/>
                </a:solidFill>
                <a:latin typeface="Calibri"/>
              </a:rPr>
              <a:t>datastreams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 permettent de stocker des séries d'événements horodatés (logs, métriques, traces) via un nom unique, tout en gérant automatiquement plusieurs index en arrière-plan.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0" name="Shape 1144"/>
          <p:cNvSpPr/>
          <p:nvPr/>
        </p:nvSpPr>
        <p:spPr>
          <a:xfrm>
            <a:off x="274320" y="1554480"/>
            <a:ext cx="4159440" cy="91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1" name="Shape 1145"/>
          <p:cNvSpPr/>
          <p:nvPr/>
        </p:nvSpPr>
        <p:spPr>
          <a:xfrm>
            <a:off x="274320" y="1554480"/>
            <a:ext cx="72000" cy="9133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2" name="Shape 1146"/>
          <p:cNvSpPr/>
          <p:nvPr/>
        </p:nvSpPr>
        <p:spPr>
          <a:xfrm>
            <a:off x="438840" y="1645920"/>
            <a:ext cx="501840" cy="50184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3" name="Text 1209"/>
          <p:cNvSpPr/>
          <p:nvPr/>
        </p:nvSpPr>
        <p:spPr>
          <a:xfrm>
            <a:off x="438840" y="164592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📅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4" name="Text 1210"/>
          <p:cNvSpPr/>
          <p:nvPr/>
        </p:nvSpPr>
        <p:spPr>
          <a:xfrm>
            <a:off x="1024200" y="1609200"/>
            <a:ext cx="3290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@timestamp obligatoire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5" name="Text 1211"/>
          <p:cNvSpPr/>
          <p:nvPr/>
        </p:nvSpPr>
        <p:spPr>
          <a:xfrm>
            <a:off x="1024200" y="1938600"/>
            <a:ext cx="3290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Chaque document doit contenir un champ @timestamp de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type date ou date_nanos. OpenSearch refuse l'indexation sans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ce champ.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6" name="Shape 1147"/>
          <p:cNvSpPr/>
          <p:nvPr/>
        </p:nvSpPr>
        <p:spPr>
          <a:xfrm>
            <a:off x="4709160" y="1554480"/>
            <a:ext cx="4159440" cy="91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7" name="Shape 1148"/>
          <p:cNvSpPr/>
          <p:nvPr/>
        </p:nvSpPr>
        <p:spPr>
          <a:xfrm>
            <a:off x="4709160" y="1554480"/>
            <a:ext cx="72000" cy="9133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8" name="Shape 1149"/>
          <p:cNvSpPr/>
          <p:nvPr/>
        </p:nvSpPr>
        <p:spPr>
          <a:xfrm>
            <a:off x="4873680" y="1645920"/>
            <a:ext cx="501840" cy="501840"/>
          </a:xfrm>
          <a:prstGeom prst="ellipse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9" name="Text 1212"/>
          <p:cNvSpPr/>
          <p:nvPr/>
        </p:nvSpPr>
        <p:spPr>
          <a:xfrm>
            <a:off x="4873680" y="164592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🗂️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0" name="Text 1213"/>
          <p:cNvSpPr/>
          <p:nvPr/>
        </p:nvSpPr>
        <p:spPr>
          <a:xfrm>
            <a:off x="5459040" y="1609200"/>
            <a:ext cx="3290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Index de sauvegarde masqués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1" name="Text 1214"/>
          <p:cNvSpPr/>
          <p:nvPr/>
        </p:nvSpPr>
        <p:spPr>
          <a:xfrm>
            <a:off x="5459040" y="1938600"/>
            <a:ext cx="3290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Un datastream repose sur un ou plusieurs index générés automatiquement (.ds-logs-2025.03-000001). Ils sont masqués mais interrogeables.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2" name="Shape 1150"/>
          <p:cNvSpPr/>
          <p:nvPr/>
        </p:nvSpPr>
        <p:spPr>
          <a:xfrm>
            <a:off x="274320" y="2606040"/>
            <a:ext cx="4159440" cy="91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3" name="Shape 1151"/>
          <p:cNvSpPr/>
          <p:nvPr/>
        </p:nvSpPr>
        <p:spPr>
          <a:xfrm>
            <a:off x="274320" y="2606040"/>
            <a:ext cx="72000" cy="91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4" name="Shape 1152"/>
          <p:cNvSpPr/>
          <p:nvPr/>
        </p:nvSpPr>
        <p:spPr>
          <a:xfrm>
            <a:off x="438840" y="269748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5" name="Text 1215"/>
          <p:cNvSpPr/>
          <p:nvPr/>
        </p:nvSpPr>
        <p:spPr>
          <a:xfrm>
            <a:off x="438840" y="269748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✍️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6" name="Text 1216"/>
          <p:cNvSpPr/>
          <p:nvPr/>
        </p:nvSpPr>
        <p:spPr>
          <a:xfrm>
            <a:off x="1024200" y="2660760"/>
            <a:ext cx="3290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Write index unique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7" name="Text 2719"/>
          <p:cNvSpPr/>
          <p:nvPr/>
        </p:nvSpPr>
        <p:spPr>
          <a:xfrm>
            <a:off x="1024200" y="2990160"/>
            <a:ext cx="3290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À tout moment, un seul index du datastream est l'index d'écriture. Les nouveaux documents y sont acheminés automatiquement.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8" name="Shape 1153"/>
          <p:cNvSpPr/>
          <p:nvPr/>
        </p:nvSpPr>
        <p:spPr>
          <a:xfrm>
            <a:off x="4709160" y="2606040"/>
            <a:ext cx="4159440" cy="913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9" name="Shape 1154"/>
          <p:cNvSpPr/>
          <p:nvPr/>
        </p:nvSpPr>
        <p:spPr>
          <a:xfrm>
            <a:off x="4709160" y="2606040"/>
            <a:ext cx="72000" cy="9133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0" name="Shape 2348"/>
          <p:cNvSpPr/>
          <p:nvPr/>
        </p:nvSpPr>
        <p:spPr>
          <a:xfrm>
            <a:off x="4873680" y="2697480"/>
            <a:ext cx="501840" cy="50184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1" name="Text 2720"/>
          <p:cNvSpPr/>
          <p:nvPr/>
        </p:nvSpPr>
        <p:spPr>
          <a:xfrm>
            <a:off x="4873680" y="2697480"/>
            <a:ext cx="501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ffffff"/>
                </a:solidFill>
                <a:latin typeface="Calibri"/>
              </a:rPr>
              <a:t>🔗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2" name="Text 2721"/>
          <p:cNvSpPr/>
          <p:nvPr/>
        </p:nvSpPr>
        <p:spPr>
          <a:xfrm>
            <a:off x="5459040" y="2660760"/>
            <a:ext cx="3290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Lié à un index template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3" name="Text 2722"/>
          <p:cNvSpPr/>
          <p:nvPr/>
        </p:nvSpPr>
        <p:spPr>
          <a:xfrm>
            <a:off x="5459040" y="2990160"/>
            <a:ext cx="329076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Un datastream est obligatoirement associé à un index template avec un pattern correspondant. C'est le template qui définit le mapping.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4" name="Shape 2349"/>
          <p:cNvSpPr/>
          <p:nvPr/>
        </p:nvSpPr>
        <p:spPr>
          <a:xfrm>
            <a:off x="274320" y="3639240"/>
            <a:ext cx="8594280" cy="1040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5" name="Text 2723"/>
          <p:cNvSpPr/>
          <p:nvPr/>
        </p:nvSpPr>
        <p:spPr>
          <a:xfrm>
            <a:off x="384120" y="3712320"/>
            <a:ext cx="83746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PUT _data_stream/logs-app-prod          ← Créer un datastream (le template doit déjà exister)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GET _data_stream/logs-app-prod          ← Inspecter un datastream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DELETE _data_stream/logs-app-prod       ← Supprimer (supprime aussi les index de sauvegarde)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POST /logs-app-prod/_doc                ← Indexer (toujours vers le write index)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0" lang="en-US" sz="850" spc="-1" strike="noStrike">
                <a:solidFill>
                  <a:srgbClr val="80ccd8"/>
                </a:solidFill>
                <a:latin typeface="Consolas"/>
                <a:ea typeface="Consolas"/>
              </a:rPr>
              <a:t>{ "@timestamp": "2025-03-12T10:00:00Z", "level": "INFO", "message": "Démarrage OK" }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6" name="Shape 2350"/>
          <p:cNvSpPr/>
          <p:nvPr/>
        </p:nvSpPr>
        <p:spPr>
          <a:xfrm>
            <a:off x="274320" y="4670280"/>
            <a:ext cx="859428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5a9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7" name="Text 2724"/>
          <p:cNvSpPr/>
          <p:nvPr/>
        </p:nvSpPr>
        <p:spPr>
          <a:xfrm>
            <a:off x="384120" y="4706280"/>
            <a:ext cx="841140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ffffff"/>
                </a:solidFill>
                <a:latin typeface="Calibri"/>
              </a:rPr>
              <a:t>⚠️  </a:t>
            </a:r>
            <a:r>
              <a:rPr b="0" i="1" lang="en-US" sz="900" spc="-1" strike="noStrike">
                <a:solidFill>
                  <a:srgbClr val="ffffff"/>
                </a:solidFill>
                <a:latin typeface="Calibri"/>
              </a:rPr>
              <a:t>Un datastream est en append-only : les mises à jour et suppressions de documents nécessitent de cibler directement l'index de sauvegarde.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Shape 2351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9" name="Shape 2352"/>
          <p:cNvSpPr/>
          <p:nvPr/>
        </p:nvSpPr>
        <p:spPr>
          <a:xfrm>
            <a:off x="0" y="0"/>
            <a:ext cx="501840" cy="821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" name="Text 2725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Datastreams — Write index &amp; Rollover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1" name="Shape 2354"/>
          <p:cNvSpPr/>
          <p:nvPr/>
        </p:nvSpPr>
        <p:spPr>
          <a:xfrm>
            <a:off x="274320" y="960120"/>
            <a:ext cx="8594280" cy="2467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2" name="Shape 2355"/>
          <p:cNvSpPr/>
          <p:nvPr/>
        </p:nvSpPr>
        <p:spPr>
          <a:xfrm>
            <a:off x="274320" y="960120"/>
            <a:ext cx="8594280" cy="3463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3" name="Text 2727"/>
          <p:cNvSpPr/>
          <p:nvPr/>
        </p:nvSpPr>
        <p:spPr>
          <a:xfrm>
            <a:off x="365760" y="960120"/>
            <a:ext cx="8411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Architecture d'un datastream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4" name="Shape 2356"/>
          <p:cNvSpPr/>
          <p:nvPr/>
        </p:nvSpPr>
        <p:spPr>
          <a:xfrm>
            <a:off x="457200" y="1463040"/>
            <a:ext cx="1827720" cy="5932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5" name="Text 2728"/>
          <p:cNvSpPr/>
          <p:nvPr/>
        </p:nvSpPr>
        <p:spPr>
          <a:xfrm>
            <a:off x="457200" y="1463040"/>
            <a:ext cx="18277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Indexing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request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6" name="Text 2730"/>
          <p:cNvSpPr/>
          <p:nvPr/>
        </p:nvSpPr>
        <p:spPr>
          <a:xfrm>
            <a:off x="2286000" y="1572840"/>
            <a:ext cx="456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→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7" name="Shape 2358"/>
          <p:cNvSpPr/>
          <p:nvPr/>
        </p:nvSpPr>
        <p:spPr>
          <a:xfrm>
            <a:off x="2788920" y="1389960"/>
            <a:ext cx="5759640" cy="17179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" name="Text 2739"/>
          <p:cNvSpPr/>
          <p:nvPr/>
        </p:nvSpPr>
        <p:spPr>
          <a:xfrm>
            <a:off x="2880360" y="1417320"/>
            <a:ext cx="5576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Data stream :  logs-app-prod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9" name="Shape 2359"/>
          <p:cNvSpPr/>
          <p:nvPr/>
        </p:nvSpPr>
        <p:spPr>
          <a:xfrm>
            <a:off x="2926080" y="1755720"/>
            <a:ext cx="1690560" cy="1169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0" name="Text 2740"/>
          <p:cNvSpPr/>
          <p:nvPr/>
        </p:nvSpPr>
        <p:spPr>
          <a:xfrm>
            <a:off x="2926080" y="1755720"/>
            <a:ext cx="1690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.ds-logs-app-prod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2025.01-000001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1" name="Text 2741"/>
          <p:cNvSpPr/>
          <p:nvPr/>
        </p:nvSpPr>
        <p:spPr>
          <a:xfrm>
            <a:off x="2926080" y="2395800"/>
            <a:ext cx="169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read only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2" name="Shape 2370"/>
          <p:cNvSpPr/>
          <p:nvPr/>
        </p:nvSpPr>
        <p:spPr>
          <a:xfrm>
            <a:off x="4754880" y="1755720"/>
            <a:ext cx="1690560" cy="1169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3" name="Text 2742"/>
          <p:cNvSpPr/>
          <p:nvPr/>
        </p:nvSpPr>
        <p:spPr>
          <a:xfrm>
            <a:off x="4754880" y="1755720"/>
            <a:ext cx="1690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.ds-logs-app-prod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2025.02-000002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4" name="Text 2743"/>
          <p:cNvSpPr/>
          <p:nvPr/>
        </p:nvSpPr>
        <p:spPr>
          <a:xfrm>
            <a:off x="4754880" y="2395800"/>
            <a:ext cx="169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read only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5" name="Shape 2371"/>
          <p:cNvSpPr/>
          <p:nvPr/>
        </p:nvSpPr>
        <p:spPr>
          <a:xfrm>
            <a:off x="6583680" y="1755720"/>
            <a:ext cx="1690560" cy="11692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6" name="Text 2744"/>
          <p:cNvSpPr/>
          <p:nvPr/>
        </p:nvSpPr>
        <p:spPr>
          <a:xfrm>
            <a:off x="6583680" y="1755720"/>
            <a:ext cx="1690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.ds-logs-app-prod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2025.03-000003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7" name="Text 2745"/>
          <p:cNvSpPr/>
          <p:nvPr/>
        </p:nvSpPr>
        <p:spPr>
          <a:xfrm>
            <a:off x="6583680" y="2395800"/>
            <a:ext cx="16905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✍️ 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write index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8" name="Text 2746"/>
          <p:cNvSpPr/>
          <p:nvPr/>
        </p:nvSpPr>
        <p:spPr>
          <a:xfrm>
            <a:off x="2286000" y="2103120"/>
            <a:ext cx="547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834a"/>
                </a:solidFill>
                <a:latin typeface="Calibri"/>
              </a:rPr>
              <a:t>→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9" name="Shape 2372"/>
          <p:cNvSpPr/>
          <p:nvPr/>
        </p:nvSpPr>
        <p:spPr>
          <a:xfrm>
            <a:off x="274320" y="3520440"/>
            <a:ext cx="8594280" cy="1519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0" name="Shape 2373"/>
          <p:cNvSpPr/>
          <p:nvPr/>
        </p:nvSpPr>
        <p:spPr>
          <a:xfrm>
            <a:off x="274320" y="3520440"/>
            <a:ext cx="8594280" cy="3463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1" name="Text 2747"/>
          <p:cNvSpPr/>
          <p:nvPr/>
        </p:nvSpPr>
        <p:spPr>
          <a:xfrm>
            <a:off x="365760" y="3520440"/>
            <a:ext cx="8411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🔄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Rollover — Rotation de l'index d'écriture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2" name="Shape 2374"/>
          <p:cNvSpPr/>
          <p:nvPr/>
        </p:nvSpPr>
        <p:spPr>
          <a:xfrm>
            <a:off x="411480" y="3931920"/>
            <a:ext cx="2742120" cy="928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3" name="Text 2748"/>
          <p:cNvSpPr/>
          <p:nvPr/>
        </p:nvSpPr>
        <p:spPr>
          <a:xfrm>
            <a:off x="502920" y="3959280"/>
            <a:ext cx="2559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⚙️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Automatique (ILM)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4" name="Text 2749"/>
          <p:cNvSpPr/>
          <p:nvPr/>
        </p:nvSpPr>
        <p:spPr>
          <a:xfrm>
            <a:off x="502920" y="4279320"/>
            <a:ext cx="255924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L'ILM déclenche un rollover quand l'index atteint l'âge ou la taille configurés.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5" name="Shape 2375"/>
          <p:cNvSpPr/>
          <p:nvPr/>
        </p:nvSpPr>
        <p:spPr>
          <a:xfrm>
            <a:off x="6063840" y="3931920"/>
            <a:ext cx="2742120" cy="928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6" name="Text 2750"/>
          <p:cNvSpPr/>
          <p:nvPr/>
        </p:nvSpPr>
        <p:spPr>
          <a:xfrm>
            <a:off x="6155280" y="3954240"/>
            <a:ext cx="25592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🖐️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Manuel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7" name="Text 2751"/>
          <p:cNvSpPr/>
          <p:nvPr/>
        </p:nvSpPr>
        <p:spPr>
          <a:xfrm>
            <a:off x="6155280" y="4214160"/>
            <a:ext cx="2559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POST /logs-app-prod/_rollover — crée un nouvel index et le désigne comme write index.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8" name="Shape 2376"/>
          <p:cNvSpPr/>
          <p:nvPr/>
        </p:nvSpPr>
        <p:spPr>
          <a:xfrm>
            <a:off x="3256200" y="3931920"/>
            <a:ext cx="2742120" cy="928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9" name="Text 2752"/>
          <p:cNvSpPr/>
          <p:nvPr/>
        </p:nvSpPr>
        <p:spPr>
          <a:xfrm>
            <a:off x="3347640" y="3954240"/>
            <a:ext cx="255924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📏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Conditions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0" name="Text 2753"/>
          <p:cNvSpPr/>
          <p:nvPr/>
        </p:nvSpPr>
        <p:spPr>
          <a:xfrm>
            <a:off x="3347640" y="4214160"/>
            <a:ext cx="2559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</a:rPr>
              <a:t>max_age: 30d, max_size: 50gb, max_docs: 10000000 — configurable dans la policy ILM.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Shape 2377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2" name="Shape 2378"/>
          <p:cNvSpPr/>
          <p:nvPr/>
        </p:nvSpPr>
        <p:spPr>
          <a:xfrm>
            <a:off x="0" y="0"/>
            <a:ext cx="501840" cy="821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3" name="Text 2754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ILM — Index Lifecycle Management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4" name="Text 2756"/>
          <p:cNvSpPr/>
          <p:nvPr/>
        </p:nvSpPr>
        <p:spPr>
          <a:xfrm>
            <a:off x="320040" y="91440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L'</a:t>
            </a:r>
            <a:r>
              <a:rPr b="1" lang="en-US" sz="1150" spc="-1" strike="noStrike">
                <a:solidFill>
                  <a:srgbClr val="e8834a"/>
                </a:solidFill>
                <a:latin typeface="Calibri"/>
              </a:rPr>
              <a:t>ILM (Index Lifecycle Management)</a:t>
            </a: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 automatise les actions de gestion du cycle de vie des index. Il est associé à un index template pour s'appliquer automatiquement.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5" name="Shape 2380"/>
          <p:cNvSpPr/>
          <p:nvPr/>
        </p:nvSpPr>
        <p:spPr>
          <a:xfrm>
            <a:off x="365760" y="1463040"/>
            <a:ext cx="1919160" cy="1416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6" name="Text 2757"/>
          <p:cNvSpPr/>
          <p:nvPr/>
        </p:nvSpPr>
        <p:spPr>
          <a:xfrm>
            <a:off x="365760" y="1508760"/>
            <a:ext cx="19191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alibri"/>
              </a:rPr>
              <a:t>🔥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7" name="Text 2758"/>
          <p:cNvSpPr/>
          <p:nvPr/>
        </p:nvSpPr>
        <p:spPr>
          <a:xfrm>
            <a:off x="365760" y="192024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HOT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8" name="Text 2759"/>
          <p:cNvSpPr/>
          <p:nvPr/>
        </p:nvSpPr>
        <p:spPr>
          <a:xfrm>
            <a:off x="438840" y="2286000"/>
            <a:ext cx="1782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Index actif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Écriture + lecture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Rollover configuré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9" name="Text 2760"/>
          <p:cNvSpPr/>
          <p:nvPr/>
        </p:nvSpPr>
        <p:spPr>
          <a:xfrm>
            <a:off x="2286000" y="1920240"/>
            <a:ext cx="273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→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0" name="Shape 2381"/>
          <p:cNvSpPr/>
          <p:nvPr/>
        </p:nvSpPr>
        <p:spPr>
          <a:xfrm>
            <a:off x="2560320" y="1463040"/>
            <a:ext cx="1919160" cy="1416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1" name="Text 2761"/>
          <p:cNvSpPr/>
          <p:nvPr/>
        </p:nvSpPr>
        <p:spPr>
          <a:xfrm>
            <a:off x="2560320" y="1508760"/>
            <a:ext cx="19191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alibri"/>
              </a:rPr>
              <a:t>🌤️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2" name="Text 2762"/>
          <p:cNvSpPr/>
          <p:nvPr/>
        </p:nvSpPr>
        <p:spPr>
          <a:xfrm>
            <a:off x="2560320" y="192024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WARM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3" name="Text 2763"/>
          <p:cNvSpPr/>
          <p:nvPr/>
        </p:nvSpPr>
        <p:spPr>
          <a:xfrm>
            <a:off x="2633400" y="2286000"/>
            <a:ext cx="1782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Plus d'écriture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Encore interrogé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Shrink possible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4" name="Text 2764"/>
          <p:cNvSpPr/>
          <p:nvPr/>
        </p:nvSpPr>
        <p:spPr>
          <a:xfrm>
            <a:off x="4480560" y="1920240"/>
            <a:ext cx="273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→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5" name="Shape 2382"/>
          <p:cNvSpPr/>
          <p:nvPr/>
        </p:nvSpPr>
        <p:spPr>
          <a:xfrm>
            <a:off x="4754880" y="1463040"/>
            <a:ext cx="1919160" cy="1416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6" name="Text 2765"/>
          <p:cNvSpPr/>
          <p:nvPr/>
        </p:nvSpPr>
        <p:spPr>
          <a:xfrm>
            <a:off x="4754880" y="1508760"/>
            <a:ext cx="19191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alibri"/>
              </a:rPr>
              <a:t>❄️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7" name="Text 2766"/>
          <p:cNvSpPr/>
          <p:nvPr/>
        </p:nvSpPr>
        <p:spPr>
          <a:xfrm>
            <a:off x="4754880" y="192024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COLD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8" name="Text 2767"/>
          <p:cNvSpPr/>
          <p:nvPr/>
        </p:nvSpPr>
        <p:spPr>
          <a:xfrm>
            <a:off x="4827960" y="2286000"/>
            <a:ext cx="1782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Rarement interrogé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Requêtes plus lentes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Stockage économique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9" name="Text 2768"/>
          <p:cNvSpPr/>
          <p:nvPr/>
        </p:nvSpPr>
        <p:spPr>
          <a:xfrm>
            <a:off x="6675120" y="1920240"/>
            <a:ext cx="273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→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0" name="Shape 2383"/>
          <p:cNvSpPr/>
          <p:nvPr/>
        </p:nvSpPr>
        <p:spPr>
          <a:xfrm>
            <a:off x="6949440" y="1463040"/>
            <a:ext cx="1919160" cy="141624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1" name="Text 2769"/>
          <p:cNvSpPr/>
          <p:nvPr/>
        </p:nvSpPr>
        <p:spPr>
          <a:xfrm>
            <a:off x="6949440" y="1508760"/>
            <a:ext cx="191916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Calibri"/>
              </a:rPr>
              <a:t>🗑️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2" name="Text 2770"/>
          <p:cNvSpPr/>
          <p:nvPr/>
        </p:nvSpPr>
        <p:spPr>
          <a:xfrm>
            <a:off x="6949440" y="1920240"/>
            <a:ext cx="19191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DELETE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3" name="Text 2771"/>
          <p:cNvSpPr/>
          <p:nvPr/>
        </p:nvSpPr>
        <p:spPr>
          <a:xfrm>
            <a:off x="7022520" y="2286000"/>
            <a:ext cx="178200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Index supprimé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après min_age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</a:rPr>
              <a:t>configurable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4" name="Shape 2384"/>
          <p:cNvSpPr/>
          <p:nvPr/>
        </p:nvSpPr>
        <p:spPr>
          <a:xfrm>
            <a:off x="274320" y="2999160"/>
            <a:ext cx="8594280" cy="3463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5" name="Text 2772"/>
          <p:cNvSpPr/>
          <p:nvPr/>
        </p:nvSpPr>
        <p:spPr>
          <a:xfrm>
            <a:off x="365760" y="2999160"/>
            <a:ext cx="84114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Actions disponibles par phase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6" name="Shape 2385"/>
          <p:cNvSpPr/>
          <p:nvPr/>
        </p:nvSpPr>
        <p:spPr>
          <a:xfrm>
            <a:off x="274320" y="3410640"/>
            <a:ext cx="182772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7" name="Shape 2386"/>
          <p:cNvSpPr/>
          <p:nvPr/>
        </p:nvSpPr>
        <p:spPr>
          <a:xfrm>
            <a:off x="2103120" y="3410640"/>
            <a:ext cx="530244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8" name="Shape 2387"/>
          <p:cNvSpPr/>
          <p:nvPr/>
        </p:nvSpPr>
        <p:spPr>
          <a:xfrm>
            <a:off x="7406640" y="3410640"/>
            <a:ext cx="146196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9" name="Text 2773"/>
          <p:cNvSpPr/>
          <p:nvPr/>
        </p:nvSpPr>
        <p:spPr>
          <a:xfrm>
            <a:off x="320040" y="3410640"/>
            <a:ext cx="1736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onsolas"/>
                <a:ea typeface="Consolas"/>
              </a:rPr>
              <a:t>Rollover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0" name="Text 2774"/>
          <p:cNvSpPr/>
          <p:nvPr/>
        </p:nvSpPr>
        <p:spPr>
          <a:xfrm>
            <a:off x="2148840" y="3410640"/>
            <a:ext cx="5211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Créer un nouvel index quand l'actuel atteint l'âge/taille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" name="Text 2775"/>
          <p:cNvSpPr/>
          <p:nvPr/>
        </p:nvSpPr>
        <p:spPr>
          <a:xfrm>
            <a:off x="7425000" y="3410640"/>
            <a:ext cx="1416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b0d0d8"/>
                </a:solidFill>
                <a:latin typeface="Calibri"/>
              </a:rPr>
              <a:t>HOT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2" name="Shape 2388"/>
          <p:cNvSpPr/>
          <p:nvPr/>
        </p:nvSpPr>
        <p:spPr>
          <a:xfrm>
            <a:off x="274320" y="3630240"/>
            <a:ext cx="1827720" cy="2185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3" name="Shape 2389"/>
          <p:cNvSpPr/>
          <p:nvPr/>
        </p:nvSpPr>
        <p:spPr>
          <a:xfrm>
            <a:off x="2103120" y="3630240"/>
            <a:ext cx="5302440" cy="2185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4" name="Shape 2390"/>
          <p:cNvSpPr/>
          <p:nvPr/>
        </p:nvSpPr>
        <p:spPr>
          <a:xfrm>
            <a:off x="7406640" y="3630240"/>
            <a:ext cx="1461960" cy="2185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5" name="Text 2776"/>
          <p:cNvSpPr/>
          <p:nvPr/>
        </p:nvSpPr>
        <p:spPr>
          <a:xfrm>
            <a:off x="320040" y="3630240"/>
            <a:ext cx="1736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onsolas"/>
                <a:ea typeface="Consolas"/>
              </a:rPr>
              <a:t>Shrink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6" name="Text 2777"/>
          <p:cNvSpPr/>
          <p:nvPr/>
        </p:nvSpPr>
        <p:spPr>
          <a:xfrm>
            <a:off x="2148840" y="3630240"/>
            <a:ext cx="5211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Réduire le nombre de shards primaires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7" name="Text 2778"/>
          <p:cNvSpPr/>
          <p:nvPr/>
        </p:nvSpPr>
        <p:spPr>
          <a:xfrm>
            <a:off x="7425000" y="3630240"/>
            <a:ext cx="1416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b0d0d8"/>
                </a:solidFill>
                <a:latin typeface="Calibri"/>
              </a:rPr>
              <a:t>WARM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8" name="Shape 2391"/>
          <p:cNvSpPr/>
          <p:nvPr/>
        </p:nvSpPr>
        <p:spPr>
          <a:xfrm>
            <a:off x="274320" y="3849480"/>
            <a:ext cx="182772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9" name="Shape 2392"/>
          <p:cNvSpPr/>
          <p:nvPr/>
        </p:nvSpPr>
        <p:spPr>
          <a:xfrm>
            <a:off x="2103120" y="3849480"/>
            <a:ext cx="530244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0" name="Shape 2393"/>
          <p:cNvSpPr/>
          <p:nvPr/>
        </p:nvSpPr>
        <p:spPr>
          <a:xfrm>
            <a:off x="7406640" y="3849480"/>
            <a:ext cx="146196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1" name="Text 2779"/>
          <p:cNvSpPr/>
          <p:nvPr/>
        </p:nvSpPr>
        <p:spPr>
          <a:xfrm>
            <a:off x="320040" y="3849480"/>
            <a:ext cx="1736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onsolas"/>
                <a:ea typeface="Consolas"/>
              </a:rPr>
              <a:t>Force merge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2" name="Text 2780"/>
          <p:cNvSpPr/>
          <p:nvPr/>
        </p:nvSpPr>
        <p:spPr>
          <a:xfrm>
            <a:off x="2148840" y="3849480"/>
            <a:ext cx="5211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Réduire les segments, libérer l'espace des docs supprimés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3" name="Text 2781"/>
          <p:cNvSpPr/>
          <p:nvPr/>
        </p:nvSpPr>
        <p:spPr>
          <a:xfrm>
            <a:off x="7425000" y="3849480"/>
            <a:ext cx="1416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b0d0d8"/>
                </a:solidFill>
                <a:latin typeface="Calibri"/>
              </a:rPr>
              <a:t>WARM/COLD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4" name="Shape 2394"/>
          <p:cNvSpPr/>
          <p:nvPr/>
        </p:nvSpPr>
        <p:spPr>
          <a:xfrm>
            <a:off x="274320" y="4069080"/>
            <a:ext cx="1827720" cy="2185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5" name="Shape 2395"/>
          <p:cNvSpPr/>
          <p:nvPr/>
        </p:nvSpPr>
        <p:spPr>
          <a:xfrm>
            <a:off x="2103120" y="4069080"/>
            <a:ext cx="5302440" cy="2185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6" name="Shape 2396"/>
          <p:cNvSpPr/>
          <p:nvPr/>
        </p:nvSpPr>
        <p:spPr>
          <a:xfrm>
            <a:off x="7406640" y="4069080"/>
            <a:ext cx="1461960" cy="2185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7" name="Text 2782"/>
          <p:cNvSpPr/>
          <p:nvPr/>
        </p:nvSpPr>
        <p:spPr>
          <a:xfrm>
            <a:off x="320040" y="4069080"/>
            <a:ext cx="1736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onsolas"/>
                <a:ea typeface="Consolas"/>
              </a:rPr>
              <a:t>Freeze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8" name="Text 2783"/>
          <p:cNvSpPr/>
          <p:nvPr/>
        </p:nvSpPr>
        <p:spPr>
          <a:xfrm>
            <a:off x="2148840" y="4069080"/>
            <a:ext cx="5211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Rendre read-only, minimiser l'empreinte mémoire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9" name="Text 2784"/>
          <p:cNvSpPr/>
          <p:nvPr/>
        </p:nvSpPr>
        <p:spPr>
          <a:xfrm>
            <a:off x="7425000" y="4069080"/>
            <a:ext cx="1416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b0d0d8"/>
                </a:solidFill>
                <a:latin typeface="Calibri"/>
              </a:rPr>
              <a:t>COLD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0" name="Shape 2397"/>
          <p:cNvSpPr/>
          <p:nvPr/>
        </p:nvSpPr>
        <p:spPr>
          <a:xfrm>
            <a:off x="274320" y="4288680"/>
            <a:ext cx="182772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1" name="Shape 2398"/>
          <p:cNvSpPr/>
          <p:nvPr/>
        </p:nvSpPr>
        <p:spPr>
          <a:xfrm>
            <a:off x="2103120" y="4288680"/>
            <a:ext cx="530244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2" name="Shape 2399"/>
          <p:cNvSpPr/>
          <p:nvPr/>
        </p:nvSpPr>
        <p:spPr>
          <a:xfrm>
            <a:off x="7406640" y="4288680"/>
            <a:ext cx="1461960" cy="2185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3" name="Text 2785"/>
          <p:cNvSpPr/>
          <p:nvPr/>
        </p:nvSpPr>
        <p:spPr>
          <a:xfrm>
            <a:off x="320040" y="4288680"/>
            <a:ext cx="17362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onsolas"/>
                <a:ea typeface="Consolas"/>
              </a:rPr>
              <a:t>Delete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4" name="Text 2786"/>
          <p:cNvSpPr/>
          <p:nvPr/>
        </p:nvSpPr>
        <p:spPr>
          <a:xfrm>
            <a:off x="2148840" y="4288680"/>
            <a:ext cx="52110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Supprimer définitivement l'index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5" name="Text 2787"/>
          <p:cNvSpPr/>
          <p:nvPr/>
        </p:nvSpPr>
        <p:spPr>
          <a:xfrm>
            <a:off x="7425000" y="4288680"/>
            <a:ext cx="1416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b0d0d8"/>
                </a:solidFill>
                <a:latin typeface="Calibri"/>
              </a:rPr>
              <a:t>DELETE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Shape 240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7" name="Shape 2401"/>
          <p:cNvSpPr/>
          <p:nvPr/>
        </p:nvSpPr>
        <p:spPr>
          <a:xfrm>
            <a:off x="0" y="0"/>
            <a:ext cx="501840" cy="821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8" name="Text 2788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ILM — Création d'une policy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9" name="Text 2790"/>
          <p:cNvSpPr/>
          <p:nvPr/>
        </p:nvSpPr>
        <p:spPr>
          <a:xfrm>
            <a:off x="320040" y="914400"/>
            <a:ext cx="8502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Une policy ILM définit les phases et les conditions de transition. Elle est associée au datastream via l'index template.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0" name="Shape 2403"/>
          <p:cNvSpPr/>
          <p:nvPr/>
        </p:nvSpPr>
        <p:spPr>
          <a:xfrm>
            <a:off x="274320" y="1417320"/>
            <a:ext cx="4845240" cy="3622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1" name="Shape 2405"/>
          <p:cNvSpPr/>
          <p:nvPr/>
        </p:nvSpPr>
        <p:spPr>
          <a:xfrm>
            <a:off x="347400" y="1468800"/>
            <a:ext cx="4662360" cy="3571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2" name="Text 2792"/>
          <p:cNvSpPr/>
          <p:nvPr/>
        </p:nvSpPr>
        <p:spPr>
          <a:xfrm>
            <a:off x="457200" y="1469880"/>
            <a:ext cx="4442760" cy="23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PUT _plugins/_ism/policies/logs_policy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"policy":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"description": "Politique logs OpenSearch",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"phases":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"hot":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"actions":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"rollover":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"max_size":  "50gb",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"max_age":   "30d",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"max_docs":  10000000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 } },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"warm":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"min_age": "30d",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"actions":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"shrink": { "num_shards": 1 },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"forcemerge": { "max_num_segments": 1 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 },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"cold":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"min_age": "60d",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"actions": { "freeze": {} 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"delete": {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"min_age": "90d",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"actions": { "delete": {} 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  </a:t>
            </a: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}</a:t>
            </a:r>
            <a:endParaRPr b="1" lang="fr-F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" name="Shape 2406"/>
          <p:cNvSpPr/>
          <p:nvPr/>
        </p:nvSpPr>
        <p:spPr>
          <a:xfrm>
            <a:off x="5220000" y="1417320"/>
            <a:ext cx="3648600" cy="3622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4" name="Shape 2407"/>
          <p:cNvSpPr/>
          <p:nvPr/>
        </p:nvSpPr>
        <p:spPr>
          <a:xfrm>
            <a:off x="5349240" y="1417320"/>
            <a:ext cx="3519360" cy="346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5" name="Text 2793"/>
          <p:cNvSpPr/>
          <p:nvPr/>
        </p:nvSpPr>
        <p:spPr>
          <a:xfrm>
            <a:off x="5422320" y="1417320"/>
            <a:ext cx="3382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💡 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Points clés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6" name="Shape 2408"/>
          <p:cNvSpPr/>
          <p:nvPr/>
        </p:nvSpPr>
        <p:spPr>
          <a:xfrm>
            <a:off x="5440680" y="1847160"/>
            <a:ext cx="3309120" cy="6390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7" name="Shape 2409"/>
          <p:cNvSpPr/>
          <p:nvPr/>
        </p:nvSpPr>
        <p:spPr>
          <a:xfrm>
            <a:off x="5440680" y="1847160"/>
            <a:ext cx="536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8" name="Text 2794"/>
          <p:cNvSpPr/>
          <p:nvPr/>
        </p:nvSpPr>
        <p:spPr>
          <a:xfrm>
            <a:off x="5541120" y="1856880"/>
            <a:ext cx="3153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ISM vs ILM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9" name="Text 2795"/>
          <p:cNvSpPr/>
          <p:nvPr/>
        </p:nvSpPr>
        <p:spPr>
          <a:xfrm>
            <a:off x="5541120" y="2040840"/>
            <a:ext cx="3153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OpenSearch utilise le plugin ISM (Index State Management) — équivalent de l'ILM Elasticsearch. L'API est _plugins/_ism.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0" name="Shape 2410"/>
          <p:cNvSpPr/>
          <p:nvPr/>
        </p:nvSpPr>
        <p:spPr>
          <a:xfrm>
            <a:off x="5440680" y="2560320"/>
            <a:ext cx="3309120" cy="6390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1" name="Shape 2411"/>
          <p:cNvSpPr/>
          <p:nvPr/>
        </p:nvSpPr>
        <p:spPr>
          <a:xfrm>
            <a:off x="5440680" y="2560320"/>
            <a:ext cx="536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2" name="Text 2796"/>
          <p:cNvSpPr/>
          <p:nvPr/>
        </p:nvSpPr>
        <p:spPr>
          <a:xfrm>
            <a:off x="5541120" y="2570040"/>
            <a:ext cx="3153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Rollover conditions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3" name="Text 2797"/>
          <p:cNvSpPr/>
          <p:nvPr/>
        </p:nvSpPr>
        <p:spPr>
          <a:xfrm>
            <a:off x="5541120" y="2718000"/>
            <a:ext cx="3153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max_size, max_age et max_docs sont combinables — le rollover se déclenche dès qu'une condition est atteinte.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4" name="Shape 2412"/>
          <p:cNvSpPr/>
          <p:nvPr/>
        </p:nvSpPr>
        <p:spPr>
          <a:xfrm>
            <a:off x="5440680" y="3273480"/>
            <a:ext cx="3309120" cy="6390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5" name="Shape 2413"/>
          <p:cNvSpPr/>
          <p:nvPr/>
        </p:nvSpPr>
        <p:spPr>
          <a:xfrm>
            <a:off x="5440680" y="3273480"/>
            <a:ext cx="536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6" name="Text 2798"/>
          <p:cNvSpPr/>
          <p:nvPr/>
        </p:nvSpPr>
        <p:spPr>
          <a:xfrm>
            <a:off x="5541120" y="3247200"/>
            <a:ext cx="3153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min_age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7" name="Text 2799"/>
          <p:cNvSpPr/>
          <p:nvPr/>
        </p:nvSpPr>
        <p:spPr>
          <a:xfrm>
            <a:off x="5541120" y="3431160"/>
            <a:ext cx="3153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Délai minimum après rollover avant de passer à la phase suivante. Hot n'a pas de min_age (actif immédiatement).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8" name="Shape 2414"/>
          <p:cNvSpPr/>
          <p:nvPr/>
        </p:nvSpPr>
        <p:spPr>
          <a:xfrm>
            <a:off x="5440680" y="3986640"/>
            <a:ext cx="3309120" cy="6390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9" name="Shape 2415"/>
          <p:cNvSpPr/>
          <p:nvPr/>
        </p:nvSpPr>
        <p:spPr>
          <a:xfrm>
            <a:off x="5440680" y="3986640"/>
            <a:ext cx="536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0" name="Text 2800"/>
          <p:cNvSpPr/>
          <p:nvPr/>
        </p:nvSpPr>
        <p:spPr>
          <a:xfrm>
            <a:off x="5541120" y="3960360"/>
            <a:ext cx="3153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Lien template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1" name="Text 2801"/>
          <p:cNvSpPr/>
          <p:nvPr/>
        </p:nvSpPr>
        <p:spPr>
          <a:xfrm>
            <a:off x="5541120" y="4144680"/>
            <a:ext cx="31536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Associer la policy au template via index.plugins.ism.policy_id dans les settings.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Shape 2416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3" name="Shape 2417"/>
          <p:cNvSpPr/>
          <p:nvPr/>
        </p:nvSpPr>
        <p:spPr>
          <a:xfrm>
            <a:off x="0" y="0"/>
            <a:ext cx="501840" cy="821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4" name="Text 2802"/>
          <p:cNvSpPr/>
          <p:nvPr/>
        </p:nvSpPr>
        <p:spPr>
          <a:xfrm>
            <a:off x="640080" y="0"/>
            <a:ext cx="7954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Calibri"/>
                <a:ea typeface="Calibri"/>
              </a:rPr>
              <a:t>Mise en place d'un datastream — Étapes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5" name="Text 2804"/>
          <p:cNvSpPr/>
          <p:nvPr/>
        </p:nvSpPr>
        <p:spPr>
          <a:xfrm>
            <a:off x="320040" y="914400"/>
            <a:ext cx="8502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</a:rPr>
              <a:t>La mise en place d'un datastream s'effectue en plusieurs étapes, dans cet ordre :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6" name="Shape 2419"/>
          <p:cNvSpPr/>
          <p:nvPr/>
        </p:nvSpPr>
        <p:spPr>
          <a:xfrm>
            <a:off x="274320" y="1273320"/>
            <a:ext cx="8594280" cy="59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7" name="Shape 2420"/>
          <p:cNvSpPr/>
          <p:nvPr/>
        </p:nvSpPr>
        <p:spPr>
          <a:xfrm>
            <a:off x="347400" y="1346400"/>
            <a:ext cx="456120" cy="45612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8" name="Text 2805"/>
          <p:cNvSpPr/>
          <p:nvPr/>
        </p:nvSpPr>
        <p:spPr>
          <a:xfrm>
            <a:off x="347400" y="13464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9" name="Text 2806"/>
          <p:cNvSpPr/>
          <p:nvPr/>
        </p:nvSpPr>
        <p:spPr>
          <a:xfrm>
            <a:off x="896040" y="131904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</a:rPr>
              <a:t>Créer la policy ISM (ILM)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0" name="Text 2807"/>
          <p:cNvSpPr/>
          <p:nvPr/>
        </p:nvSpPr>
        <p:spPr>
          <a:xfrm>
            <a:off x="896040" y="1602360"/>
            <a:ext cx="3382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Définir les phases hot/warm/cold/delete et les conditions de transition (max_age, max_size...).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1" name="Shape 2421"/>
          <p:cNvSpPr/>
          <p:nvPr/>
        </p:nvSpPr>
        <p:spPr>
          <a:xfrm>
            <a:off x="4434840" y="1346400"/>
            <a:ext cx="434232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2" name="Text 2808"/>
          <p:cNvSpPr/>
          <p:nvPr/>
        </p:nvSpPr>
        <p:spPr>
          <a:xfrm>
            <a:off x="4526280" y="1364760"/>
            <a:ext cx="41594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PUT _plugins/_ism/policies/ma_policy { ... }</a:t>
            </a:r>
            <a:endParaRPr b="0" lang="fr-F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3" name="Shape 2422"/>
          <p:cNvSpPr/>
          <p:nvPr/>
        </p:nvSpPr>
        <p:spPr>
          <a:xfrm>
            <a:off x="274320" y="1931760"/>
            <a:ext cx="8594280" cy="59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4" name="Shape 2423"/>
          <p:cNvSpPr/>
          <p:nvPr/>
        </p:nvSpPr>
        <p:spPr>
          <a:xfrm>
            <a:off x="347400" y="2004840"/>
            <a:ext cx="456120" cy="4561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5" name="Shape 241"/>
          <p:cNvSpPr/>
          <p:nvPr/>
        </p:nvSpPr>
        <p:spPr>
          <a:xfrm>
            <a:off x="347400" y="1999800"/>
            <a:ext cx="456120" cy="456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6" name="Text 2809"/>
          <p:cNvSpPr/>
          <p:nvPr/>
        </p:nvSpPr>
        <p:spPr>
          <a:xfrm>
            <a:off x="347400" y="20048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7" name="Text 2810"/>
          <p:cNvSpPr/>
          <p:nvPr/>
        </p:nvSpPr>
        <p:spPr>
          <a:xfrm>
            <a:off x="896040" y="197748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Créer les component templates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8" name="Text 2811"/>
          <p:cNvSpPr/>
          <p:nvPr/>
        </p:nvSpPr>
        <p:spPr>
          <a:xfrm>
            <a:off x="896040" y="2260800"/>
            <a:ext cx="3382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Définir les blocs réutilisables : mapping du @timestamp, des champs métier, des settings standards.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9" name="Shape 2424"/>
          <p:cNvSpPr/>
          <p:nvPr/>
        </p:nvSpPr>
        <p:spPr>
          <a:xfrm>
            <a:off x="4434840" y="2004840"/>
            <a:ext cx="434232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0" name="Text 2812"/>
          <p:cNvSpPr/>
          <p:nvPr/>
        </p:nvSpPr>
        <p:spPr>
          <a:xfrm>
            <a:off x="4526280" y="2023200"/>
            <a:ext cx="41594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PUT _component_template/mon_composant { ... }</a:t>
            </a:r>
            <a:endParaRPr b="0" lang="fr-F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1" name="Shape 2425"/>
          <p:cNvSpPr/>
          <p:nvPr/>
        </p:nvSpPr>
        <p:spPr>
          <a:xfrm>
            <a:off x="274320" y="2590200"/>
            <a:ext cx="8594280" cy="59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2" name="Shape 2426"/>
          <p:cNvSpPr/>
          <p:nvPr/>
        </p:nvSpPr>
        <p:spPr>
          <a:xfrm>
            <a:off x="347400" y="2663280"/>
            <a:ext cx="456120" cy="456120"/>
          </a:xfrm>
          <a:prstGeom prst="ellipse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3" name="Text 2813"/>
          <p:cNvSpPr/>
          <p:nvPr/>
        </p:nvSpPr>
        <p:spPr>
          <a:xfrm>
            <a:off x="347400" y="26632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4" name="Text 2814"/>
          <p:cNvSpPr/>
          <p:nvPr/>
        </p:nvSpPr>
        <p:spPr>
          <a:xfrm>
            <a:off x="896040" y="263592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Créer l'index template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5" name="Text 2815"/>
          <p:cNvSpPr/>
          <p:nvPr/>
        </p:nvSpPr>
        <p:spPr>
          <a:xfrm>
            <a:off x="896040" y="2919240"/>
            <a:ext cx="3382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Assembler les component templates + définir le pattern, la priorité et lier la </a:t>
            </a: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policy ISM.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6" name="Shape 2427"/>
          <p:cNvSpPr/>
          <p:nvPr/>
        </p:nvSpPr>
        <p:spPr>
          <a:xfrm>
            <a:off x="4434840" y="2663280"/>
            <a:ext cx="434232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7" name="Text 2816"/>
          <p:cNvSpPr/>
          <p:nvPr/>
        </p:nvSpPr>
        <p:spPr>
          <a:xfrm>
            <a:off x="4526280" y="2681640"/>
            <a:ext cx="41594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PUT _index_template/mon_template { "index_patterns":["logs-*"], "composed_of":[...] }</a:t>
            </a:r>
            <a:endParaRPr b="0" lang="fr-F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8" name="Shape 2428"/>
          <p:cNvSpPr/>
          <p:nvPr/>
        </p:nvSpPr>
        <p:spPr>
          <a:xfrm>
            <a:off x="274320" y="3248280"/>
            <a:ext cx="8594280" cy="59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9" name="Shape 2429"/>
          <p:cNvSpPr/>
          <p:nvPr/>
        </p:nvSpPr>
        <p:spPr>
          <a:xfrm>
            <a:off x="347400" y="3321720"/>
            <a:ext cx="456120" cy="45612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0" name="Text 2817"/>
          <p:cNvSpPr/>
          <p:nvPr/>
        </p:nvSpPr>
        <p:spPr>
          <a:xfrm>
            <a:off x="347400" y="332172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1" name="Text 2818"/>
          <p:cNvSpPr/>
          <p:nvPr/>
        </p:nvSpPr>
        <p:spPr>
          <a:xfrm>
            <a:off x="896040" y="329400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</a:rPr>
              <a:t>Créer le datastream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2" name="Text 2819"/>
          <p:cNvSpPr/>
          <p:nvPr/>
        </p:nvSpPr>
        <p:spPr>
          <a:xfrm>
            <a:off x="896040" y="3577680"/>
            <a:ext cx="3382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Créer explicitement le datastream — le premier index de sauvegarde est généré automatiquement.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3" name="Shape 2430"/>
          <p:cNvSpPr/>
          <p:nvPr/>
        </p:nvSpPr>
        <p:spPr>
          <a:xfrm>
            <a:off x="4434840" y="3321720"/>
            <a:ext cx="434232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4" name="Text 2820"/>
          <p:cNvSpPr/>
          <p:nvPr/>
        </p:nvSpPr>
        <p:spPr>
          <a:xfrm>
            <a:off x="4526280" y="3339720"/>
            <a:ext cx="41594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PUT _data_stream/logs-app-prod</a:t>
            </a:r>
            <a:endParaRPr b="0" lang="fr-F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5" name="Shape 2431"/>
          <p:cNvSpPr/>
          <p:nvPr/>
        </p:nvSpPr>
        <p:spPr>
          <a:xfrm>
            <a:off x="274320" y="3906720"/>
            <a:ext cx="8594280" cy="59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6" name="Shape 2432"/>
          <p:cNvSpPr/>
          <p:nvPr/>
        </p:nvSpPr>
        <p:spPr>
          <a:xfrm>
            <a:off x="347400" y="3907800"/>
            <a:ext cx="456120" cy="4561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7" name="Text 2821"/>
          <p:cNvSpPr/>
          <p:nvPr/>
        </p:nvSpPr>
        <p:spPr>
          <a:xfrm>
            <a:off x="347400" y="390780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8" name="Text 2822"/>
          <p:cNvSpPr/>
          <p:nvPr/>
        </p:nvSpPr>
        <p:spPr>
          <a:xfrm>
            <a:off x="896040" y="3952440"/>
            <a:ext cx="2330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0b981"/>
                </a:solidFill>
                <a:latin typeface="Calibri"/>
              </a:rPr>
              <a:t>Sécuriser le </a:t>
            </a:r>
            <a:r>
              <a:rPr b="1" lang="en-US" sz="1050" spc="-1" strike="noStrike">
                <a:solidFill>
                  <a:srgbClr val="10b981"/>
                </a:solidFill>
                <a:latin typeface="Calibri"/>
              </a:rPr>
              <a:t>datastream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9" name="Text 2823"/>
          <p:cNvSpPr/>
          <p:nvPr/>
        </p:nvSpPr>
        <p:spPr>
          <a:xfrm>
            <a:off x="896040" y="4236120"/>
            <a:ext cx="33822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</a:rPr>
              <a:t>Définir les rôles et permissions via OpenSearch Security (lecture, écriture, gestion).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0" name="Shape 2433"/>
          <p:cNvSpPr/>
          <p:nvPr/>
        </p:nvSpPr>
        <p:spPr>
          <a:xfrm>
            <a:off x="4434840" y="3979800"/>
            <a:ext cx="434232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1" name="Text 2824"/>
          <p:cNvSpPr/>
          <p:nvPr/>
        </p:nvSpPr>
        <p:spPr>
          <a:xfrm>
            <a:off x="4526280" y="3998160"/>
            <a:ext cx="41594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80ccd8"/>
                </a:solidFill>
                <a:latin typeface="Consolas"/>
                <a:ea typeface="Consolas"/>
              </a:rPr>
              <a:t>PUT _plugins/_security/api/roles/logs_role { ... }</a:t>
            </a:r>
            <a:endParaRPr b="0" lang="fr-FR" sz="7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2" name="Shape 2147"/>
          <p:cNvSpPr/>
          <p:nvPr/>
        </p:nvSpPr>
        <p:spPr>
          <a:xfrm>
            <a:off x="228600" y="4628880"/>
            <a:ext cx="8686440" cy="430920"/>
          </a:xfrm>
          <a:prstGeom prst="rect">
            <a:avLst/>
          </a:prstGeom>
          <a:solidFill>
            <a:srgbClr val="003040"/>
          </a:solidFill>
          <a:ln w="1905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3" name="Text 2435"/>
          <p:cNvSpPr/>
          <p:nvPr/>
        </p:nvSpPr>
        <p:spPr>
          <a:xfrm>
            <a:off x="365760" y="4581360"/>
            <a:ext cx="841212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☞  </a:t>
            </a:r>
            <a:r>
              <a:rPr b="1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Atelier 3.5 — Index Templates et ISM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Shape 231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5" name="Text 2645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</a:t>
            </a: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6" name="Text 2646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Alia</a:t>
            </a: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s et </a:t>
            </a: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migr</a:t>
            </a: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atio</a:t>
            </a: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n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7" name="Shape 2312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8" name="Text 2647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Alias – Reindex –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Bonnes pratiques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9" name="Shape 2313"/>
          <p:cNvSpPr/>
          <p:nvPr/>
        </p:nvSpPr>
        <p:spPr>
          <a:xfrm>
            <a:off x="0" y="4316040"/>
            <a:ext cx="914328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0" name="Shape 2314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1" name="Text 2648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Mapping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2" name="Shape 2315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3" name="Text 2649"/>
          <p:cNvSpPr/>
          <p:nvPr/>
        </p:nvSpPr>
        <p:spPr>
          <a:xfrm>
            <a:off x="1404000" y="4546800"/>
            <a:ext cx="93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Types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4" name="Text 2650"/>
          <p:cNvSpPr/>
          <p:nvPr/>
        </p:nvSpPr>
        <p:spPr>
          <a:xfrm>
            <a:off x="3830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5" name="Shape 2316"/>
          <p:cNvSpPr/>
          <p:nvPr/>
        </p:nvSpPr>
        <p:spPr>
          <a:xfrm>
            <a:off x="7802640" y="4549680"/>
            <a:ext cx="119736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6" name="Text 2653"/>
          <p:cNvSpPr/>
          <p:nvPr/>
        </p:nvSpPr>
        <p:spPr>
          <a:xfrm>
            <a:off x="2088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Contrôle du mapping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7" name="Text 2655"/>
          <p:cNvSpPr/>
          <p:nvPr/>
        </p:nvSpPr>
        <p:spPr>
          <a:xfrm>
            <a:off x="4032000" y="4546800"/>
            <a:ext cx="18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Gabarits d’index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8" name="Text 2656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9" name="Text 2657"/>
          <p:cNvSpPr/>
          <p:nvPr/>
        </p:nvSpPr>
        <p:spPr>
          <a:xfrm>
            <a:off x="7385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0" name="Text 2658"/>
          <p:cNvSpPr/>
          <p:nvPr/>
        </p:nvSpPr>
        <p:spPr>
          <a:xfrm>
            <a:off x="1949040" y="4582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1" name="Text 2659"/>
          <p:cNvSpPr/>
          <p:nvPr/>
        </p:nvSpPr>
        <p:spPr>
          <a:xfrm>
            <a:off x="579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Datastream et ILM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2" name="Text 2660"/>
          <p:cNvSpPr/>
          <p:nvPr/>
        </p:nvSpPr>
        <p:spPr>
          <a:xfrm>
            <a:off x="558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3" name="Text 2410"/>
          <p:cNvSpPr/>
          <p:nvPr/>
        </p:nvSpPr>
        <p:spPr>
          <a:xfrm>
            <a:off x="7956000" y="4546800"/>
            <a:ext cx="9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Migration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Shape 488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5" name="Text 2411"/>
          <p:cNvSpPr/>
          <p:nvPr/>
        </p:nvSpPr>
        <p:spPr>
          <a:xfrm>
            <a:off x="274320" y="73080"/>
            <a:ext cx="64004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l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i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6" name="Text 2420"/>
          <p:cNvSpPr/>
          <p:nvPr/>
        </p:nvSpPr>
        <p:spPr>
          <a:xfrm>
            <a:off x="274320" y="850320"/>
            <a:ext cx="8595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Un alias est un </a:t>
            </a:r>
            <a:r>
              <a:rPr b="1" lang="en-US" sz="1200" spc="-1" strike="noStrike" u="sng">
                <a:solidFill>
                  <a:srgbClr val="ffffff"/>
                </a:solidFill>
                <a:uFillTx/>
                <a:latin typeface="Calibri"/>
                <a:ea typeface="Calibri"/>
              </a:rPr>
              <a:t>nom secondaire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pour un groupe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d'index ou de datastreams. Toutes les API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OpenSearch acceptent un alias à la place d'un index.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7" name="Shape 2108"/>
          <p:cNvSpPr/>
          <p:nvPr/>
        </p:nvSpPr>
        <p:spPr>
          <a:xfrm>
            <a:off x="228600" y="1353240"/>
            <a:ext cx="4251600" cy="932400"/>
          </a:xfrm>
          <a:prstGeom prst="rect">
            <a:avLst/>
          </a:prstGeom>
          <a:solidFill>
            <a:srgbClr val="005f75"/>
          </a:solidFill>
          <a:ln w="9525">
            <a:solidFill>
              <a:srgbClr val="80cc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8" name="Text 2421"/>
          <p:cNvSpPr/>
          <p:nvPr/>
        </p:nvSpPr>
        <p:spPr>
          <a:xfrm>
            <a:off x="338400" y="14263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■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9" name="Text 2422"/>
          <p:cNvSpPr/>
          <p:nvPr/>
        </p:nvSpPr>
        <p:spPr>
          <a:xfrm>
            <a:off x="685800" y="142632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Zero-downtime reindex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0" name="Text 2423"/>
          <p:cNvSpPr/>
          <p:nvPr/>
        </p:nvSpPr>
        <p:spPr>
          <a:xfrm>
            <a:off x="338400" y="173736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Poi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nte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r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l'al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ias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ver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no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uv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el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ind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ex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apr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ès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réi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nd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ex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ati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on,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sa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ch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an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ger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co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de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ap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pli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cat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if.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1" name="Shape 2132"/>
          <p:cNvSpPr/>
          <p:nvPr/>
        </p:nvSpPr>
        <p:spPr>
          <a:xfrm>
            <a:off x="4617720" y="1353240"/>
            <a:ext cx="4251600" cy="932400"/>
          </a:xfrm>
          <a:prstGeom prst="rect">
            <a:avLst/>
          </a:prstGeom>
          <a:solidFill>
            <a:srgbClr val="005f75"/>
          </a:solidFill>
          <a:ln w="9525">
            <a:solidFill>
              <a:srgbClr val="80cc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2" name="Text 2424"/>
          <p:cNvSpPr/>
          <p:nvPr/>
        </p:nvSpPr>
        <p:spPr>
          <a:xfrm>
            <a:off x="4727520" y="14263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🔖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3" name="Text 2425"/>
          <p:cNvSpPr/>
          <p:nvPr/>
        </p:nvSpPr>
        <p:spPr>
          <a:xfrm>
            <a:off x="5074920" y="142632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Abstraction multi-index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4" name="Text 2426"/>
          <p:cNvSpPr/>
          <p:nvPr/>
        </p:nvSpPr>
        <p:spPr>
          <a:xfrm>
            <a:off x="4727520" y="173736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log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s-*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→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ali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log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 :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écr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ire/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lire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sur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tou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les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ind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ex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via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un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se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ul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no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m.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5" name="Shape 2138"/>
          <p:cNvSpPr/>
          <p:nvPr/>
        </p:nvSpPr>
        <p:spPr>
          <a:xfrm>
            <a:off x="228600" y="2352240"/>
            <a:ext cx="4251600" cy="887760"/>
          </a:xfrm>
          <a:prstGeom prst="rect">
            <a:avLst/>
          </a:prstGeom>
          <a:solidFill>
            <a:srgbClr val="005f75"/>
          </a:solidFill>
          <a:ln w="9525">
            <a:solidFill>
              <a:srgbClr val="80cc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6" name="Text 2427"/>
          <p:cNvSpPr/>
          <p:nvPr/>
        </p:nvSpPr>
        <p:spPr>
          <a:xfrm>
            <a:off x="338400" y="24253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🔧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7" name="Text 2428"/>
          <p:cNvSpPr/>
          <p:nvPr/>
        </p:nvSpPr>
        <p:spPr>
          <a:xfrm>
            <a:off x="685800" y="242532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Alias filtré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8" name="Text 2429"/>
          <p:cNvSpPr/>
          <p:nvPr/>
        </p:nvSpPr>
        <p:spPr>
          <a:xfrm>
            <a:off x="338400" y="273636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Ex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po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ser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un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vu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par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tiel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le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d'u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ind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ex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(ex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: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uni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qu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em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ent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les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do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cs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d'u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n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ten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ant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9" name="Shape 2139"/>
          <p:cNvSpPr/>
          <p:nvPr/>
        </p:nvSpPr>
        <p:spPr>
          <a:xfrm>
            <a:off x="4617720" y="2352240"/>
            <a:ext cx="4251600" cy="887760"/>
          </a:xfrm>
          <a:prstGeom prst="rect">
            <a:avLst/>
          </a:prstGeom>
          <a:solidFill>
            <a:srgbClr val="005f75"/>
          </a:solidFill>
          <a:ln w="9525">
            <a:solidFill>
              <a:srgbClr val="80cc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0" name="Text 2430"/>
          <p:cNvSpPr/>
          <p:nvPr/>
        </p:nvSpPr>
        <p:spPr>
          <a:xfrm>
            <a:off x="4727520" y="2425320"/>
            <a:ext cx="319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✏️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1" name="Text 2431"/>
          <p:cNvSpPr/>
          <p:nvPr/>
        </p:nvSpPr>
        <p:spPr>
          <a:xfrm>
            <a:off x="5074920" y="2425320"/>
            <a:ext cx="3702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Alias d'écriture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2" name="Text 2432"/>
          <p:cNvSpPr/>
          <p:nvPr/>
        </p:nvSpPr>
        <p:spPr>
          <a:xfrm>
            <a:off x="4727520" y="2736360"/>
            <a:ext cx="402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Désigner un seul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index actif en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écriture parmi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plusieurs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(is_write_index: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  <a:ea typeface="Calibri"/>
              </a:rPr>
              <a:t>true).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3" name="Shape 2140"/>
          <p:cNvSpPr/>
          <p:nvPr/>
        </p:nvSpPr>
        <p:spPr>
          <a:xfrm>
            <a:off x="228600" y="3314160"/>
            <a:ext cx="8686440" cy="9597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4" name="Text 2433"/>
          <p:cNvSpPr/>
          <p:nvPr/>
        </p:nvSpPr>
        <p:spPr>
          <a:xfrm>
            <a:off x="320040" y="3341520"/>
            <a:ext cx="8503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POST _aliases {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 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"actions": [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{ "add":    { "index": "logs-2025-01",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"alias": "logs_write", "is_write_index": true },}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{ "add":    { "index": "logs-2025-*", 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"alias": "logs_recent", "filter": { "range":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{ "@timestamp": { "gte": "now-30d" }}}}}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{ "remove": { "index": "logs-2024-12", </a:t>
            </a: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"alias": "logs" }}  ]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80ccd8"/>
                </a:solidFill>
                <a:latin typeface="Courier New"/>
                <a:ea typeface="Courier New"/>
              </a:rPr>
              <a:t>}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5" name="Shape 2141"/>
          <p:cNvSpPr/>
          <p:nvPr/>
        </p:nvSpPr>
        <p:spPr>
          <a:xfrm>
            <a:off x="228600" y="4292640"/>
            <a:ext cx="8686440" cy="2923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6" name="Text 2434"/>
          <p:cNvSpPr/>
          <p:nvPr/>
        </p:nvSpPr>
        <p:spPr>
          <a:xfrm>
            <a:off x="320040" y="4292640"/>
            <a:ext cx="8503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📌 </a:t>
            </a:r>
            <a:r>
              <a:rPr b="0" i="1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Bonne pratique : les applications ne référencent jamais un index directement — toujours via un alias. Facilite les migrations et rolling upgrades.</a:t>
            </a:r>
            <a:endParaRPr b="1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Shape 1155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8" name="Shape 1156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9" name="Text 1217"/>
          <p:cNvSpPr/>
          <p:nvPr/>
        </p:nvSpPr>
        <p:spPr>
          <a:xfrm>
            <a:off x="320040" y="0"/>
            <a:ext cx="8502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Migration – Pourquoi migrer un mapping ?</a:t>
            </a:r>
            <a:endParaRPr b="0" lang="fr-F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0" name="Text 1219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d0d8"/>
                </a:solidFill>
                <a:latin typeface="Calibri"/>
                <a:ea typeface="Calibri"/>
              </a:rPr>
              <a:t>Un mapping OpenSearch n'est pas librement modifiable après création. Certains changements imposent une réindexation complète des données.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1" name="Text 1220"/>
          <p:cNvSpPr/>
          <p:nvPr/>
        </p:nvSpPr>
        <p:spPr>
          <a:xfrm>
            <a:off x="320040" y="118872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✅  </a:t>
            </a: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Possible sans reindex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2" name="Shape 1158"/>
          <p:cNvSpPr/>
          <p:nvPr/>
        </p:nvSpPr>
        <p:spPr>
          <a:xfrm>
            <a:off x="320040" y="1572840"/>
            <a:ext cx="236520" cy="23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3" name="Text 1221"/>
          <p:cNvSpPr/>
          <p:nvPr/>
        </p:nvSpPr>
        <p:spPr>
          <a:xfrm>
            <a:off x="320040" y="157284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4" name="Text 1222"/>
          <p:cNvSpPr/>
          <p:nvPr/>
        </p:nvSpPr>
        <p:spPr>
          <a:xfrm>
            <a:off x="640080" y="1591200"/>
            <a:ext cx="3565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Ajouter un nouveau champ (dynamique ou explicite)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5" name="Shape 1159"/>
          <p:cNvSpPr/>
          <p:nvPr/>
        </p:nvSpPr>
        <p:spPr>
          <a:xfrm>
            <a:off x="320040" y="1901880"/>
            <a:ext cx="236520" cy="23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6" name="Text 1223"/>
          <p:cNvSpPr/>
          <p:nvPr/>
        </p:nvSpPr>
        <p:spPr>
          <a:xfrm>
            <a:off x="320040" y="190188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7" name="Text 1224"/>
          <p:cNvSpPr/>
          <p:nvPr/>
        </p:nvSpPr>
        <p:spPr>
          <a:xfrm>
            <a:off x="640080" y="1920240"/>
            <a:ext cx="3565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Ajouter un sous-champ (.keyword, .ngram…)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8" name="Shape 1160"/>
          <p:cNvSpPr/>
          <p:nvPr/>
        </p:nvSpPr>
        <p:spPr>
          <a:xfrm>
            <a:off x="320040" y="2231280"/>
            <a:ext cx="236520" cy="23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9" name="Text 1225"/>
          <p:cNvSpPr/>
          <p:nvPr/>
        </p:nvSpPr>
        <p:spPr>
          <a:xfrm>
            <a:off x="320040" y="223128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0" name="Text 1226"/>
          <p:cNvSpPr/>
          <p:nvPr/>
        </p:nvSpPr>
        <p:spPr>
          <a:xfrm>
            <a:off x="640080" y="2249280"/>
            <a:ext cx="3565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Modifier index: false sur un champ text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1" name="Shape 1161"/>
          <p:cNvSpPr/>
          <p:nvPr/>
        </p:nvSpPr>
        <p:spPr>
          <a:xfrm>
            <a:off x="320040" y="2560320"/>
            <a:ext cx="236520" cy="23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2" name="Text 1227"/>
          <p:cNvSpPr/>
          <p:nvPr/>
        </p:nvSpPr>
        <p:spPr>
          <a:xfrm>
            <a:off x="320040" y="256032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3" name="Text 1228"/>
          <p:cNvSpPr/>
          <p:nvPr/>
        </p:nvSpPr>
        <p:spPr>
          <a:xfrm>
            <a:off x="640080" y="2578680"/>
            <a:ext cx="3565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Changer ignore_malformed, ignore_above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4" name="Shape 1162"/>
          <p:cNvSpPr/>
          <p:nvPr/>
        </p:nvSpPr>
        <p:spPr>
          <a:xfrm>
            <a:off x="320040" y="2889360"/>
            <a:ext cx="236520" cy="23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5" name="Text 1229"/>
          <p:cNvSpPr/>
          <p:nvPr/>
        </p:nvSpPr>
        <p:spPr>
          <a:xfrm>
            <a:off x="320040" y="288936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6" name="Text 1230"/>
          <p:cNvSpPr/>
          <p:nvPr/>
        </p:nvSpPr>
        <p:spPr>
          <a:xfrm>
            <a:off x="640080" y="2907720"/>
            <a:ext cx="3565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Ajouter copy_to vers un nouveau champ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7" name="Shape 1163"/>
          <p:cNvSpPr/>
          <p:nvPr/>
        </p:nvSpPr>
        <p:spPr>
          <a:xfrm>
            <a:off x="320040" y="3218760"/>
            <a:ext cx="236520" cy="236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8" name="Text 1231"/>
          <p:cNvSpPr/>
          <p:nvPr/>
        </p:nvSpPr>
        <p:spPr>
          <a:xfrm>
            <a:off x="320040" y="321876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9" name="Text 1232"/>
          <p:cNvSpPr/>
          <p:nvPr/>
        </p:nvSpPr>
        <p:spPr>
          <a:xfrm>
            <a:off x="640080" y="3237120"/>
            <a:ext cx="35650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Étendre un analyzer existant (puis _close/_open)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0" name="Text 1233"/>
          <p:cNvSpPr/>
          <p:nvPr/>
        </p:nvSpPr>
        <p:spPr>
          <a:xfrm>
            <a:off x="4754880" y="118872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0392b"/>
                </a:solidFill>
                <a:latin typeface="Arial"/>
                <a:ea typeface="Arial"/>
              </a:rPr>
              <a:t>✗  </a:t>
            </a:r>
            <a:r>
              <a:rPr b="1" lang="en-US" sz="1300" spc="-1" strike="noStrike">
                <a:solidFill>
                  <a:srgbClr val="c0392b"/>
                </a:solidFill>
                <a:latin typeface="Arial"/>
                <a:ea typeface="Arial"/>
              </a:rPr>
              <a:t>Nécessite un reindex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1" name="Shape 1164"/>
          <p:cNvSpPr/>
          <p:nvPr/>
        </p:nvSpPr>
        <p:spPr>
          <a:xfrm>
            <a:off x="4754880" y="1572840"/>
            <a:ext cx="236520" cy="23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2" name="Text 1234"/>
          <p:cNvSpPr/>
          <p:nvPr/>
        </p:nvSpPr>
        <p:spPr>
          <a:xfrm>
            <a:off x="4754880" y="157284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3" name="Text 1235"/>
          <p:cNvSpPr/>
          <p:nvPr/>
        </p:nvSpPr>
        <p:spPr>
          <a:xfrm>
            <a:off x="5065920" y="1591200"/>
            <a:ext cx="3747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Changer le type d'un champ (text→keyword, long→double…)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4" name="Shape 1165"/>
          <p:cNvSpPr/>
          <p:nvPr/>
        </p:nvSpPr>
        <p:spPr>
          <a:xfrm>
            <a:off x="4754880" y="1901880"/>
            <a:ext cx="236520" cy="23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5" name="Text 1236"/>
          <p:cNvSpPr/>
          <p:nvPr/>
        </p:nvSpPr>
        <p:spPr>
          <a:xfrm>
            <a:off x="4754880" y="190188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6" name="Text 1237"/>
          <p:cNvSpPr/>
          <p:nvPr/>
        </p:nvSpPr>
        <p:spPr>
          <a:xfrm>
            <a:off x="5065920" y="1920240"/>
            <a:ext cx="3747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Changer l'analyzer d'un champ déjà indexé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7" name="Shape 1166"/>
          <p:cNvSpPr/>
          <p:nvPr/>
        </p:nvSpPr>
        <p:spPr>
          <a:xfrm>
            <a:off x="4754880" y="2231280"/>
            <a:ext cx="236520" cy="23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8" name="Text 1238"/>
          <p:cNvSpPr/>
          <p:nvPr/>
        </p:nvSpPr>
        <p:spPr>
          <a:xfrm>
            <a:off x="4754880" y="223128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9" name="Text 1239"/>
          <p:cNvSpPr/>
          <p:nvPr/>
        </p:nvSpPr>
        <p:spPr>
          <a:xfrm>
            <a:off x="5065920" y="2249280"/>
            <a:ext cx="3747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Modifier le nombre de shards primaires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0" name="Shape 1167"/>
          <p:cNvSpPr/>
          <p:nvPr/>
        </p:nvSpPr>
        <p:spPr>
          <a:xfrm>
            <a:off x="4754880" y="2560320"/>
            <a:ext cx="236520" cy="23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1" name="Text 1240"/>
          <p:cNvSpPr/>
          <p:nvPr/>
        </p:nvSpPr>
        <p:spPr>
          <a:xfrm>
            <a:off x="4754880" y="256032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2" name="Text 1241"/>
          <p:cNvSpPr/>
          <p:nvPr/>
        </p:nvSpPr>
        <p:spPr>
          <a:xfrm>
            <a:off x="5065920" y="2578680"/>
            <a:ext cx="3747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Supprimer un champ du mapping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3" name="Shape 1168"/>
          <p:cNvSpPr/>
          <p:nvPr/>
        </p:nvSpPr>
        <p:spPr>
          <a:xfrm>
            <a:off x="4754880" y="2889360"/>
            <a:ext cx="236520" cy="23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4" name="Text 1242"/>
          <p:cNvSpPr/>
          <p:nvPr/>
        </p:nvSpPr>
        <p:spPr>
          <a:xfrm>
            <a:off x="4754880" y="288936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5" name="Text 1243"/>
          <p:cNvSpPr/>
          <p:nvPr/>
        </p:nvSpPr>
        <p:spPr>
          <a:xfrm>
            <a:off x="5065920" y="2907720"/>
            <a:ext cx="3747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Changer la stratégie de date detection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6" name="Shape 1169"/>
          <p:cNvSpPr/>
          <p:nvPr/>
        </p:nvSpPr>
        <p:spPr>
          <a:xfrm>
            <a:off x="4754880" y="3218760"/>
            <a:ext cx="236520" cy="2365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7" name="Text 1244"/>
          <p:cNvSpPr/>
          <p:nvPr/>
        </p:nvSpPr>
        <p:spPr>
          <a:xfrm>
            <a:off x="4754880" y="3218760"/>
            <a:ext cx="236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8" name="Text 1245"/>
          <p:cNvSpPr/>
          <p:nvPr/>
        </p:nvSpPr>
        <p:spPr>
          <a:xfrm>
            <a:off x="5065920" y="3237120"/>
            <a:ext cx="37479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  <a:ea typeface="Calibri"/>
              </a:rPr>
              <a:t>Renommer un champ (reindex + script Painless)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9" name="Shape 1170"/>
          <p:cNvSpPr/>
          <p:nvPr/>
        </p:nvSpPr>
        <p:spPr>
          <a:xfrm>
            <a:off x="320040" y="4462200"/>
            <a:ext cx="8502840" cy="657360"/>
          </a:xfrm>
          <a:prstGeom prst="rect">
            <a:avLst/>
          </a:prstGeom>
          <a:solidFill>
            <a:srgbClr val="003040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0" name="Text 1246"/>
          <p:cNvSpPr/>
          <p:nvPr/>
        </p:nvSpPr>
        <p:spPr>
          <a:xfrm>
            <a:off x="411480" y="4507920"/>
            <a:ext cx="831996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 </a:t>
            </a: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Les types de champs existants sont gravés dans l'index dès le premier document indexé. Anticiper le mapping (mode strict + templates) est toujours préférable à le corriger a posteriori.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Shape 1171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2" name="Shape 1172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3" name="Text 1247"/>
          <p:cNvSpPr/>
          <p:nvPr/>
        </p:nvSpPr>
        <p:spPr>
          <a:xfrm>
            <a:off x="320040" y="0"/>
            <a:ext cx="8502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Migration – L'opération Reindex</a:t>
            </a:r>
            <a:endParaRPr b="0" lang="fr-F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4" name="Text 1249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b0d0d8"/>
                </a:solidFill>
                <a:latin typeface="Calibri"/>
                <a:ea typeface="Calibri"/>
              </a:rPr>
              <a:t>_reindex</a:t>
            </a:r>
            <a:r>
              <a:rPr b="0" lang="en-US" sz="1100" spc="-1" strike="noStrike">
                <a:solidFill>
                  <a:srgbClr val="b0d0d8"/>
                </a:solidFill>
                <a:latin typeface="Calibri"/>
                <a:ea typeface="Calibri"/>
              </a:rPr>
              <a:t> copie les documents d'un index source vers un index de destination. L'index destination doit être créé au préalable avec le mapping cible.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5" name="Text 1250"/>
          <p:cNvSpPr/>
          <p:nvPr/>
        </p:nvSpPr>
        <p:spPr>
          <a:xfrm>
            <a:off x="320040" y="1188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834a"/>
                </a:solidFill>
                <a:latin typeface="Arial"/>
                <a:ea typeface="Arial"/>
              </a:rPr>
              <a:t>Reindex simple et pilotage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6" name="Shape 1174"/>
          <p:cNvSpPr/>
          <p:nvPr/>
        </p:nvSpPr>
        <p:spPr>
          <a:xfrm>
            <a:off x="320040" y="1527120"/>
            <a:ext cx="4205160" cy="34920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7" name="Text 1251"/>
          <p:cNvSpPr/>
          <p:nvPr/>
        </p:nvSpPr>
        <p:spPr>
          <a:xfrm>
            <a:off x="411480" y="1591200"/>
            <a:ext cx="4022280" cy="336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1. Créer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l'index cible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avec le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nouveau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mapping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/logs-v2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"settings":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"number_of_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shards": 4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"mappings":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"properties":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"@timestamp":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{ "type":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"date"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"level":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{ "type":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"keyword"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"http_status"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: { "type":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"integer"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 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2. Reindex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asynchrone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(recommandé)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/_reindex?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wait_for_comp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letion=false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"conflicts":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"proceed",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"source": {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"logs-v1",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"size":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1000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"dest":   {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"logs-v2",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"op_type":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"create"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→ { "task":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"nodeId:taskI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3. Suivre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la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progression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/_tasks/nodeI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d:taskId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/_tasks?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actions=*rein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dex&amp;detailed=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true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8" name="Shape 1175"/>
          <p:cNvSpPr/>
          <p:nvPr/>
        </p:nvSpPr>
        <p:spPr>
          <a:xfrm>
            <a:off x="4754880" y="1080000"/>
            <a:ext cx="4205160" cy="21600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9" name="Text 1253"/>
          <p:cNvSpPr/>
          <p:nvPr/>
        </p:nvSpPr>
        <p:spPr>
          <a:xfrm>
            <a:off x="4846320" y="1116000"/>
            <a:ext cx="4022280" cy="21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/_reindex 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Avec modification de champ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"source": { "index": "logs-v1"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"dest":   { "index": "logs-v2"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"script":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"lang": "painless",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"source": """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// Renommer un champ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ctx._source.level = ctx._source.remove('log_level');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if (ctx._source.http_status != null)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ctx._source.status = Integer.parseInt(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ctx._source.status);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ctx._source.remove('deprecated_field'); 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""" 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0" name="Shape 1176"/>
          <p:cNvSpPr/>
          <p:nvPr/>
        </p:nvSpPr>
        <p:spPr>
          <a:xfrm>
            <a:off x="4754880" y="3302280"/>
            <a:ext cx="4205160" cy="17377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1" name="Text 1254"/>
          <p:cNvSpPr/>
          <p:nvPr/>
        </p:nvSpPr>
        <p:spPr>
          <a:xfrm>
            <a:off x="4846320" y="3330360"/>
            <a:ext cx="4022280" cy="12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POST /_reindex </a:t>
            </a: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Depuis un cluster distant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"source":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"remote":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"host": "https://old-cluster:9200",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"username": "admin", "password": "pass"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"index": "logs-v1", "size": 500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"dest": { "index": "logs-v2"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ff0"/>
                </a:solidFill>
                <a:latin typeface="Consolas"/>
                <a:ea typeface="Consolas"/>
              </a:rPr>
              <a:t># opensearch.yml : reindex.remote.whitelist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Shape 1177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3" name="Shape 1178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4" name="Text 1255"/>
          <p:cNvSpPr/>
          <p:nvPr/>
        </p:nvSpPr>
        <p:spPr>
          <a:xfrm>
            <a:off x="320040" y="0"/>
            <a:ext cx="8502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Migration – Stratégie zero downtime avec les alias</a:t>
            </a:r>
            <a:endParaRPr b="0" lang="fr-F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5" name="Text 1257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d0d8"/>
                </a:solidFill>
                <a:latin typeface="Calibri"/>
                <a:ea typeface="Calibri"/>
              </a:rPr>
              <a:t>En combinant alias et reindex, il est possible de migrer un index sans interruption de service ni perte de données. C'est la stratégie de référence en production.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6" name="Shape 1180"/>
          <p:cNvSpPr/>
          <p:nvPr/>
        </p:nvSpPr>
        <p:spPr>
          <a:xfrm>
            <a:off x="320040" y="1243440"/>
            <a:ext cx="364680" cy="364680"/>
          </a:xfrm>
          <a:prstGeom prst="ellipse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7" name="Text 1258"/>
          <p:cNvSpPr/>
          <p:nvPr/>
        </p:nvSpPr>
        <p:spPr>
          <a:xfrm>
            <a:off x="320040" y="124344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8" name="Text 1259"/>
          <p:cNvSpPr/>
          <p:nvPr/>
        </p:nvSpPr>
        <p:spPr>
          <a:xfrm>
            <a:off x="777240" y="124344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L'application utilise l'alias 'logs' → logs-v1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9" name="Text 1260"/>
          <p:cNvSpPr/>
          <p:nvPr/>
        </p:nvSpPr>
        <p:spPr>
          <a:xfrm>
            <a:off x="777240" y="143568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Écriture et lecture passent par l'alias, jamais directement par le nom d'index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0" name="Shape 1181"/>
          <p:cNvSpPr/>
          <p:nvPr/>
        </p:nvSpPr>
        <p:spPr>
          <a:xfrm>
            <a:off x="502920" y="1609200"/>
            <a:ext cx="360" cy="14616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1" name="Shape 1182"/>
          <p:cNvSpPr/>
          <p:nvPr/>
        </p:nvSpPr>
        <p:spPr>
          <a:xfrm>
            <a:off x="320040" y="1819800"/>
            <a:ext cx="364680" cy="3646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2" name="Text 1261"/>
          <p:cNvSpPr/>
          <p:nvPr/>
        </p:nvSpPr>
        <p:spPr>
          <a:xfrm>
            <a:off x="320040" y="181980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3" name="Text 1262"/>
          <p:cNvSpPr/>
          <p:nvPr/>
        </p:nvSpPr>
        <p:spPr>
          <a:xfrm>
            <a:off x="777240" y="181980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Créer logs-v2 avec le nouveau mapping cible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4" name="Text 1263"/>
          <p:cNvSpPr/>
          <p:nvPr/>
        </p:nvSpPr>
        <p:spPr>
          <a:xfrm>
            <a:off x="777240" y="201168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PUT /logs-v2 — l'alias 'logs' pointe encore sur v1, aucune interruption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5" name="Shape 1183"/>
          <p:cNvSpPr/>
          <p:nvPr/>
        </p:nvSpPr>
        <p:spPr>
          <a:xfrm>
            <a:off x="502920" y="2185200"/>
            <a:ext cx="360" cy="14652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6" name="Shape 1184"/>
          <p:cNvSpPr/>
          <p:nvPr/>
        </p:nvSpPr>
        <p:spPr>
          <a:xfrm>
            <a:off x="320040" y="2395800"/>
            <a:ext cx="364680" cy="3646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7" name="Text 1264"/>
          <p:cNvSpPr/>
          <p:nvPr/>
        </p:nvSpPr>
        <p:spPr>
          <a:xfrm>
            <a:off x="320040" y="239580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8" name="Text 1265"/>
          <p:cNvSpPr/>
          <p:nvPr/>
        </p:nvSpPr>
        <p:spPr>
          <a:xfrm>
            <a:off x="777240" y="239580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Reindex asynchrone logs-v1 → logs-v2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9" name="Text 1266"/>
          <p:cNvSpPr/>
          <p:nvPr/>
        </p:nvSpPr>
        <p:spPr>
          <a:xfrm>
            <a:off x="777240" y="258768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wait_for_completion=false — la prod continue d'écrire sur v1 pendant le reindex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0" name="Shape 1185"/>
          <p:cNvSpPr/>
          <p:nvPr/>
        </p:nvSpPr>
        <p:spPr>
          <a:xfrm>
            <a:off x="502920" y="2761200"/>
            <a:ext cx="360" cy="14652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1" name="Shape 1186"/>
          <p:cNvSpPr/>
          <p:nvPr/>
        </p:nvSpPr>
        <p:spPr>
          <a:xfrm>
            <a:off x="320040" y="2971800"/>
            <a:ext cx="364680" cy="36468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2" name="Text 1267"/>
          <p:cNvSpPr/>
          <p:nvPr/>
        </p:nvSpPr>
        <p:spPr>
          <a:xfrm>
            <a:off x="320040" y="297180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3" name="Text 1268"/>
          <p:cNvSpPr/>
          <p:nvPr/>
        </p:nvSpPr>
        <p:spPr>
          <a:xfrm>
            <a:off x="777240" y="297180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Delta reindex : rattraper les nouveaux docs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4" name="Text 1269"/>
          <p:cNvSpPr/>
          <p:nvPr/>
        </p:nvSpPr>
        <p:spPr>
          <a:xfrm>
            <a:off x="777240" y="316368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Reindex ciblant @timestamp ≥ date de début — combler l'écart avant basculement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5" name="Shape 1187"/>
          <p:cNvSpPr/>
          <p:nvPr/>
        </p:nvSpPr>
        <p:spPr>
          <a:xfrm>
            <a:off x="502920" y="3337560"/>
            <a:ext cx="360" cy="14616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6" name="Shape 1188"/>
          <p:cNvSpPr/>
          <p:nvPr/>
        </p:nvSpPr>
        <p:spPr>
          <a:xfrm>
            <a:off x="320040" y="3547800"/>
            <a:ext cx="364680" cy="3646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7" name="Text 1270"/>
          <p:cNvSpPr/>
          <p:nvPr/>
        </p:nvSpPr>
        <p:spPr>
          <a:xfrm>
            <a:off x="320040" y="354780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8" name="Text 1271"/>
          <p:cNvSpPr/>
          <p:nvPr/>
        </p:nvSpPr>
        <p:spPr>
          <a:xfrm>
            <a:off x="777240" y="354780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Basculement atomique de l'alias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9" name="Text 1272"/>
          <p:cNvSpPr/>
          <p:nvPr/>
        </p:nvSpPr>
        <p:spPr>
          <a:xfrm>
            <a:off x="777240" y="374004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POST /_aliases — remove logs→v1 + add logs→v2 en une seule opération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0" name="Shape 1189"/>
          <p:cNvSpPr/>
          <p:nvPr/>
        </p:nvSpPr>
        <p:spPr>
          <a:xfrm>
            <a:off x="502920" y="3913560"/>
            <a:ext cx="360" cy="14616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1" name="Shape 1190"/>
          <p:cNvSpPr/>
          <p:nvPr/>
        </p:nvSpPr>
        <p:spPr>
          <a:xfrm>
            <a:off x="320040" y="4123800"/>
            <a:ext cx="364680" cy="3646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2" name="Text 1273"/>
          <p:cNvSpPr/>
          <p:nvPr/>
        </p:nvSpPr>
        <p:spPr>
          <a:xfrm>
            <a:off x="320040" y="412380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3" name="Text 1274"/>
          <p:cNvSpPr/>
          <p:nvPr/>
        </p:nvSpPr>
        <p:spPr>
          <a:xfrm>
            <a:off x="777240" y="412380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Supprimer logs-v1 après validation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4" name="Text 1275"/>
          <p:cNvSpPr/>
          <p:nvPr/>
        </p:nvSpPr>
        <p:spPr>
          <a:xfrm>
            <a:off x="777240" y="4316040"/>
            <a:ext cx="3747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Conserver 24–48h pour permettre un rollback, puis DELETE /logs-v1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5" name="Text 1276"/>
          <p:cNvSpPr/>
          <p:nvPr/>
        </p:nvSpPr>
        <p:spPr>
          <a:xfrm>
            <a:off x="4754880" y="100872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Commandes clés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6" name="Shape 1191"/>
          <p:cNvSpPr/>
          <p:nvPr/>
        </p:nvSpPr>
        <p:spPr>
          <a:xfrm>
            <a:off x="4754880" y="1309320"/>
            <a:ext cx="4205160" cy="37306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7" name="Text 1277"/>
          <p:cNvSpPr/>
          <p:nvPr/>
        </p:nvSpPr>
        <p:spPr>
          <a:xfrm>
            <a:off x="4846320" y="1375200"/>
            <a:ext cx="4022280" cy="34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/_aliases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Alias initial avec is_write_index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"actions": [{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"add": { "index": "logs-v1", "alias": "logs", "is_write_index": true } 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/_reindex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Delta reindex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"source":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"index": "logs-v1",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"query": { "range":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"@timestamp": { "gte": "2024-01-15T10:00:00Z"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  }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"dest": { "index": "logs-v2"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/_aliases </a:t>
            </a:r>
            <a:r>
              <a:rPr b="1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Basculement ATOMIQUE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"actions": [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"remove": { "index": "logs-v1", "alias": "logs" }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"add": { "index": "logs-v2", "alias": "logs",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"is_write_index": true } }]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Shape 1206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9" name="Shape 1207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0" name="Text 1298"/>
          <p:cNvSpPr/>
          <p:nvPr/>
        </p:nvSpPr>
        <p:spPr>
          <a:xfrm>
            <a:off x="320040" y="0"/>
            <a:ext cx="8502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  <a:ea typeface="Arial"/>
              </a:rPr>
              <a:t>Migration – Bonnes pratiques et pièges à éviter</a:t>
            </a:r>
            <a:endParaRPr b="0" lang="fr-F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1" name="Text 1300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b0d0d8"/>
                </a:solidFill>
                <a:latin typeface="Calibri"/>
                <a:ea typeface="Calibri"/>
              </a:rPr>
              <a:t>Une migration bien planifiée est transparente pour les utilisateurs. Les problèmes surviennent presque toujours par manque d'anticipation ou de tests.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2" name="Text 1301"/>
          <p:cNvSpPr/>
          <p:nvPr/>
        </p:nvSpPr>
        <p:spPr>
          <a:xfrm>
            <a:off x="320040" y="1188720"/>
            <a:ext cx="41792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✅  </a:t>
            </a: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Recommandations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3" name="Shape 1209"/>
          <p:cNvSpPr/>
          <p:nvPr/>
        </p:nvSpPr>
        <p:spPr>
          <a:xfrm>
            <a:off x="320040" y="1506240"/>
            <a:ext cx="54360" cy="599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4" name="Text 1302"/>
          <p:cNvSpPr/>
          <p:nvPr/>
        </p:nvSpPr>
        <p:spPr>
          <a:xfrm>
            <a:off x="459360" y="1523520"/>
            <a:ext cx="399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Toujours utiliser des alias en production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5" name="Text 1303"/>
          <p:cNvSpPr/>
          <p:nvPr/>
        </p:nvSpPr>
        <p:spPr>
          <a:xfrm>
            <a:off x="459360" y="1729080"/>
            <a:ext cx="3993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Ne jamais exposer directement un nom d'index aux applications — rend tout basculement sans downtime possible.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6" name="Shape 1210"/>
          <p:cNvSpPr/>
          <p:nvPr/>
        </p:nvSpPr>
        <p:spPr>
          <a:xfrm>
            <a:off x="320040" y="2149560"/>
            <a:ext cx="54360" cy="599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7" name="Text 1304"/>
          <p:cNvSpPr/>
          <p:nvPr/>
        </p:nvSpPr>
        <p:spPr>
          <a:xfrm>
            <a:off x="459360" y="2166840"/>
            <a:ext cx="399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Versionner les index (v1, v2, v3…)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8" name="Text 1305"/>
          <p:cNvSpPr/>
          <p:nvPr/>
        </p:nvSpPr>
        <p:spPr>
          <a:xfrm>
            <a:off x="459360" y="2372400"/>
            <a:ext cx="39934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Conserver l'ancien index pendant la migration et 24–48h après pour permettre un rollback rapide.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9" name="Shape 1211"/>
          <p:cNvSpPr/>
          <p:nvPr/>
        </p:nvSpPr>
        <p:spPr>
          <a:xfrm>
            <a:off x="320040" y="2792880"/>
            <a:ext cx="54360" cy="599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0" name="Text 1306"/>
          <p:cNvSpPr/>
          <p:nvPr/>
        </p:nvSpPr>
        <p:spPr>
          <a:xfrm>
            <a:off x="459360" y="2810160"/>
            <a:ext cx="39934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Tester les requêtes critiques sur v2 avant basculement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1" name="Text 1307"/>
          <p:cNvSpPr/>
          <p:nvPr/>
        </p:nvSpPr>
        <p:spPr>
          <a:xfrm>
            <a:off x="459360" y="3016080"/>
            <a:ext cx="3993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Un champ manqué ou mal typé dans le nouveau mapping = régression silencieuse en production.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2" name="Shape 1212"/>
          <p:cNvSpPr/>
          <p:nvPr/>
        </p:nvSpPr>
        <p:spPr>
          <a:xfrm>
            <a:off x="320040" y="3436560"/>
            <a:ext cx="54360" cy="599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3" name="Text 1308"/>
          <p:cNvSpPr/>
          <p:nvPr/>
        </p:nvSpPr>
        <p:spPr>
          <a:xfrm>
            <a:off x="459360" y="3453480"/>
            <a:ext cx="39934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Monitorer la vitesse du reindex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4" name="Text 1309"/>
          <p:cNvSpPr/>
          <p:nvPr/>
        </p:nvSpPr>
        <p:spPr>
          <a:xfrm>
            <a:off x="459360" y="3659400"/>
            <a:ext cx="3993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GET /_tasks?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actions=*reindex&amp;d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etailed=true →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docs/s, estimation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durée restante, taux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d'erreur.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5" name="Shape 1213"/>
          <p:cNvSpPr/>
          <p:nvPr/>
        </p:nvSpPr>
        <p:spPr>
          <a:xfrm>
            <a:off x="320040" y="4079880"/>
            <a:ext cx="54360" cy="599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6" name="Text 1310"/>
          <p:cNvSpPr/>
          <p:nvPr/>
        </p:nvSpPr>
        <p:spPr>
          <a:xfrm>
            <a:off x="459360" y="4097160"/>
            <a:ext cx="399348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Planifier le delta reindex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7" name="Text 1311"/>
          <p:cNvSpPr/>
          <p:nvPr/>
        </p:nvSpPr>
        <p:spPr>
          <a:xfrm>
            <a:off x="459360" y="4302720"/>
            <a:ext cx="3993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Calculer la fenêtre temporelle de rattrapage avant de couper. Un @timestamp range query suffit souvent.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8" name="Text 1312"/>
          <p:cNvSpPr/>
          <p:nvPr/>
        </p:nvSpPr>
        <p:spPr>
          <a:xfrm>
            <a:off x="4754880" y="1188720"/>
            <a:ext cx="411372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0392b"/>
                </a:solidFill>
                <a:latin typeface="Arial"/>
                <a:ea typeface="Arial"/>
              </a:rPr>
              <a:t>⛔  </a:t>
            </a:r>
            <a:r>
              <a:rPr b="1" lang="en-US" sz="1300" spc="-1" strike="noStrike">
                <a:solidFill>
                  <a:srgbClr val="c0392b"/>
                </a:solidFill>
                <a:latin typeface="Arial"/>
                <a:ea typeface="Arial"/>
              </a:rPr>
              <a:t>Pièges à éviter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9" name="Shape 1214"/>
          <p:cNvSpPr/>
          <p:nvPr/>
        </p:nvSpPr>
        <p:spPr>
          <a:xfrm>
            <a:off x="4754880" y="1506240"/>
            <a:ext cx="53640" cy="599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0" name="Text 1313"/>
          <p:cNvSpPr/>
          <p:nvPr/>
        </p:nvSpPr>
        <p:spPr>
          <a:xfrm>
            <a:off x="4883040" y="1523520"/>
            <a:ext cx="39855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Ne pas tester les performances du nouveau mapping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1" name="Text 1314"/>
          <p:cNvSpPr/>
          <p:nvPr/>
        </p:nvSpPr>
        <p:spPr>
          <a:xfrm>
            <a:off x="4883040" y="1729080"/>
            <a:ext cx="3985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Un keyword remplaçant un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text non-analyzed peut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multiplier la mémoire </a:t>
            </a: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fielddata par 10.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2" name="Shape 1215"/>
          <p:cNvSpPr/>
          <p:nvPr/>
        </p:nvSpPr>
        <p:spPr>
          <a:xfrm>
            <a:off x="4754880" y="2149560"/>
            <a:ext cx="53640" cy="599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3" name="Text 1315"/>
          <p:cNvSpPr/>
          <p:nvPr/>
        </p:nvSpPr>
        <p:spPr>
          <a:xfrm>
            <a:off x="4883040" y="2166840"/>
            <a:ext cx="39855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Oublier de mettre à jour les index templates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4" name="Text 1316"/>
          <p:cNvSpPr/>
          <p:nvPr/>
        </p:nvSpPr>
        <p:spPr>
          <a:xfrm>
            <a:off x="4883040" y="2372400"/>
            <a:ext cx="39855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Si un template crée automatiquement des index (logs-*), le mettre à jour AVANT de migrer.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5" name="Shape 1216"/>
          <p:cNvSpPr/>
          <p:nvPr/>
        </p:nvSpPr>
        <p:spPr>
          <a:xfrm>
            <a:off x="4754880" y="2792880"/>
            <a:ext cx="53640" cy="599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6" name="Text 1317"/>
          <p:cNvSpPr/>
          <p:nvPr/>
        </p:nvSpPr>
        <p:spPr>
          <a:xfrm>
            <a:off x="4883040" y="2810160"/>
            <a:ext cx="3985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Reindex avec size par défaut (1000) sur de gros docs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7" name="Text 1318"/>
          <p:cNvSpPr/>
          <p:nvPr/>
        </p:nvSpPr>
        <p:spPr>
          <a:xfrm>
            <a:off x="4883040" y="3016080"/>
            <a:ext cx="3985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Adapter size en fonction de la taille des documents pour éviter les timeouts ou sous-optimisations.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8" name="Shape 1217"/>
          <p:cNvSpPr/>
          <p:nvPr/>
        </p:nvSpPr>
        <p:spPr>
          <a:xfrm>
            <a:off x="4754880" y="3436560"/>
            <a:ext cx="53640" cy="599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9" name="Text 1319"/>
          <p:cNvSpPr/>
          <p:nvPr/>
        </p:nvSpPr>
        <p:spPr>
          <a:xfrm>
            <a:off x="4883040" y="3453480"/>
            <a:ext cx="39855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Supprimer l'ancien index trop vite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0" name="Text 1320"/>
          <p:cNvSpPr/>
          <p:nvPr/>
        </p:nvSpPr>
        <p:spPr>
          <a:xfrm>
            <a:off x="4883040" y="3659400"/>
            <a:ext cx="3985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Attendre 24–48h minimum pour valider et permettre un rollback. Le stockage est moins cher qu'une indisponibilité.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1" name="Shape 1218"/>
          <p:cNvSpPr/>
          <p:nvPr/>
        </p:nvSpPr>
        <p:spPr>
          <a:xfrm>
            <a:off x="4754880" y="4079880"/>
            <a:ext cx="53640" cy="599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2" name="Text 1321"/>
          <p:cNvSpPr/>
          <p:nvPr/>
        </p:nvSpPr>
        <p:spPr>
          <a:xfrm>
            <a:off x="4883040" y="4097160"/>
            <a:ext cx="3985560" cy="18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Ignorer les pipelines d'ingestion actifs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3" name="Text 1322"/>
          <p:cNvSpPr/>
          <p:nvPr/>
        </p:nvSpPr>
        <p:spPr>
          <a:xfrm>
            <a:off x="4883040" y="4302720"/>
            <a:ext cx="3985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Un Ingest Pipeline actif transforme les docs à l'écriture — reproduire ces transformations dans le script Painless du reindex.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4" name="Shape 1219"/>
          <p:cNvSpPr/>
          <p:nvPr/>
        </p:nvSpPr>
        <p:spPr>
          <a:xfrm>
            <a:off x="274320" y="4753080"/>
            <a:ext cx="859320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5" name="Shape 1220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6" name="Text 1323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3.6 — Réindexation et migration de mapping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Shape 2317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8" name="Text 2661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9" name="Text 2662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Ingestion</a:t>
            </a:r>
            <a:endParaRPr b="0" lang="fr-FR" sz="8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0" name="Shape 2318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1" name="Shape 2319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2" name="Text 2663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3" name="Text 2664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Alternatives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4" name="Shape 2320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5" name="Text 2665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6" name="Text 2666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SDK Clients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7" name="Shape 2321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8" name="Text 2667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9" name="Text 2668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0" name="Shape 2322"/>
          <p:cNvSpPr/>
          <p:nvPr/>
        </p:nvSpPr>
        <p:spPr>
          <a:xfrm>
            <a:off x="46177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1" name="Text 2669"/>
          <p:cNvSpPr/>
          <p:nvPr/>
        </p:nvSpPr>
        <p:spPr>
          <a:xfrm>
            <a:off x="46177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2" name="Text 2670"/>
          <p:cNvSpPr/>
          <p:nvPr/>
        </p:nvSpPr>
        <p:spPr>
          <a:xfrm>
            <a:off x="49651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KafkaConnect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3" name="Shape 2323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4" name="Text 2671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1.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5" name="Shape 2324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6" name="Text 2672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2.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7" name="Shape 2325"/>
          <p:cNvSpPr/>
          <p:nvPr/>
        </p:nvSpPr>
        <p:spPr>
          <a:xfrm>
            <a:off x="2612520" y="4316040"/>
            <a:ext cx="130608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8" name="Shape 2326"/>
          <p:cNvSpPr/>
          <p:nvPr/>
        </p:nvSpPr>
        <p:spPr>
          <a:xfrm>
            <a:off x="2612520" y="4316040"/>
            <a:ext cx="130608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9" name="Shape 2327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0" name="Text 2673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3. 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1" name="Shape 2328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2" name="Text 2674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4.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3" name="Shape 2329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4" name="Text 2675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5.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5" name="Shape 2330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6" name="Text 2676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6.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7" name="Shape 2331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8" name="Text 2677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7.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Monitoring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9" name="Text 2678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Shape 710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1" name="Shape 711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2" name="Text 716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Ingestion – Vue d'ensemble des alternatives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3" name="Text 718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OpenSearch peut recevoir des données depuis de nombreuses sources. Le choix dépend du volume, de la latence, de la transformation requise et de l'existant.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4" name="Shape 713"/>
          <p:cNvSpPr/>
          <p:nvPr/>
        </p:nvSpPr>
        <p:spPr>
          <a:xfrm>
            <a:off x="320040" y="1234440"/>
            <a:ext cx="2696400" cy="1498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5" name="Shape 714"/>
          <p:cNvSpPr/>
          <p:nvPr/>
        </p:nvSpPr>
        <p:spPr>
          <a:xfrm>
            <a:off x="320040" y="1234440"/>
            <a:ext cx="2696400" cy="53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6" name="Text 719"/>
          <p:cNvSpPr/>
          <p:nvPr/>
        </p:nvSpPr>
        <p:spPr>
          <a:xfrm>
            <a:off x="411480" y="132588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Bulk API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7" name="Shape 715"/>
          <p:cNvSpPr/>
          <p:nvPr/>
        </p:nvSpPr>
        <p:spPr>
          <a:xfrm>
            <a:off x="1911240" y="1344240"/>
            <a:ext cx="995760" cy="200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8" name="Text 720"/>
          <p:cNvSpPr/>
          <p:nvPr/>
        </p:nvSpPr>
        <p:spPr>
          <a:xfrm>
            <a:off x="1911240" y="1344240"/>
            <a:ext cx="995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Fondamental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9" name="Text 721"/>
          <p:cNvSpPr/>
          <p:nvPr/>
        </p:nvSpPr>
        <p:spPr>
          <a:xfrm>
            <a:off x="411480" y="1600200"/>
            <a:ext cx="25135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REST native · POST /_bulk · Lots JSON · Base de tous les agents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0" name="Text 722"/>
          <p:cNvSpPr/>
          <p:nvPr/>
        </p:nvSpPr>
        <p:spPr>
          <a:xfrm>
            <a:off x="411480" y="242316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834a"/>
                </a:solidFill>
                <a:latin typeface="Calibri"/>
                <a:ea typeface="Calibri"/>
              </a:rPr>
              <a:t>→ </a:t>
            </a:r>
            <a:r>
              <a:rPr b="1" lang="en-US" sz="900" spc="-1" strike="noStrike">
                <a:solidFill>
                  <a:srgbClr val="e8834a"/>
                </a:solidFill>
                <a:latin typeface="Calibri"/>
                <a:ea typeface="Calibri"/>
              </a:rPr>
              <a:t>Toujours — brique de base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1" name="Shape 716"/>
          <p:cNvSpPr/>
          <p:nvPr/>
        </p:nvSpPr>
        <p:spPr>
          <a:xfrm>
            <a:off x="3182040" y="1234440"/>
            <a:ext cx="2696400" cy="1498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2" name="Shape 717"/>
          <p:cNvSpPr/>
          <p:nvPr/>
        </p:nvSpPr>
        <p:spPr>
          <a:xfrm>
            <a:off x="3182040" y="1234440"/>
            <a:ext cx="26964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3" name="Text 723"/>
          <p:cNvSpPr/>
          <p:nvPr/>
        </p:nvSpPr>
        <p:spPr>
          <a:xfrm>
            <a:off x="3273480" y="132588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SDK Clients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4" name="Shape 718"/>
          <p:cNvSpPr/>
          <p:nvPr/>
        </p:nvSpPr>
        <p:spPr>
          <a:xfrm>
            <a:off x="4773240" y="1344240"/>
            <a:ext cx="995760" cy="20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5" name="Text 724"/>
          <p:cNvSpPr/>
          <p:nvPr/>
        </p:nvSpPr>
        <p:spPr>
          <a:xfrm>
            <a:off x="4773240" y="1344240"/>
            <a:ext cx="995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Programmatique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6" name="Text 725"/>
          <p:cNvSpPr/>
          <p:nvPr/>
        </p:nvSpPr>
        <p:spPr>
          <a:xfrm>
            <a:off x="3273480" y="1600200"/>
            <a:ext cx="25135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Java, Python, Go, JS · Wrappers Bulk API · Retry auto + backoff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7" name="Text 726"/>
          <p:cNvSpPr/>
          <p:nvPr/>
        </p:nvSpPr>
        <p:spPr>
          <a:xfrm>
            <a:off x="3273480" y="242316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a7500"/>
                </a:solidFill>
                <a:latin typeface="Calibri"/>
                <a:ea typeface="Calibri"/>
              </a:rPr>
              <a:t>→ </a:t>
            </a:r>
            <a:r>
              <a:rPr b="1" lang="en-US" sz="900" spc="-1" strike="noStrike">
                <a:solidFill>
                  <a:srgbClr val="ea7500"/>
                </a:solidFill>
                <a:latin typeface="Calibri"/>
                <a:ea typeface="Calibri"/>
              </a:rPr>
              <a:t>Ingestion depuis appli métier</a:t>
            </a:r>
            <a:endParaRPr b="0" lang="fr-FR" sz="900" spc="-1" strike="noStrike">
              <a:solidFill>
                <a:srgbClr val="ea7500"/>
              </a:solidFill>
              <a:latin typeface="Arial"/>
            </a:endParaRPr>
          </a:p>
        </p:txBody>
      </p:sp>
      <p:sp>
        <p:nvSpPr>
          <p:cNvPr id="2368" name="Shape 719"/>
          <p:cNvSpPr/>
          <p:nvPr/>
        </p:nvSpPr>
        <p:spPr>
          <a:xfrm>
            <a:off x="6035040" y="1234440"/>
            <a:ext cx="2696400" cy="1498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9" name="Shape 720"/>
          <p:cNvSpPr/>
          <p:nvPr/>
        </p:nvSpPr>
        <p:spPr>
          <a:xfrm>
            <a:off x="6035040" y="1234440"/>
            <a:ext cx="2696400" cy="53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0" name="Text 727"/>
          <p:cNvSpPr/>
          <p:nvPr/>
        </p:nvSpPr>
        <p:spPr>
          <a:xfrm>
            <a:off x="6126480" y="132588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Data Prepper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1" name="Shape 721"/>
          <p:cNvSpPr/>
          <p:nvPr/>
        </p:nvSpPr>
        <p:spPr>
          <a:xfrm>
            <a:off x="7626240" y="1344240"/>
            <a:ext cx="995760" cy="20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2" name="Text 728"/>
          <p:cNvSpPr/>
          <p:nvPr/>
        </p:nvSpPr>
        <p:spPr>
          <a:xfrm>
            <a:off x="7626240" y="1344240"/>
            <a:ext cx="995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Natif OpenSearch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3" name="Text 729"/>
          <p:cNvSpPr/>
          <p:nvPr/>
        </p:nvSpPr>
        <p:spPr>
          <a:xfrm>
            <a:off x="6126480" y="1600200"/>
            <a:ext cx="25135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Pipeline ETL OpenSearch · Sources : Kafka, S3, HTTP, OTel, Grok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4" name="Text 730"/>
          <p:cNvSpPr/>
          <p:nvPr/>
        </p:nvSpPr>
        <p:spPr>
          <a:xfrm>
            <a:off x="6126480" y="242316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27ae60"/>
                </a:solidFill>
                <a:latin typeface="Calibri"/>
                <a:ea typeface="Calibri"/>
              </a:rPr>
              <a:t>→ </a:t>
            </a:r>
            <a:r>
              <a:rPr b="1" lang="en-US" sz="900" spc="-1" strike="noStrike">
                <a:solidFill>
                  <a:srgbClr val="27ae60"/>
                </a:solidFill>
                <a:latin typeface="Calibri"/>
                <a:ea typeface="Calibri"/>
              </a:rPr>
              <a:t>Nouveaux projets, OTel, logs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5" name="Shape 722"/>
          <p:cNvSpPr/>
          <p:nvPr/>
        </p:nvSpPr>
        <p:spPr>
          <a:xfrm>
            <a:off x="320040" y="2853000"/>
            <a:ext cx="2696400" cy="1498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6" name="Shape 723"/>
          <p:cNvSpPr/>
          <p:nvPr/>
        </p:nvSpPr>
        <p:spPr>
          <a:xfrm>
            <a:off x="320040" y="2853000"/>
            <a:ext cx="26964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7" name="Text 731"/>
          <p:cNvSpPr/>
          <p:nvPr/>
        </p:nvSpPr>
        <p:spPr>
          <a:xfrm>
            <a:off x="411480" y="294444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Kafka Connect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8" name="Shape 724"/>
          <p:cNvSpPr/>
          <p:nvPr/>
        </p:nvSpPr>
        <p:spPr>
          <a:xfrm>
            <a:off x="1911240" y="2962800"/>
            <a:ext cx="995760" cy="20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9" name="Text 732"/>
          <p:cNvSpPr/>
          <p:nvPr/>
        </p:nvSpPr>
        <p:spPr>
          <a:xfrm>
            <a:off x="1911240" y="2962800"/>
            <a:ext cx="995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Streaming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0" name="Text 733"/>
          <p:cNvSpPr/>
          <p:nvPr/>
        </p:nvSpPr>
        <p:spPr>
          <a:xfrm>
            <a:off x="411480" y="3218760"/>
            <a:ext cx="25135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Sink connector OpenSearch · At-least-once · Batching configurable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1" name="Text 734"/>
          <p:cNvSpPr/>
          <p:nvPr/>
        </p:nvSpPr>
        <p:spPr>
          <a:xfrm>
            <a:off x="411480" y="40417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a7500"/>
                </a:solidFill>
                <a:latin typeface="Calibri"/>
                <a:ea typeface="Calibri"/>
              </a:rPr>
              <a:t>→ </a:t>
            </a:r>
            <a:r>
              <a:rPr b="1" lang="en-US" sz="900" spc="-1" strike="noStrike">
                <a:solidFill>
                  <a:srgbClr val="ea7500"/>
                </a:solidFill>
                <a:latin typeface="Calibri"/>
                <a:ea typeface="Calibri"/>
              </a:rPr>
              <a:t>Architecture événementielle</a:t>
            </a:r>
            <a:endParaRPr b="0" lang="fr-FR" sz="900" spc="-1" strike="noStrike">
              <a:solidFill>
                <a:srgbClr val="ea7500"/>
              </a:solidFill>
              <a:latin typeface="Arial"/>
            </a:endParaRPr>
          </a:p>
        </p:txBody>
      </p:sp>
      <p:sp>
        <p:nvSpPr>
          <p:cNvPr id="2382" name="Shape 725"/>
          <p:cNvSpPr/>
          <p:nvPr/>
        </p:nvSpPr>
        <p:spPr>
          <a:xfrm>
            <a:off x="3182040" y="2853000"/>
            <a:ext cx="2696400" cy="1498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3" name="Shape 726"/>
          <p:cNvSpPr/>
          <p:nvPr/>
        </p:nvSpPr>
        <p:spPr>
          <a:xfrm>
            <a:off x="3182040" y="2853000"/>
            <a:ext cx="2696400" cy="53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4" name="Text 735"/>
          <p:cNvSpPr/>
          <p:nvPr/>
        </p:nvSpPr>
        <p:spPr>
          <a:xfrm>
            <a:off x="3273480" y="294444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Logstash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5" name="Shape 727"/>
          <p:cNvSpPr/>
          <p:nvPr/>
        </p:nvSpPr>
        <p:spPr>
          <a:xfrm>
            <a:off x="4773240" y="2962800"/>
            <a:ext cx="995760" cy="200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6" name="Text 736"/>
          <p:cNvSpPr/>
          <p:nvPr/>
        </p:nvSpPr>
        <p:spPr>
          <a:xfrm>
            <a:off x="4773240" y="2962800"/>
            <a:ext cx="995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Écosystème ELK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7" name="Text 737"/>
          <p:cNvSpPr/>
          <p:nvPr/>
        </p:nvSpPr>
        <p:spPr>
          <a:xfrm>
            <a:off x="3273480" y="3218760"/>
            <a:ext cx="25135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200+ plugins · Compatible via opensearch-output · Migrations 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8" name="Text 738"/>
          <p:cNvSpPr/>
          <p:nvPr/>
        </p:nvSpPr>
        <p:spPr>
          <a:xfrm>
            <a:off x="3273480" y="40417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8e44ad"/>
                </a:solidFill>
                <a:latin typeface="Calibri"/>
                <a:ea typeface="Calibri"/>
              </a:rPr>
              <a:t>→ </a:t>
            </a:r>
            <a:r>
              <a:rPr b="1" lang="en-US" sz="900" spc="-1" strike="noStrike">
                <a:solidFill>
                  <a:srgbClr val="8e44ad"/>
                </a:solidFill>
                <a:latin typeface="Calibri"/>
                <a:ea typeface="Calibri"/>
              </a:rPr>
              <a:t>Réutiliser pipelines existants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9" name="Shape 728"/>
          <p:cNvSpPr/>
          <p:nvPr/>
        </p:nvSpPr>
        <p:spPr>
          <a:xfrm>
            <a:off x="6035040" y="2853000"/>
            <a:ext cx="2696400" cy="1498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0" name="Shape 729"/>
          <p:cNvSpPr/>
          <p:nvPr/>
        </p:nvSpPr>
        <p:spPr>
          <a:xfrm>
            <a:off x="6035040" y="2853000"/>
            <a:ext cx="2696400" cy="5364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1" name="Text 739"/>
          <p:cNvSpPr/>
          <p:nvPr/>
        </p:nvSpPr>
        <p:spPr>
          <a:xfrm>
            <a:off x="6126480" y="2944440"/>
            <a:ext cx="14162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Beats / Agent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2" name="Shape 730"/>
          <p:cNvSpPr/>
          <p:nvPr/>
        </p:nvSpPr>
        <p:spPr>
          <a:xfrm>
            <a:off x="7626240" y="2962800"/>
            <a:ext cx="995760" cy="20016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3" name="Text 740"/>
          <p:cNvSpPr/>
          <p:nvPr/>
        </p:nvSpPr>
        <p:spPr>
          <a:xfrm>
            <a:off x="7626240" y="2962800"/>
            <a:ext cx="995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Edge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4" name="Text 741"/>
          <p:cNvSpPr/>
          <p:nvPr/>
        </p:nvSpPr>
        <p:spPr>
          <a:xfrm>
            <a:off x="6126480" y="3218760"/>
            <a:ext cx="251352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Filebeat, Metricbeat · Faible empreinte · Modules préconfigurés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5" name="Text 742"/>
          <p:cNvSpPr/>
          <p:nvPr/>
        </p:nvSpPr>
        <p:spPr>
          <a:xfrm>
            <a:off x="6126480" y="40417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→ </a:t>
            </a:r>
            <a:r>
              <a:rPr b="1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Collecte edge : serveurs, VMs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6" name="Shape 731"/>
          <p:cNvSpPr/>
          <p:nvPr/>
        </p:nvSpPr>
        <p:spPr>
          <a:xfrm>
            <a:off x="320040" y="4480560"/>
            <a:ext cx="8502840" cy="5018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7" name="Shape 732"/>
          <p:cNvSpPr/>
          <p:nvPr/>
        </p:nvSpPr>
        <p:spPr>
          <a:xfrm>
            <a:off x="320040" y="4480560"/>
            <a:ext cx="53640" cy="501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8" name="Text 743"/>
          <p:cNvSpPr/>
          <p:nvPr/>
        </p:nvSpPr>
        <p:spPr>
          <a:xfrm>
            <a:off x="448200" y="4535280"/>
            <a:ext cx="83199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Data Prepper et Logstash utilisent tous deux la Bulk API en coulisses — comprendre la Bulk API est la clé de toutes les optimisations de débit.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Shape 2332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0" name="Text 2679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1" name="Text 2680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SDK Clients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2" name="Shape 2333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3" name="Text 2681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Intro – Exemple Java – Bulk – Ingestion massive - Reprise sur erreur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4" name="Shape 2334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5" name="Shape 2335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6" name="Text 2682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Ingestion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7" name="Shape 2336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8" name="Text 2684"/>
          <p:cNvSpPr/>
          <p:nvPr/>
        </p:nvSpPr>
        <p:spPr>
          <a:xfrm>
            <a:off x="3434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9" name="Shape 2337"/>
          <p:cNvSpPr/>
          <p:nvPr/>
        </p:nvSpPr>
        <p:spPr>
          <a:xfrm>
            <a:off x="4067640" y="4545360"/>
            <a:ext cx="101736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0" name="Text 2685"/>
          <p:cNvSpPr/>
          <p:nvPr/>
        </p:nvSpPr>
        <p:spPr>
          <a:xfrm>
            <a:off x="4012920" y="4563720"/>
            <a:ext cx="1105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SDK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1" name="Text 2686"/>
          <p:cNvSpPr/>
          <p:nvPr/>
        </p:nvSpPr>
        <p:spPr>
          <a:xfrm>
            <a:off x="4628880" y="4563720"/>
            <a:ext cx="36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2" name="Text 2687"/>
          <p:cNvSpPr/>
          <p:nvPr/>
        </p:nvSpPr>
        <p:spPr>
          <a:xfrm>
            <a:off x="169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Alternatives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3" name="Text 2688"/>
          <p:cNvSpPr/>
          <p:nvPr/>
        </p:nvSpPr>
        <p:spPr>
          <a:xfrm>
            <a:off x="4530600" y="4563720"/>
            <a:ext cx="176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4" name="Text 2689"/>
          <p:cNvSpPr/>
          <p:nvPr/>
        </p:nvSpPr>
        <p:spPr>
          <a:xfrm>
            <a:off x="5112000" y="4546800"/>
            <a:ext cx="180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 Prepper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5" name="Text 2690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6" name="Text 2693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KafkaConnect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7" name="Text 2694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Shape 733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9" name="Shape 734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0" name="Text 744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Clients – Vue d'ensemble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1" name="Text 746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OpenSearch fournit des clients officiels pour les langages les plus courants. Tous encapsulent la Bulk API et fournissent gestion des connexions, sérialisation et retry automatique.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2" name="Shape 736"/>
          <p:cNvSpPr/>
          <p:nvPr/>
        </p:nvSpPr>
        <p:spPr>
          <a:xfrm>
            <a:off x="320040" y="1234440"/>
            <a:ext cx="2696400" cy="1388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3" name="Shape 737"/>
          <p:cNvSpPr/>
          <p:nvPr/>
        </p:nvSpPr>
        <p:spPr>
          <a:xfrm>
            <a:off x="320040" y="1234440"/>
            <a:ext cx="26964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4" name="Text 747"/>
          <p:cNvSpPr/>
          <p:nvPr/>
        </p:nvSpPr>
        <p:spPr>
          <a:xfrm>
            <a:off x="411480" y="13075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ourier New"/>
                <a:ea typeface="Courier New"/>
              </a:rPr>
              <a:t>opensearch-java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5" name="Shape 738"/>
          <p:cNvSpPr/>
          <p:nvPr/>
        </p:nvSpPr>
        <p:spPr>
          <a:xfrm>
            <a:off x="411480" y="1600200"/>
            <a:ext cx="1187640" cy="20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6" name="Text 748"/>
          <p:cNvSpPr/>
          <p:nvPr/>
        </p:nvSpPr>
        <p:spPr>
          <a:xfrm>
            <a:off x="411480" y="16002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Java / Kotlin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7" name="Shape 739"/>
          <p:cNvSpPr/>
          <p:nvPr/>
        </p:nvSpPr>
        <p:spPr>
          <a:xfrm>
            <a:off x="1691640" y="1600200"/>
            <a:ext cx="639000" cy="2001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8" name="Text 749"/>
          <p:cNvSpPr/>
          <p:nvPr/>
        </p:nvSpPr>
        <p:spPr>
          <a:xfrm>
            <a:off x="1691640" y="16002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b0d0d8"/>
                </a:solidFill>
                <a:latin typeface="Calibri"/>
                <a:ea typeface="Calibri"/>
              </a:rPr>
              <a:t>v3.x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9" name="Text 750"/>
          <p:cNvSpPr/>
          <p:nvPr/>
        </p:nvSpPr>
        <p:spPr>
          <a:xfrm>
            <a:off x="411480" y="1892880"/>
            <a:ext cx="2513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Client typé · Fluent Builder API · Compatible OpenSearch 2.x+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0" name="Shape 740"/>
          <p:cNvSpPr/>
          <p:nvPr/>
        </p:nvSpPr>
        <p:spPr>
          <a:xfrm>
            <a:off x="3182040" y="1234440"/>
            <a:ext cx="2696400" cy="1388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1" name="Shape 741"/>
          <p:cNvSpPr/>
          <p:nvPr/>
        </p:nvSpPr>
        <p:spPr>
          <a:xfrm>
            <a:off x="3182040" y="1234440"/>
            <a:ext cx="2696400" cy="53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2" name="Text 751"/>
          <p:cNvSpPr/>
          <p:nvPr/>
        </p:nvSpPr>
        <p:spPr>
          <a:xfrm>
            <a:off x="3273480" y="13075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ourier New"/>
                <a:ea typeface="Courier New"/>
              </a:rPr>
              <a:t>opensearch-py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3" name="Shape 902"/>
          <p:cNvSpPr/>
          <p:nvPr/>
        </p:nvSpPr>
        <p:spPr>
          <a:xfrm>
            <a:off x="3273480" y="1600200"/>
            <a:ext cx="1187640" cy="20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4" name="Text 752"/>
          <p:cNvSpPr/>
          <p:nvPr/>
        </p:nvSpPr>
        <p:spPr>
          <a:xfrm>
            <a:off x="3273480" y="16002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Python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5" name="Shape 905"/>
          <p:cNvSpPr/>
          <p:nvPr/>
        </p:nvSpPr>
        <p:spPr>
          <a:xfrm>
            <a:off x="4553640" y="1600200"/>
            <a:ext cx="639000" cy="2001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6" name="Text 753"/>
          <p:cNvSpPr/>
          <p:nvPr/>
        </p:nvSpPr>
        <p:spPr>
          <a:xfrm>
            <a:off x="4553640" y="16002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b0d0d8"/>
                </a:solidFill>
                <a:latin typeface="Calibri"/>
                <a:ea typeface="Calibri"/>
              </a:rPr>
              <a:t>v2.x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7" name="Text 754"/>
          <p:cNvSpPr/>
          <p:nvPr/>
        </p:nvSpPr>
        <p:spPr>
          <a:xfrm>
            <a:off x="3273480" y="1892880"/>
            <a:ext cx="2513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helpers.bulk · parallel_bulk · async (aiohttp) · pandas integration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8" name="Shape 906"/>
          <p:cNvSpPr/>
          <p:nvPr/>
        </p:nvSpPr>
        <p:spPr>
          <a:xfrm>
            <a:off x="6035040" y="1234440"/>
            <a:ext cx="2696400" cy="1388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9" name="Shape 1221"/>
          <p:cNvSpPr/>
          <p:nvPr/>
        </p:nvSpPr>
        <p:spPr>
          <a:xfrm>
            <a:off x="6035040" y="1234440"/>
            <a:ext cx="26964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0" name="Text 755"/>
          <p:cNvSpPr/>
          <p:nvPr/>
        </p:nvSpPr>
        <p:spPr>
          <a:xfrm>
            <a:off x="6126480" y="13075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ourier New"/>
                <a:ea typeface="Courier New"/>
              </a:rPr>
              <a:t>opensearch-go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1" name="Shape 1222"/>
          <p:cNvSpPr/>
          <p:nvPr/>
        </p:nvSpPr>
        <p:spPr>
          <a:xfrm>
            <a:off x="6126480" y="1600200"/>
            <a:ext cx="1187640" cy="20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2" name="Text 756"/>
          <p:cNvSpPr/>
          <p:nvPr/>
        </p:nvSpPr>
        <p:spPr>
          <a:xfrm>
            <a:off x="6126480" y="16002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Go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3" name="Shape 1223"/>
          <p:cNvSpPr/>
          <p:nvPr/>
        </p:nvSpPr>
        <p:spPr>
          <a:xfrm>
            <a:off x="7406640" y="1600200"/>
            <a:ext cx="639000" cy="2001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4" name="Text 757"/>
          <p:cNvSpPr/>
          <p:nvPr/>
        </p:nvSpPr>
        <p:spPr>
          <a:xfrm>
            <a:off x="7406640" y="16002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b0d0d8"/>
                </a:solidFill>
                <a:latin typeface="Calibri"/>
                <a:ea typeface="Calibri"/>
              </a:rPr>
              <a:t>v2.x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5" name="Text 758"/>
          <p:cNvSpPr/>
          <p:nvPr/>
        </p:nvSpPr>
        <p:spPr>
          <a:xfrm>
            <a:off x="6126480" y="1892880"/>
            <a:ext cx="2513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Typage strict · Faible empreinte · Idiomatic Go API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6" name="Shape 1224"/>
          <p:cNvSpPr/>
          <p:nvPr/>
        </p:nvSpPr>
        <p:spPr>
          <a:xfrm>
            <a:off x="320040" y="2834640"/>
            <a:ext cx="2696400" cy="1388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7" name="Shape 1225"/>
          <p:cNvSpPr/>
          <p:nvPr/>
        </p:nvSpPr>
        <p:spPr>
          <a:xfrm>
            <a:off x="320040" y="2834640"/>
            <a:ext cx="2696400" cy="53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8" name="Text 759"/>
          <p:cNvSpPr/>
          <p:nvPr/>
        </p:nvSpPr>
        <p:spPr>
          <a:xfrm>
            <a:off x="411480" y="29077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ourier New"/>
                <a:ea typeface="Courier New"/>
              </a:rPr>
              <a:t>opensearch-js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9" name="Shape 1226"/>
          <p:cNvSpPr/>
          <p:nvPr/>
        </p:nvSpPr>
        <p:spPr>
          <a:xfrm>
            <a:off x="411480" y="3200400"/>
            <a:ext cx="1187640" cy="200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0" name="Text 760"/>
          <p:cNvSpPr/>
          <p:nvPr/>
        </p:nvSpPr>
        <p:spPr>
          <a:xfrm>
            <a:off x="411480" y="32004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Node.js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1" name="Shape 1227"/>
          <p:cNvSpPr/>
          <p:nvPr/>
        </p:nvSpPr>
        <p:spPr>
          <a:xfrm>
            <a:off x="1691640" y="3200400"/>
            <a:ext cx="639000" cy="2001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2" name="Text 761"/>
          <p:cNvSpPr/>
          <p:nvPr/>
        </p:nvSpPr>
        <p:spPr>
          <a:xfrm>
            <a:off x="1691640" y="32004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b0d0d8"/>
                </a:solidFill>
                <a:latin typeface="Calibri"/>
                <a:ea typeface="Calibri"/>
              </a:rPr>
              <a:t>v3.x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3" name="Text 762"/>
          <p:cNvSpPr/>
          <p:nvPr/>
        </p:nvSpPr>
        <p:spPr>
          <a:xfrm>
            <a:off x="411480" y="3493080"/>
            <a:ext cx="2513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Async/await · Streams · Compatible Browser (bundle)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4" name="Shape 1228"/>
          <p:cNvSpPr/>
          <p:nvPr/>
        </p:nvSpPr>
        <p:spPr>
          <a:xfrm>
            <a:off x="3182040" y="2834640"/>
            <a:ext cx="2696400" cy="1388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5" name="Shape 1229"/>
          <p:cNvSpPr/>
          <p:nvPr/>
        </p:nvSpPr>
        <p:spPr>
          <a:xfrm>
            <a:off x="3182040" y="2834640"/>
            <a:ext cx="2696400" cy="53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6" name="Text 763"/>
          <p:cNvSpPr/>
          <p:nvPr/>
        </p:nvSpPr>
        <p:spPr>
          <a:xfrm>
            <a:off x="3273480" y="29077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ourier New"/>
                <a:ea typeface="Courier New"/>
              </a:rPr>
              <a:t>opensearch-ruby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7" name="Shape 1230"/>
          <p:cNvSpPr/>
          <p:nvPr/>
        </p:nvSpPr>
        <p:spPr>
          <a:xfrm>
            <a:off x="3273480" y="3200400"/>
            <a:ext cx="1187640" cy="200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8" name="Text 764"/>
          <p:cNvSpPr/>
          <p:nvPr/>
        </p:nvSpPr>
        <p:spPr>
          <a:xfrm>
            <a:off x="3273480" y="32004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Ruby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9" name="Shape 1231"/>
          <p:cNvSpPr/>
          <p:nvPr/>
        </p:nvSpPr>
        <p:spPr>
          <a:xfrm>
            <a:off x="4553640" y="3200400"/>
            <a:ext cx="639000" cy="2001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0" name="Text 765"/>
          <p:cNvSpPr/>
          <p:nvPr/>
        </p:nvSpPr>
        <p:spPr>
          <a:xfrm>
            <a:off x="4553640" y="32004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b0d0d8"/>
                </a:solidFill>
                <a:latin typeface="Calibri"/>
                <a:ea typeface="Calibri"/>
              </a:rPr>
              <a:t>v3.x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1" name="Text 766"/>
          <p:cNvSpPr/>
          <p:nvPr/>
        </p:nvSpPr>
        <p:spPr>
          <a:xfrm>
            <a:off x="3273480" y="3493080"/>
            <a:ext cx="2513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ActiveRecord style · Rails integration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2" name="Shape 1232"/>
          <p:cNvSpPr/>
          <p:nvPr/>
        </p:nvSpPr>
        <p:spPr>
          <a:xfrm>
            <a:off x="6035040" y="2834640"/>
            <a:ext cx="2696400" cy="1388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3" name="Shape 1233"/>
          <p:cNvSpPr/>
          <p:nvPr/>
        </p:nvSpPr>
        <p:spPr>
          <a:xfrm>
            <a:off x="6035040" y="2834640"/>
            <a:ext cx="2696400" cy="5364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4" name="Text 767"/>
          <p:cNvSpPr/>
          <p:nvPr/>
        </p:nvSpPr>
        <p:spPr>
          <a:xfrm>
            <a:off x="6126480" y="2907720"/>
            <a:ext cx="2513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ourier New"/>
                <a:ea typeface="Courier New"/>
              </a:rPr>
              <a:t>opensearch-rs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5" name="Shape 1234"/>
          <p:cNvSpPr/>
          <p:nvPr/>
        </p:nvSpPr>
        <p:spPr>
          <a:xfrm>
            <a:off x="6126480" y="3200400"/>
            <a:ext cx="1187640" cy="20016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6" name="Text 768"/>
          <p:cNvSpPr/>
          <p:nvPr/>
        </p:nvSpPr>
        <p:spPr>
          <a:xfrm>
            <a:off x="6126480" y="3200400"/>
            <a:ext cx="11876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Rust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7" name="Shape 1235"/>
          <p:cNvSpPr/>
          <p:nvPr/>
        </p:nvSpPr>
        <p:spPr>
          <a:xfrm>
            <a:off x="7406640" y="3200400"/>
            <a:ext cx="639000" cy="20016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8" name="Text 935"/>
          <p:cNvSpPr/>
          <p:nvPr/>
        </p:nvSpPr>
        <p:spPr>
          <a:xfrm>
            <a:off x="7406640" y="3200400"/>
            <a:ext cx="639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b0d0d8"/>
                </a:solidFill>
                <a:latin typeface="Calibri"/>
                <a:ea typeface="Calibri"/>
              </a:rPr>
              <a:t>v0.2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9" name="Text 936"/>
          <p:cNvSpPr/>
          <p:nvPr/>
        </p:nvSpPr>
        <p:spPr>
          <a:xfrm>
            <a:off x="6126480" y="3493080"/>
            <a:ext cx="25135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Community · Async tokio · Zero-copy deserialization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0" name="Shape 1236"/>
          <p:cNvSpPr/>
          <p:nvPr/>
        </p:nvSpPr>
        <p:spPr>
          <a:xfrm>
            <a:off x="320040" y="4352400"/>
            <a:ext cx="8502840" cy="5292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1" name="Shape 1237"/>
          <p:cNvSpPr/>
          <p:nvPr/>
        </p:nvSpPr>
        <p:spPr>
          <a:xfrm>
            <a:off x="320040" y="4352400"/>
            <a:ext cx="53640" cy="5292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2" name="Text 937"/>
          <p:cNvSpPr/>
          <p:nvPr/>
        </p:nvSpPr>
        <p:spPr>
          <a:xfrm>
            <a:off x="448200" y="4407480"/>
            <a:ext cx="83199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⚠  </a:t>
            </a: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Vérifier la compatibilité : les clients Java/Python 2.x et antérieurs ciblaient Elasticsearch. Utiliser les clients officiels opensearch-* pour les versions 2.x+ d'OpenSearch.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Shape 1238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4" name="Shape 1239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5" name="Text 938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Python – opensearch-py · Bulk &amp; parallel_bulk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6" name="Text 1325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opensearch-py fournit </a:t>
            </a:r>
            <a:r>
              <a:rPr b="1" i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helpers.bulk()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et </a:t>
            </a:r>
            <a:r>
              <a:rPr b="1" i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helpers.parallel_bulk()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qui simplifient l'ingestion volumineuse avec gestion automatique des erreurs et du backoff.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7" name="Text 1500"/>
          <p:cNvSpPr/>
          <p:nvPr/>
        </p:nvSpPr>
        <p:spPr>
          <a:xfrm>
            <a:off x="320040" y="1188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Installation &amp; connexion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8" name="Shape 1241"/>
          <p:cNvSpPr/>
          <p:nvPr/>
        </p:nvSpPr>
        <p:spPr>
          <a:xfrm>
            <a:off x="320040" y="1527120"/>
            <a:ext cx="4205160" cy="17128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9" name="Text 1501"/>
          <p:cNvSpPr/>
          <p:nvPr/>
        </p:nvSpPr>
        <p:spPr>
          <a:xfrm>
            <a:off x="411480" y="1600200"/>
            <a:ext cx="40680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pip install opensearch-py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from opensearchpy import OpenSearch, helpers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 = OpenSearch(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hosts=[{'host': 'localhost', 'port': 9200}],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http_compress=True,     # gzip: -40% réseau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retry_on_timeout=True,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max_retries=3,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maxsize=16,             # pool connexions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)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0" name="Shape 1243"/>
          <p:cNvSpPr/>
          <p:nvPr/>
        </p:nvSpPr>
        <p:spPr>
          <a:xfrm>
            <a:off x="4754880" y="1527120"/>
            <a:ext cx="4205160" cy="812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1" name="Shape 1244"/>
          <p:cNvSpPr/>
          <p:nvPr/>
        </p:nvSpPr>
        <p:spPr>
          <a:xfrm>
            <a:off x="4754880" y="1527120"/>
            <a:ext cx="53640" cy="812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2" name="Text 1691"/>
          <p:cNvSpPr/>
          <p:nvPr/>
        </p:nvSpPr>
        <p:spPr>
          <a:xfrm>
            <a:off x="4883040" y="156348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helpers.bulk()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3" name="Shape 1415"/>
          <p:cNvSpPr/>
          <p:nvPr/>
        </p:nvSpPr>
        <p:spPr>
          <a:xfrm>
            <a:off x="7406640" y="1581840"/>
            <a:ext cx="1461960" cy="181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4" name="Text 1692"/>
          <p:cNvSpPr/>
          <p:nvPr/>
        </p:nvSpPr>
        <p:spPr>
          <a:xfrm>
            <a:off x="7406640" y="158184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Simple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5" name="Text 1769"/>
          <p:cNvSpPr/>
          <p:nvPr/>
        </p:nvSpPr>
        <p:spPr>
          <a:xfrm>
            <a:off x="4883040" y="181980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Ingestion séquentielle mono-thread. Gère les erreurs partielles. Idéal pour &lt; 100k docs.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6" name="Shape 1416"/>
          <p:cNvSpPr/>
          <p:nvPr/>
        </p:nvSpPr>
        <p:spPr>
          <a:xfrm>
            <a:off x="4754880" y="2408400"/>
            <a:ext cx="4205160" cy="7956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7" name="Shape 1417"/>
          <p:cNvSpPr/>
          <p:nvPr/>
        </p:nvSpPr>
        <p:spPr>
          <a:xfrm>
            <a:off x="4754880" y="2408400"/>
            <a:ext cx="53640" cy="795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8" name="Text 1770"/>
          <p:cNvSpPr/>
          <p:nvPr/>
        </p:nvSpPr>
        <p:spPr>
          <a:xfrm>
            <a:off x="4883040" y="244476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helpers.parallel_bulk()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9" name="Shape 1598"/>
          <p:cNvSpPr/>
          <p:nvPr/>
        </p:nvSpPr>
        <p:spPr>
          <a:xfrm>
            <a:off x="7406640" y="246312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0" name="Text 1771"/>
          <p:cNvSpPr/>
          <p:nvPr/>
        </p:nvSpPr>
        <p:spPr>
          <a:xfrm>
            <a:off x="7406640" y="246312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Haute perf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1" name="Text 2826"/>
          <p:cNvSpPr/>
          <p:nvPr/>
        </p:nvSpPr>
        <p:spPr>
          <a:xfrm>
            <a:off x="4883040" y="270108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N threads simultanés. Générateur asynchrone. Recommandé pour ingestion volumineuse.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2" name="Shape 1599"/>
          <p:cNvSpPr/>
          <p:nvPr/>
        </p:nvSpPr>
        <p:spPr>
          <a:xfrm>
            <a:off x="4754880" y="3253680"/>
            <a:ext cx="4205160" cy="7783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3" name="Shape 1600"/>
          <p:cNvSpPr/>
          <p:nvPr/>
        </p:nvSpPr>
        <p:spPr>
          <a:xfrm>
            <a:off x="4754880" y="3253680"/>
            <a:ext cx="53640" cy="7783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4" name="Text 2827"/>
          <p:cNvSpPr/>
          <p:nvPr/>
        </p:nvSpPr>
        <p:spPr>
          <a:xfrm>
            <a:off x="4883040" y="329004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Async (aiohttp)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5" name="Shape 1672"/>
          <p:cNvSpPr/>
          <p:nvPr/>
        </p:nvSpPr>
        <p:spPr>
          <a:xfrm>
            <a:off x="7406640" y="3308400"/>
            <a:ext cx="1461960" cy="1818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6" name="Text 2828"/>
          <p:cNvSpPr/>
          <p:nvPr/>
        </p:nvSpPr>
        <p:spPr>
          <a:xfrm>
            <a:off x="7406640" y="330840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Async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7" name="Text 2829"/>
          <p:cNvSpPr/>
          <p:nvPr/>
        </p:nvSpPr>
        <p:spPr>
          <a:xfrm>
            <a:off x="4883040" y="354636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from opensearchpy import AsyncOpenSearch · await client.bulk(). Idéal FastAPI / asyncio.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8" name="Shape 1673"/>
          <p:cNvSpPr/>
          <p:nvPr/>
        </p:nvSpPr>
        <p:spPr>
          <a:xfrm>
            <a:off x="4754880" y="4062960"/>
            <a:ext cx="4205160" cy="797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9" name="Shape 1674"/>
          <p:cNvSpPr/>
          <p:nvPr/>
        </p:nvSpPr>
        <p:spPr>
          <a:xfrm>
            <a:off x="4754880" y="4062960"/>
            <a:ext cx="53640" cy="797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0" name="Text 2830"/>
          <p:cNvSpPr/>
          <p:nvPr/>
        </p:nvSpPr>
        <p:spPr>
          <a:xfrm>
            <a:off x="4883040" y="4092480"/>
            <a:ext cx="237636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Streaming bulk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1" name="Shape 2435"/>
          <p:cNvSpPr/>
          <p:nvPr/>
        </p:nvSpPr>
        <p:spPr>
          <a:xfrm>
            <a:off x="7406640" y="4107240"/>
            <a:ext cx="1461960" cy="146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2" name="Text 2831"/>
          <p:cNvSpPr/>
          <p:nvPr/>
        </p:nvSpPr>
        <p:spPr>
          <a:xfrm>
            <a:off x="7406640" y="4107240"/>
            <a:ext cx="146196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Memory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3" name="Text 2832"/>
          <p:cNvSpPr/>
          <p:nvPr/>
        </p:nvSpPr>
        <p:spPr>
          <a:xfrm>
            <a:off x="4883040" y="4299480"/>
            <a:ext cx="39855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Le pattern generator évite de charger toutes les données en mémoire — critique pour TB de données.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Shape 487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5" name="Shape 489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6" name="Text 452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Python – Exemple parallel_bulk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7" name="Text 456"/>
          <p:cNvSpPr/>
          <p:nvPr/>
        </p:nvSpPr>
        <p:spPr>
          <a:xfrm>
            <a:off x="320040" y="69048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Generator pattern + parallel_bulk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8" name="Shape 491"/>
          <p:cNvSpPr/>
          <p:nvPr/>
        </p:nvSpPr>
        <p:spPr>
          <a:xfrm>
            <a:off x="320040" y="1260000"/>
            <a:ext cx="7239960" cy="32526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9" name="Text 457"/>
          <p:cNvSpPr/>
          <p:nvPr/>
        </p:nvSpPr>
        <p:spPr>
          <a:xfrm>
            <a:off x="411480" y="1389960"/>
            <a:ext cx="678852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def generate_actions(records):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rec in records: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yield {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# streaming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'_index':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'catalogue',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'_source': rec,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# '_id': rec['id']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# optionnel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ok, failed = 0, 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# Envoie les documents en //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success, info in </a:t>
            </a: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helpers.parallel_bulk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(client,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1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generate_actions(data)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thread_count=4,      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#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threads parallèles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chunk_size=500,      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# docs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par batch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max_chunk_bytes=10*1024*1024, 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# </a:t>
            </a:r>
            <a:r>
              <a:rPr b="0" lang="en-US" sz="1000" spc="-1" strike="noStrike">
                <a:solidFill>
                  <a:srgbClr val="ea7500"/>
                </a:solidFill>
                <a:latin typeface="Courier New"/>
                <a:ea typeface="Courier New"/>
              </a:rPr>
              <a:t>10 Mo max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raise_on_error=False,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):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if success: ok += 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else: failed += 1;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print(info)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print(f'ok={ok}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failed={failed}')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Shape 2436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1" name="Shape 2437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2" name="Text 2833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OpenSearch Java Client 3.x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3" name="Text 2835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 client Java officiel utilise une API Fluent Builder typée. Il gère nativement le pool de connexions, la sérialisation Jackson/JSON-b et le retry avec backoff exponentiel.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4" name="Text 2836"/>
          <p:cNvSpPr/>
          <p:nvPr/>
        </p:nvSpPr>
        <p:spPr>
          <a:xfrm>
            <a:off x="320040" y="1188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Dépendance + configuration du client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5" name="Shape 2439"/>
          <p:cNvSpPr/>
          <p:nvPr/>
        </p:nvSpPr>
        <p:spPr>
          <a:xfrm>
            <a:off x="320040" y="1527120"/>
            <a:ext cx="8679240" cy="12790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6" name="Text 2837"/>
          <p:cNvSpPr/>
          <p:nvPr/>
        </p:nvSpPr>
        <p:spPr>
          <a:xfrm>
            <a:off x="411480" y="1600200"/>
            <a:ext cx="6787800" cy="12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&lt;!-- build.gradle --&gt;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Implementation org.opensearch.client:opensearch-java:3.1.0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RestClientTransport transport = new RestClientTransport(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RestClient.builder(new HttpHost("localhost",9200)).build(),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new JacksonJsonpMapper());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OpenSearchClient client = new OpenSearchClient(transport);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7" name="Shape 2440"/>
          <p:cNvSpPr/>
          <p:nvPr/>
        </p:nvSpPr>
        <p:spPr>
          <a:xfrm>
            <a:off x="290880" y="2967120"/>
            <a:ext cx="4205160" cy="9864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8" name="Shape 2441"/>
          <p:cNvSpPr/>
          <p:nvPr/>
        </p:nvSpPr>
        <p:spPr>
          <a:xfrm>
            <a:off x="290880" y="2967120"/>
            <a:ext cx="53640" cy="9864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9" name="Text 2838"/>
          <p:cNvSpPr/>
          <p:nvPr/>
        </p:nvSpPr>
        <p:spPr>
          <a:xfrm>
            <a:off x="419040" y="300348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BulkRequest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0" name="Shape 2442"/>
          <p:cNvSpPr/>
          <p:nvPr/>
        </p:nvSpPr>
        <p:spPr>
          <a:xfrm>
            <a:off x="2942640" y="302184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1" name="Text 2839"/>
          <p:cNvSpPr/>
          <p:nvPr/>
        </p:nvSpPr>
        <p:spPr>
          <a:xfrm>
            <a:off x="2942640" y="302184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Simple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2" name="Text 2840"/>
          <p:cNvSpPr/>
          <p:nvPr/>
        </p:nvSpPr>
        <p:spPr>
          <a:xfrm>
            <a:off x="419040" y="325980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Construction manuelle du batch. Contrôle total. Synchrone.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3" name="Shape 2443"/>
          <p:cNvSpPr/>
          <p:nvPr/>
        </p:nvSpPr>
        <p:spPr>
          <a:xfrm>
            <a:off x="4754880" y="2912400"/>
            <a:ext cx="4205160" cy="9864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4" name="Shape 2444"/>
          <p:cNvSpPr/>
          <p:nvPr/>
        </p:nvSpPr>
        <p:spPr>
          <a:xfrm>
            <a:off x="4754880" y="2912400"/>
            <a:ext cx="53640" cy="986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5" name="Text 2841"/>
          <p:cNvSpPr/>
          <p:nvPr/>
        </p:nvSpPr>
        <p:spPr>
          <a:xfrm>
            <a:off x="4883040" y="294876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BulkIngester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6" name="Shape 2445"/>
          <p:cNvSpPr/>
          <p:nvPr/>
        </p:nvSpPr>
        <p:spPr>
          <a:xfrm>
            <a:off x="7406640" y="2967120"/>
            <a:ext cx="1461960" cy="181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7" name="Text 2842"/>
          <p:cNvSpPr/>
          <p:nvPr/>
        </p:nvSpPr>
        <p:spPr>
          <a:xfrm>
            <a:off x="7406640" y="296712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Production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8" name="Text 2843"/>
          <p:cNvSpPr/>
          <p:nvPr/>
        </p:nvSpPr>
        <p:spPr>
          <a:xfrm>
            <a:off x="4883040" y="320508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Buffer auto + flush périodique + listener erreurs. Recommandé pour applications long-running.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9" name="Shape 2446"/>
          <p:cNvSpPr/>
          <p:nvPr/>
        </p:nvSpPr>
        <p:spPr>
          <a:xfrm>
            <a:off x="290880" y="4081680"/>
            <a:ext cx="4205160" cy="9864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0" name="Shape 2447"/>
          <p:cNvSpPr/>
          <p:nvPr/>
        </p:nvSpPr>
        <p:spPr>
          <a:xfrm>
            <a:off x="290880" y="4081680"/>
            <a:ext cx="53640" cy="9864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1" name="Text 2844"/>
          <p:cNvSpPr/>
          <p:nvPr/>
        </p:nvSpPr>
        <p:spPr>
          <a:xfrm>
            <a:off x="419040" y="411804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Thread-safety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2" name="Shape 2448"/>
          <p:cNvSpPr/>
          <p:nvPr/>
        </p:nvSpPr>
        <p:spPr>
          <a:xfrm>
            <a:off x="2942640" y="4136400"/>
            <a:ext cx="1461960" cy="1818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3" name="Text 2845"/>
          <p:cNvSpPr/>
          <p:nvPr/>
        </p:nvSpPr>
        <p:spPr>
          <a:xfrm>
            <a:off x="2942640" y="413640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⚠ </a:t>
            </a: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Important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4" name="Text 2846"/>
          <p:cNvSpPr/>
          <p:nvPr/>
        </p:nvSpPr>
        <p:spPr>
          <a:xfrm>
            <a:off x="419040" y="437436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Le client est thread-safe. Utiliser une seule instance partagée dans Spring / Quarkus.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5" name="Shape 2449"/>
          <p:cNvSpPr/>
          <p:nvPr/>
        </p:nvSpPr>
        <p:spPr>
          <a:xfrm>
            <a:off x="4754880" y="4098960"/>
            <a:ext cx="4205160" cy="9864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6" name="Shape 2450"/>
          <p:cNvSpPr/>
          <p:nvPr/>
        </p:nvSpPr>
        <p:spPr>
          <a:xfrm>
            <a:off x="4754880" y="4098960"/>
            <a:ext cx="53640" cy="9864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7" name="Text 2847"/>
          <p:cNvSpPr/>
          <p:nvPr/>
        </p:nvSpPr>
        <p:spPr>
          <a:xfrm>
            <a:off x="4883040" y="413532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SSL / Auth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8" name="Shape 2451"/>
          <p:cNvSpPr/>
          <p:nvPr/>
        </p:nvSpPr>
        <p:spPr>
          <a:xfrm>
            <a:off x="7406640" y="415368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9" name="Text 2848"/>
          <p:cNvSpPr/>
          <p:nvPr/>
        </p:nvSpPr>
        <p:spPr>
          <a:xfrm>
            <a:off x="7406640" y="415368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0" name="Text 2849"/>
          <p:cNvSpPr/>
          <p:nvPr/>
        </p:nvSpPr>
        <p:spPr>
          <a:xfrm>
            <a:off x="4883040" y="439164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SSLContext + BasicCredentials configurés dans le RestClient. Gestion via Keystore ou variables env.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Shape 538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2" name="Shape 768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3" name="Text 496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OpenSearch Java Client 3.x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4" name="Text 511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 client Java officiel utilise une API Fluent Builder typée. Il gère nativement le pool de connexions, la sérialisation Jackson/JSON-b et le retry avec backoff exponentiel.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5" name="Text 512"/>
          <p:cNvSpPr/>
          <p:nvPr/>
        </p:nvSpPr>
        <p:spPr>
          <a:xfrm>
            <a:off x="320040" y="1188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Dépendance + configuration du client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6" name="Shape 770"/>
          <p:cNvSpPr/>
          <p:nvPr/>
        </p:nvSpPr>
        <p:spPr>
          <a:xfrm>
            <a:off x="320040" y="1527120"/>
            <a:ext cx="8679240" cy="12790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7" name="Text 513"/>
          <p:cNvSpPr/>
          <p:nvPr/>
        </p:nvSpPr>
        <p:spPr>
          <a:xfrm>
            <a:off x="411480" y="1600200"/>
            <a:ext cx="6787800" cy="12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&lt;!-- build.gradle --&gt;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Implementation org.opensearch.client:opensearch-java:3.1.0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RestClientTransport transport = new RestClientTransport(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RestClient.builder(new HttpHost("localhost",9200)).build(),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new JacksonJsonpMapper());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ourier New"/>
                <a:ea typeface="Courier New"/>
              </a:rPr>
              <a:t>OpenSearchClient client = new OpenSearchClient(transport);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8" name="Shape 771"/>
          <p:cNvSpPr/>
          <p:nvPr/>
        </p:nvSpPr>
        <p:spPr>
          <a:xfrm>
            <a:off x="290880" y="2967120"/>
            <a:ext cx="4205160" cy="9864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9" name="Shape 772"/>
          <p:cNvSpPr/>
          <p:nvPr/>
        </p:nvSpPr>
        <p:spPr>
          <a:xfrm>
            <a:off x="290880" y="2967120"/>
            <a:ext cx="53640" cy="9864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0" name="Text 514"/>
          <p:cNvSpPr/>
          <p:nvPr/>
        </p:nvSpPr>
        <p:spPr>
          <a:xfrm>
            <a:off x="419040" y="300348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BulkRequest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1" name="Shape 773"/>
          <p:cNvSpPr/>
          <p:nvPr/>
        </p:nvSpPr>
        <p:spPr>
          <a:xfrm>
            <a:off x="2942640" y="302184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2" name="Text 515"/>
          <p:cNvSpPr/>
          <p:nvPr/>
        </p:nvSpPr>
        <p:spPr>
          <a:xfrm>
            <a:off x="2942640" y="302184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Simple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3" name="Text 516"/>
          <p:cNvSpPr/>
          <p:nvPr/>
        </p:nvSpPr>
        <p:spPr>
          <a:xfrm>
            <a:off x="419040" y="325980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Construction manuelle du batch. Contrôle total. Synchrone. Retry sur transport HTTP, les autres erreurs sont à gérer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4" name="Shape 774"/>
          <p:cNvSpPr/>
          <p:nvPr/>
        </p:nvSpPr>
        <p:spPr>
          <a:xfrm>
            <a:off x="4754880" y="2912400"/>
            <a:ext cx="4205160" cy="9864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5" name="Shape 775"/>
          <p:cNvSpPr/>
          <p:nvPr/>
        </p:nvSpPr>
        <p:spPr>
          <a:xfrm>
            <a:off x="4754880" y="2912400"/>
            <a:ext cx="53640" cy="986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6" name="Text 517"/>
          <p:cNvSpPr/>
          <p:nvPr/>
        </p:nvSpPr>
        <p:spPr>
          <a:xfrm>
            <a:off x="4883040" y="294876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BulkIngester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7" name="Shape 776"/>
          <p:cNvSpPr/>
          <p:nvPr/>
        </p:nvSpPr>
        <p:spPr>
          <a:xfrm>
            <a:off x="7406640" y="2967120"/>
            <a:ext cx="1461960" cy="181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8" name="Text 518"/>
          <p:cNvSpPr/>
          <p:nvPr/>
        </p:nvSpPr>
        <p:spPr>
          <a:xfrm>
            <a:off x="7406640" y="296712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Production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9" name="Text 798"/>
          <p:cNvSpPr/>
          <p:nvPr/>
        </p:nvSpPr>
        <p:spPr>
          <a:xfrm>
            <a:off x="4883040" y="320508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Buffer auto + flush périodique + listener erreurs. Recommandé pour applications long-running. Retry sur erreur transitoire de type 429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0" name="Shape 777"/>
          <p:cNvSpPr/>
          <p:nvPr/>
        </p:nvSpPr>
        <p:spPr>
          <a:xfrm>
            <a:off x="290880" y="4081680"/>
            <a:ext cx="4205160" cy="9864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1" name="Shape 778"/>
          <p:cNvSpPr/>
          <p:nvPr/>
        </p:nvSpPr>
        <p:spPr>
          <a:xfrm>
            <a:off x="290880" y="4081680"/>
            <a:ext cx="53640" cy="9864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2" name="Text 799"/>
          <p:cNvSpPr/>
          <p:nvPr/>
        </p:nvSpPr>
        <p:spPr>
          <a:xfrm>
            <a:off x="419040" y="411804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Thread-safety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3" name="Shape 779"/>
          <p:cNvSpPr/>
          <p:nvPr/>
        </p:nvSpPr>
        <p:spPr>
          <a:xfrm>
            <a:off x="2942640" y="4136400"/>
            <a:ext cx="1461960" cy="1818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4" name="Text 800"/>
          <p:cNvSpPr/>
          <p:nvPr/>
        </p:nvSpPr>
        <p:spPr>
          <a:xfrm>
            <a:off x="2942640" y="413640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⚠ </a:t>
            </a: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Important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5" name="Text 801"/>
          <p:cNvSpPr/>
          <p:nvPr/>
        </p:nvSpPr>
        <p:spPr>
          <a:xfrm>
            <a:off x="419040" y="437436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Le client est thread-safe. Utiliser une seule instance partagée dans Spring / Quarkus.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6" name="Shape 780"/>
          <p:cNvSpPr/>
          <p:nvPr/>
        </p:nvSpPr>
        <p:spPr>
          <a:xfrm>
            <a:off x="4754880" y="4098960"/>
            <a:ext cx="4205160" cy="9864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7" name="Shape 781"/>
          <p:cNvSpPr/>
          <p:nvPr/>
        </p:nvSpPr>
        <p:spPr>
          <a:xfrm>
            <a:off x="4754880" y="4098960"/>
            <a:ext cx="53640" cy="9864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8" name="Text 802"/>
          <p:cNvSpPr/>
          <p:nvPr/>
        </p:nvSpPr>
        <p:spPr>
          <a:xfrm>
            <a:off x="4883040" y="413532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SSL / Auth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9" name="Shape 782"/>
          <p:cNvSpPr/>
          <p:nvPr/>
        </p:nvSpPr>
        <p:spPr>
          <a:xfrm>
            <a:off x="7406640" y="415368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0" name="Text 803"/>
          <p:cNvSpPr/>
          <p:nvPr/>
        </p:nvSpPr>
        <p:spPr>
          <a:xfrm>
            <a:off x="7406640" y="415368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1" name="Text 804"/>
          <p:cNvSpPr/>
          <p:nvPr/>
        </p:nvSpPr>
        <p:spPr>
          <a:xfrm>
            <a:off x="4883040" y="439164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d0d8"/>
                </a:solidFill>
                <a:latin typeface="Calibri"/>
                <a:ea typeface="Calibri"/>
              </a:rPr>
              <a:t>SSLContext + BasicCredentials configurés dans le RestClient. Gestion via Keystore ou variables env.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Shape 2452"/>
          <p:cNvSpPr/>
          <p:nvPr/>
        </p:nvSpPr>
        <p:spPr>
          <a:xfrm>
            <a:off x="0" y="0"/>
            <a:ext cx="9144000" cy="7030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3" name="Shape 2453"/>
          <p:cNvSpPr/>
          <p:nvPr/>
        </p:nvSpPr>
        <p:spPr>
          <a:xfrm>
            <a:off x="0" y="0"/>
            <a:ext cx="181800" cy="703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4" name="Text 2850"/>
          <p:cNvSpPr/>
          <p:nvPr/>
        </p:nvSpPr>
        <p:spPr>
          <a:xfrm>
            <a:off x="356760" y="0"/>
            <a:ext cx="81644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API d'indexation de base · CRUD documentaire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5" name="Text 2852"/>
          <p:cNvSpPr/>
          <p:nvPr/>
        </p:nvSpPr>
        <p:spPr>
          <a:xfrm>
            <a:off x="356760" y="786240"/>
            <a:ext cx="8643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Chaque opération retourne un objet Response — pas de Map&lt;String,Object&gt; à manipuler.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6" name="Text 2853"/>
          <p:cNvSpPr/>
          <p:nvPr/>
        </p:nvSpPr>
        <p:spPr>
          <a:xfrm>
            <a:off x="356760" y="130752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Indexer un document (index)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7" name="Shape 2455"/>
          <p:cNvSpPr/>
          <p:nvPr/>
        </p:nvSpPr>
        <p:spPr>
          <a:xfrm>
            <a:off x="140760" y="1682640"/>
            <a:ext cx="4359240" cy="22773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8" name="Text 2854"/>
          <p:cNvSpPr/>
          <p:nvPr/>
        </p:nvSpPr>
        <p:spPr>
          <a:xfrm>
            <a:off x="241200" y="1764720"/>
            <a:ext cx="4488480" cy="20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// Créer ou remplacer — ID auto-généré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IndexResponse resp = client.index(i -&gt; i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.index("produits-java")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.document(monProduit)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String id     = resp.id();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String result = resp.result().jsonValue(); // "created"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long version  = resp.version();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// Avec ID explicite 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client.index(i -&gt; i.index("produits-java")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.id("PROD-001").document(monProduit));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9" name="Text 2855"/>
          <p:cNvSpPr/>
          <p:nvPr/>
        </p:nvSpPr>
        <p:spPr>
          <a:xfrm>
            <a:off x="4712760" y="1310760"/>
            <a:ext cx="37472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Récupérer un document (get)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0" name="Shape 2456"/>
          <p:cNvSpPr/>
          <p:nvPr/>
        </p:nvSpPr>
        <p:spPr>
          <a:xfrm>
            <a:off x="4712760" y="1685520"/>
            <a:ext cx="4287240" cy="22744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1" name="Text 2856"/>
          <p:cNvSpPr/>
          <p:nvPr/>
        </p:nvSpPr>
        <p:spPr>
          <a:xfrm>
            <a:off x="4794120" y="1767960"/>
            <a:ext cx="40258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GetResponse&lt;Produit&gt; resp = client.get(g -&gt; 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.index("produits-java").id("PROD-001"),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Produit.class);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if (resp.found()) 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Produit p = resp.source(); // deserialisé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2" name="Shape 2457"/>
          <p:cNvSpPr/>
          <p:nvPr/>
        </p:nvSpPr>
        <p:spPr>
          <a:xfrm>
            <a:off x="356760" y="4517280"/>
            <a:ext cx="864324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3" name="Shape 2458"/>
          <p:cNvSpPr/>
          <p:nvPr/>
        </p:nvSpPr>
        <p:spPr>
          <a:xfrm>
            <a:off x="356760" y="4517280"/>
            <a:ext cx="63000" cy="38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4" name="Text 2857"/>
          <p:cNvSpPr/>
          <p:nvPr/>
        </p:nvSpPr>
        <p:spPr>
          <a:xfrm>
            <a:off x="502920" y="4553640"/>
            <a:ext cx="81370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client.exists() -&gt; boolean  |  client.mget() -&gt; multi-doc  |  toutes les ops levent IOException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Shape 490"/>
          <p:cNvSpPr/>
          <p:nvPr/>
        </p:nvSpPr>
        <p:spPr>
          <a:xfrm>
            <a:off x="0" y="0"/>
            <a:ext cx="9144000" cy="7030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6" name="Shape 492"/>
          <p:cNvSpPr/>
          <p:nvPr/>
        </p:nvSpPr>
        <p:spPr>
          <a:xfrm>
            <a:off x="0" y="0"/>
            <a:ext cx="181800" cy="703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7" name="Text 453"/>
          <p:cNvSpPr/>
          <p:nvPr/>
        </p:nvSpPr>
        <p:spPr>
          <a:xfrm>
            <a:off x="356760" y="0"/>
            <a:ext cx="81644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API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d'indexation de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base · CRUD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documentaire (2)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8" name="Text 462"/>
          <p:cNvSpPr/>
          <p:nvPr/>
        </p:nvSpPr>
        <p:spPr>
          <a:xfrm>
            <a:off x="271440" y="80352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Mise a jour partielle (update)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9" name="Shape 497"/>
          <p:cNvSpPr/>
          <p:nvPr/>
        </p:nvSpPr>
        <p:spPr>
          <a:xfrm>
            <a:off x="271440" y="1178640"/>
            <a:ext cx="4228560" cy="221544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0" name="Text 463"/>
          <p:cNvSpPr/>
          <p:nvPr/>
        </p:nvSpPr>
        <p:spPr>
          <a:xfrm>
            <a:off x="372240" y="1260720"/>
            <a:ext cx="4488480" cy="19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ea7500"/>
                </a:solidFill>
                <a:latin typeface="Courier New"/>
                <a:ea typeface="Courier New"/>
              </a:rPr>
              <a:t>// Via doc: (champs fournis seulement)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client.update(u -&gt; u.index("produits-java")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.id("PROD-001")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.doc(Map.of("stock", 99, "actif", false)),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Produit.class);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ea7500"/>
                </a:solidFill>
                <a:latin typeface="Courier New"/>
                <a:ea typeface="Courier New"/>
              </a:rPr>
              <a:t>// Via script Painless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client.update(u -&gt; u.index("produits-java").id("PROD-001")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.script(sc -&gt; sc.inline(i -&gt; i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.source("ctx._source.stock += params.n")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.params("n", JsonData.of(5)))), Produit.class);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1" name="Text 494"/>
          <p:cNvSpPr/>
          <p:nvPr/>
        </p:nvSpPr>
        <p:spPr>
          <a:xfrm>
            <a:off x="271440" y="339408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Supprimer </a:t>
            </a: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(delete)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2" name="Shape 498"/>
          <p:cNvSpPr/>
          <p:nvPr/>
        </p:nvSpPr>
        <p:spPr>
          <a:xfrm>
            <a:off x="271440" y="3768840"/>
            <a:ext cx="4228560" cy="12711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3" name="Text 510"/>
          <p:cNvSpPr/>
          <p:nvPr/>
        </p:nvSpPr>
        <p:spPr>
          <a:xfrm>
            <a:off x="372240" y="3851280"/>
            <a:ext cx="448848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DeleteResponse dr = client.delete(d -&gt; d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.index("produits-java").id("PROD-001"));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a7500"/>
                </a:solidFill>
                <a:latin typeface="Courier New"/>
                <a:ea typeface="Courier New"/>
              </a:rPr>
              <a:t>// dr.result() -&gt; "deleted" ou "not_found"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4" name="Text 717"/>
          <p:cNvSpPr/>
          <p:nvPr/>
        </p:nvSpPr>
        <p:spPr>
          <a:xfrm>
            <a:off x="4735440" y="79020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1050" spc="-1" strike="noStrike">
                <a:solidFill>
                  <a:srgbClr val="e8834a"/>
                </a:solidFill>
                <a:latin typeface="Calibri"/>
                <a:ea typeface="Calibri"/>
              </a:rPr>
              <a:t>Créer l'index avec mapping explicite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5" name="Shape 523"/>
          <p:cNvSpPr/>
          <p:nvPr/>
        </p:nvSpPr>
        <p:spPr>
          <a:xfrm>
            <a:off x="4735440" y="1164960"/>
            <a:ext cx="4264560" cy="153504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6" name="Text 745"/>
          <p:cNvSpPr/>
          <p:nvPr/>
        </p:nvSpPr>
        <p:spPr>
          <a:xfrm>
            <a:off x="4836240" y="1247400"/>
            <a:ext cx="4307760" cy="12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client.indices().create(c -&gt; c.index("produits-java")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.settings(s -&gt; s.numberOfShards("3")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.numberOfReplicas("2"))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.mappings(m -&gt; m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.properties("nom",   p -&gt; p.text(t -&gt; t.analyzer("french")))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.properties("prix",  p -&gt; p.float_(f -&gt; f))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00" spc="-1" strike="noStrike">
                <a:solidFill>
                  <a:srgbClr val="ffffff"/>
                </a:solidFill>
                <a:latin typeface="Courier New"/>
                <a:ea typeface="Courier New"/>
              </a:rPr>
              <a:t>.properties("actif", p -&gt; p.boolean_(b -&gt; b))));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7" name="Shape 524"/>
          <p:cNvSpPr/>
          <p:nvPr/>
        </p:nvSpPr>
        <p:spPr>
          <a:xfrm>
            <a:off x="4735440" y="2925720"/>
            <a:ext cx="426456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8" name="Shape 712"/>
          <p:cNvSpPr/>
          <p:nvPr/>
        </p:nvSpPr>
        <p:spPr>
          <a:xfrm>
            <a:off x="4735440" y="2925720"/>
            <a:ext cx="57960" cy="3830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9" name="Text 972"/>
          <p:cNvSpPr/>
          <p:nvPr/>
        </p:nvSpPr>
        <p:spPr>
          <a:xfrm>
            <a:off x="4870080" y="2962440"/>
            <a:ext cx="4079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Appeler createIndex() au demarrage — </a:t>
            </a:r>
            <a:br>
              <a:rPr sz="950"/>
            </a:b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verifier l'existence avec indices().exists().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Shape 2465"/>
          <p:cNvSpPr/>
          <p:nvPr/>
        </p:nvSpPr>
        <p:spPr>
          <a:xfrm>
            <a:off x="0" y="0"/>
            <a:ext cx="181800" cy="703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1" name="Text 2865"/>
          <p:cNvSpPr/>
          <p:nvPr/>
        </p:nvSpPr>
        <p:spPr>
          <a:xfrm>
            <a:off x="356760" y="0"/>
            <a:ext cx="81644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BulkRequest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&amp;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BulkIngester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· Ingestion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par lots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2" name="Text 2867"/>
          <p:cNvSpPr/>
          <p:nvPr/>
        </p:nvSpPr>
        <p:spPr>
          <a:xfrm>
            <a:off x="356760" y="678240"/>
            <a:ext cx="8643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BulkRequest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pour les batchs ponctuels avec controle total. </a:t>
            </a:r>
            <a:br>
              <a:rPr sz="1100"/>
            </a:b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BulkIngester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pour les applications long-running avec flush automatique par taille, nombre ou intervalle.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3" name="Text 2868"/>
          <p:cNvSpPr/>
          <p:nvPr/>
        </p:nvSpPr>
        <p:spPr>
          <a:xfrm>
            <a:off x="356760" y="1091520"/>
            <a:ext cx="463500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BulkRequest – batch manuel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4" name="Shape 2467"/>
          <p:cNvSpPr/>
          <p:nvPr/>
        </p:nvSpPr>
        <p:spPr>
          <a:xfrm>
            <a:off x="356760" y="1492200"/>
            <a:ext cx="4635000" cy="30078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5" name="Text 2869"/>
          <p:cNvSpPr/>
          <p:nvPr/>
        </p:nvSpPr>
        <p:spPr>
          <a:xfrm>
            <a:off x="457200" y="1579680"/>
            <a:ext cx="4488480" cy="23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BulkRequest.Builder br = new BulkRequest.Builder();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for (Produit p : produits)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br.operations(op -&gt; op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.index(i -&gt; i.index(INDEX).document(p)));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BulkResponse resp = client.bulk(br.build());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// Analyser item par item — HTTP 200 meme si erreurs !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if (resp.errors())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resp.items().forEach(item -&gt;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if (item.error() != null)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log.error("[{}] {} : {}", item.status(),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item.id(), item.error().reason());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long tookMs = resp.took();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6" name="Shape 2468"/>
          <p:cNvSpPr/>
          <p:nvPr/>
        </p:nvSpPr>
        <p:spPr>
          <a:xfrm>
            <a:off x="356760" y="4500000"/>
            <a:ext cx="4635000" cy="55548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7" name="Shape 2469"/>
          <p:cNvSpPr/>
          <p:nvPr/>
        </p:nvSpPr>
        <p:spPr>
          <a:xfrm>
            <a:off x="356760" y="4500000"/>
            <a:ext cx="63000" cy="555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8" name="Text 2870"/>
          <p:cNvSpPr/>
          <p:nvPr/>
        </p:nvSpPr>
        <p:spPr>
          <a:xfrm>
            <a:off x="502920" y="4565160"/>
            <a:ext cx="443376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1 appel HTTP par appel. Idéal ETL/migration. </a:t>
            </a:r>
            <a:br>
              <a:rPr sz="950"/>
            </a:b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Taille recommandée : 500-5000 docs ou 5-15 Mo. </a:t>
            </a:r>
            <a:br>
              <a:rPr sz="950"/>
            </a:b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resp.errors() est le seul indicateur d'echec partiel.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9" name="Text 2871"/>
          <p:cNvSpPr/>
          <p:nvPr/>
        </p:nvSpPr>
        <p:spPr>
          <a:xfrm>
            <a:off x="5239440" y="1091520"/>
            <a:ext cx="463500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BulkIngester – flush automatique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0" name="Shape 2470"/>
          <p:cNvSpPr/>
          <p:nvPr/>
        </p:nvSpPr>
        <p:spPr>
          <a:xfrm>
            <a:off x="5239440" y="1474920"/>
            <a:ext cx="3760560" cy="30250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1" name="Text 2872"/>
          <p:cNvSpPr/>
          <p:nvPr/>
        </p:nvSpPr>
        <p:spPr>
          <a:xfrm>
            <a:off x="5340240" y="1558800"/>
            <a:ext cx="3839760" cy="23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// Bean @Service singleton — thread-safe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try (BulkIngester&lt;Produit&gt; ing = BulkIngester.of(b -&gt; b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.client(client)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.maxOperations(500)         </a:t>
            </a: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// flush a 500 docs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.maxSize(10 * 1024 * 1024L) </a:t>
            </a: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// ou 10 Mo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.flushInterval(5, TimeUnit.SECONDS)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.listener(new BulkListener&lt;Produit&gt;()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public void afterBulk(long execId,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BulkRequest req, List&lt;Produit&gt; ctx,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BulkResponse resp)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resp.items().stream()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.filter(i -&gt; i.error() != null)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.forEach(i -&gt; log.error(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i.error().reason()));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public void afterBulk(long execId,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BulkRequest req, List&lt;Produit&gt; ctx,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Throwable failure)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log.error("Bulk failed", failure);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)) { 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produits.forEach(p -&gt; ing.add(op -&gt; op.index(...))); 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2" name="Shape 2471"/>
          <p:cNvSpPr/>
          <p:nvPr/>
        </p:nvSpPr>
        <p:spPr>
          <a:xfrm>
            <a:off x="5239440" y="4500000"/>
            <a:ext cx="3760560" cy="5400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3" name="Shape 2472"/>
          <p:cNvSpPr/>
          <p:nvPr/>
        </p:nvSpPr>
        <p:spPr>
          <a:xfrm>
            <a:off x="5239440" y="4500000"/>
            <a:ext cx="63000" cy="540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4" name="Text 2873"/>
          <p:cNvSpPr/>
          <p:nvPr/>
        </p:nvSpPr>
        <p:spPr>
          <a:xfrm>
            <a:off x="5385960" y="4548600"/>
            <a:ext cx="3614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une commande = un doc, evenements continus. </a:t>
            </a:r>
            <a:br>
              <a:rPr sz="950"/>
            </a:b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Bean singleton.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Shape 2473"/>
          <p:cNvSpPr/>
          <p:nvPr/>
        </p:nvSpPr>
        <p:spPr>
          <a:xfrm>
            <a:off x="0" y="0"/>
            <a:ext cx="9144000" cy="7030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6" name="Shape 2474"/>
          <p:cNvSpPr/>
          <p:nvPr/>
        </p:nvSpPr>
        <p:spPr>
          <a:xfrm>
            <a:off x="0" y="0"/>
            <a:ext cx="181800" cy="703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7" name="Text 2874"/>
          <p:cNvSpPr/>
          <p:nvPr/>
        </p:nvSpPr>
        <p:spPr>
          <a:xfrm>
            <a:off x="356760" y="0"/>
            <a:ext cx="81644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Ingestion massive · Optimisations d'index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8" name="Text 2876"/>
          <p:cNvSpPr/>
          <p:nvPr/>
        </p:nvSpPr>
        <p:spPr>
          <a:xfrm>
            <a:off x="356760" y="786240"/>
            <a:ext cx="8643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Avant une ingestion volumineuse, desactiver refresh et replicas reduit le trafic inter-noeuds et le cout des segments Lucene — a restaurer imperativement apres.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9" name="Shape 2476"/>
          <p:cNvSpPr/>
          <p:nvPr/>
        </p:nvSpPr>
        <p:spPr>
          <a:xfrm>
            <a:off x="356760" y="1225440"/>
            <a:ext cx="2726280" cy="3830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0" name="Text 2877"/>
          <p:cNvSpPr/>
          <p:nvPr/>
        </p:nvSpPr>
        <p:spPr>
          <a:xfrm>
            <a:off x="439560" y="1225440"/>
            <a:ext cx="156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1 AVANT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1" name="Text 2878"/>
          <p:cNvSpPr/>
          <p:nvPr/>
        </p:nvSpPr>
        <p:spPr>
          <a:xfrm>
            <a:off x="1440000" y="1261800"/>
            <a:ext cx="15685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Parametres ingestion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2" name="Text 2879"/>
          <p:cNvSpPr/>
          <p:nvPr/>
        </p:nvSpPr>
        <p:spPr>
          <a:xfrm>
            <a:off x="3084120" y="1280160"/>
            <a:ext cx="21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-&gt;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3" name="Shape 2477"/>
          <p:cNvSpPr/>
          <p:nvPr/>
        </p:nvSpPr>
        <p:spPr>
          <a:xfrm>
            <a:off x="3315240" y="1225440"/>
            <a:ext cx="2726280" cy="383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4" name="Text 2880"/>
          <p:cNvSpPr/>
          <p:nvPr/>
        </p:nvSpPr>
        <p:spPr>
          <a:xfrm>
            <a:off x="3398040" y="1225440"/>
            <a:ext cx="156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 INGESTION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5" name="Text 2881"/>
          <p:cNvSpPr/>
          <p:nvPr/>
        </p:nvSpPr>
        <p:spPr>
          <a:xfrm>
            <a:off x="5009400" y="1261800"/>
            <a:ext cx="9576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BulkIngester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6" name="Text 2882"/>
          <p:cNvSpPr/>
          <p:nvPr/>
        </p:nvSpPr>
        <p:spPr>
          <a:xfrm>
            <a:off x="6042600" y="1280160"/>
            <a:ext cx="213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-&gt;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7" name="Shape 2478"/>
          <p:cNvSpPr/>
          <p:nvPr/>
        </p:nvSpPr>
        <p:spPr>
          <a:xfrm>
            <a:off x="6273720" y="1225440"/>
            <a:ext cx="2726280" cy="38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8" name="Text 2883"/>
          <p:cNvSpPr/>
          <p:nvPr/>
        </p:nvSpPr>
        <p:spPr>
          <a:xfrm>
            <a:off x="6356520" y="1225440"/>
            <a:ext cx="1569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 APRES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9" name="Text 2884"/>
          <p:cNvSpPr/>
          <p:nvPr/>
        </p:nvSpPr>
        <p:spPr>
          <a:xfrm>
            <a:off x="7200000" y="1261800"/>
            <a:ext cx="17254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Restaurer + refresh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0" name="Text 2885"/>
          <p:cNvSpPr/>
          <p:nvPr/>
        </p:nvSpPr>
        <p:spPr>
          <a:xfrm>
            <a:off x="356760" y="168264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setIngestionMode() + orchestration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1" name="Shape 2479"/>
          <p:cNvSpPr/>
          <p:nvPr/>
        </p:nvSpPr>
        <p:spPr>
          <a:xfrm>
            <a:off x="405000" y="1980000"/>
            <a:ext cx="4635000" cy="30600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2" name="Text 2886"/>
          <p:cNvSpPr/>
          <p:nvPr/>
        </p:nvSpPr>
        <p:spPr>
          <a:xfrm>
            <a:off x="457200" y="2067840"/>
            <a:ext cx="4488480" cy="248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public void setIngestionMode(boolean on)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throws IOException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client.indices().putSettings(s -&gt; 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.index(INDEX)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.settings(cfg -&gt; cfg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.refreshInterval(t -&gt; t.time(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on ? "-1" : "1s"))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.numberOfReplicas(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String.valueOf(on ? 0 : 2)))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log.info("Mode ingestion {} : refresh={} replicas={}",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on, on?"-1":"1s", on?0:2);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public void forceRefresh() throws IOException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client.indices().refresh(r -&gt; r.index(INDEX));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// -- Orchestration complete --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setIngestionMode(true);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var stats = ingesterBulk(generateProduits(50_000));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setIngestionMode(false);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forceRefresh();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3" name="Text 2888"/>
          <p:cNvSpPr/>
          <p:nvPr/>
        </p:nvSpPr>
        <p:spPr>
          <a:xfrm>
            <a:off x="5239440" y="168264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Impact de chaque parametre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4" name="Shape 2482"/>
          <p:cNvSpPr/>
          <p:nvPr/>
        </p:nvSpPr>
        <p:spPr>
          <a:xfrm>
            <a:off x="5239440" y="2057400"/>
            <a:ext cx="3760560" cy="696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5" name="Shape 2483"/>
          <p:cNvSpPr/>
          <p:nvPr/>
        </p:nvSpPr>
        <p:spPr>
          <a:xfrm>
            <a:off x="5239440" y="2057400"/>
            <a:ext cx="51120" cy="696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6" name="Text 2889"/>
          <p:cNvSpPr/>
          <p:nvPr/>
        </p:nvSpPr>
        <p:spPr>
          <a:xfrm>
            <a:off x="5343480" y="2096280"/>
            <a:ext cx="25214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refresh_interval: "-1"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7" name="Shape 2484"/>
          <p:cNvSpPr/>
          <p:nvPr/>
        </p:nvSpPr>
        <p:spPr>
          <a:xfrm>
            <a:off x="7910280" y="2103840"/>
            <a:ext cx="1022760" cy="1695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8" name="Text 2890"/>
          <p:cNvSpPr/>
          <p:nvPr/>
        </p:nvSpPr>
        <p:spPr>
          <a:xfrm>
            <a:off x="7910280" y="2103840"/>
            <a:ext cx="102276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+++ debit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9" name="Text 2891"/>
          <p:cNvSpPr/>
          <p:nvPr/>
        </p:nvSpPr>
        <p:spPr>
          <a:xfrm>
            <a:off x="5343480" y="2305440"/>
            <a:ext cx="35971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  <a:ea typeface="Calibri"/>
              </a:rPr>
              <a:t>Supprime la creation continue de segments Lucene. Aucune visibilite en temps reel — acceptable pour un chargement initial ou une migration.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0" name="Shape 2485"/>
          <p:cNvSpPr/>
          <p:nvPr/>
        </p:nvSpPr>
        <p:spPr>
          <a:xfrm>
            <a:off x="5239440" y="2809800"/>
            <a:ext cx="3760560" cy="696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1" name="Shape 2486"/>
          <p:cNvSpPr/>
          <p:nvPr/>
        </p:nvSpPr>
        <p:spPr>
          <a:xfrm>
            <a:off x="5239440" y="2809800"/>
            <a:ext cx="51120" cy="696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2" name="Text 2892"/>
          <p:cNvSpPr/>
          <p:nvPr/>
        </p:nvSpPr>
        <p:spPr>
          <a:xfrm>
            <a:off x="5343480" y="2848320"/>
            <a:ext cx="25214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number_of_replicas: 0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3" name="Shape 2487"/>
          <p:cNvSpPr/>
          <p:nvPr/>
        </p:nvSpPr>
        <p:spPr>
          <a:xfrm>
            <a:off x="7910280" y="2855880"/>
            <a:ext cx="1022760" cy="169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4" name="Text 2893"/>
          <p:cNvSpPr/>
          <p:nvPr/>
        </p:nvSpPr>
        <p:spPr>
          <a:xfrm>
            <a:off x="7910280" y="2855880"/>
            <a:ext cx="10227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+++ debit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5" name="Text 2894"/>
          <p:cNvSpPr/>
          <p:nvPr/>
        </p:nvSpPr>
        <p:spPr>
          <a:xfrm>
            <a:off x="5343480" y="3057840"/>
            <a:ext cx="35971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  <a:ea typeface="Calibri"/>
              </a:rPr>
              <a:t>Elimine la replication inter-noeuds. Sur 3 noeuds + 2 replicas, chaque doc est ecrit 3x — passer a 0 supprime 2/3 du trafic reseau.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6" name="Shape 2488"/>
          <p:cNvSpPr/>
          <p:nvPr/>
        </p:nvSpPr>
        <p:spPr>
          <a:xfrm>
            <a:off x="5239440" y="3561840"/>
            <a:ext cx="3760560" cy="696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7" name="Shape 2489"/>
          <p:cNvSpPr/>
          <p:nvPr/>
        </p:nvSpPr>
        <p:spPr>
          <a:xfrm>
            <a:off x="5239440" y="3561840"/>
            <a:ext cx="51120" cy="696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8" name="Text 2895"/>
          <p:cNvSpPr/>
          <p:nvPr/>
        </p:nvSpPr>
        <p:spPr>
          <a:xfrm>
            <a:off x="5343480" y="3600720"/>
            <a:ext cx="25214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translog.durability: async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9" name="Shape 2490"/>
          <p:cNvSpPr/>
          <p:nvPr/>
        </p:nvSpPr>
        <p:spPr>
          <a:xfrm>
            <a:off x="7910280" y="3608280"/>
            <a:ext cx="1022760" cy="169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0" name="Text 2896"/>
          <p:cNvSpPr/>
          <p:nvPr/>
        </p:nvSpPr>
        <p:spPr>
          <a:xfrm>
            <a:off x="7910280" y="3608280"/>
            <a:ext cx="102276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++ debit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1" name="Text 2897"/>
          <p:cNvSpPr/>
          <p:nvPr/>
        </p:nvSpPr>
        <p:spPr>
          <a:xfrm>
            <a:off x="5343480" y="3809880"/>
            <a:ext cx="35971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  <a:ea typeface="Calibri"/>
              </a:rPr>
              <a:t>Flush du translog toutes les 30s au lieu de chaque ecriture. Risque de perte sur crash — acceptable pour donnees rejouables.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2" name="Shape 2491"/>
          <p:cNvSpPr/>
          <p:nvPr/>
        </p:nvSpPr>
        <p:spPr>
          <a:xfrm>
            <a:off x="5239440" y="4313880"/>
            <a:ext cx="3760560" cy="696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3" name="Shape 2492"/>
          <p:cNvSpPr/>
          <p:nvPr/>
        </p:nvSpPr>
        <p:spPr>
          <a:xfrm>
            <a:off x="5239440" y="4313880"/>
            <a:ext cx="51120" cy="69696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4" name="Text 2898"/>
          <p:cNvSpPr/>
          <p:nvPr/>
        </p:nvSpPr>
        <p:spPr>
          <a:xfrm>
            <a:off x="5343480" y="4352760"/>
            <a:ext cx="252144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flush_threshold_size: 2gb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5" name="Shape 2493"/>
          <p:cNvSpPr/>
          <p:nvPr/>
        </p:nvSpPr>
        <p:spPr>
          <a:xfrm>
            <a:off x="7910280" y="4360680"/>
            <a:ext cx="1022760" cy="16956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6" name="Text 2899"/>
          <p:cNvSpPr/>
          <p:nvPr/>
        </p:nvSpPr>
        <p:spPr>
          <a:xfrm>
            <a:off x="7910280" y="4360680"/>
            <a:ext cx="1022760" cy="1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+ debit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7" name="Text 2900"/>
          <p:cNvSpPr/>
          <p:nvPr/>
        </p:nvSpPr>
        <p:spPr>
          <a:xfrm>
            <a:off x="5343480" y="4561920"/>
            <a:ext cx="359712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0d0d8"/>
                </a:solidFill>
                <a:latin typeface="Calibri"/>
                <a:ea typeface="Calibri"/>
              </a:rPr>
              <a:t>Evite les micro-flushes qui generent de petits segments couteux a merger par Lucene.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Shape 2494"/>
          <p:cNvSpPr/>
          <p:nvPr/>
        </p:nvSpPr>
        <p:spPr>
          <a:xfrm>
            <a:off x="0" y="0"/>
            <a:ext cx="9144000" cy="7030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9" name="Shape 2495"/>
          <p:cNvSpPr/>
          <p:nvPr/>
        </p:nvSpPr>
        <p:spPr>
          <a:xfrm>
            <a:off x="0" y="0"/>
            <a:ext cx="181800" cy="703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0" name="Text 2901"/>
          <p:cNvSpPr/>
          <p:nvPr/>
        </p:nvSpPr>
        <p:spPr>
          <a:xfrm>
            <a:off x="356760" y="0"/>
            <a:ext cx="81644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Gestion des erreurs &amp; patterns de robustesse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1" name="Text 2903"/>
          <p:cNvSpPr/>
          <p:nvPr/>
        </p:nvSpPr>
        <p:spPr>
          <a:xfrm>
            <a:off x="356760" y="786240"/>
            <a:ext cx="86432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La Bulk API retourne HTTP 200 meme en cas d'erreurs partielles. Il faut analyser chaque item et rejouer uniquement les erreurs transitoires avec backoff exponentiel.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2" name="Text 2904"/>
          <p:cNvSpPr/>
          <p:nvPr/>
        </p:nvSpPr>
        <p:spPr>
          <a:xfrm>
            <a:off x="2924280" y="1651320"/>
            <a:ext cx="463500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834a"/>
                </a:solidFill>
                <a:latin typeface="Calibri"/>
                <a:ea typeface="Calibri"/>
              </a:rPr>
              <a:t>Codes d'erreur Bulk a gerer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3" name="Shape 2497"/>
          <p:cNvSpPr/>
          <p:nvPr/>
        </p:nvSpPr>
        <p:spPr>
          <a:xfrm>
            <a:off x="307440" y="2186640"/>
            <a:ext cx="3599640" cy="885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4" name="Shape 2498"/>
          <p:cNvSpPr/>
          <p:nvPr/>
        </p:nvSpPr>
        <p:spPr>
          <a:xfrm>
            <a:off x="307440" y="2186640"/>
            <a:ext cx="57960" cy="885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5" name="Shape 2499"/>
          <p:cNvSpPr/>
          <p:nvPr/>
        </p:nvSpPr>
        <p:spPr>
          <a:xfrm>
            <a:off x="307440" y="2223000"/>
            <a:ext cx="538920" cy="3646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6" name="Text 2905"/>
          <p:cNvSpPr/>
          <p:nvPr/>
        </p:nvSpPr>
        <p:spPr>
          <a:xfrm>
            <a:off x="307440" y="2223000"/>
            <a:ext cx="53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429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7" name="Text 2906"/>
          <p:cNvSpPr/>
          <p:nvPr/>
        </p:nvSpPr>
        <p:spPr>
          <a:xfrm>
            <a:off x="923400" y="2349360"/>
            <a:ext cx="3575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Too Many Requests - throttling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8" name="Text 2907"/>
          <p:cNvSpPr/>
          <p:nvPr/>
        </p:nvSpPr>
        <p:spPr>
          <a:xfrm>
            <a:off x="923400" y="2651040"/>
            <a:ext cx="3575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0d0d8"/>
                </a:solidFill>
                <a:latin typeface="Calibri"/>
                <a:ea typeface="Calibri"/>
              </a:rPr>
              <a:t>-&gt; Retry avec backoff exponentiel + jitter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9" name="Shape 2500"/>
          <p:cNvSpPr/>
          <p:nvPr/>
        </p:nvSpPr>
        <p:spPr>
          <a:xfrm>
            <a:off x="307440" y="3192480"/>
            <a:ext cx="3599640" cy="885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0" name="Shape 2501"/>
          <p:cNvSpPr/>
          <p:nvPr/>
        </p:nvSpPr>
        <p:spPr>
          <a:xfrm>
            <a:off x="307440" y="3192480"/>
            <a:ext cx="57960" cy="885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1" name="Shape 2502"/>
          <p:cNvSpPr/>
          <p:nvPr/>
        </p:nvSpPr>
        <p:spPr>
          <a:xfrm>
            <a:off x="307440" y="3228840"/>
            <a:ext cx="538920" cy="3646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2" name="Text 2908"/>
          <p:cNvSpPr/>
          <p:nvPr/>
        </p:nvSpPr>
        <p:spPr>
          <a:xfrm>
            <a:off x="307440" y="3228840"/>
            <a:ext cx="5389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503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3" name="Text 2909"/>
          <p:cNvSpPr/>
          <p:nvPr/>
        </p:nvSpPr>
        <p:spPr>
          <a:xfrm>
            <a:off x="923400" y="3355200"/>
            <a:ext cx="3575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Service Unavailable - noeud surchargé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4" name="Text 2910"/>
          <p:cNvSpPr/>
          <p:nvPr/>
        </p:nvSpPr>
        <p:spPr>
          <a:xfrm>
            <a:off x="923400" y="3656880"/>
            <a:ext cx="357588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0d0d8"/>
                </a:solidFill>
                <a:latin typeface="Calibri"/>
                <a:ea typeface="Calibri"/>
              </a:rPr>
              <a:t>-&gt; Retry apres pause (backoff)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5" name="Shape 2503"/>
          <p:cNvSpPr/>
          <p:nvPr/>
        </p:nvSpPr>
        <p:spPr>
          <a:xfrm>
            <a:off x="4555440" y="2191320"/>
            <a:ext cx="3903840" cy="885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6" name="Shape 2504"/>
          <p:cNvSpPr/>
          <p:nvPr/>
        </p:nvSpPr>
        <p:spPr>
          <a:xfrm>
            <a:off x="4555440" y="2191320"/>
            <a:ext cx="63000" cy="885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7" name="Shape 2505"/>
          <p:cNvSpPr/>
          <p:nvPr/>
        </p:nvSpPr>
        <p:spPr>
          <a:xfrm>
            <a:off x="4555440" y="2228040"/>
            <a:ext cx="584280" cy="364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8" name="Text 2911"/>
          <p:cNvSpPr/>
          <p:nvPr/>
        </p:nvSpPr>
        <p:spPr>
          <a:xfrm>
            <a:off x="4555440" y="2228040"/>
            <a:ext cx="584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400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9" name="Text 2912"/>
          <p:cNvSpPr/>
          <p:nvPr/>
        </p:nvSpPr>
        <p:spPr>
          <a:xfrm>
            <a:off x="5222880" y="2246040"/>
            <a:ext cx="3876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Mapping error - type incompatible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0" name="Text 2913"/>
          <p:cNvSpPr/>
          <p:nvPr/>
        </p:nvSpPr>
        <p:spPr>
          <a:xfrm>
            <a:off x="5222880" y="2548080"/>
            <a:ext cx="3876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0d0d8"/>
                </a:solidFill>
                <a:latin typeface="Calibri"/>
                <a:ea typeface="Calibri"/>
              </a:rPr>
              <a:t>-&gt; Corriger le document, ne pas retry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1" name="Shape 2506"/>
          <p:cNvSpPr/>
          <p:nvPr/>
        </p:nvSpPr>
        <p:spPr>
          <a:xfrm>
            <a:off x="3780000" y="3197160"/>
            <a:ext cx="4679280" cy="885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2" name="Shape 2507"/>
          <p:cNvSpPr/>
          <p:nvPr/>
        </p:nvSpPr>
        <p:spPr>
          <a:xfrm>
            <a:off x="4555440" y="3197160"/>
            <a:ext cx="63000" cy="885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3" name="Shape 2508"/>
          <p:cNvSpPr/>
          <p:nvPr/>
        </p:nvSpPr>
        <p:spPr>
          <a:xfrm>
            <a:off x="4555440" y="3233880"/>
            <a:ext cx="584280" cy="364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4" name="Text 2914"/>
          <p:cNvSpPr/>
          <p:nvPr/>
        </p:nvSpPr>
        <p:spPr>
          <a:xfrm>
            <a:off x="4555440" y="3233880"/>
            <a:ext cx="5842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409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5" name="Text 2915"/>
          <p:cNvSpPr/>
          <p:nvPr/>
        </p:nvSpPr>
        <p:spPr>
          <a:xfrm>
            <a:off x="5222880" y="3251880"/>
            <a:ext cx="3876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Conflict - create sur ID existant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6" name="Text 2916"/>
          <p:cNvSpPr/>
          <p:nvPr/>
        </p:nvSpPr>
        <p:spPr>
          <a:xfrm>
            <a:off x="5222880" y="3553920"/>
            <a:ext cx="38761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b0d0d8"/>
                </a:solidFill>
                <a:latin typeface="Calibri"/>
                <a:ea typeface="Calibri"/>
              </a:rPr>
              <a:t>-&gt; Utiliser index au lieu de create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7" name="Shape 2509"/>
          <p:cNvSpPr/>
          <p:nvPr/>
        </p:nvSpPr>
        <p:spPr>
          <a:xfrm>
            <a:off x="1963440" y="4588560"/>
            <a:ext cx="66758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8" name="Shape 2510"/>
          <p:cNvSpPr/>
          <p:nvPr/>
        </p:nvSpPr>
        <p:spPr>
          <a:xfrm>
            <a:off x="1963440" y="4588560"/>
            <a:ext cx="91080" cy="364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9" name="Text 2917"/>
          <p:cNvSpPr/>
          <p:nvPr/>
        </p:nvSpPr>
        <p:spPr>
          <a:xfrm>
            <a:off x="2174400" y="4606920"/>
            <a:ext cx="63860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ccd8"/>
                </a:solidFill>
                <a:latin typeface="Calibri"/>
                <a:ea typeface="Calibri"/>
              </a:rPr>
              <a:t>Regle d'or : ne jamais retry les erreurs 4xx (sauf 429) - elles ne passeront pas mieux au 2e essai.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Shape 2511"/>
          <p:cNvSpPr/>
          <p:nvPr/>
        </p:nvSpPr>
        <p:spPr>
          <a:xfrm>
            <a:off x="0" y="0"/>
            <a:ext cx="9143280" cy="7030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1" name="Shape 2512"/>
          <p:cNvSpPr/>
          <p:nvPr/>
        </p:nvSpPr>
        <p:spPr>
          <a:xfrm>
            <a:off x="0" y="0"/>
            <a:ext cx="181800" cy="703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2" name="Text 2918"/>
          <p:cNvSpPr/>
          <p:nvPr/>
        </p:nvSpPr>
        <p:spPr>
          <a:xfrm>
            <a:off x="356760" y="0"/>
            <a:ext cx="816444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SDK Java – Retry - Exemple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3" name="Shape 2514"/>
          <p:cNvSpPr/>
          <p:nvPr/>
        </p:nvSpPr>
        <p:spPr>
          <a:xfrm>
            <a:off x="356760" y="854640"/>
            <a:ext cx="8642520" cy="37735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4" name="Text 2920"/>
          <p:cNvSpPr/>
          <p:nvPr/>
        </p:nvSpPr>
        <p:spPr>
          <a:xfrm>
            <a:off x="457200" y="900720"/>
            <a:ext cx="8362080" cy="358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public BulkStats bulkWithRetry( List&lt;Produit&gt; docs, int maxRetries) throws IOException, InterruptedException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List&lt;Produit&gt; pending = new ArrayList&lt;&gt;(docs);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long success = 0;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for (int attempt = 0; attempt &lt; maxRetries &amp;&amp; !pending.isEmpty(); attempt++)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BulkRequest.Builder br = new BulkRequest.Builder();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for (Produit p : pending)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br.operations(op -&gt; op.index(i -&gt; i.index(INDEX).document(p)));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BulkResponse resp = client.bulk(br.build());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List&lt;Produit&gt; toRetry = new ArrayList&lt;&gt;();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for (int k = 0; k &lt; resp.items().size(); k++)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var item = resp.items().get(k);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if (item.error() == null) { success++;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 else if (item.status() == 429 || item.status() == 503)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toRetry.add(pending.get(k));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 else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log.error("Non-retriable [{}]: {}", item.status(), item.error().reason());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pending = toRetry;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if (!pending.isEmpty()) {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// Backoff exponentiel + jitter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long wait = (1L &lt;&lt; attempt) * 1000L + (long)(Math.random() * 500);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Thread.sleep(wait);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    </a:t>
            </a: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return new BulkStats(success, pending.size(), 0);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80ccd8"/>
                </a:solidFill>
                <a:latin typeface="Courier New"/>
                <a:ea typeface="Courier New"/>
              </a:rPr>
              <a:t>}</a:t>
            </a:r>
            <a:endParaRPr b="1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5" name="Shape 2515"/>
          <p:cNvSpPr/>
          <p:nvPr/>
        </p:nvSpPr>
        <p:spPr>
          <a:xfrm>
            <a:off x="274320" y="4753080"/>
            <a:ext cx="859320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6" name="Shape 2516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7" name="Text 2921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4.1 — Ingestion via SDK Java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Shape 530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9" name="Text 501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0" name="Text 502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1" name="Shape 531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2" name="Text 503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Architecture – Processeurs - OpenTelemetry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3" name="Shape 532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4" name="Shape 533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5" name="Text 504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Ingestion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6" name="Shape 534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7" name="Text 505"/>
          <p:cNvSpPr/>
          <p:nvPr/>
        </p:nvSpPr>
        <p:spPr>
          <a:xfrm>
            <a:off x="3434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8" name="Shape 535"/>
          <p:cNvSpPr/>
          <p:nvPr/>
        </p:nvSpPr>
        <p:spPr>
          <a:xfrm>
            <a:off x="5162040" y="4509360"/>
            <a:ext cx="153792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9" name="Text 506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0" name="Text 508"/>
          <p:cNvSpPr/>
          <p:nvPr/>
        </p:nvSpPr>
        <p:spPr>
          <a:xfrm>
            <a:off x="169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Alternatives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1" name="Text 2683"/>
          <p:cNvSpPr/>
          <p:nvPr/>
        </p:nvSpPr>
        <p:spPr>
          <a:xfrm>
            <a:off x="3816000" y="4546800"/>
            <a:ext cx="97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SDK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2" name="Text 2691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3" name="Text 2692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KafkaConnect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4" name="Text 2695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5" name="Text 507"/>
          <p:cNvSpPr/>
          <p:nvPr/>
        </p:nvSpPr>
        <p:spPr>
          <a:xfrm>
            <a:off x="457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6" name="Text 2017"/>
          <p:cNvSpPr/>
          <p:nvPr/>
        </p:nvSpPr>
        <p:spPr>
          <a:xfrm>
            <a:off x="457200" y="146772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Tr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sf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or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m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er 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le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 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d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o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c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u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m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nt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 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v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nt 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in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d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x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at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io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n </a:t>
            </a:r>
            <a:r>
              <a:rPr b="0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— </a:t>
            </a:r>
            <a:br>
              <a:rPr sz="1800"/>
            </a:b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 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L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o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g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st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h 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ni 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D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t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a 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1" lang="en-US" sz="180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7" name="Text 2018"/>
          <p:cNvSpPr/>
          <p:nvPr/>
        </p:nvSpPr>
        <p:spPr>
          <a:xfrm>
            <a:off x="457200" y="210780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⚙️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Processors enchaînés : </a:t>
            </a:r>
            <a:r>
              <a:rPr b="0" i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grok, date, rename, convert, enrich, geo_ip…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8" name="Text 2019"/>
          <p:cNvSpPr/>
          <p:nvPr/>
        </p:nvSpPr>
        <p:spPr>
          <a:xfrm>
            <a:off x="457200" y="251928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📍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Exécutés par OpenSearch au moment de l'indexation, avant écriture dans le shard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9" name="Text 2020"/>
          <p:cNvSpPr/>
          <p:nvPr/>
        </p:nvSpPr>
        <p:spPr>
          <a:xfrm>
            <a:off x="457200" y="2930760"/>
            <a:ext cx="7314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🔗  </a:t>
            </a: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Attachables à n'importe quel index via ?pipeline= ou un mapping par défaut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0" name="Shape 1906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1" name="Shape 1910"/>
          <p:cNvSpPr/>
          <p:nvPr/>
        </p:nvSpPr>
        <p:spPr>
          <a:xfrm>
            <a:off x="0" y="0"/>
            <a:ext cx="502560" cy="822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2" name="Text 2015"/>
          <p:cNvSpPr/>
          <p:nvPr/>
        </p:nvSpPr>
        <p:spPr>
          <a:xfrm>
            <a:off x="640080" y="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Ingest Pipelines — Introduction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Shape 1908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4" name="Shape 1909"/>
          <p:cNvSpPr/>
          <p:nvPr/>
        </p:nvSpPr>
        <p:spPr>
          <a:xfrm>
            <a:off x="0" y="0"/>
            <a:ext cx="502560" cy="822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5" name="Text 2022"/>
          <p:cNvSpPr/>
          <p:nvPr/>
        </p:nvSpPr>
        <p:spPr>
          <a:xfrm>
            <a:off x="640080" y="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Ingest Pipelines — Processors principaux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6" name="Shape 1911"/>
          <p:cNvSpPr/>
          <p:nvPr/>
        </p:nvSpPr>
        <p:spPr>
          <a:xfrm>
            <a:off x="274320" y="987480"/>
            <a:ext cx="1005480" cy="576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7" name="Text 2024"/>
          <p:cNvSpPr/>
          <p:nvPr/>
        </p:nvSpPr>
        <p:spPr>
          <a:xfrm>
            <a:off x="274320" y="987480"/>
            <a:ext cx="10054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grok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8" name="Shape 1912"/>
          <p:cNvSpPr/>
          <p:nvPr/>
        </p:nvSpPr>
        <p:spPr>
          <a:xfrm>
            <a:off x="1325880" y="987480"/>
            <a:ext cx="2011320" cy="576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9" name="Text 2025"/>
          <p:cNvSpPr/>
          <p:nvPr/>
        </p:nvSpPr>
        <p:spPr>
          <a:xfrm>
            <a:off x="1371600" y="987480"/>
            <a:ext cx="1938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Parsing regex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0" name="Shape 1913"/>
          <p:cNvSpPr/>
          <p:nvPr/>
        </p:nvSpPr>
        <p:spPr>
          <a:xfrm>
            <a:off x="3383280" y="987480"/>
            <a:ext cx="2468520" cy="576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1" name="Text 2026"/>
          <p:cNvSpPr/>
          <p:nvPr/>
        </p:nvSpPr>
        <p:spPr>
          <a:xfrm>
            <a:off x="3429000" y="987480"/>
            <a:ext cx="2395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"pattern": ["%{IPORHOST:ip}"]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2" name="Text 2027"/>
          <p:cNvSpPr/>
          <p:nvPr/>
        </p:nvSpPr>
        <p:spPr>
          <a:xfrm>
            <a:off x="5943600" y="987480"/>
            <a:ext cx="2925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Ext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rait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des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ch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am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ps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str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uct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uré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de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pui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ch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aîn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de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tex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te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bru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te.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3" name="Shape 2075"/>
          <p:cNvSpPr/>
          <p:nvPr/>
        </p:nvSpPr>
        <p:spPr>
          <a:xfrm>
            <a:off x="274320" y="1574640"/>
            <a:ext cx="1005480" cy="576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4" name="Text 2028"/>
          <p:cNvSpPr/>
          <p:nvPr/>
        </p:nvSpPr>
        <p:spPr>
          <a:xfrm>
            <a:off x="274320" y="1574640"/>
            <a:ext cx="10054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date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5" name="Shape 2119"/>
          <p:cNvSpPr/>
          <p:nvPr/>
        </p:nvSpPr>
        <p:spPr>
          <a:xfrm>
            <a:off x="1325880" y="1574640"/>
            <a:ext cx="2011320" cy="5767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6" name="Text 2029"/>
          <p:cNvSpPr/>
          <p:nvPr/>
        </p:nvSpPr>
        <p:spPr>
          <a:xfrm>
            <a:off x="1371600" y="1574640"/>
            <a:ext cx="1938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Normalisation date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7" name="Shape 2148"/>
          <p:cNvSpPr/>
          <p:nvPr/>
        </p:nvSpPr>
        <p:spPr>
          <a:xfrm>
            <a:off x="3383280" y="1574640"/>
            <a:ext cx="2468520" cy="576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8" name="Text 2030"/>
          <p:cNvSpPr/>
          <p:nvPr/>
        </p:nvSpPr>
        <p:spPr>
          <a:xfrm>
            <a:off x="3429000" y="1574640"/>
            <a:ext cx="2395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"formats": ["dd/MMM/yyyy"]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9" name="Text 2031"/>
          <p:cNvSpPr/>
          <p:nvPr/>
        </p:nvSpPr>
        <p:spPr>
          <a:xfrm>
            <a:off x="5943600" y="1574640"/>
            <a:ext cx="2925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Parse et normalise une date vers @timestamp ou un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champ cible.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0" name="Shape 2149"/>
          <p:cNvSpPr/>
          <p:nvPr/>
        </p:nvSpPr>
        <p:spPr>
          <a:xfrm>
            <a:off x="274320" y="2161800"/>
            <a:ext cx="1005480" cy="576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1" name="Text 2032"/>
          <p:cNvSpPr/>
          <p:nvPr/>
        </p:nvSpPr>
        <p:spPr>
          <a:xfrm>
            <a:off x="274320" y="2161800"/>
            <a:ext cx="10054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rename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2" name="Shape 2150"/>
          <p:cNvSpPr/>
          <p:nvPr/>
        </p:nvSpPr>
        <p:spPr>
          <a:xfrm>
            <a:off x="1325880" y="2161800"/>
            <a:ext cx="2011320" cy="576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3" name="Text 2033"/>
          <p:cNvSpPr/>
          <p:nvPr/>
        </p:nvSpPr>
        <p:spPr>
          <a:xfrm>
            <a:off x="1371600" y="2161800"/>
            <a:ext cx="1938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  <a:ea typeface="Calibri"/>
              </a:rPr>
              <a:t>Renommer un champ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4" name="Shape 2151"/>
          <p:cNvSpPr/>
          <p:nvPr/>
        </p:nvSpPr>
        <p:spPr>
          <a:xfrm>
            <a:off x="3383280" y="2161800"/>
            <a:ext cx="2468520" cy="576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5" name="Text 2034"/>
          <p:cNvSpPr/>
          <p:nvPr/>
        </p:nvSpPr>
        <p:spPr>
          <a:xfrm>
            <a:off x="3429000" y="2161800"/>
            <a:ext cx="2395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"field": "log_level"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"target_field": "level"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6" name="Text 2035"/>
          <p:cNvSpPr/>
          <p:nvPr/>
        </p:nvSpPr>
        <p:spPr>
          <a:xfrm>
            <a:off x="5943600" y="2161800"/>
            <a:ext cx="2925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Renomme un champ. Alternative au script Painless en réindexation.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7" name="Shape 2152"/>
          <p:cNvSpPr/>
          <p:nvPr/>
        </p:nvSpPr>
        <p:spPr>
          <a:xfrm>
            <a:off x="274320" y="2748960"/>
            <a:ext cx="1005480" cy="576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8" name="Text 2036"/>
          <p:cNvSpPr/>
          <p:nvPr/>
        </p:nvSpPr>
        <p:spPr>
          <a:xfrm>
            <a:off x="274320" y="2748960"/>
            <a:ext cx="10054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convert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9" name="Shape 2153"/>
          <p:cNvSpPr/>
          <p:nvPr/>
        </p:nvSpPr>
        <p:spPr>
          <a:xfrm>
            <a:off x="1325880" y="2748960"/>
            <a:ext cx="2011320" cy="5767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0" name="Text 2037"/>
          <p:cNvSpPr/>
          <p:nvPr/>
        </p:nvSpPr>
        <p:spPr>
          <a:xfrm>
            <a:off x="1371600" y="2748960"/>
            <a:ext cx="1938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  <a:ea typeface="Calibri"/>
              </a:rPr>
              <a:t>Changer le type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1" name="Shape 2154"/>
          <p:cNvSpPr/>
          <p:nvPr/>
        </p:nvSpPr>
        <p:spPr>
          <a:xfrm>
            <a:off x="3383280" y="2748960"/>
            <a:ext cx="2468520" cy="576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2" name="Text 2038"/>
          <p:cNvSpPr/>
          <p:nvPr/>
        </p:nvSpPr>
        <p:spPr>
          <a:xfrm>
            <a:off x="3429000" y="2748960"/>
            <a:ext cx="2395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"field": "status"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"type": "integer"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3" name="Text 2039"/>
          <p:cNvSpPr/>
          <p:nvPr/>
        </p:nvSpPr>
        <p:spPr>
          <a:xfrm>
            <a:off x="5943600" y="2748960"/>
            <a:ext cx="2925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Convertit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string →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integer /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float /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boolean / ip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sans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Painless.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4" name="Shape 2155"/>
          <p:cNvSpPr/>
          <p:nvPr/>
        </p:nvSpPr>
        <p:spPr>
          <a:xfrm>
            <a:off x="274320" y="3336480"/>
            <a:ext cx="1005480" cy="576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5" name="Text 2040"/>
          <p:cNvSpPr/>
          <p:nvPr/>
        </p:nvSpPr>
        <p:spPr>
          <a:xfrm>
            <a:off x="274320" y="3336480"/>
            <a:ext cx="10054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enrich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6" name="Shape 2156"/>
          <p:cNvSpPr/>
          <p:nvPr/>
        </p:nvSpPr>
        <p:spPr>
          <a:xfrm>
            <a:off x="1325880" y="3336480"/>
            <a:ext cx="2011320" cy="576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7" name="Text 2041"/>
          <p:cNvSpPr/>
          <p:nvPr/>
        </p:nvSpPr>
        <p:spPr>
          <a:xfrm>
            <a:off x="1371600" y="3336480"/>
            <a:ext cx="1938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Enrichissement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8" name="Shape 2157"/>
          <p:cNvSpPr/>
          <p:nvPr/>
        </p:nvSpPr>
        <p:spPr>
          <a:xfrm>
            <a:off x="3383280" y="3336480"/>
            <a:ext cx="2468520" cy="576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9" name="Text 2042"/>
          <p:cNvSpPr/>
          <p:nvPr/>
        </p:nvSpPr>
        <p:spPr>
          <a:xfrm>
            <a:off x="3429000" y="3336480"/>
            <a:ext cx="2395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"policy_name": "geo-enrich"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0" name="Text 2043"/>
          <p:cNvSpPr/>
          <p:nvPr/>
        </p:nvSpPr>
        <p:spPr>
          <a:xfrm>
            <a:off x="5943600" y="3336480"/>
            <a:ext cx="2925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Ajoute des champs depuis un index de référence (lookup par valeur).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1" name="Shape 2158"/>
          <p:cNvSpPr/>
          <p:nvPr/>
        </p:nvSpPr>
        <p:spPr>
          <a:xfrm>
            <a:off x="274320" y="3923280"/>
            <a:ext cx="1005480" cy="576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2" name="Text 2044"/>
          <p:cNvSpPr/>
          <p:nvPr/>
        </p:nvSpPr>
        <p:spPr>
          <a:xfrm>
            <a:off x="274320" y="3923280"/>
            <a:ext cx="100548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geo_ip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3" name="Shape 2159"/>
          <p:cNvSpPr/>
          <p:nvPr/>
        </p:nvSpPr>
        <p:spPr>
          <a:xfrm>
            <a:off x="1325880" y="3923280"/>
            <a:ext cx="2011320" cy="5767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4" name="Text 2045"/>
          <p:cNvSpPr/>
          <p:nvPr/>
        </p:nvSpPr>
        <p:spPr>
          <a:xfrm>
            <a:off x="1371600" y="3923280"/>
            <a:ext cx="19382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IP → Géo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5" name="Shape 2160"/>
          <p:cNvSpPr/>
          <p:nvPr/>
        </p:nvSpPr>
        <p:spPr>
          <a:xfrm>
            <a:off x="3383280" y="3923280"/>
            <a:ext cx="2468520" cy="576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6" name="Text 2046"/>
          <p:cNvSpPr/>
          <p:nvPr/>
        </p:nvSpPr>
        <p:spPr>
          <a:xfrm>
            <a:off x="3429000" y="3923280"/>
            <a:ext cx="239544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"field": "client_ip"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7" name="Text 2047"/>
          <p:cNvSpPr/>
          <p:nvPr/>
        </p:nvSpPr>
        <p:spPr>
          <a:xfrm>
            <a:off x="5943600" y="3923280"/>
            <a:ext cx="29257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Résout une IP en coordonnées GPS, pays, ville via base GeoLite2.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Shape 2163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9" name="Shape 2164"/>
          <p:cNvSpPr/>
          <p:nvPr/>
        </p:nvSpPr>
        <p:spPr>
          <a:xfrm>
            <a:off x="0" y="0"/>
            <a:ext cx="502560" cy="822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0" name="Text 2050"/>
          <p:cNvSpPr/>
          <p:nvPr/>
        </p:nvSpPr>
        <p:spPr>
          <a:xfrm>
            <a:off x="640080" y="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Ingest Pipelines — Créer et utiliser un pipeline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1" name="Shape 2166"/>
          <p:cNvSpPr/>
          <p:nvPr/>
        </p:nvSpPr>
        <p:spPr>
          <a:xfrm>
            <a:off x="182880" y="860760"/>
            <a:ext cx="4590000" cy="38192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2" name="Shape 2167"/>
          <p:cNvSpPr/>
          <p:nvPr/>
        </p:nvSpPr>
        <p:spPr>
          <a:xfrm>
            <a:off x="182880" y="860760"/>
            <a:ext cx="4663080" cy="20088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3" name="Text 2052"/>
          <p:cNvSpPr/>
          <p:nvPr/>
        </p:nvSpPr>
        <p:spPr>
          <a:xfrm>
            <a:off x="255960" y="86076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4" name="Text 2053"/>
          <p:cNvSpPr/>
          <p:nvPr/>
        </p:nvSpPr>
        <p:spPr>
          <a:xfrm>
            <a:off x="255960" y="1098360"/>
            <a:ext cx="4516920" cy="32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1. Créer le pipeline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7a8a"/>
                </a:solidFill>
                <a:latin typeface="Consolas"/>
                <a:ea typeface="Consolas"/>
              </a:rPr>
              <a:t>PUT /_ingest/pipeline/logs-apache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"processors": [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"grok":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"field": "message",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"patterns": ["%{IPORHOST:client_ip} %{WORD:method} %{URIPATHPARAM:url} HTTP/%{NUMBER} %{NUMBER:status_code}"]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"date":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"field": "timestamp_raw",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"formats": ["dd/MMM/yyyy:HH:mm:ss Z"],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"target_field": "@timestamp"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"convert": { "field": "status_code", "type": "integer" }},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"remove":  { "field": "message" }}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2. Indexer avec le pipeline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7a8a"/>
                </a:solidFill>
                <a:latin typeface="Consolas"/>
                <a:ea typeface="Consolas"/>
              </a:rPr>
              <a:t>POST /logs-apache/_doc?pipeline=logs-apache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"message": "192.168.1.10 GET /api/v1 HTTP/1.1 200 1024",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"timestamp_raw": "15/Jan/2024:10:23:45 +0100"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5" name="Shape 2168"/>
          <p:cNvSpPr/>
          <p:nvPr/>
        </p:nvSpPr>
        <p:spPr>
          <a:xfrm>
            <a:off x="4846320" y="1112760"/>
            <a:ext cx="4023000" cy="8294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6" name="Shape 2169"/>
          <p:cNvSpPr/>
          <p:nvPr/>
        </p:nvSpPr>
        <p:spPr>
          <a:xfrm>
            <a:off x="4846320" y="1112760"/>
            <a:ext cx="54360" cy="829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7" name="Text 2054"/>
          <p:cNvSpPr/>
          <p:nvPr/>
        </p:nvSpPr>
        <p:spPr>
          <a:xfrm>
            <a:off x="4956120" y="1164600"/>
            <a:ext cx="38584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7a8a"/>
                </a:solidFill>
                <a:latin typeface="Calibri"/>
                <a:ea typeface="Calibri"/>
              </a:rPr>
              <a:t>Étape 1 : grok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8" name="Text 2055"/>
          <p:cNvSpPr/>
          <p:nvPr/>
        </p:nvSpPr>
        <p:spPr>
          <a:xfrm>
            <a:off x="4956120" y="1402920"/>
            <a:ext cx="385848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Parse la ligne de log brute (format Combined Log) et crée automatiquement les champs client_ip, method, url, status_code.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9" name="Shape 2170"/>
          <p:cNvSpPr/>
          <p:nvPr/>
        </p:nvSpPr>
        <p:spPr>
          <a:xfrm>
            <a:off x="4846320" y="2025360"/>
            <a:ext cx="4023000" cy="8294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0" name="Shape 2171"/>
          <p:cNvSpPr/>
          <p:nvPr/>
        </p:nvSpPr>
        <p:spPr>
          <a:xfrm>
            <a:off x="4846320" y="2025360"/>
            <a:ext cx="54360" cy="829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1" name="Text 2056"/>
          <p:cNvSpPr/>
          <p:nvPr/>
        </p:nvSpPr>
        <p:spPr>
          <a:xfrm>
            <a:off x="4956120" y="2077200"/>
            <a:ext cx="38584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Étape 2 : date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2" name="Text 2057"/>
          <p:cNvSpPr/>
          <p:nvPr/>
        </p:nvSpPr>
        <p:spPr>
          <a:xfrm>
            <a:off x="4956120" y="2315880"/>
            <a:ext cx="3858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Normalise timestamp_raw vers @timestamp au format ISO 8601 — exploitable par le filtre temporel de Dashboards.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3" name="Shape 2172"/>
          <p:cNvSpPr/>
          <p:nvPr/>
        </p:nvSpPr>
        <p:spPr>
          <a:xfrm>
            <a:off x="4846320" y="2937960"/>
            <a:ext cx="4023000" cy="8294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4" name="Shape 2173"/>
          <p:cNvSpPr/>
          <p:nvPr/>
        </p:nvSpPr>
        <p:spPr>
          <a:xfrm>
            <a:off x="4846320" y="2937960"/>
            <a:ext cx="54360" cy="829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5" name="Text 2058"/>
          <p:cNvSpPr/>
          <p:nvPr/>
        </p:nvSpPr>
        <p:spPr>
          <a:xfrm>
            <a:off x="4956120" y="2989800"/>
            <a:ext cx="38584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2e7d32"/>
                </a:solidFill>
                <a:latin typeface="Calibri"/>
                <a:ea typeface="Calibri"/>
              </a:rPr>
              <a:t>Étape 3 : convert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6" name="Text 2059"/>
          <p:cNvSpPr/>
          <p:nvPr/>
        </p:nvSpPr>
        <p:spPr>
          <a:xfrm>
            <a:off x="4956120" y="3228480"/>
            <a:ext cx="3858480" cy="47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Convertit status_code de string en integer pour permettre les agrégations et les range queries numériques.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7" name="Shape 2174"/>
          <p:cNvSpPr/>
          <p:nvPr/>
        </p:nvSpPr>
        <p:spPr>
          <a:xfrm>
            <a:off x="4846320" y="3850560"/>
            <a:ext cx="4023000" cy="8294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0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8" name="Shape 2175"/>
          <p:cNvSpPr/>
          <p:nvPr/>
        </p:nvSpPr>
        <p:spPr>
          <a:xfrm>
            <a:off x="4846320" y="3850560"/>
            <a:ext cx="54360" cy="8294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9" name="Text 2334"/>
          <p:cNvSpPr/>
          <p:nvPr/>
        </p:nvSpPr>
        <p:spPr>
          <a:xfrm>
            <a:off x="4956120" y="3902400"/>
            <a:ext cx="38584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834a"/>
                </a:solidFill>
                <a:latin typeface="Calibri"/>
                <a:ea typeface="Calibri"/>
              </a:rPr>
              <a:t>Étape 4 : remove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0" name="Text 2335"/>
          <p:cNvSpPr/>
          <p:nvPr/>
        </p:nvSpPr>
        <p:spPr>
          <a:xfrm>
            <a:off x="4956120" y="4141440"/>
            <a:ext cx="385848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i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m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l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h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m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m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g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d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'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o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i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g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i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q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i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l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—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l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d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o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é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u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é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s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l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 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r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m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l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e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n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</a:t>
            </a: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Shape 929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2" name="Shape 930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3" name="Text 971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– Architecture &amp; pipeline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4" name="Text 973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est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 pipeline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d'ingestion natif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d'OpenSearch. Il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ingère des traces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OTel, des logs et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des métriques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via un modèle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sources → buffer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→ processors →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sinks.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5" name="Shape 932"/>
          <p:cNvSpPr/>
          <p:nvPr/>
        </p:nvSpPr>
        <p:spPr>
          <a:xfrm>
            <a:off x="320040" y="1260000"/>
            <a:ext cx="1919160" cy="6591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6" name="Text 974"/>
          <p:cNvSpPr/>
          <p:nvPr/>
        </p:nvSpPr>
        <p:spPr>
          <a:xfrm>
            <a:off x="320040" y="1260000"/>
            <a:ext cx="1919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Sources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7" name="Text 975"/>
          <p:cNvSpPr/>
          <p:nvPr/>
        </p:nvSpPr>
        <p:spPr>
          <a:xfrm>
            <a:off x="320040" y="1498680"/>
            <a:ext cx="191916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HTTP · Kafka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S3 · OTel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File · Syslog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8" name="Text 976"/>
          <p:cNvSpPr/>
          <p:nvPr/>
        </p:nvSpPr>
        <p:spPr>
          <a:xfrm>
            <a:off x="2240280" y="1354320"/>
            <a:ext cx="2732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8834a"/>
                </a:solidFill>
                <a:latin typeface="Calibri"/>
                <a:ea typeface="Calibri"/>
              </a:rPr>
              <a:t>►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9" name="Shape 933"/>
          <p:cNvSpPr/>
          <p:nvPr/>
        </p:nvSpPr>
        <p:spPr>
          <a:xfrm>
            <a:off x="2514600" y="1260000"/>
            <a:ext cx="1919160" cy="659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0" name="Text 977"/>
          <p:cNvSpPr/>
          <p:nvPr/>
        </p:nvSpPr>
        <p:spPr>
          <a:xfrm>
            <a:off x="2514600" y="1260000"/>
            <a:ext cx="1919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Buffer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1" name="Text 978"/>
          <p:cNvSpPr/>
          <p:nvPr/>
        </p:nvSpPr>
        <p:spPr>
          <a:xfrm>
            <a:off x="2514600" y="1498680"/>
            <a:ext cx="191916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In-memory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Kafka Buffer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(backpressure)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2" name="Text 979"/>
          <p:cNvSpPr/>
          <p:nvPr/>
        </p:nvSpPr>
        <p:spPr>
          <a:xfrm>
            <a:off x="4434840" y="1354320"/>
            <a:ext cx="2732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8834a"/>
                </a:solidFill>
                <a:latin typeface="Calibri"/>
                <a:ea typeface="Calibri"/>
              </a:rPr>
              <a:t>►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3" name="Shape 934"/>
          <p:cNvSpPr/>
          <p:nvPr/>
        </p:nvSpPr>
        <p:spPr>
          <a:xfrm>
            <a:off x="4709160" y="1260000"/>
            <a:ext cx="1919160" cy="659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4" name="Text 980"/>
          <p:cNvSpPr/>
          <p:nvPr/>
        </p:nvSpPr>
        <p:spPr>
          <a:xfrm>
            <a:off x="4709160" y="1260000"/>
            <a:ext cx="1919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Processors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5" name="Text 981"/>
          <p:cNvSpPr/>
          <p:nvPr/>
        </p:nvSpPr>
        <p:spPr>
          <a:xfrm>
            <a:off x="4709160" y="1498680"/>
            <a:ext cx="191916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grok 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· 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mut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ate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aggr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egat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e · 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geoi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p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otel-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trac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e · 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drop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6" name="Text 982"/>
          <p:cNvSpPr/>
          <p:nvPr/>
        </p:nvSpPr>
        <p:spPr>
          <a:xfrm>
            <a:off x="6629400" y="1354320"/>
            <a:ext cx="273240" cy="31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8834a"/>
                </a:solidFill>
                <a:latin typeface="Calibri"/>
                <a:ea typeface="Calibri"/>
              </a:rPr>
              <a:t>►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7" name="Shape 935"/>
          <p:cNvSpPr/>
          <p:nvPr/>
        </p:nvSpPr>
        <p:spPr>
          <a:xfrm>
            <a:off x="6903720" y="1260000"/>
            <a:ext cx="1919160" cy="659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8" name="Text 983"/>
          <p:cNvSpPr/>
          <p:nvPr/>
        </p:nvSpPr>
        <p:spPr>
          <a:xfrm>
            <a:off x="6903720" y="1260000"/>
            <a:ext cx="1919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Sinks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9" name="Text 984"/>
          <p:cNvSpPr/>
          <p:nvPr/>
        </p:nvSpPr>
        <p:spPr>
          <a:xfrm>
            <a:off x="6903720" y="1498680"/>
            <a:ext cx="191916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OpenSearch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Kafka · S3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HTTP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0" name="Text 985"/>
          <p:cNvSpPr/>
          <p:nvPr/>
        </p:nvSpPr>
        <p:spPr>
          <a:xfrm>
            <a:off x="320040" y="1886400"/>
            <a:ext cx="849924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pipeline YAML – logs Apache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1" name="Shape 936"/>
          <p:cNvSpPr/>
          <p:nvPr/>
        </p:nvSpPr>
        <p:spPr>
          <a:xfrm>
            <a:off x="320040" y="2228760"/>
            <a:ext cx="8499240" cy="28782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2" name="Text 986"/>
          <p:cNvSpPr/>
          <p:nvPr/>
        </p:nvSpPr>
        <p:spPr>
          <a:xfrm>
            <a:off x="504720" y="2313720"/>
            <a:ext cx="8262000" cy="279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/etc/data-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prepper/pi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pelines.ya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ml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log-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pipeline: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source: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http: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ssl: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false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port: 2021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processor: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grok: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match: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message: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['%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{COMMONAPA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CHELOG}']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date: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from_time_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received: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true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destinatio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n: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"@timestam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drop_event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drop_when: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'/status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== "200"'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sink: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opensearch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hosts: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["https://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os:9200"]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username: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"admin"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password: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"$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{OS_PASSWO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RD}"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index: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"apache-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logs-%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{yyyy.MM.d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d}"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bulk_size: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4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flush_time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out: 60000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Shape 937"/>
          <p:cNvSpPr/>
          <p:nvPr/>
        </p:nvSpPr>
        <p:spPr>
          <a:xfrm>
            <a:off x="0" y="0"/>
            <a:ext cx="9143280" cy="4791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4" name="Shape 938"/>
          <p:cNvSpPr/>
          <p:nvPr/>
        </p:nvSpPr>
        <p:spPr>
          <a:xfrm>
            <a:off x="0" y="0"/>
            <a:ext cx="122400" cy="479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5" name="Text 987"/>
          <p:cNvSpPr/>
          <p:nvPr/>
        </p:nvSpPr>
        <p:spPr>
          <a:xfrm>
            <a:off x="239760" y="360"/>
            <a:ext cx="55537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vs Logstash – Comparatif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6" name="Text 989"/>
          <p:cNvSpPr/>
          <p:nvPr/>
        </p:nvSpPr>
        <p:spPr>
          <a:xfrm>
            <a:off x="239760" y="534960"/>
            <a:ext cx="8579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et Logstash résolvent le même problème mais avec des philosophies différentes. Le choix dépend du contexte et de l'existant.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7" name="Shape 940"/>
          <p:cNvSpPr/>
          <p:nvPr/>
        </p:nvSpPr>
        <p:spPr>
          <a:xfrm>
            <a:off x="1139760" y="963720"/>
            <a:ext cx="1713600" cy="2595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8" name="Text 990"/>
          <p:cNvSpPr/>
          <p:nvPr/>
        </p:nvSpPr>
        <p:spPr>
          <a:xfrm>
            <a:off x="1194480" y="963360"/>
            <a:ext cx="16452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Critère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9" name="Shape 941"/>
          <p:cNvSpPr/>
          <p:nvPr/>
        </p:nvSpPr>
        <p:spPr>
          <a:xfrm>
            <a:off x="2854080" y="963720"/>
            <a:ext cx="2296440" cy="259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0" name="Text 991"/>
          <p:cNvSpPr/>
          <p:nvPr/>
        </p:nvSpPr>
        <p:spPr>
          <a:xfrm>
            <a:off x="2909160" y="963360"/>
            <a:ext cx="2227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1" name="Shape 942"/>
          <p:cNvSpPr/>
          <p:nvPr/>
        </p:nvSpPr>
        <p:spPr>
          <a:xfrm>
            <a:off x="5151600" y="963720"/>
            <a:ext cx="2365200" cy="259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2" name="Text 992"/>
          <p:cNvSpPr/>
          <p:nvPr/>
        </p:nvSpPr>
        <p:spPr>
          <a:xfrm>
            <a:off x="5206680" y="963360"/>
            <a:ext cx="229644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Logstash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3" name="Shape 943"/>
          <p:cNvSpPr/>
          <p:nvPr/>
        </p:nvSpPr>
        <p:spPr>
          <a:xfrm>
            <a:off x="1139760" y="1224000"/>
            <a:ext cx="17136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4" name="Text 993"/>
          <p:cNvSpPr/>
          <p:nvPr/>
        </p:nvSpPr>
        <p:spPr>
          <a:xfrm>
            <a:off x="1194480" y="122400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Créé par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5" name="Shape 944"/>
          <p:cNvSpPr/>
          <p:nvPr/>
        </p:nvSpPr>
        <p:spPr>
          <a:xfrm>
            <a:off x="2854080" y="1224000"/>
            <a:ext cx="229644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6" name="Text 994"/>
          <p:cNvSpPr/>
          <p:nvPr/>
        </p:nvSpPr>
        <p:spPr>
          <a:xfrm>
            <a:off x="2909160" y="122400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AWS / OpenSearch Foundation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7" name="Shape 945"/>
          <p:cNvSpPr/>
          <p:nvPr/>
        </p:nvSpPr>
        <p:spPr>
          <a:xfrm>
            <a:off x="5151600" y="1224000"/>
            <a:ext cx="23652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8" name="Text 995"/>
          <p:cNvSpPr/>
          <p:nvPr/>
        </p:nvSpPr>
        <p:spPr>
          <a:xfrm>
            <a:off x="5206680" y="1224000"/>
            <a:ext cx="2282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Elastic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9" name="Shape 946"/>
          <p:cNvSpPr/>
          <p:nvPr/>
        </p:nvSpPr>
        <p:spPr>
          <a:xfrm>
            <a:off x="1139760" y="1553400"/>
            <a:ext cx="171360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0" name="Text 996"/>
          <p:cNvSpPr/>
          <p:nvPr/>
        </p:nvSpPr>
        <p:spPr>
          <a:xfrm>
            <a:off x="1194480" y="155304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Licence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1" name="Shape 947"/>
          <p:cNvSpPr/>
          <p:nvPr/>
        </p:nvSpPr>
        <p:spPr>
          <a:xfrm>
            <a:off x="2854080" y="1553400"/>
            <a:ext cx="229644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2" name="Text 997"/>
          <p:cNvSpPr/>
          <p:nvPr/>
        </p:nvSpPr>
        <p:spPr>
          <a:xfrm>
            <a:off x="2909160" y="155304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Apache 2.0 (libre)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3" name="Shape 948"/>
          <p:cNvSpPr/>
          <p:nvPr/>
        </p:nvSpPr>
        <p:spPr>
          <a:xfrm>
            <a:off x="5151600" y="1553400"/>
            <a:ext cx="236520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4" name="Text 998"/>
          <p:cNvSpPr/>
          <p:nvPr/>
        </p:nvSpPr>
        <p:spPr>
          <a:xfrm>
            <a:off x="5206680" y="1553040"/>
            <a:ext cx="2282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Elastic License 2.0 (non libre)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5" name="Shape 949"/>
          <p:cNvSpPr/>
          <p:nvPr/>
        </p:nvSpPr>
        <p:spPr>
          <a:xfrm>
            <a:off x="1139760" y="1882800"/>
            <a:ext cx="17136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6" name="Text 999"/>
          <p:cNvSpPr/>
          <p:nvPr/>
        </p:nvSpPr>
        <p:spPr>
          <a:xfrm>
            <a:off x="1194480" y="188244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Config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7" name="Shape 950"/>
          <p:cNvSpPr/>
          <p:nvPr/>
        </p:nvSpPr>
        <p:spPr>
          <a:xfrm>
            <a:off x="2854080" y="1882800"/>
            <a:ext cx="229644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8" name="Text 1000"/>
          <p:cNvSpPr/>
          <p:nvPr/>
        </p:nvSpPr>
        <p:spPr>
          <a:xfrm>
            <a:off x="2909160" y="188244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YAML déclaratif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9" name="Shape 951"/>
          <p:cNvSpPr/>
          <p:nvPr/>
        </p:nvSpPr>
        <p:spPr>
          <a:xfrm>
            <a:off x="5151600" y="1882800"/>
            <a:ext cx="23652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0" name="Text 1001"/>
          <p:cNvSpPr/>
          <p:nvPr/>
        </p:nvSpPr>
        <p:spPr>
          <a:xfrm>
            <a:off x="5206680" y="1882440"/>
            <a:ext cx="228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DSL Ruby-like (plus expressif)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1" name="Shape 952"/>
          <p:cNvSpPr/>
          <p:nvPr/>
        </p:nvSpPr>
        <p:spPr>
          <a:xfrm>
            <a:off x="1139760" y="2211840"/>
            <a:ext cx="171360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2" name="Text 1002"/>
          <p:cNvSpPr/>
          <p:nvPr/>
        </p:nvSpPr>
        <p:spPr>
          <a:xfrm>
            <a:off x="1194480" y="221148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Plugins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3" name="Shape 953"/>
          <p:cNvSpPr/>
          <p:nvPr/>
        </p:nvSpPr>
        <p:spPr>
          <a:xfrm>
            <a:off x="2854080" y="2211840"/>
            <a:ext cx="229644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4" name="Text 1003"/>
          <p:cNvSpPr/>
          <p:nvPr/>
        </p:nvSpPr>
        <p:spPr>
          <a:xfrm>
            <a:off x="2909160" y="221148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~20 sources/processors natifs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5" name="Shape 954"/>
          <p:cNvSpPr/>
          <p:nvPr/>
        </p:nvSpPr>
        <p:spPr>
          <a:xfrm>
            <a:off x="5151600" y="2211840"/>
            <a:ext cx="236520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6" name="Text 1004"/>
          <p:cNvSpPr/>
          <p:nvPr/>
        </p:nvSpPr>
        <p:spPr>
          <a:xfrm>
            <a:off x="5206680" y="2211480"/>
            <a:ext cx="2282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200+ plugins (écosystème massif)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7" name="Shape 955"/>
          <p:cNvSpPr/>
          <p:nvPr/>
        </p:nvSpPr>
        <p:spPr>
          <a:xfrm>
            <a:off x="1139760" y="2540880"/>
            <a:ext cx="17136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8" name="Text 1005"/>
          <p:cNvSpPr/>
          <p:nvPr/>
        </p:nvSpPr>
        <p:spPr>
          <a:xfrm>
            <a:off x="1194480" y="254088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OTel natif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9" name="Shape 956"/>
          <p:cNvSpPr/>
          <p:nvPr/>
        </p:nvSpPr>
        <p:spPr>
          <a:xfrm>
            <a:off x="2854080" y="2540880"/>
            <a:ext cx="229644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0" name="Text 1006"/>
          <p:cNvSpPr/>
          <p:nvPr/>
        </p:nvSpPr>
        <p:spPr>
          <a:xfrm>
            <a:off x="2909160" y="254088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✓ </a:t>
            </a:r>
            <a:r>
              <a:rPr b="0" lang="en-US" sz="950" spc="-1" strike="noStrike">
                <a:solidFill>
                  <a:srgbClr val="27ae60"/>
                </a:solidFill>
                <a:latin typeface="Calibri"/>
                <a:ea typeface="Calibri"/>
              </a:rPr>
              <a:t>OTLP gRPC/HTTP nativement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1" name="Shape 957"/>
          <p:cNvSpPr/>
          <p:nvPr/>
        </p:nvSpPr>
        <p:spPr>
          <a:xfrm>
            <a:off x="5151600" y="2540880"/>
            <a:ext cx="23652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2" name="Text 1007"/>
          <p:cNvSpPr/>
          <p:nvPr/>
        </p:nvSpPr>
        <p:spPr>
          <a:xfrm>
            <a:off x="5206680" y="2540880"/>
            <a:ext cx="2282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✗ </a:t>
            </a:r>
            <a:r>
              <a:rPr b="0" lang="en-US" sz="950" spc="-1" strike="noStrike">
                <a:solidFill>
                  <a:srgbClr val="c0392b"/>
                </a:solidFill>
                <a:latin typeface="Calibri"/>
                <a:ea typeface="Calibri"/>
              </a:rPr>
              <a:t>Pas de support natif OTel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3" name="Shape 958"/>
          <p:cNvSpPr/>
          <p:nvPr/>
        </p:nvSpPr>
        <p:spPr>
          <a:xfrm>
            <a:off x="1139760" y="2870280"/>
            <a:ext cx="171360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4" name="Text 1008"/>
          <p:cNvSpPr/>
          <p:nvPr/>
        </p:nvSpPr>
        <p:spPr>
          <a:xfrm>
            <a:off x="1194480" y="286992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Conditions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5" name="Shape 959"/>
          <p:cNvSpPr/>
          <p:nvPr/>
        </p:nvSpPr>
        <p:spPr>
          <a:xfrm>
            <a:off x="2854080" y="2870280"/>
            <a:ext cx="229644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6" name="Text 1009"/>
          <p:cNvSpPr/>
          <p:nvPr/>
        </p:nvSpPr>
        <p:spPr>
          <a:xfrm>
            <a:off x="2909160" y="286992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drop_when (limité)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7" name="Shape 960"/>
          <p:cNvSpPr/>
          <p:nvPr/>
        </p:nvSpPr>
        <p:spPr>
          <a:xfrm>
            <a:off x="5151600" y="2870280"/>
            <a:ext cx="236520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8" name="Text 1010"/>
          <p:cNvSpPr/>
          <p:nvPr/>
        </p:nvSpPr>
        <p:spPr>
          <a:xfrm>
            <a:off x="5206680" y="2869920"/>
            <a:ext cx="22824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if/else/elsif complets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9" name="Shape 961"/>
          <p:cNvSpPr/>
          <p:nvPr/>
        </p:nvSpPr>
        <p:spPr>
          <a:xfrm>
            <a:off x="1139760" y="3199320"/>
            <a:ext cx="17136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0" name="Text 1011"/>
          <p:cNvSpPr/>
          <p:nvPr/>
        </p:nvSpPr>
        <p:spPr>
          <a:xfrm>
            <a:off x="1194480" y="319896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Enrichissement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1" name="Shape 962"/>
          <p:cNvSpPr/>
          <p:nvPr/>
        </p:nvSpPr>
        <p:spPr>
          <a:xfrm>
            <a:off x="2854080" y="3199320"/>
            <a:ext cx="229644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2" name="Text 1012"/>
          <p:cNvSpPr/>
          <p:nvPr/>
        </p:nvSpPr>
        <p:spPr>
          <a:xfrm>
            <a:off x="2909160" y="319896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geoip, aggregate, mutate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3" name="Shape 963"/>
          <p:cNvSpPr/>
          <p:nvPr/>
        </p:nvSpPr>
        <p:spPr>
          <a:xfrm>
            <a:off x="5151600" y="3199320"/>
            <a:ext cx="236520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4" name="Text 1013"/>
          <p:cNvSpPr/>
          <p:nvPr/>
        </p:nvSpPr>
        <p:spPr>
          <a:xfrm>
            <a:off x="5206320" y="3198960"/>
            <a:ext cx="228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JDBC lookup, translate, ruby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5" name="Shape 964"/>
          <p:cNvSpPr/>
          <p:nvPr/>
        </p:nvSpPr>
        <p:spPr>
          <a:xfrm>
            <a:off x="1139760" y="3528720"/>
            <a:ext cx="1713600" cy="327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6" name="Text 1014"/>
          <p:cNvSpPr/>
          <p:nvPr/>
        </p:nvSpPr>
        <p:spPr>
          <a:xfrm>
            <a:off x="1194480" y="3528360"/>
            <a:ext cx="16311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Maturité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7" name="Shape 965"/>
          <p:cNvSpPr/>
          <p:nvPr/>
        </p:nvSpPr>
        <p:spPr>
          <a:xfrm>
            <a:off x="2854080" y="3528720"/>
            <a:ext cx="2296440" cy="327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8" name="Text 1015"/>
          <p:cNvSpPr/>
          <p:nvPr/>
        </p:nvSpPr>
        <p:spPr>
          <a:xfrm>
            <a:off x="2909160" y="3528360"/>
            <a:ext cx="2214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Jeune (2021)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9" name="Shape 966"/>
          <p:cNvSpPr/>
          <p:nvPr/>
        </p:nvSpPr>
        <p:spPr>
          <a:xfrm>
            <a:off x="5151600" y="3528720"/>
            <a:ext cx="2365200" cy="327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0" name="Text 1016"/>
          <p:cNvSpPr/>
          <p:nvPr/>
        </p:nvSpPr>
        <p:spPr>
          <a:xfrm>
            <a:off x="5206680" y="3528360"/>
            <a:ext cx="22827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Très mature (2013)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1" name="Shape 967"/>
          <p:cNvSpPr/>
          <p:nvPr/>
        </p:nvSpPr>
        <p:spPr>
          <a:xfrm>
            <a:off x="239760" y="4053240"/>
            <a:ext cx="3899520" cy="986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2" name="Shape 968"/>
          <p:cNvSpPr/>
          <p:nvPr/>
        </p:nvSpPr>
        <p:spPr>
          <a:xfrm>
            <a:off x="239760" y="4053240"/>
            <a:ext cx="3899520" cy="190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3" name="Text 1017"/>
          <p:cNvSpPr/>
          <p:nvPr/>
        </p:nvSpPr>
        <p:spPr>
          <a:xfrm>
            <a:off x="308520" y="4052880"/>
            <a:ext cx="301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Choisir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Data 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Preppe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4" name="Text 1018"/>
          <p:cNvSpPr/>
          <p:nvPr/>
        </p:nvSpPr>
        <p:spPr>
          <a:xfrm>
            <a:off x="308520" y="4258800"/>
            <a:ext cx="383076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Traces OpenTelemetry → OpenSearch APM   </a:t>
            </a:r>
            <a:br>
              <a:rPr sz="900"/>
            </a:b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Nouveaux projets logs structurés JSON   </a:t>
            </a:r>
            <a:br>
              <a:rPr sz="900"/>
            </a:b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Architecture AWS / S3 / Kafka   </a:t>
            </a:r>
            <a:br>
              <a:rPr sz="900"/>
            </a:b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Simplicité opérationnelle prioritaire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5" name="Shape 969"/>
          <p:cNvSpPr/>
          <p:nvPr/>
        </p:nvSpPr>
        <p:spPr>
          <a:xfrm>
            <a:off x="4719600" y="4053240"/>
            <a:ext cx="3919680" cy="986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6" name="Shape 970"/>
          <p:cNvSpPr/>
          <p:nvPr/>
        </p:nvSpPr>
        <p:spPr>
          <a:xfrm>
            <a:off x="4719600" y="4053240"/>
            <a:ext cx="3919680" cy="190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7" name="Text 1019"/>
          <p:cNvSpPr/>
          <p:nvPr/>
        </p:nvSpPr>
        <p:spPr>
          <a:xfrm>
            <a:off x="4804920" y="4052880"/>
            <a:ext cx="37494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Choisir Logstash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8" name="Text 1020"/>
          <p:cNvSpPr/>
          <p:nvPr/>
        </p:nvSpPr>
        <p:spPr>
          <a:xfrm>
            <a:off x="4804920" y="4258800"/>
            <a:ext cx="374940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Migration depuis Elastic Stack avec Beats   </a:t>
            </a:r>
            <a:br>
              <a:rPr sz="900"/>
            </a:b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Logique conditionnelle complexe   </a:t>
            </a:r>
            <a:br>
              <a:rPr sz="900"/>
            </a:b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Enrichissement JDBC (base de données)   </a:t>
            </a:r>
            <a:br>
              <a:rPr sz="900"/>
            </a:b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• Pipelines Logstash existants à réutiliser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Shape 971"/>
          <p:cNvSpPr/>
          <p:nvPr/>
        </p:nvSpPr>
        <p:spPr>
          <a:xfrm>
            <a:off x="0" y="0"/>
            <a:ext cx="9143280" cy="4791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0" name="Shape 972"/>
          <p:cNvSpPr/>
          <p:nvPr/>
        </p:nvSpPr>
        <p:spPr>
          <a:xfrm>
            <a:off x="0" y="0"/>
            <a:ext cx="122400" cy="479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1" name="Text 1021"/>
          <p:cNvSpPr/>
          <p:nvPr/>
        </p:nvSpPr>
        <p:spPr>
          <a:xfrm>
            <a:off x="239760" y="360"/>
            <a:ext cx="78595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– Démarrage Docker  &amp; endpoints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2" name="Text 1023"/>
          <p:cNvSpPr/>
          <p:nvPr/>
        </p:nvSpPr>
        <p:spPr>
          <a:xfrm>
            <a:off x="239760" y="877680"/>
            <a:ext cx="3153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Démarrage docker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3" name="Shape 974"/>
          <p:cNvSpPr/>
          <p:nvPr/>
        </p:nvSpPr>
        <p:spPr>
          <a:xfrm>
            <a:off x="239760" y="1103760"/>
            <a:ext cx="3719520" cy="17755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4" name="Text 1024"/>
          <p:cNvSpPr/>
          <p:nvPr/>
        </p:nvSpPr>
        <p:spPr>
          <a:xfrm>
            <a:off x="146160" y="3001680"/>
            <a:ext cx="31536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data-prepper-config.yaml minimal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5" name="Shape 975"/>
          <p:cNvSpPr/>
          <p:nvPr/>
        </p:nvSpPr>
        <p:spPr>
          <a:xfrm>
            <a:off x="145800" y="3255480"/>
            <a:ext cx="3813480" cy="7038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6" name="Text 1025"/>
          <p:cNvSpPr/>
          <p:nvPr/>
        </p:nvSpPr>
        <p:spPr>
          <a:xfrm>
            <a:off x="214560" y="3310200"/>
            <a:ext cx="3744720" cy="6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# data-prepper/data-prepper-config.yaml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ssl: false   # Désactive HTTPS sur l'API 4900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7" name="Text 1026"/>
          <p:cNvSpPr/>
          <p:nvPr/>
        </p:nvSpPr>
        <p:spPr>
          <a:xfrm>
            <a:off x="4358160" y="903600"/>
            <a:ext cx="410112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Tous les endpoints disponibles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8" name="Shape 976"/>
          <p:cNvSpPr/>
          <p:nvPr/>
        </p:nvSpPr>
        <p:spPr>
          <a:xfrm>
            <a:off x="4357800" y="1245240"/>
            <a:ext cx="4101120" cy="3405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9" name="Shape 977"/>
          <p:cNvSpPr/>
          <p:nvPr/>
        </p:nvSpPr>
        <p:spPr>
          <a:xfrm>
            <a:off x="4357800" y="1245240"/>
            <a:ext cx="52200" cy="3405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0" name="Shape 978"/>
          <p:cNvSpPr/>
          <p:nvPr/>
        </p:nvSpPr>
        <p:spPr>
          <a:xfrm>
            <a:off x="4447080" y="1298520"/>
            <a:ext cx="533880" cy="2149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1" name="Text 1027"/>
          <p:cNvSpPr/>
          <p:nvPr/>
        </p:nvSpPr>
        <p:spPr>
          <a:xfrm>
            <a:off x="4447080" y="129888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:4900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2" name="Shape 979"/>
          <p:cNvSpPr/>
          <p:nvPr/>
        </p:nvSpPr>
        <p:spPr>
          <a:xfrm>
            <a:off x="5035680" y="1298520"/>
            <a:ext cx="480600" cy="2149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3" name="Text 1028"/>
          <p:cNvSpPr/>
          <p:nvPr/>
        </p:nvSpPr>
        <p:spPr>
          <a:xfrm>
            <a:off x="5035680" y="129888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GET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4" name="Text 1029"/>
          <p:cNvSpPr/>
          <p:nvPr/>
        </p:nvSpPr>
        <p:spPr>
          <a:xfrm>
            <a:off x="5570640" y="1272240"/>
            <a:ext cx="1425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/list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5" name="Text 1030"/>
          <p:cNvSpPr/>
          <p:nvPr/>
        </p:nvSpPr>
        <p:spPr>
          <a:xfrm>
            <a:off x="5570640" y="1442880"/>
            <a:ext cx="276336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Lister les pipelines actifs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6" name="Shape 980"/>
          <p:cNvSpPr/>
          <p:nvPr/>
        </p:nvSpPr>
        <p:spPr>
          <a:xfrm>
            <a:off x="4357800" y="1641240"/>
            <a:ext cx="4101120" cy="3402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7" name="Shape 981"/>
          <p:cNvSpPr/>
          <p:nvPr/>
        </p:nvSpPr>
        <p:spPr>
          <a:xfrm>
            <a:off x="4357800" y="1641240"/>
            <a:ext cx="52200" cy="3402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8" name="Shape 982"/>
          <p:cNvSpPr/>
          <p:nvPr/>
        </p:nvSpPr>
        <p:spPr>
          <a:xfrm>
            <a:off x="4447080" y="1694520"/>
            <a:ext cx="533880" cy="2149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9" name="Text 1031"/>
          <p:cNvSpPr/>
          <p:nvPr/>
        </p:nvSpPr>
        <p:spPr>
          <a:xfrm>
            <a:off x="4447080" y="169452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:4900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0" name="Shape 983"/>
          <p:cNvSpPr/>
          <p:nvPr/>
        </p:nvSpPr>
        <p:spPr>
          <a:xfrm>
            <a:off x="5035680" y="1694520"/>
            <a:ext cx="480600" cy="2149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1" name="Text 1032"/>
          <p:cNvSpPr/>
          <p:nvPr/>
        </p:nvSpPr>
        <p:spPr>
          <a:xfrm>
            <a:off x="5035680" y="169452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GET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2" name="Text 1033"/>
          <p:cNvSpPr/>
          <p:nvPr/>
        </p:nvSpPr>
        <p:spPr>
          <a:xfrm>
            <a:off x="5570640" y="1667520"/>
            <a:ext cx="1425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/metrics/prometheus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3" name="Text 1034"/>
          <p:cNvSpPr/>
          <p:nvPr/>
        </p:nvSpPr>
        <p:spPr>
          <a:xfrm>
            <a:off x="5570280" y="1838520"/>
            <a:ext cx="2763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Métriques Prometheus (débit, erreurs)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4" name="Shape 984"/>
          <p:cNvSpPr/>
          <p:nvPr/>
        </p:nvSpPr>
        <p:spPr>
          <a:xfrm>
            <a:off x="4357800" y="2036160"/>
            <a:ext cx="4101120" cy="3405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5" name="Shape 1650"/>
          <p:cNvSpPr/>
          <p:nvPr/>
        </p:nvSpPr>
        <p:spPr>
          <a:xfrm>
            <a:off x="4357800" y="2036160"/>
            <a:ext cx="52200" cy="3405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6" name="Shape 1651"/>
          <p:cNvSpPr/>
          <p:nvPr/>
        </p:nvSpPr>
        <p:spPr>
          <a:xfrm>
            <a:off x="4447080" y="2089800"/>
            <a:ext cx="533880" cy="2149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7" name="Text 1035"/>
          <p:cNvSpPr/>
          <p:nvPr/>
        </p:nvSpPr>
        <p:spPr>
          <a:xfrm>
            <a:off x="4447080" y="209052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:4900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8" name="Shape 1652"/>
          <p:cNvSpPr/>
          <p:nvPr/>
        </p:nvSpPr>
        <p:spPr>
          <a:xfrm>
            <a:off x="5035680" y="2089800"/>
            <a:ext cx="480600" cy="2149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9" name="Text 1036"/>
          <p:cNvSpPr/>
          <p:nvPr/>
        </p:nvSpPr>
        <p:spPr>
          <a:xfrm>
            <a:off x="5035680" y="209052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GET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0" name="Text 1037"/>
          <p:cNvSpPr/>
          <p:nvPr/>
        </p:nvSpPr>
        <p:spPr>
          <a:xfrm>
            <a:off x="5570640" y="2063160"/>
            <a:ext cx="1425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/metrics/sys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1" name="Text 1038"/>
          <p:cNvSpPr/>
          <p:nvPr/>
        </p:nvSpPr>
        <p:spPr>
          <a:xfrm>
            <a:off x="5570280" y="2234160"/>
            <a:ext cx="2763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Métriques système JVM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2" name="Shape 1653"/>
          <p:cNvSpPr/>
          <p:nvPr/>
        </p:nvSpPr>
        <p:spPr>
          <a:xfrm>
            <a:off x="4357800" y="2432160"/>
            <a:ext cx="4101120" cy="3402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3" name="Shape 1654"/>
          <p:cNvSpPr/>
          <p:nvPr/>
        </p:nvSpPr>
        <p:spPr>
          <a:xfrm>
            <a:off x="4357800" y="2432160"/>
            <a:ext cx="52200" cy="340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4" name="Shape 1655"/>
          <p:cNvSpPr/>
          <p:nvPr/>
        </p:nvSpPr>
        <p:spPr>
          <a:xfrm>
            <a:off x="4447080" y="2485440"/>
            <a:ext cx="533880" cy="214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5" name="Text 1039"/>
          <p:cNvSpPr/>
          <p:nvPr/>
        </p:nvSpPr>
        <p:spPr>
          <a:xfrm>
            <a:off x="4447080" y="248580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:4900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6" name="Shape 1656"/>
          <p:cNvSpPr/>
          <p:nvPr/>
        </p:nvSpPr>
        <p:spPr>
          <a:xfrm>
            <a:off x="5035680" y="2485440"/>
            <a:ext cx="480600" cy="2149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7" name="Text 1879"/>
          <p:cNvSpPr/>
          <p:nvPr/>
        </p:nvSpPr>
        <p:spPr>
          <a:xfrm>
            <a:off x="5035680" y="248580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POST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8" name="Text 1880"/>
          <p:cNvSpPr/>
          <p:nvPr/>
        </p:nvSpPr>
        <p:spPr>
          <a:xfrm>
            <a:off x="5570640" y="2458800"/>
            <a:ext cx="1425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/shutdown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9" name="Text 1881"/>
          <p:cNvSpPr/>
          <p:nvPr/>
        </p:nvSpPr>
        <p:spPr>
          <a:xfrm>
            <a:off x="5570280" y="2629800"/>
            <a:ext cx="2763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Arrêt propre du processus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0" name="Shape 1657"/>
          <p:cNvSpPr/>
          <p:nvPr/>
        </p:nvSpPr>
        <p:spPr>
          <a:xfrm>
            <a:off x="4357800" y="2827440"/>
            <a:ext cx="4101120" cy="3405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1" name="Shape 1658"/>
          <p:cNvSpPr/>
          <p:nvPr/>
        </p:nvSpPr>
        <p:spPr>
          <a:xfrm>
            <a:off x="4357800" y="2827440"/>
            <a:ext cx="52200" cy="340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2" name="Shape 1659"/>
          <p:cNvSpPr/>
          <p:nvPr/>
        </p:nvSpPr>
        <p:spPr>
          <a:xfrm>
            <a:off x="4447080" y="2881440"/>
            <a:ext cx="533880" cy="214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3" name="Text 1882"/>
          <p:cNvSpPr/>
          <p:nvPr/>
        </p:nvSpPr>
        <p:spPr>
          <a:xfrm>
            <a:off x="4447080" y="288144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:2021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4" name="Shape 1660"/>
          <p:cNvSpPr/>
          <p:nvPr/>
        </p:nvSpPr>
        <p:spPr>
          <a:xfrm>
            <a:off x="5035680" y="2881440"/>
            <a:ext cx="480600" cy="2149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5" name="Text 1883"/>
          <p:cNvSpPr/>
          <p:nvPr/>
        </p:nvSpPr>
        <p:spPr>
          <a:xfrm>
            <a:off x="5035680" y="288144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POST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6" name="Text 1884"/>
          <p:cNvSpPr/>
          <p:nvPr/>
        </p:nvSpPr>
        <p:spPr>
          <a:xfrm>
            <a:off x="5570640" y="2854440"/>
            <a:ext cx="1425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/log/ingest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7" name="Text 1885"/>
          <p:cNvSpPr/>
          <p:nvPr/>
        </p:nvSpPr>
        <p:spPr>
          <a:xfrm>
            <a:off x="5570640" y="3025080"/>
            <a:ext cx="276336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Source HTTP — envoyer des logs JSON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8" name="Shape 1661"/>
          <p:cNvSpPr/>
          <p:nvPr/>
        </p:nvSpPr>
        <p:spPr>
          <a:xfrm>
            <a:off x="4357800" y="3223080"/>
            <a:ext cx="4101120" cy="3402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9" name="Shape 1662"/>
          <p:cNvSpPr/>
          <p:nvPr/>
        </p:nvSpPr>
        <p:spPr>
          <a:xfrm>
            <a:off x="4357800" y="3223080"/>
            <a:ext cx="52200" cy="34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0" name="Shape 1663"/>
          <p:cNvSpPr/>
          <p:nvPr/>
        </p:nvSpPr>
        <p:spPr>
          <a:xfrm>
            <a:off x="4447080" y="3276720"/>
            <a:ext cx="533880" cy="214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1" name="Text 1984"/>
          <p:cNvSpPr/>
          <p:nvPr/>
        </p:nvSpPr>
        <p:spPr>
          <a:xfrm>
            <a:off x="4447080" y="327672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:21890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2" name="Shape 1664"/>
          <p:cNvSpPr/>
          <p:nvPr/>
        </p:nvSpPr>
        <p:spPr>
          <a:xfrm>
            <a:off x="5035680" y="3276720"/>
            <a:ext cx="480600" cy="214920"/>
          </a:xfrm>
          <a:prstGeom prst="rect">
            <a:avLst/>
          </a:prstGeom>
          <a:solidFill>
            <a:srgbClr val="00506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3" name="Text 2112"/>
          <p:cNvSpPr/>
          <p:nvPr/>
        </p:nvSpPr>
        <p:spPr>
          <a:xfrm>
            <a:off x="5035680" y="327672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gRPC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4" name="Text 2113"/>
          <p:cNvSpPr/>
          <p:nvPr/>
        </p:nvSpPr>
        <p:spPr>
          <a:xfrm>
            <a:off x="5570280" y="3249720"/>
            <a:ext cx="14259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OTLP TraceService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5" name="Text 2114"/>
          <p:cNvSpPr/>
          <p:nvPr/>
        </p:nvSpPr>
        <p:spPr>
          <a:xfrm>
            <a:off x="5570280" y="3420720"/>
            <a:ext cx="27637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Traces OpenTelemetry (protocole gRPC)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6" name="Shape 1665"/>
          <p:cNvSpPr/>
          <p:nvPr/>
        </p:nvSpPr>
        <p:spPr>
          <a:xfrm>
            <a:off x="4357800" y="3618720"/>
            <a:ext cx="4101120" cy="3405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7" name="Shape 1666"/>
          <p:cNvSpPr/>
          <p:nvPr/>
        </p:nvSpPr>
        <p:spPr>
          <a:xfrm>
            <a:off x="4357800" y="3618720"/>
            <a:ext cx="52200" cy="340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8" name="Shape 1667"/>
          <p:cNvSpPr/>
          <p:nvPr/>
        </p:nvSpPr>
        <p:spPr>
          <a:xfrm>
            <a:off x="4447080" y="3672000"/>
            <a:ext cx="533880" cy="214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9" name="Text 2115"/>
          <p:cNvSpPr/>
          <p:nvPr/>
        </p:nvSpPr>
        <p:spPr>
          <a:xfrm>
            <a:off x="4447080" y="3672720"/>
            <a:ext cx="533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Courier New"/>
                <a:ea typeface="Courier New"/>
              </a:rPr>
              <a:t>:21891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0" name="Shape 1668"/>
          <p:cNvSpPr/>
          <p:nvPr/>
        </p:nvSpPr>
        <p:spPr>
          <a:xfrm>
            <a:off x="5035680" y="3672000"/>
            <a:ext cx="480600" cy="2149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1" name="Text 2922"/>
          <p:cNvSpPr/>
          <p:nvPr/>
        </p:nvSpPr>
        <p:spPr>
          <a:xfrm>
            <a:off x="5035680" y="3672720"/>
            <a:ext cx="4806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alibri"/>
                <a:ea typeface="Calibri"/>
              </a:rPr>
              <a:t>HTTP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2" name="Text 2923"/>
          <p:cNvSpPr/>
          <p:nvPr/>
        </p:nvSpPr>
        <p:spPr>
          <a:xfrm>
            <a:off x="5570640" y="3645720"/>
            <a:ext cx="1425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e8834a"/>
                </a:solidFill>
                <a:latin typeface="Courier New"/>
                <a:ea typeface="Courier New"/>
              </a:rPr>
              <a:t>/opentelemetry.proto.*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3" name="Text 2924"/>
          <p:cNvSpPr/>
          <p:nvPr/>
        </p:nvSpPr>
        <p:spPr>
          <a:xfrm>
            <a:off x="5570280" y="3816000"/>
            <a:ext cx="2763720" cy="1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Traces OTel </a:t>
            </a: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via HTTP </a:t>
            </a: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(alternativ</a:t>
            </a: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e)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4" name=""/>
          <p:cNvSpPr/>
          <p:nvPr/>
        </p:nvSpPr>
        <p:spPr>
          <a:xfrm>
            <a:off x="468000" y="1224000"/>
            <a:ext cx="3491280" cy="165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# Démarrer Data Prepper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docker run -d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-v /etc/data-prepper:/usr/share/\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data-prepper/config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-p 2021:2021 -p 4900:4900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urier New"/>
                <a:ea typeface="Courier New"/>
              </a:rPr>
              <a:t>opensearchproject/data-prepper:latest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Shape 1669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6" name="Shape 1670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7" name="Text 2925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– Sources et Processors disponibles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8" name="Text 2927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propose un catalogue de sources et processors couvrant logs, métriques, traces et événements. Les pipelines peuvent être chaînés pour des architectures complexes.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9" name="Text 2928"/>
          <p:cNvSpPr/>
          <p:nvPr/>
        </p:nvSpPr>
        <p:spPr>
          <a:xfrm>
            <a:off x="320040" y="1188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Sources disponibles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0" name="Shape 1811"/>
          <p:cNvSpPr/>
          <p:nvPr/>
        </p:nvSpPr>
        <p:spPr>
          <a:xfrm>
            <a:off x="320040" y="1490400"/>
            <a:ext cx="4205160" cy="5108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1" name="Shape 1812"/>
          <p:cNvSpPr/>
          <p:nvPr/>
        </p:nvSpPr>
        <p:spPr>
          <a:xfrm>
            <a:off x="320040" y="1490400"/>
            <a:ext cx="53640" cy="5108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2" name="Text 2929"/>
          <p:cNvSpPr/>
          <p:nvPr/>
        </p:nvSpPr>
        <p:spPr>
          <a:xfrm>
            <a:off x="457200" y="151776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http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3" name="Text 2930"/>
          <p:cNvSpPr/>
          <p:nvPr/>
        </p:nvSpPr>
        <p:spPr>
          <a:xfrm>
            <a:off x="457200" y="1746360"/>
            <a:ext cx="3930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Réception de logs/événements via HTTP. Port configurable. TLS supporté.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4" name="Shape 1813"/>
          <p:cNvSpPr/>
          <p:nvPr/>
        </p:nvSpPr>
        <p:spPr>
          <a:xfrm>
            <a:off x="320040" y="2094120"/>
            <a:ext cx="4205160" cy="5108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5" name="Shape 1814"/>
          <p:cNvSpPr/>
          <p:nvPr/>
        </p:nvSpPr>
        <p:spPr>
          <a:xfrm>
            <a:off x="320040" y="2094120"/>
            <a:ext cx="53640" cy="5108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6" name="Text 2931"/>
          <p:cNvSpPr/>
          <p:nvPr/>
        </p:nvSpPr>
        <p:spPr>
          <a:xfrm>
            <a:off x="457200" y="212148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kafka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7" name="Text 2932"/>
          <p:cNvSpPr/>
          <p:nvPr/>
        </p:nvSpPr>
        <p:spPr>
          <a:xfrm>
            <a:off x="457200" y="2350080"/>
            <a:ext cx="3930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Consommation de topics Kafka. group_id, auto.offset.reset, SASL/TLS.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8" name="Shape 1966"/>
          <p:cNvSpPr/>
          <p:nvPr/>
        </p:nvSpPr>
        <p:spPr>
          <a:xfrm>
            <a:off x="320040" y="2697480"/>
            <a:ext cx="4205160" cy="5108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9" name="Shape 1967"/>
          <p:cNvSpPr/>
          <p:nvPr/>
        </p:nvSpPr>
        <p:spPr>
          <a:xfrm>
            <a:off x="320040" y="2697480"/>
            <a:ext cx="53640" cy="5108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0" name="Text 2933"/>
          <p:cNvSpPr/>
          <p:nvPr/>
        </p:nvSpPr>
        <p:spPr>
          <a:xfrm>
            <a:off x="457200" y="272484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s3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1" name="Text 2934"/>
          <p:cNvSpPr/>
          <p:nvPr/>
        </p:nvSpPr>
        <p:spPr>
          <a:xfrm>
            <a:off x="457200" y="2953440"/>
            <a:ext cx="3930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Lecture de fichiers S3 (SQS notification ou scan). CSV, JSON, Parquet.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2" name="Shape 2517"/>
          <p:cNvSpPr/>
          <p:nvPr/>
        </p:nvSpPr>
        <p:spPr>
          <a:xfrm>
            <a:off x="320040" y="3300840"/>
            <a:ext cx="4205160" cy="5108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3" name="Shape 2518"/>
          <p:cNvSpPr/>
          <p:nvPr/>
        </p:nvSpPr>
        <p:spPr>
          <a:xfrm>
            <a:off x="320040" y="3300840"/>
            <a:ext cx="53640" cy="510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4" name="Text 2935"/>
          <p:cNvSpPr/>
          <p:nvPr/>
        </p:nvSpPr>
        <p:spPr>
          <a:xfrm>
            <a:off x="457200" y="332856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otel_trace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5" name="Text 2936"/>
          <p:cNvSpPr/>
          <p:nvPr/>
        </p:nvSpPr>
        <p:spPr>
          <a:xfrm>
            <a:off x="457200" y="3557160"/>
            <a:ext cx="3930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Réception de traces OpenTelemetry (OTLP). Port 21890 (gRPC).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6" name="Shape 2519"/>
          <p:cNvSpPr/>
          <p:nvPr/>
        </p:nvSpPr>
        <p:spPr>
          <a:xfrm>
            <a:off x="320040" y="3904560"/>
            <a:ext cx="4205160" cy="5108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7" name="Shape 2520"/>
          <p:cNvSpPr/>
          <p:nvPr/>
        </p:nvSpPr>
        <p:spPr>
          <a:xfrm>
            <a:off x="320040" y="3904560"/>
            <a:ext cx="53640" cy="5108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8" name="Text 2937"/>
          <p:cNvSpPr/>
          <p:nvPr/>
        </p:nvSpPr>
        <p:spPr>
          <a:xfrm>
            <a:off x="457200" y="393192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file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9" name="Text 2938"/>
          <p:cNvSpPr/>
          <p:nvPr/>
        </p:nvSpPr>
        <p:spPr>
          <a:xfrm>
            <a:off x="457200" y="4160520"/>
            <a:ext cx="3930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Lecture de fichiers locaux. Codec: json, newline_delimited.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0" name="Shape 2521"/>
          <p:cNvSpPr/>
          <p:nvPr/>
        </p:nvSpPr>
        <p:spPr>
          <a:xfrm>
            <a:off x="320040" y="4507920"/>
            <a:ext cx="4205160" cy="5108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1" name="Shape 2522"/>
          <p:cNvSpPr/>
          <p:nvPr/>
        </p:nvSpPr>
        <p:spPr>
          <a:xfrm>
            <a:off x="320040" y="4507920"/>
            <a:ext cx="53640" cy="51084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2" name="Text 2939"/>
          <p:cNvSpPr/>
          <p:nvPr/>
        </p:nvSpPr>
        <p:spPr>
          <a:xfrm>
            <a:off x="457200" y="4535280"/>
            <a:ext cx="10962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syslog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3" name="Text 2940"/>
          <p:cNvSpPr/>
          <p:nvPr/>
        </p:nvSpPr>
        <p:spPr>
          <a:xfrm>
            <a:off x="457200" y="4763880"/>
            <a:ext cx="39308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Réception UDP/TCP syslog. RFC 3164 et RFC 5424 supportés.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4" name="Text 2941"/>
          <p:cNvSpPr/>
          <p:nvPr/>
        </p:nvSpPr>
        <p:spPr>
          <a:xfrm>
            <a:off x="4754880" y="118872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Processors disponibles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5" name="Shape 2523"/>
          <p:cNvSpPr/>
          <p:nvPr/>
        </p:nvSpPr>
        <p:spPr>
          <a:xfrm>
            <a:off x="4754880" y="1490400"/>
            <a:ext cx="4205160" cy="3830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6" name="Shape 2524"/>
          <p:cNvSpPr/>
          <p:nvPr/>
        </p:nvSpPr>
        <p:spPr>
          <a:xfrm>
            <a:off x="4754880" y="1490400"/>
            <a:ext cx="53640" cy="38304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7" name="Text 2942"/>
          <p:cNvSpPr/>
          <p:nvPr/>
        </p:nvSpPr>
        <p:spPr>
          <a:xfrm>
            <a:off x="4892040" y="15177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grok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8" name="Text 2943"/>
          <p:cNvSpPr/>
          <p:nvPr/>
        </p:nvSpPr>
        <p:spPr>
          <a:xfrm>
            <a:off x="4892040" y="16916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Extraction de champs via patterns (COMMONAPACHELOG, SYSLOGLINE…).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9" name="Shape 2525"/>
          <p:cNvSpPr/>
          <p:nvPr/>
        </p:nvSpPr>
        <p:spPr>
          <a:xfrm>
            <a:off x="4754880" y="1947600"/>
            <a:ext cx="4205160" cy="3830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0" name="Shape 2526"/>
          <p:cNvSpPr/>
          <p:nvPr/>
        </p:nvSpPr>
        <p:spPr>
          <a:xfrm>
            <a:off x="4754880" y="1947600"/>
            <a:ext cx="53640" cy="383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1" name="Text 2944"/>
          <p:cNvSpPr/>
          <p:nvPr/>
        </p:nvSpPr>
        <p:spPr>
          <a:xfrm>
            <a:off x="4892040" y="19749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date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2" name="Text 2945"/>
          <p:cNvSpPr/>
          <p:nvPr/>
        </p:nvSpPr>
        <p:spPr>
          <a:xfrm>
            <a:off x="4892040" y="21488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Parsing de dates vers @timestamp. Formats strptime configurables.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3" name="Shape 2527"/>
          <p:cNvSpPr/>
          <p:nvPr/>
        </p:nvSpPr>
        <p:spPr>
          <a:xfrm>
            <a:off x="4754880" y="2404800"/>
            <a:ext cx="4205160" cy="3830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4" name="Shape 2528"/>
          <p:cNvSpPr/>
          <p:nvPr/>
        </p:nvSpPr>
        <p:spPr>
          <a:xfrm>
            <a:off x="4754880" y="2404800"/>
            <a:ext cx="53640" cy="3830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5" name="Text 2946"/>
          <p:cNvSpPr/>
          <p:nvPr/>
        </p:nvSpPr>
        <p:spPr>
          <a:xfrm>
            <a:off x="4892040" y="24321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mutate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6" name="Text 2947"/>
          <p:cNvSpPr/>
          <p:nvPr/>
        </p:nvSpPr>
        <p:spPr>
          <a:xfrm>
            <a:off x="4892040" y="26060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rename, copy, uppercase, </a:t>
            </a: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lowercase, gsub, add_entries, </a:t>
            </a: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remove_entries.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7" name="Shape 2529"/>
          <p:cNvSpPr/>
          <p:nvPr/>
        </p:nvSpPr>
        <p:spPr>
          <a:xfrm>
            <a:off x="4754880" y="2862000"/>
            <a:ext cx="4205160" cy="3830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8" name="Shape 2530"/>
          <p:cNvSpPr/>
          <p:nvPr/>
        </p:nvSpPr>
        <p:spPr>
          <a:xfrm>
            <a:off x="4754880" y="2862000"/>
            <a:ext cx="53640" cy="38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9" name="Text 2948"/>
          <p:cNvSpPr/>
          <p:nvPr/>
        </p:nvSpPr>
        <p:spPr>
          <a:xfrm>
            <a:off x="4892040" y="28893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geoip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0" name="Text 2949"/>
          <p:cNvSpPr/>
          <p:nvPr/>
        </p:nvSpPr>
        <p:spPr>
          <a:xfrm>
            <a:off x="4892040" y="30632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Enrichissement géographique depuis une IP. Champs lat/lon/city/country.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1" name="Shape 2531"/>
          <p:cNvSpPr/>
          <p:nvPr/>
        </p:nvSpPr>
        <p:spPr>
          <a:xfrm>
            <a:off x="4754880" y="3319200"/>
            <a:ext cx="4205160" cy="3830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2" name="Shape 2532"/>
          <p:cNvSpPr/>
          <p:nvPr/>
        </p:nvSpPr>
        <p:spPr>
          <a:xfrm>
            <a:off x="4754880" y="3319200"/>
            <a:ext cx="53640" cy="383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3" name="Text 2950"/>
          <p:cNvSpPr/>
          <p:nvPr/>
        </p:nvSpPr>
        <p:spPr>
          <a:xfrm>
            <a:off x="4892040" y="33465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aggregate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4" name="Text 2951"/>
          <p:cNvSpPr/>
          <p:nvPr/>
        </p:nvSpPr>
        <p:spPr>
          <a:xfrm>
            <a:off x="4892040" y="35204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Aggrégation d'événements (count, sum, histogram) sur fenêtre temporelle.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5" name="Shape 2533"/>
          <p:cNvSpPr/>
          <p:nvPr/>
        </p:nvSpPr>
        <p:spPr>
          <a:xfrm>
            <a:off x="4754880" y="3776400"/>
            <a:ext cx="420516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6" name="Shape 2534"/>
          <p:cNvSpPr/>
          <p:nvPr/>
        </p:nvSpPr>
        <p:spPr>
          <a:xfrm>
            <a:off x="4754880" y="3776400"/>
            <a:ext cx="53640" cy="38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7" name="Text 2952"/>
          <p:cNvSpPr/>
          <p:nvPr/>
        </p:nvSpPr>
        <p:spPr>
          <a:xfrm>
            <a:off x="4892040" y="38037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drop_events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8" name="Text 2953"/>
          <p:cNvSpPr/>
          <p:nvPr/>
        </p:nvSpPr>
        <p:spPr>
          <a:xfrm>
            <a:off x="4892040" y="39776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Suppression d'événements selon condition (drop_when: expression).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9" name="Shape 2535"/>
          <p:cNvSpPr/>
          <p:nvPr/>
        </p:nvSpPr>
        <p:spPr>
          <a:xfrm>
            <a:off x="4754880" y="4233600"/>
            <a:ext cx="420516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0" name="Shape 2536"/>
          <p:cNvSpPr/>
          <p:nvPr/>
        </p:nvSpPr>
        <p:spPr>
          <a:xfrm>
            <a:off x="4754880" y="4233600"/>
            <a:ext cx="53640" cy="383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1" name="Text 2954"/>
          <p:cNvSpPr/>
          <p:nvPr/>
        </p:nvSpPr>
        <p:spPr>
          <a:xfrm>
            <a:off x="4892040" y="42609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otel_trace_raw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2" name="Text 2955"/>
          <p:cNvSpPr/>
          <p:nvPr/>
        </p:nvSpPr>
        <p:spPr>
          <a:xfrm>
            <a:off x="4892040" y="44348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Transformation traces OTel → format OpenSearch APM natif.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3" name="Shape 2537"/>
          <p:cNvSpPr/>
          <p:nvPr/>
        </p:nvSpPr>
        <p:spPr>
          <a:xfrm>
            <a:off x="4754880" y="4690800"/>
            <a:ext cx="4205160" cy="383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4" name="Shape 2538"/>
          <p:cNvSpPr/>
          <p:nvPr/>
        </p:nvSpPr>
        <p:spPr>
          <a:xfrm>
            <a:off x="4754880" y="4690800"/>
            <a:ext cx="53640" cy="38304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5" name="Text 2956"/>
          <p:cNvSpPr/>
          <p:nvPr/>
        </p:nvSpPr>
        <p:spPr>
          <a:xfrm>
            <a:off x="4892040" y="4718160"/>
            <a:ext cx="13705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ourier New"/>
                <a:ea typeface="Courier New"/>
              </a:rPr>
              <a:t>string_converter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6" name="Text 2957"/>
          <p:cNvSpPr/>
          <p:nvPr/>
        </p:nvSpPr>
        <p:spPr>
          <a:xfrm>
            <a:off x="4892040" y="4892040"/>
            <a:ext cx="39765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Conversion simple de champs string (upper_case, lower_case).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Shape 2539"/>
          <p:cNvSpPr/>
          <p:nvPr/>
        </p:nvSpPr>
        <p:spPr>
          <a:xfrm>
            <a:off x="0" y="0"/>
            <a:ext cx="9143280" cy="4791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8" name="Shape 2540"/>
          <p:cNvSpPr/>
          <p:nvPr/>
        </p:nvSpPr>
        <p:spPr>
          <a:xfrm>
            <a:off x="0" y="0"/>
            <a:ext cx="122400" cy="479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9" name="Text 2958"/>
          <p:cNvSpPr/>
          <p:nvPr/>
        </p:nvSpPr>
        <p:spPr>
          <a:xfrm>
            <a:off x="239760" y="360"/>
            <a:ext cx="71395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OpenTelemetry – Standard d'observabilité moderne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0" name="Text 2960"/>
          <p:cNvSpPr/>
          <p:nvPr/>
        </p:nvSpPr>
        <p:spPr>
          <a:xfrm>
            <a:off x="239760" y="534960"/>
            <a:ext cx="8759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OpenTelemetry (OTel)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est un standard open-source de la CNCF pour collecter, transformer et exporter des données d'observabilité — traces, métriques et logs — de manière unifiée.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1" name="Shape 2542"/>
          <p:cNvSpPr/>
          <p:nvPr/>
        </p:nvSpPr>
        <p:spPr>
          <a:xfrm>
            <a:off x="239760" y="1105920"/>
            <a:ext cx="2756880" cy="1954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2" name="Shape 2543"/>
          <p:cNvSpPr/>
          <p:nvPr/>
        </p:nvSpPr>
        <p:spPr>
          <a:xfrm>
            <a:off x="239760" y="1105920"/>
            <a:ext cx="2756880" cy="3434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3" name="Text 2961"/>
          <p:cNvSpPr/>
          <p:nvPr/>
        </p:nvSpPr>
        <p:spPr>
          <a:xfrm>
            <a:off x="330480" y="1105560"/>
            <a:ext cx="16261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🔍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Traces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4" name="Text 2962"/>
          <p:cNvSpPr/>
          <p:nvPr/>
        </p:nvSpPr>
        <p:spPr>
          <a:xfrm>
            <a:off x="2003040" y="1130400"/>
            <a:ext cx="9208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Distributed Tracing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5" name="Text 2963"/>
          <p:cNvSpPr/>
          <p:nvPr/>
        </p:nvSpPr>
        <p:spPr>
          <a:xfrm>
            <a:off x="348480" y="1516320"/>
            <a:ext cx="2548800" cy="10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Suit le chemin d'une requête à travers tous les services. </a:t>
            </a:r>
            <a:br>
              <a:rPr sz="950"/>
            </a:b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Chaque opération = un Span. </a:t>
            </a:r>
            <a:br>
              <a:rPr sz="950"/>
            </a:b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Ensemble de spans = une Trace.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6" name="Shape 2544"/>
          <p:cNvSpPr/>
          <p:nvPr/>
        </p:nvSpPr>
        <p:spPr>
          <a:xfrm>
            <a:off x="329760" y="2191680"/>
            <a:ext cx="2549160" cy="6886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7" name="Text 2964"/>
          <p:cNvSpPr/>
          <p:nvPr/>
        </p:nvSpPr>
        <p:spPr>
          <a:xfrm>
            <a:off x="402480" y="2225160"/>
            <a:ext cx="2439720" cy="6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User request → API Gateway → Service A → DB → Service B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8" name="Shape 2545"/>
          <p:cNvSpPr/>
          <p:nvPr/>
        </p:nvSpPr>
        <p:spPr>
          <a:xfrm>
            <a:off x="3151080" y="1105920"/>
            <a:ext cx="2756880" cy="1954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9" name="Shape 2546"/>
          <p:cNvSpPr/>
          <p:nvPr/>
        </p:nvSpPr>
        <p:spPr>
          <a:xfrm>
            <a:off x="3151080" y="1105920"/>
            <a:ext cx="2756880" cy="343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0" name="Text 2965"/>
          <p:cNvSpPr/>
          <p:nvPr/>
        </p:nvSpPr>
        <p:spPr>
          <a:xfrm>
            <a:off x="3241800" y="1105560"/>
            <a:ext cx="16261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📊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Métriques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1" name="Text 2966"/>
          <p:cNvSpPr/>
          <p:nvPr/>
        </p:nvSpPr>
        <p:spPr>
          <a:xfrm>
            <a:off x="4914360" y="1130400"/>
            <a:ext cx="9208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Metrics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2" name="Text 2967"/>
          <p:cNvSpPr/>
          <p:nvPr/>
        </p:nvSpPr>
        <p:spPr>
          <a:xfrm>
            <a:off x="3259800" y="1516320"/>
            <a:ext cx="2548800" cy="10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Mesures numériques dans le temps. Compteurs, jauges, histogrammes. CPU, latence, taux d'erreur, saturation.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3" name="Shape 2547"/>
          <p:cNvSpPr/>
          <p:nvPr/>
        </p:nvSpPr>
        <p:spPr>
          <a:xfrm>
            <a:off x="3241440" y="2191680"/>
            <a:ext cx="2548800" cy="6886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4" name="Text 2968"/>
          <p:cNvSpPr/>
          <p:nvPr/>
        </p:nvSpPr>
        <p:spPr>
          <a:xfrm>
            <a:off x="3313800" y="2225160"/>
            <a:ext cx="2440440" cy="6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http_requests_total{method='GET'} = 4521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5" name="Shape 2548"/>
          <p:cNvSpPr/>
          <p:nvPr/>
        </p:nvSpPr>
        <p:spPr>
          <a:xfrm>
            <a:off x="6062400" y="1105920"/>
            <a:ext cx="2756880" cy="1954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6" name="Shape 2549"/>
          <p:cNvSpPr/>
          <p:nvPr/>
        </p:nvSpPr>
        <p:spPr>
          <a:xfrm>
            <a:off x="6062400" y="1105920"/>
            <a:ext cx="2756880" cy="343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7" name="Text 2969"/>
          <p:cNvSpPr/>
          <p:nvPr/>
        </p:nvSpPr>
        <p:spPr>
          <a:xfrm>
            <a:off x="6153120" y="1105560"/>
            <a:ext cx="162612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📋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Logs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8" name="Text 2970"/>
          <p:cNvSpPr/>
          <p:nvPr/>
        </p:nvSpPr>
        <p:spPr>
          <a:xfrm>
            <a:off x="7825680" y="1130400"/>
            <a:ext cx="920880" cy="2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Logs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9" name="Text 2971"/>
          <p:cNvSpPr/>
          <p:nvPr/>
        </p:nvSpPr>
        <p:spPr>
          <a:xfrm>
            <a:off x="6170760" y="1516320"/>
            <a:ext cx="2548800" cy="10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Événements textuels structurés. </a:t>
            </a:r>
            <a:br>
              <a:rPr sz="950"/>
            </a:b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OTel standardise le format et l'enrichissement avec le contexte de trace (TraceId, SpanId).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0" name="Shape 2550"/>
          <p:cNvSpPr/>
          <p:nvPr/>
        </p:nvSpPr>
        <p:spPr>
          <a:xfrm>
            <a:off x="6153120" y="2191680"/>
            <a:ext cx="2548800" cy="6886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1" name="Text 2972"/>
          <p:cNvSpPr/>
          <p:nvPr/>
        </p:nvSpPr>
        <p:spPr>
          <a:xfrm>
            <a:off x="6225840" y="2225160"/>
            <a:ext cx="2439720" cy="6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{'traceId':'abc123','level':'ERROR','msg':'...'}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2" name="Shape 2551"/>
          <p:cNvSpPr/>
          <p:nvPr/>
        </p:nvSpPr>
        <p:spPr>
          <a:xfrm>
            <a:off x="239760" y="3362040"/>
            <a:ext cx="1991520" cy="7772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3" name="Shape 2552"/>
          <p:cNvSpPr/>
          <p:nvPr/>
        </p:nvSpPr>
        <p:spPr>
          <a:xfrm>
            <a:off x="239760" y="3362040"/>
            <a:ext cx="52560" cy="777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4" name="Text 2973"/>
          <p:cNvSpPr/>
          <p:nvPr/>
        </p:nvSpPr>
        <p:spPr>
          <a:xfrm>
            <a:off x="365400" y="3362040"/>
            <a:ext cx="1793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OTLP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5" name="Text 2974"/>
          <p:cNvSpPr/>
          <p:nvPr/>
        </p:nvSpPr>
        <p:spPr>
          <a:xfrm>
            <a:off x="365400" y="3699000"/>
            <a:ext cx="1793880" cy="3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OpenTelemetry Protocol — format de transport </a:t>
            </a: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standard (gRPC ou HTTP/Protobuf).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6" name="Shape 2553"/>
          <p:cNvSpPr/>
          <p:nvPr/>
        </p:nvSpPr>
        <p:spPr>
          <a:xfrm>
            <a:off x="2375280" y="3362040"/>
            <a:ext cx="1991520" cy="7772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7" name="Shape 2554"/>
          <p:cNvSpPr/>
          <p:nvPr/>
        </p:nvSpPr>
        <p:spPr>
          <a:xfrm>
            <a:off x="2375640" y="3362040"/>
            <a:ext cx="52560" cy="777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8" name="Text 2975"/>
          <p:cNvSpPr/>
          <p:nvPr/>
        </p:nvSpPr>
        <p:spPr>
          <a:xfrm>
            <a:off x="2501640" y="3362040"/>
            <a:ext cx="17935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SDK OTel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9" name="Text 2976"/>
          <p:cNvSpPr/>
          <p:nvPr/>
        </p:nvSpPr>
        <p:spPr>
          <a:xfrm>
            <a:off x="2501640" y="3699000"/>
            <a:ext cx="1793520" cy="3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Librairies pour Java, Python, Go, JS… Instrumentation auto ou manuelle.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0" name="Shape 2555"/>
          <p:cNvSpPr/>
          <p:nvPr/>
        </p:nvSpPr>
        <p:spPr>
          <a:xfrm>
            <a:off x="4511160" y="3362040"/>
            <a:ext cx="1991520" cy="7772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1" name="Shape 2556"/>
          <p:cNvSpPr/>
          <p:nvPr/>
        </p:nvSpPr>
        <p:spPr>
          <a:xfrm>
            <a:off x="4511160" y="3362040"/>
            <a:ext cx="5256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2" name="Text 2977"/>
          <p:cNvSpPr/>
          <p:nvPr/>
        </p:nvSpPr>
        <p:spPr>
          <a:xfrm>
            <a:off x="4637520" y="3362040"/>
            <a:ext cx="17935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Collector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3" name="Text 2978"/>
          <p:cNvSpPr/>
          <p:nvPr/>
        </p:nvSpPr>
        <p:spPr>
          <a:xfrm>
            <a:off x="4637160" y="3699000"/>
            <a:ext cx="1793520" cy="3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Agent/Gateway de collecte. Reçoit, transforme, exporte. Data Prepper en est un.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4" name="Shape 2557"/>
          <p:cNvSpPr/>
          <p:nvPr/>
        </p:nvSpPr>
        <p:spPr>
          <a:xfrm>
            <a:off x="6647760" y="3362040"/>
            <a:ext cx="1991520" cy="7772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5" name="Shape 2558"/>
          <p:cNvSpPr/>
          <p:nvPr/>
        </p:nvSpPr>
        <p:spPr>
          <a:xfrm>
            <a:off x="6647760" y="3362040"/>
            <a:ext cx="52560" cy="777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6" name="Text 2979"/>
          <p:cNvSpPr/>
          <p:nvPr/>
        </p:nvSpPr>
        <p:spPr>
          <a:xfrm>
            <a:off x="6773400" y="3362040"/>
            <a:ext cx="1793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alibri"/>
                <a:ea typeface="Calibri"/>
              </a:rPr>
              <a:t>Auto-instr.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7" name="Text 2980"/>
          <p:cNvSpPr/>
          <p:nvPr/>
        </p:nvSpPr>
        <p:spPr>
          <a:xfrm>
            <a:off x="6773400" y="3699000"/>
            <a:ext cx="1793880" cy="3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Instrumentation sans code (Java agent, Python auto-instrumentation).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8" name="Shape 2559"/>
          <p:cNvSpPr/>
          <p:nvPr/>
        </p:nvSpPr>
        <p:spPr>
          <a:xfrm>
            <a:off x="239760" y="4683960"/>
            <a:ext cx="8400240" cy="3420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9" name="Shape 2560"/>
          <p:cNvSpPr/>
          <p:nvPr/>
        </p:nvSpPr>
        <p:spPr>
          <a:xfrm>
            <a:off x="239760" y="4683960"/>
            <a:ext cx="39960" cy="342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0" name="Text 2981"/>
          <p:cNvSpPr/>
          <p:nvPr/>
        </p:nvSpPr>
        <p:spPr>
          <a:xfrm>
            <a:off x="335880" y="4725000"/>
            <a:ext cx="62395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OpenTele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metry est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né de la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fusion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entre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OpenCens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us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(Google)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et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OpenTraci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ng (CNCF)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en 2019.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C'est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aujourd'h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ui le 2e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projet le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plus actif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de la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CNCF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après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Kubernete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Shape 2561"/>
          <p:cNvSpPr/>
          <p:nvPr/>
        </p:nvSpPr>
        <p:spPr>
          <a:xfrm>
            <a:off x="0" y="0"/>
            <a:ext cx="9143280" cy="5392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2" name="Shape 2562"/>
          <p:cNvSpPr/>
          <p:nvPr/>
        </p:nvSpPr>
        <p:spPr>
          <a:xfrm>
            <a:off x="0" y="0"/>
            <a:ext cx="122400" cy="479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3" name="Text 2982"/>
          <p:cNvSpPr/>
          <p:nvPr/>
        </p:nvSpPr>
        <p:spPr>
          <a:xfrm>
            <a:off x="239760" y="360"/>
            <a:ext cx="78595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 – Pipeline traces OpenTelemetry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4" name="Text 2984"/>
          <p:cNvSpPr/>
          <p:nvPr/>
        </p:nvSpPr>
        <p:spPr>
          <a:xfrm>
            <a:off x="239760" y="534960"/>
            <a:ext cx="87595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Data Prepper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est la solution de référence pour ingérer des traces OpenTelemetry dans OpenSearch. Le pipeline transforme les spans en index otel-v1-apm-* requis par Trace Analytics.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5" name="Text 2985"/>
          <p:cNvSpPr/>
          <p:nvPr/>
        </p:nvSpPr>
        <p:spPr>
          <a:xfrm>
            <a:off x="239760" y="877680"/>
            <a:ext cx="4259520" cy="4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pipelines.yaml — traces OTel (docker-compose)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6" name="Shape 2564"/>
          <p:cNvSpPr/>
          <p:nvPr/>
        </p:nvSpPr>
        <p:spPr>
          <a:xfrm>
            <a:off x="239760" y="1353240"/>
            <a:ext cx="4259520" cy="27867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7" name="Text 2986"/>
          <p:cNvSpPr/>
          <p:nvPr/>
        </p:nvSpPr>
        <p:spPr>
          <a:xfrm>
            <a:off x="332640" y="1450800"/>
            <a:ext cx="4120560" cy="29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otel-trace-pipeline: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source: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otel_trace_source: { ssl: false, port: 21890 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buffer: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bounded_blocking: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buffer_size: 25600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batch_size:  400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processor: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otel_trace_raw_processor: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sink: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pipeline: { name: raw-trace-pipeline 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pipeline: { name: service-map-pipeline 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raw-trace-pipeline: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source: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pipeline: { name: otel-trace-pipeline 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processor: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otel_trace_raw_processor: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sink: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 opensearch:  # trace_analytics_raw: true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8" name="Text 2987"/>
          <p:cNvSpPr/>
          <p:nvPr/>
        </p:nvSpPr>
        <p:spPr>
          <a:xfrm>
            <a:off x="332640" y="4218840"/>
            <a:ext cx="412056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50" spc="-1" strike="noStrike">
                <a:solidFill>
                  <a:srgbClr val="d0eaee"/>
                </a:solidFill>
                <a:latin typeface="Courier New"/>
                <a:ea typeface="Courier New"/>
              </a:rPr>
              <a:t>service-map-pipeline: même source → processor: service_map_stateful → sink: trace_analytics_service_map: true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9" name="Text 2988"/>
          <p:cNvSpPr/>
          <p:nvPr/>
        </p:nvSpPr>
        <p:spPr>
          <a:xfrm>
            <a:off x="4934160" y="877680"/>
            <a:ext cx="4065120" cy="3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Index créés automatiquement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0" name="Shape 2565"/>
          <p:cNvSpPr/>
          <p:nvPr/>
        </p:nvSpPr>
        <p:spPr>
          <a:xfrm>
            <a:off x="4933800" y="1224720"/>
            <a:ext cx="3885120" cy="64044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1" name="Shape 2566"/>
          <p:cNvSpPr/>
          <p:nvPr/>
        </p:nvSpPr>
        <p:spPr>
          <a:xfrm>
            <a:off x="4933800" y="1224720"/>
            <a:ext cx="49680" cy="640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2" name="Text 2989"/>
          <p:cNvSpPr/>
          <p:nvPr/>
        </p:nvSpPr>
        <p:spPr>
          <a:xfrm>
            <a:off x="5052600" y="1257840"/>
            <a:ext cx="36820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otel-v1-apm-span-*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3" name="Text 2990"/>
          <p:cNvSpPr/>
          <p:nvPr/>
        </p:nvSpPr>
        <p:spPr>
          <a:xfrm>
            <a:off x="5052600" y="1504440"/>
            <a:ext cx="368208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Spans individuels avec parentId, duration, attributs. Alimenté par trace_analytics_raw: true.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4" name="Shape 2567"/>
          <p:cNvSpPr/>
          <p:nvPr/>
        </p:nvSpPr>
        <p:spPr>
          <a:xfrm>
            <a:off x="4933800" y="1948680"/>
            <a:ext cx="3885120" cy="6400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5" name="Shape 2568"/>
          <p:cNvSpPr/>
          <p:nvPr/>
        </p:nvSpPr>
        <p:spPr>
          <a:xfrm>
            <a:off x="4933800" y="1948680"/>
            <a:ext cx="49680" cy="6400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6" name="Text 2991"/>
          <p:cNvSpPr/>
          <p:nvPr/>
        </p:nvSpPr>
        <p:spPr>
          <a:xfrm>
            <a:off x="5052600" y="1981440"/>
            <a:ext cx="368208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urier New"/>
                <a:ea typeface="Courier New"/>
              </a:rPr>
              <a:t>otel-v1-apm-service-map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7" name="Text 2992"/>
          <p:cNvSpPr/>
          <p:nvPr/>
        </p:nvSpPr>
        <p:spPr>
          <a:xfrm>
            <a:off x="5052240" y="2228040"/>
            <a:ext cx="368244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Graphe des dépendances inter-services. Alimenté par service_map_stateful.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8" name="Text 2993"/>
          <p:cNvSpPr/>
          <p:nvPr/>
        </p:nvSpPr>
        <p:spPr>
          <a:xfrm>
            <a:off x="4934160" y="2729520"/>
            <a:ext cx="388512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Configuration application cliente (OTel SDK)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9" name="Shape 2569"/>
          <p:cNvSpPr/>
          <p:nvPr/>
        </p:nvSpPr>
        <p:spPr>
          <a:xfrm>
            <a:off x="4933800" y="3034440"/>
            <a:ext cx="3885120" cy="10515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0" name="Text 2994"/>
          <p:cNvSpPr/>
          <p:nvPr/>
        </p:nvSpPr>
        <p:spPr>
          <a:xfrm>
            <a:off x="5018400" y="3099960"/>
            <a:ext cx="375804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Variables d'environnement (toute app OTel)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OTEL_EXPORTER_OTLP_ENDPOINT=http://localhost:21890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OTEL_SERVICE_NAME=mon-service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OTEL_TRACES_EXPORTER=otlp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Java Agent (instrumentation automatique)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java -javaagent:opentelemetry-javaagent.jar \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-jar mon-app.jar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1" name="Shape 2570"/>
          <p:cNvSpPr/>
          <p:nvPr/>
        </p:nvSpPr>
        <p:spPr>
          <a:xfrm>
            <a:off x="4933800" y="4160880"/>
            <a:ext cx="3885120" cy="410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2" name="Shape 2571"/>
          <p:cNvSpPr/>
          <p:nvPr/>
        </p:nvSpPr>
        <p:spPr>
          <a:xfrm>
            <a:off x="4933800" y="4160880"/>
            <a:ext cx="49680" cy="41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3" name="Text 2995"/>
          <p:cNvSpPr/>
          <p:nvPr/>
        </p:nvSpPr>
        <p:spPr>
          <a:xfrm>
            <a:off x="5052600" y="4209840"/>
            <a:ext cx="3716280" cy="31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Trace Analytics dans OpenSearch Dashboards : Observability → Trace Analytics. Les index doivent être présents pour que l'interface se charge.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4" name="Shape 465"/>
          <p:cNvSpPr/>
          <p:nvPr/>
        </p:nvSpPr>
        <p:spPr>
          <a:xfrm>
            <a:off x="274320" y="4753080"/>
            <a:ext cx="859320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5" name="Shape 486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6" name="Text 451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4.2 — Data Prepper et OpenTelemetry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Shape 536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8" name="Text 509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9" name="Text 2696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0" name="Shape 537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1" name="Text 2697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Intro – Exemple Java – Bulk – Ingestion massive - Reprise sur erreur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2" name="Shape 2338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3" name="Shape 2339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4" name="Text 2698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Ingestion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5" name="Shape 2340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6" name="Text 2699"/>
          <p:cNvSpPr/>
          <p:nvPr/>
        </p:nvSpPr>
        <p:spPr>
          <a:xfrm>
            <a:off x="3434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7" name="Shape 2341"/>
          <p:cNvSpPr/>
          <p:nvPr/>
        </p:nvSpPr>
        <p:spPr>
          <a:xfrm>
            <a:off x="7034040" y="4509360"/>
            <a:ext cx="153792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8" name="Text 2700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 Prepper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9" name="Text 2701"/>
          <p:cNvSpPr/>
          <p:nvPr/>
        </p:nvSpPr>
        <p:spPr>
          <a:xfrm>
            <a:off x="169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Alternatives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0" name="Text 2702"/>
          <p:cNvSpPr/>
          <p:nvPr/>
        </p:nvSpPr>
        <p:spPr>
          <a:xfrm>
            <a:off x="3816000" y="4546800"/>
            <a:ext cx="97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SDK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1" name="Text 2703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2" name="Text 2704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3" name="Text 2705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4" name="Text 2706"/>
          <p:cNvSpPr/>
          <p:nvPr/>
        </p:nvSpPr>
        <p:spPr>
          <a:xfrm>
            <a:off x="457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Shape 493"/>
          <p:cNvSpPr/>
          <p:nvPr/>
        </p:nvSpPr>
        <p:spPr>
          <a:xfrm>
            <a:off x="4754880" y="4479120"/>
            <a:ext cx="4205160" cy="560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6" name="Shape 1111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7" name="Shape 1112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8" name="Text 1190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 – Architecture &amp; concepts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9" name="Text 1192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 est un framework d'intégration distribué de l'écosystème Apache Kafka. Le connecteur OpenSearch Sink permet d'ingérer des topics Kafka vers OpenSearch en temps réel.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0" name="Shape 1115"/>
          <p:cNvSpPr/>
          <p:nvPr/>
        </p:nvSpPr>
        <p:spPr>
          <a:xfrm>
            <a:off x="320040" y="1234440"/>
            <a:ext cx="1535040" cy="5659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1" name="Text 1193"/>
          <p:cNvSpPr/>
          <p:nvPr/>
        </p:nvSpPr>
        <p:spPr>
          <a:xfrm>
            <a:off x="320040" y="1234440"/>
            <a:ext cx="15350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Producers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Applications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2" name="Text 1194"/>
          <p:cNvSpPr/>
          <p:nvPr/>
        </p:nvSpPr>
        <p:spPr>
          <a:xfrm>
            <a:off x="1856160" y="132588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3" name="Shape 1116"/>
          <p:cNvSpPr/>
          <p:nvPr/>
        </p:nvSpPr>
        <p:spPr>
          <a:xfrm>
            <a:off x="2084760" y="1234440"/>
            <a:ext cx="1535040" cy="565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4" name="Text 1195"/>
          <p:cNvSpPr/>
          <p:nvPr/>
        </p:nvSpPr>
        <p:spPr>
          <a:xfrm>
            <a:off x="2084760" y="1234440"/>
            <a:ext cx="15350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Apache Kafka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Brokers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5" name="Text 1196"/>
          <p:cNvSpPr/>
          <p:nvPr/>
        </p:nvSpPr>
        <p:spPr>
          <a:xfrm>
            <a:off x="3620880" y="132588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6" name="Shape 1117"/>
          <p:cNvSpPr/>
          <p:nvPr/>
        </p:nvSpPr>
        <p:spPr>
          <a:xfrm>
            <a:off x="3849480" y="1234440"/>
            <a:ext cx="1535040" cy="565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7" name="Text 1197"/>
          <p:cNvSpPr/>
          <p:nvPr/>
        </p:nvSpPr>
        <p:spPr>
          <a:xfrm>
            <a:off x="3849480" y="1234440"/>
            <a:ext cx="15350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Worker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8" name="Text 1200"/>
          <p:cNvSpPr/>
          <p:nvPr/>
        </p:nvSpPr>
        <p:spPr>
          <a:xfrm>
            <a:off x="5385960" y="132588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9" name="Shape 1118"/>
          <p:cNvSpPr/>
          <p:nvPr/>
        </p:nvSpPr>
        <p:spPr>
          <a:xfrm>
            <a:off x="5614560" y="1234440"/>
            <a:ext cx="1535040" cy="5659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0" name="Text 1693"/>
          <p:cNvSpPr/>
          <p:nvPr/>
        </p:nvSpPr>
        <p:spPr>
          <a:xfrm>
            <a:off x="5614560" y="1234440"/>
            <a:ext cx="15350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Sink Connector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1" name="Text 1694"/>
          <p:cNvSpPr/>
          <p:nvPr/>
        </p:nvSpPr>
        <p:spPr>
          <a:xfrm>
            <a:off x="7150680" y="1325880"/>
            <a:ext cx="227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2" name="Shape 1119"/>
          <p:cNvSpPr/>
          <p:nvPr/>
        </p:nvSpPr>
        <p:spPr>
          <a:xfrm>
            <a:off x="7379280" y="1234440"/>
            <a:ext cx="1535040" cy="565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3" name="Text 1695"/>
          <p:cNvSpPr/>
          <p:nvPr/>
        </p:nvSpPr>
        <p:spPr>
          <a:xfrm>
            <a:off x="7379280" y="1234440"/>
            <a:ext cx="15350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OpenSearch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Cluster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4" name="Text 1696"/>
          <p:cNvSpPr/>
          <p:nvPr/>
        </p:nvSpPr>
        <p:spPr>
          <a:xfrm>
            <a:off x="320040" y="177264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Concepts clés Kafka Connect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5" name="Shape 1120"/>
          <p:cNvSpPr/>
          <p:nvPr/>
        </p:nvSpPr>
        <p:spPr>
          <a:xfrm>
            <a:off x="320040" y="2065320"/>
            <a:ext cx="4205160" cy="4377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6" name="Shape 1121"/>
          <p:cNvSpPr/>
          <p:nvPr/>
        </p:nvSpPr>
        <p:spPr>
          <a:xfrm>
            <a:off x="320040" y="2065320"/>
            <a:ext cx="53640" cy="4377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7" name="Text 1697"/>
          <p:cNvSpPr/>
          <p:nvPr/>
        </p:nvSpPr>
        <p:spPr>
          <a:xfrm>
            <a:off x="457200" y="209268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Connector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8" name="Text 1698"/>
          <p:cNvSpPr/>
          <p:nvPr/>
        </p:nvSpPr>
        <p:spPr>
          <a:xfrm>
            <a:off x="457200" y="2303280"/>
            <a:ext cx="3930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Plugin qui définit source ou sink. Configuré via REST API ou fichier JSON.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9" name="Shape 1122"/>
          <p:cNvSpPr/>
          <p:nvPr/>
        </p:nvSpPr>
        <p:spPr>
          <a:xfrm>
            <a:off x="320040" y="2568240"/>
            <a:ext cx="4205160" cy="4377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0" name="Shape 1123"/>
          <p:cNvSpPr/>
          <p:nvPr/>
        </p:nvSpPr>
        <p:spPr>
          <a:xfrm>
            <a:off x="320040" y="2568240"/>
            <a:ext cx="53640" cy="4377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1" name="Text 1699"/>
          <p:cNvSpPr/>
          <p:nvPr/>
        </p:nvSpPr>
        <p:spPr>
          <a:xfrm>
            <a:off x="457200" y="259560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Task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2" name="Text 1700"/>
          <p:cNvSpPr/>
          <p:nvPr/>
        </p:nvSpPr>
        <p:spPr>
          <a:xfrm>
            <a:off x="457200" y="2806200"/>
            <a:ext cx="3930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Thread d'exécution du connector. Parallélisme configurable (tasks.max).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3" name="Shape 1124"/>
          <p:cNvSpPr/>
          <p:nvPr/>
        </p:nvSpPr>
        <p:spPr>
          <a:xfrm>
            <a:off x="320040" y="3071160"/>
            <a:ext cx="4205160" cy="4377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4" name="Shape 1125"/>
          <p:cNvSpPr/>
          <p:nvPr/>
        </p:nvSpPr>
        <p:spPr>
          <a:xfrm>
            <a:off x="320040" y="3071160"/>
            <a:ext cx="53640" cy="4377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5" name="Text 1701"/>
          <p:cNvSpPr/>
          <p:nvPr/>
        </p:nvSpPr>
        <p:spPr>
          <a:xfrm>
            <a:off x="457200" y="309852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Worker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6" name="Text 1702"/>
          <p:cNvSpPr/>
          <p:nvPr/>
        </p:nvSpPr>
        <p:spPr>
          <a:xfrm>
            <a:off x="457200" y="3309120"/>
            <a:ext cx="3930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Processus JVM hébergeant les connectors. Mode standalone ou distribué.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7" name="Shape 1126"/>
          <p:cNvSpPr/>
          <p:nvPr/>
        </p:nvSpPr>
        <p:spPr>
          <a:xfrm>
            <a:off x="320040" y="3574080"/>
            <a:ext cx="4205160" cy="4377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8" name="Shape 1127"/>
          <p:cNvSpPr/>
          <p:nvPr/>
        </p:nvSpPr>
        <p:spPr>
          <a:xfrm>
            <a:off x="320040" y="3574080"/>
            <a:ext cx="53640" cy="437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9" name="Text 1703"/>
          <p:cNvSpPr/>
          <p:nvPr/>
        </p:nvSpPr>
        <p:spPr>
          <a:xfrm>
            <a:off x="457200" y="360144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Offset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0" name="Text 1704"/>
          <p:cNvSpPr/>
          <p:nvPr/>
        </p:nvSpPr>
        <p:spPr>
          <a:xfrm>
            <a:off x="457200" y="3812040"/>
            <a:ext cx="3930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Position dans le topic Kafka. Committée après ingestion réussie.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1" name="Shape 1128"/>
          <p:cNvSpPr/>
          <p:nvPr/>
        </p:nvSpPr>
        <p:spPr>
          <a:xfrm>
            <a:off x="320040" y="4077000"/>
            <a:ext cx="4205160" cy="4377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2" name="Shape 1129"/>
          <p:cNvSpPr/>
          <p:nvPr/>
        </p:nvSpPr>
        <p:spPr>
          <a:xfrm>
            <a:off x="320040" y="4077000"/>
            <a:ext cx="53640" cy="4377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3" name="Text 1705"/>
          <p:cNvSpPr/>
          <p:nvPr/>
        </p:nvSpPr>
        <p:spPr>
          <a:xfrm>
            <a:off x="457200" y="410436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DLQ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4" name="Text 1706"/>
          <p:cNvSpPr/>
          <p:nvPr/>
        </p:nvSpPr>
        <p:spPr>
          <a:xfrm>
            <a:off x="457200" y="4314960"/>
            <a:ext cx="3930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Dead Letter Queue : topic Kafka pour les messages en erreur (irrémédiables).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5" name="Shape 1130"/>
          <p:cNvSpPr/>
          <p:nvPr/>
        </p:nvSpPr>
        <p:spPr>
          <a:xfrm>
            <a:off x="320040" y="4579920"/>
            <a:ext cx="4205160" cy="4377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6" name="Shape 1131"/>
          <p:cNvSpPr/>
          <p:nvPr/>
        </p:nvSpPr>
        <p:spPr>
          <a:xfrm>
            <a:off x="320040" y="4579920"/>
            <a:ext cx="53640" cy="437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7" name="Text 1707"/>
          <p:cNvSpPr/>
          <p:nvPr/>
        </p:nvSpPr>
        <p:spPr>
          <a:xfrm>
            <a:off x="457200" y="4607280"/>
            <a:ext cx="10047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SMT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8" name="Text 1708"/>
          <p:cNvSpPr/>
          <p:nvPr/>
        </p:nvSpPr>
        <p:spPr>
          <a:xfrm>
            <a:off x="457200" y="4817880"/>
            <a:ext cx="39308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Single Message Transform : transformation légère avant le sink.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9" name="Text 1725"/>
          <p:cNvSpPr/>
          <p:nvPr/>
        </p:nvSpPr>
        <p:spPr>
          <a:xfrm>
            <a:off x="4754880" y="393264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Modes de déploiement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0" name="Shape 1132"/>
          <p:cNvSpPr/>
          <p:nvPr/>
        </p:nvSpPr>
        <p:spPr>
          <a:xfrm>
            <a:off x="4754880" y="2065320"/>
            <a:ext cx="4205160" cy="1169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1" name="Text 1726"/>
          <p:cNvSpPr/>
          <p:nvPr/>
        </p:nvSpPr>
        <p:spPr>
          <a:xfrm>
            <a:off x="4846320" y="2138400"/>
            <a:ext cx="4068000" cy="10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Standalone (dev / test)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bin/connect-standalone.sh \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config/connect-standalone.properties \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config/opensearch-sink.properties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Distribué (production — REST API)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bin/connect-distributed.sh \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config/connect-distributed.properties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→ POST http://connect-host:8083/connectors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2" name="Text 1727"/>
          <p:cNvSpPr/>
          <p:nvPr/>
        </p:nvSpPr>
        <p:spPr>
          <a:xfrm>
            <a:off x="4754880" y="338112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Avantages pour OpenSearch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3" name="Shape 1601"/>
          <p:cNvSpPr/>
          <p:nvPr/>
        </p:nvSpPr>
        <p:spPr>
          <a:xfrm>
            <a:off x="4754880" y="3795120"/>
            <a:ext cx="4205160" cy="560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4" name="Shape 1602"/>
          <p:cNvSpPr/>
          <p:nvPr/>
        </p:nvSpPr>
        <p:spPr>
          <a:xfrm>
            <a:off x="4754880" y="3759120"/>
            <a:ext cx="53640" cy="5968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5" name="Text 1728"/>
          <p:cNvSpPr/>
          <p:nvPr/>
        </p:nvSpPr>
        <p:spPr>
          <a:xfrm>
            <a:off x="4883040" y="379548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At-least-once delivery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6" name="Shape 1603"/>
          <p:cNvSpPr/>
          <p:nvPr/>
        </p:nvSpPr>
        <p:spPr>
          <a:xfrm>
            <a:off x="7406640" y="3813840"/>
            <a:ext cx="1461960" cy="181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7" name="Text 1729"/>
          <p:cNvSpPr/>
          <p:nvPr/>
        </p:nvSpPr>
        <p:spPr>
          <a:xfrm>
            <a:off x="7406640" y="381384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Fiable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8" name="Text 1730"/>
          <p:cNvSpPr/>
          <p:nvPr/>
        </p:nvSpPr>
        <p:spPr>
          <a:xfrm>
            <a:off x="4883040" y="4015800"/>
            <a:ext cx="3985560" cy="34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Offsets committés après bulk réussie. Rejeu automatique sur erreur transiente.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9" name="Shape 1605"/>
          <p:cNvSpPr/>
          <p:nvPr/>
        </p:nvSpPr>
        <p:spPr>
          <a:xfrm>
            <a:off x="4754880" y="4479120"/>
            <a:ext cx="53640" cy="535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0" name="Text 1731"/>
          <p:cNvSpPr/>
          <p:nvPr/>
        </p:nvSpPr>
        <p:spPr>
          <a:xfrm>
            <a:off x="4883040" y="446076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Backpressure native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1" name="Shape 1606"/>
          <p:cNvSpPr/>
          <p:nvPr/>
        </p:nvSpPr>
        <p:spPr>
          <a:xfrm>
            <a:off x="7406640" y="447912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2" name="Text 1732"/>
          <p:cNvSpPr/>
          <p:nvPr/>
        </p:nvSpPr>
        <p:spPr>
          <a:xfrm>
            <a:off x="7406640" y="447912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Scalable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3" name="Text 1733"/>
          <p:cNvSpPr/>
          <p:nvPr/>
        </p:nvSpPr>
        <p:spPr>
          <a:xfrm>
            <a:off x="4883040" y="4681080"/>
            <a:ext cx="398556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Kafka absorbe les pics de volume. OpenSearch Sink consomme à rythme stable.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4" name="Shape 1607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5" name="Shape 1608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6" name="Text 1734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 – Configuration OpenSearch Sink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7" name="Text 1736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 connecteur OpenSearch Kafka Connector (opensearch-kafka-connect) est le connecteur officiel maintenu par la communauté OpenSearch.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8" name="Text 1737"/>
          <p:cNvSpPr/>
          <p:nvPr/>
        </p:nvSpPr>
        <p:spPr>
          <a:xfrm>
            <a:off x="320040" y="1188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Configuration minimale (JSON / REST API)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9" name="Shape 1610"/>
          <p:cNvSpPr/>
          <p:nvPr/>
        </p:nvSpPr>
        <p:spPr>
          <a:xfrm>
            <a:off x="320040" y="1527120"/>
            <a:ext cx="4205160" cy="33328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0" name="Text 1738"/>
          <p:cNvSpPr/>
          <p:nvPr/>
        </p:nvSpPr>
        <p:spPr>
          <a:xfrm>
            <a:off x="411480" y="1600200"/>
            <a:ext cx="4068000" cy="28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POST http://connect:8083/connectors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"name": "opensearch-sink",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"config": {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"connector.class":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"io.aiven.kafka.connect.opensearch.OpensearchSinkConnector",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"tasks.max": "2",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"topics": "logs-app,logs-nginx",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"connection.url": "https://os-node:9200",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"connection.username": "admin",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"connection.password": "${env:OS_PASS}",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"key.ignore": "true",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"schema.ignore": "true",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"behavior.on.malformed.documents": "warn",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"behavior.on.null.values": "delete",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"batch.size": "500",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"max.buffered.records": "20000",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"flush.timeout.ms": "10000",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"index.write.method": "upsert",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"type.name": "_doc"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1" name="Shape 1611"/>
          <p:cNvSpPr/>
          <p:nvPr/>
        </p:nvSpPr>
        <p:spPr>
          <a:xfrm>
            <a:off x="4754880" y="1059120"/>
            <a:ext cx="4205160" cy="6328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2" name="Shape 1612"/>
          <p:cNvSpPr/>
          <p:nvPr/>
        </p:nvSpPr>
        <p:spPr>
          <a:xfrm>
            <a:off x="4754880" y="1059120"/>
            <a:ext cx="53640" cy="632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3" name="Text 1739"/>
          <p:cNvSpPr/>
          <p:nvPr/>
        </p:nvSpPr>
        <p:spPr>
          <a:xfrm>
            <a:off x="4883040" y="109548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topics → index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4" name="Shape 1613"/>
          <p:cNvSpPr/>
          <p:nvPr/>
        </p:nvSpPr>
        <p:spPr>
          <a:xfrm>
            <a:off x="7406640" y="1113840"/>
            <a:ext cx="1461960" cy="1818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5" name="Text 1740"/>
          <p:cNvSpPr/>
          <p:nvPr/>
        </p:nvSpPr>
        <p:spPr>
          <a:xfrm>
            <a:off x="7406640" y="111384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Mapping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6" name="Text 1741"/>
          <p:cNvSpPr/>
          <p:nvPr/>
        </p:nvSpPr>
        <p:spPr>
          <a:xfrm>
            <a:off x="4883040" y="1351800"/>
            <a:ext cx="398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Par défaut : 1 topic = 1 index (même nom). Configurer index.name pour personnaliser.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7" name="Shape 1614"/>
          <p:cNvSpPr/>
          <p:nvPr/>
        </p:nvSpPr>
        <p:spPr>
          <a:xfrm>
            <a:off x="4754880" y="1760400"/>
            <a:ext cx="4205160" cy="6516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8" name="Shape 1629"/>
          <p:cNvSpPr/>
          <p:nvPr/>
        </p:nvSpPr>
        <p:spPr>
          <a:xfrm>
            <a:off x="4754880" y="1760400"/>
            <a:ext cx="53640" cy="651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9" name="Text 1742"/>
          <p:cNvSpPr/>
          <p:nvPr/>
        </p:nvSpPr>
        <p:spPr>
          <a:xfrm>
            <a:off x="4883040" y="179676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key.ignore: true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0" name="Shape 1630"/>
          <p:cNvSpPr/>
          <p:nvPr/>
        </p:nvSpPr>
        <p:spPr>
          <a:xfrm>
            <a:off x="7406640" y="181512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1" name="Text 1743"/>
          <p:cNvSpPr/>
          <p:nvPr/>
        </p:nvSpPr>
        <p:spPr>
          <a:xfrm>
            <a:off x="7406640" y="181512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Pratique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2" name="Text 1744"/>
          <p:cNvSpPr/>
          <p:nvPr/>
        </p:nvSpPr>
        <p:spPr>
          <a:xfrm>
            <a:off x="4883040" y="2053080"/>
            <a:ext cx="398556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Ignore la clé Kafka. L'_id OpenSearch est généré automatiquement.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3" name="Shape 1631"/>
          <p:cNvSpPr/>
          <p:nvPr/>
        </p:nvSpPr>
        <p:spPr>
          <a:xfrm>
            <a:off x="4754880" y="2461680"/>
            <a:ext cx="4205160" cy="5983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4" name="Shape 1632"/>
          <p:cNvSpPr/>
          <p:nvPr/>
        </p:nvSpPr>
        <p:spPr>
          <a:xfrm>
            <a:off x="4754880" y="2497680"/>
            <a:ext cx="53640" cy="562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5" name="Text 1745"/>
          <p:cNvSpPr/>
          <p:nvPr/>
        </p:nvSpPr>
        <p:spPr>
          <a:xfrm>
            <a:off x="4883040" y="253404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schema.ignore: true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6" name="Shape 1633"/>
          <p:cNvSpPr/>
          <p:nvPr/>
        </p:nvSpPr>
        <p:spPr>
          <a:xfrm>
            <a:off x="7406640" y="2552400"/>
            <a:ext cx="1461960" cy="181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7" name="Text 1746"/>
          <p:cNvSpPr/>
          <p:nvPr/>
        </p:nvSpPr>
        <p:spPr>
          <a:xfrm>
            <a:off x="7406640" y="255240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8" name="Text 1747"/>
          <p:cNvSpPr/>
          <p:nvPr/>
        </p:nvSpPr>
        <p:spPr>
          <a:xfrm>
            <a:off x="4883040" y="2790360"/>
            <a:ext cx="398556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Ingère des messages JSON bruts sans Schema Registry. Mode 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le plus courant.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9" name="Shape 1634"/>
          <p:cNvSpPr/>
          <p:nvPr/>
        </p:nvSpPr>
        <p:spPr>
          <a:xfrm>
            <a:off x="4754880" y="3198960"/>
            <a:ext cx="4205160" cy="58104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0" name="Shape 1635"/>
          <p:cNvSpPr/>
          <p:nvPr/>
        </p:nvSpPr>
        <p:spPr>
          <a:xfrm>
            <a:off x="4754880" y="3198960"/>
            <a:ext cx="53640" cy="5810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1" name="Text 1748"/>
          <p:cNvSpPr/>
          <p:nvPr/>
        </p:nvSpPr>
        <p:spPr>
          <a:xfrm>
            <a:off x="4883040" y="3235320"/>
            <a:ext cx="2376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action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2" name="Shape 1636"/>
          <p:cNvSpPr/>
          <p:nvPr/>
        </p:nvSpPr>
        <p:spPr>
          <a:xfrm>
            <a:off x="7406640" y="3253680"/>
            <a:ext cx="1461960" cy="181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3" name="Text 1749"/>
          <p:cNvSpPr/>
          <p:nvPr/>
        </p:nvSpPr>
        <p:spPr>
          <a:xfrm>
            <a:off x="7406640" y="3253680"/>
            <a:ext cx="14619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Upsert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4" name="Text 1750"/>
          <p:cNvSpPr/>
          <p:nvPr/>
        </p:nvSpPr>
        <p:spPr>
          <a:xfrm>
            <a:off x="4883040" y="3491640"/>
            <a:ext cx="398556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upsert : crée ou fusionne le doc via _id </a:t>
            </a:r>
            <a:br>
              <a:rPr sz="900"/>
            </a:b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index : écrase toujours.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5" name="Text 1751"/>
          <p:cNvSpPr/>
          <p:nvPr/>
        </p:nvSpPr>
        <p:spPr>
          <a:xfrm>
            <a:off x="4754880" y="390960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Contrôle du connecteur (REST API)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6" name="Shape 1637"/>
          <p:cNvSpPr/>
          <p:nvPr/>
        </p:nvSpPr>
        <p:spPr>
          <a:xfrm>
            <a:off x="4754880" y="4193640"/>
            <a:ext cx="4205160" cy="8463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7" name="Text 1752"/>
          <p:cNvSpPr/>
          <p:nvPr/>
        </p:nvSpPr>
        <p:spPr>
          <a:xfrm>
            <a:off x="4846320" y="4261320"/>
            <a:ext cx="406800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GET    /connectors                  # liste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GET    /connectors/opensearch-sink/status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PUT    /connectors/opensearch-sink/config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POST   /connectors/opensearch-sink/restart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DELETE /connectors/opensearch-sink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Shape 1638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9" name="Shape 1639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0" name="Text 1753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 – Topics to Index &amp; Dead Letter Queue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1" name="Text 1755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 mapping topics → index et la gestion des erreurs via Dead Letter Queue sont les deux points de configuration les plus importants pour un déploiement production.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2" name="Text 1756"/>
          <p:cNvSpPr/>
          <p:nvPr/>
        </p:nvSpPr>
        <p:spPr>
          <a:xfrm>
            <a:off x="320040" y="111672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Mapping topics → index personnalisé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3" name="Shape 1641"/>
          <p:cNvSpPr/>
          <p:nvPr/>
        </p:nvSpPr>
        <p:spPr>
          <a:xfrm>
            <a:off x="320040" y="1455120"/>
            <a:ext cx="4205160" cy="18277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4" name="Text 1757"/>
          <p:cNvSpPr/>
          <p:nvPr/>
        </p:nvSpPr>
        <p:spPr>
          <a:xfrm>
            <a:off x="411480" y="1528200"/>
            <a:ext cx="406800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Plusieurs topics → plusieurs index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"topics": "app-logs,nginx-logs,audit-logs",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Renommage via SMT ExtractTopic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"transforms": "topicToIndex",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"transforms.topicToIndex.type":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"org.apache.kafka.connect.transforms.ReplaceField$Value",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Routage dynamique via timestamp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"index.name": "logs-${topic}-%{yyyy.MM.dd}",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Filtrage par clé de partition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"topic.index.map":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"app-logs:catalogue,nginx-logs:nginx-access"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5" name="Text 1758"/>
          <p:cNvSpPr/>
          <p:nvPr/>
        </p:nvSpPr>
        <p:spPr>
          <a:xfrm>
            <a:off x="320040" y="3348000"/>
            <a:ext cx="42051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SMT – Single Message Transforms utiles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6" name="Shape 1642"/>
          <p:cNvSpPr/>
          <p:nvPr/>
        </p:nvSpPr>
        <p:spPr>
          <a:xfrm>
            <a:off x="320040" y="3677040"/>
            <a:ext cx="4205160" cy="930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7" name="Text 1759"/>
          <p:cNvSpPr/>
          <p:nvPr/>
        </p:nvSpPr>
        <p:spPr>
          <a:xfrm>
            <a:off x="411480" y="3750120"/>
            <a:ext cx="4068000" cy="102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Ajouter @timestamp depuis l'heure de réception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"transforms": "addTs",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"transforms.addTs.type":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"org.apache.kafka.connect.transforms.InsertField$Value",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"transforms.addTs.timestamp.field": "@timestamp"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8" name="Text 1760"/>
          <p:cNvSpPr/>
          <p:nvPr/>
        </p:nvSpPr>
        <p:spPr>
          <a:xfrm>
            <a:off x="4754880" y="111672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Dead Letter Queue (DLQ)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9" name="Shape 1643"/>
          <p:cNvSpPr/>
          <p:nvPr/>
        </p:nvSpPr>
        <p:spPr>
          <a:xfrm>
            <a:off x="4754880" y="1455120"/>
            <a:ext cx="4205160" cy="17128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0" name="Text 1761"/>
          <p:cNvSpPr/>
          <p:nvPr/>
        </p:nvSpPr>
        <p:spPr>
          <a:xfrm>
            <a:off x="4846320" y="1528200"/>
            <a:ext cx="406800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Activer la DLQ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"errors.tolerance": "all",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"errors.deadletterqueue.topic.name":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"dlq-opensearch-sink",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"errors.deadletterqueue.topic.replication.factor": "1",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"errors.deadletterqueue.context.headers.enable": "true",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ea7500"/>
                </a:solidFill>
                <a:latin typeface="Courier New"/>
                <a:ea typeface="Courier New"/>
              </a:rPr>
              <a:t># Les headers DLQ contiennent :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kafka.connect.errors.exception.class.name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kafka.connect.errors.exception.message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ourier New"/>
                <a:ea typeface="Courier New"/>
              </a:rPr>
              <a:t># kafka.connect.errors.record.original.value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1" name="Text 1762"/>
          <p:cNvSpPr/>
          <p:nvPr/>
        </p:nvSpPr>
        <p:spPr>
          <a:xfrm>
            <a:off x="4754880" y="315288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e8834a"/>
                </a:solidFill>
                <a:latin typeface="Calibri"/>
                <a:ea typeface="Calibri"/>
              </a:rPr>
              <a:t>Stratégie de gestion des erreurs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2" name="Shape 1644"/>
          <p:cNvSpPr/>
          <p:nvPr/>
        </p:nvSpPr>
        <p:spPr>
          <a:xfrm>
            <a:off x="4754880" y="3445560"/>
            <a:ext cx="4205160" cy="327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3" name="Shape 1645"/>
          <p:cNvSpPr/>
          <p:nvPr/>
        </p:nvSpPr>
        <p:spPr>
          <a:xfrm>
            <a:off x="4754880" y="3445560"/>
            <a:ext cx="53640" cy="327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4" name="Text 1763"/>
          <p:cNvSpPr/>
          <p:nvPr/>
        </p:nvSpPr>
        <p:spPr>
          <a:xfrm>
            <a:off x="4892040" y="3472920"/>
            <a:ext cx="39855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errors.tolerance: none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5" name="Text 1764"/>
          <p:cNvSpPr/>
          <p:nvPr/>
        </p:nvSpPr>
        <p:spPr>
          <a:xfrm>
            <a:off x="4892040" y="3628440"/>
            <a:ext cx="39855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Arrêt immédiat du connecteur sur 1ère erreur. Mode strict. Dev/test uniquement.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6" name="Shape 1646"/>
          <p:cNvSpPr/>
          <p:nvPr/>
        </p:nvSpPr>
        <p:spPr>
          <a:xfrm>
            <a:off x="4754880" y="3829680"/>
            <a:ext cx="4205160" cy="3279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7" name="Shape 1647"/>
          <p:cNvSpPr/>
          <p:nvPr/>
        </p:nvSpPr>
        <p:spPr>
          <a:xfrm>
            <a:off x="4754880" y="3829680"/>
            <a:ext cx="53640" cy="327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8" name="Text 1765"/>
          <p:cNvSpPr/>
          <p:nvPr/>
        </p:nvSpPr>
        <p:spPr>
          <a:xfrm>
            <a:off x="4892040" y="3857040"/>
            <a:ext cx="39855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errors.tolerance: all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9" name="Text 1766"/>
          <p:cNvSpPr/>
          <p:nvPr/>
        </p:nvSpPr>
        <p:spPr>
          <a:xfrm>
            <a:off x="4892040" y="4012560"/>
            <a:ext cx="39855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Continue malgré les erreurs. Envoie vers DLQ. Mode recommandé en production.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0" name="Shape 1648"/>
          <p:cNvSpPr/>
          <p:nvPr/>
        </p:nvSpPr>
        <p:spPr>
          <a:xfrm>
            <a:off x="4754880" y="4213800"/>
            <a:ext cx="4205160" cy="5022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1" name="Shape 1649"/>
          <p:cNvSpPr/>
          <p:nvPr/>
        </p:nvSpPr>
        <p:spPr>
          <a:xfrm>
            <a:off x="4754880" y="4213800"/>
            <a:ext cx="53640" cy="502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2" name="Text 1767"/>
          <p:cNvSpPr/>
          <p:nvPr/>
        </p:nvSpPr>
        <p:spPr>
          <a:xfrm>
            <a:off x="4892040" y="4241160"/>
            <a:ext cx="398556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e8834a"/>
                </a:solidFill>
                <a:latin typeface="Courier New"/>
                <a:ea typeface="Courier New"/>
              </a:rPr>
              <a:t>behavior.on.malformed.documents: warn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3" name="Text 1768"/>
          <p:cNvSpPr/>
          <p:nvPr/>
        </p:nvSpPr>
        <p:spPr>
          <a:xfrm>
            <a:off x="4892040" y="4468680"/>
            <a:ext cx="3985560" cy="1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d0eaee"/>
                </a:solidFill>
                <a:latin typeface="Calibri"/>
                <a:ea typeface="Calibri"/>
              </a:rPr>
              <a:t>Warning + skip du document malformé (mapping error). Ne bloque pas le pipeline.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4" name="Shape 494"/>
          <p:cNvSpPr/>
          <p:nvPr/>
        </p:nvSpPr>
        <p:spPr>
          <a:xfrm>
            <a:off x="274320" y="4753080"/>
            <a:ext cx="859320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5" name="Shape 495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6" name="Text 454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4.3 —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Kafka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Connec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t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7" name="Shape 2342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8" name="Text 2707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9" name="Text 2708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Synthèse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0" name="Shape 2343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1" name="Text 2709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2" name="Shape 2344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3" name="Shape 2345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4" name="Text 2710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Ingestion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5" name="Shape 2346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6" name="Text 2711"/>
          <p:cNvSpPr/>
          <p:nvPr/>
        </p:nvSpPr>
        <p:spPr>
          <a:xfrm>
            <a:off x="3434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7" name="Text 2712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Data Prepper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8" name="Text 2713"/>
          <p:cNvSpPr/>
          <p:nvPr/>
        </p:nvSpPr>
        <p:spPr>
          <a:xfrm>
            <a:off x="169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Alternatives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9" name="Text 2714"/>
          <p:cNvSpPr/>
          <p:nvPr/>
        </p:nvSpPr>
        <p:spPr>
          <a:xfrm>
            <a:off x="3816000" y="4546800"/>
            <a:ext cx="97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SDK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0" name="Text 2715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1" name="Text 2716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Kafka Connect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2" name="Text 2717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3" name="Text 2718"/>
          <p:cNvSpPr/>
          <p:nvPr/>
        </p:nvSpPr>
        <p:spPr>
          <a:xfrm>
            <a:off x="457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Shape 509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5" name="Shape 516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6" name="Text 476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Ingestion – Optimisations de débit · Synthèse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7" name="Text 480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Plusieurs niveaux d'optimisation peuvent être combinés pour multiplier le débit. Appliquer dans cet ordre : index settings → batch sizing → parallélisme → architecture.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8" name="Shape 518"/>
          <p:cNvSpPr/>
          <p:nvPr/>
        </p:nvSpPr>
        <p:spPr>
          <a:xfrm>
            <a:off x="320040" y="1234440"/>
            <a:ext cx="4205160" cy="21934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9" name="Shape 519"/>
          <p:cNvSpPr/>
          <p:nvPr/>
        </p:nvSpPr>
        <p:spPr>
          <a:xfrm>
            <a:off x="320040" y="1234440"/>
            <a:ext cx="4205160" cy="3279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0" name="Text 481"/>
          <p:cNvSpPr/>
          <p:nvPr/>
        </p:nvSpPr>
        <p:spPr>
          <a:xfrm>
            <a:off x="411480" y="1234440"/>
            <a:ext cx="4022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 – Paramètres index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1" name="Text 482"/>
          <p:cNvSpPr/>
          <p:nvPr/>
        </p:nvSpPr>
        <p:spPr>
          <a:xfrm>
            <a:off x="457200" y="16185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refresh_interval: -1  (+++ débit)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2" name="Text 483"/>
          <p:cNvSpPr/>
          <p:nvPr/>
        </p:nvSpPr>
        <p:spPr>
          <a:xfrm>
            <a:off x="457200" y="203004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number_of_replicas: 0  (+++ débit)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3" name="Text 484"/>
          <p:cNvSpPr/>
          <p:nvPr/>
        </p:nvSpPr>
        <p:spPr>
          <a:xfrm>
            <a:off x="457200" y="244152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translog.durability: async  (++ débit)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4" name="Text 485"/>
          <p:cNvSpPr/>
          <p:nvPr/>
        </p:nvSpPr>
        <p:spPr>
          <a:xfrm>
            <a:off x="457200" y="28530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flush_threshold_size: 2gb  (+ débit)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5" name="Shape 520"/>
          <p:cNvSpPr/>
          <p:nvPr/>
        </p:nvSpPr>
        <p:spPr>
          <a:xfrm>
            <a:off x="4754880" y="1234440"/>
            <a:ext cx="4205160" cy="21934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6" name="Shape 521"/>
          <p:cNvSpPr/>
          <p:nvPr/>
        </p:nvSpPr>
        <p:spPr>
          <a:xfrm>
            <a:off x="4754880" y="1234440"/>
            <a:ext cx="4205160" cy="327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7" name="Text 486"/>
          <p:cNvSpPr/>
          <p:nvPr/>
        </p:nvSpPr>
        <p:spPr>
          <a:xfrm>
            <a:off x="4846320" y="1234440"/>
            <a:ext cx="4022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 – Batch sizing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8" name="Text 487"/>
          <p:cNvSpPr/>
          <p:nvPr/>
        </p:nvSpPr>
        <p:spPr>
          <a:xfrm>
            <a:off x="4892040" y="16185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Taille cible : 5 – 15 Mo de payload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9" name="Text 488"/>
          <p:cNvSpPr/>
          <p:nvPr/>
        </p:nvSpPr>
        <p:spPr>
          <a:xfrm>
            <a:off x="4892040" y="203004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500 – 5000 docs selon taille des documents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0" name="Text 489"/>
          <p:cNvSpPr/>
          <p:nvPr/>
        </p:nvSpPr>
        <p:spPr>
          <a:xfrm>
            <a:off x="4892040" y="244152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Mesurer avec _nodes/stats/indices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1" name="Text 490"/>
          <p:cNvSpPr/>
          <p:nvPr/>
        </p:nvSpPr>
        <p:spPr>
          <a:xfrm>
            <a:off x="4892040" y="28530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Ajuster chunk_size / flush_size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2" name="Shape 522"/>
          <p:cNvSpPr/>
          <p:nvPr/>
        </p:nvSpPr>
        <p:spPr>
          <a:xfrm>
            <a:off x="320040" y="2816280"/>
            <a:ext cx="4205160" cy="16837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3" name="Shape 526"/>
          <p:cNvSpPr/>
          <p:nvPr/>
        </p:nvSpPr>
        <p:spPr>
          <a:xfrm>
            <a:off x="320040" y="2816280"/>
            <a:ext cx="4205160" cy="327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4" name="Text 491"/>
          <p:cNvSpPr/>
          <p:nvPr/>
        </p:nvSpPr>
        <p:spPr>
          <a:xfrm>
            <a:off x="411480" y="2816280"/>
            <a:ext cx="4022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 – Parallélisme client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5" name="Text 492"/>
          <p:cNvSpPr/>
          <p:nvPr/>
        </p:nvSpPr>
        <p:spPr>
          <a:xfrm>
            <a:off x="457200" y="32004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parallel_bulk thread_count: 4–8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6" name="Text 493"/>
          <p:cNvSpPr/>
          <p:nvPr/>
        </p:nvSpPr>
        <p:spPr>
          <a:xfrm>
            <a:off x="457200" y="346788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Pool connexions ≥ nombre de threads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7" name="Text 497"/>
          <p:cNvSpPr/>
          <p:nvPr/>
        </p:nvSpPr>
        <p:spPr>
          <a:xfrm>
            <a:off x="457200" y="37353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Compression gzip (http_compress=True)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8" name="Text 498"/>
          <p:cNvSpPr/>
          <p:nvPr/>
        </p:nvSpPr>
        <p:spPr>
          <a:xfrm>
            <a:off x="457200" y="403884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Backoff exponentiel sur 429/503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9" name="Shape 527"/>
          <p:cNvSpPr/>
          <p:nvPr/>
        </p:nvSpPr>
        <p:spPr>
          <a:xfrm>
            <a:off x="4754880" y="2816280"/>
            <a:ext cx="4205160" cy="16837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0" name="Shape 528"/>
          <p:cNvSpPr/>
          <p:nvPr/>
        </p:nvSpPr>
        <p:spPr>
          <a:xfrm>
            <a:off x="4754880" y="2816280"/>
            <a:ext cx="4205160" cy="3279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1" name="Text 499"/>
          <p:cNvSpPr/>
          <p:nvPr/>
        </p:nvSpPr>
        <p:spPr>
          <a:xfrm>
            <a:off x="4846320" y="2816280"/>
            <a:ext cx="4022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 – Architecture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2" name="Text 500"/>
          <p:cNvSpPr/>
          <p:nvPr/>
        </p:nvSpPr>
        <p:spPr>
          <a:xfrm>
            <a:off x="4892040" y="32004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Nœuds ingest dédiés (node.roles: [ingest])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3" name="Text 602"/>
          <p:cNvSpPr/>
          <p:nvPr/>
        </p:nvSpPr>
        <p:spPr>
          <a:xfrm>
            <a:off x="4892040" y="343188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Kafka comme buffer absorbe les pics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4" name="Text 603"/>
          <p:cNvSpPr/>
          <p:nvPr/>
        </p:nvSpPr>
        <p:spPr>
          <a:xfrm>
            <a:off x="4892040" y="36993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Ingest pipeline pour enrichissement léger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5" name="Text 604"/>
          <p:cNvSpPr/>
          <p:nvPr/>
        </p:nvSpPr>
        <p:spPr>
          <a:xfrm>
            <a:off x="4892040" y="403884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Réindexer si mapping à corriger après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6" name="Shape 529"/>
          <p:cNvSpPr/>
          <p:nvPr/>
        </p:nvSpPr>
        <p:spPr>
          <a:xfrm>
            <a:off x="320040" y="4687920"/>
            <a:ext cx="8502840" cy="34632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7" name="Text 605"/>
          <p:cNvSpPr/>
          <p:nvPr/>
        </p:nvSpPr>
        <p:spPr>
          <a:xfrm>
            <a:off x="411480" y="4706280"/>
            <a:ext cx="831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Batch : 5–15 Mo   |   Threads : 4–8   |   gzip activé   |   Pool connexions ≥ threads   |   Retry backoff exponentiel   |   refresh_interval: -1 pendant ingestion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8" name="Shape 664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9" name="Shape 665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0" name="Text 644"/>
          <p:cNvSpPr/>
          <p:nvPr/>
        </p:nvSpPr>
        <p:spPr>
          <a:xfrm>
            <a:off x="320040" y="0"/>
            <a:ext cx="74055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Ingestion – Matrice de décision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1" name="Text 646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Choisir l'outil selon le cas d'usage, le volume et les contraintes de l'environnement existant.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2" name="Shape 667"/>
          <p:cNvSpPr/>
          <p:nvPr/>
        </p:nvSpPr>
        <p:spPr>
          <a:xfrm>
            <a:off x="320040" y="1162440"/>
            <a:ext cx="1964880" cy="36468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3" name="Text 647"/>
          <p:cNvSpPr/>
          <p:nvPr/>
        </p:nvSpPr>
        <p:spPr>
          <a:xfrm>
            <a:off x="356760" y="1162440"/>
            <a:ext cx="1910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Cas d'usage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4" name="Shape 668"/>
          <p:cNvSpPr/>
          <p:nvPr/>
        </p:nvSpPr>
        <p:spPr>
          <a:xfrm>
            <a:off x="2286000" y="1162440"/>
            <a:ext cx="913320" cy="3646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5" name="Text 648"/>
          <p:cNvSpPr/>
          <p:nvPr/>
        </p:nvSpPr>
        <p:spPr>
          <a:xfrm>
            <a:off x="2322720" y="1162440"/>
            <a:ext cx="858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Bulk API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6" name="Shape 669"/>
          <p:cNvSpPr/>
          <p:nvPr/>
        </p:nvSpPr>
        <p:spPr>
          <a:xfrm>
            <a:off x="3200400" y="1162440"/>
            <a:ext cx="913320" cy="364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7" name="Text 649"/>
          <p:cNvSpPr/>
          <p:nvPr/>
        </p:nvSpPr>
        <p:spPr>
          <a:xfrm>
            <a:off x="3237120" y="1162440"/>
            <a:ext cx="858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SDK Python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8" name="Shape 670"/>
          <p:cNvSpPr/>
          <p:nvPr/>
        </p:nvSpPr>
        <p:spPr>
          <a:xfrm>
            <a:off x="4114800" y="1162440"/>
            <a:ext cx="913320" cy="364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9" name="Text 650"/>
          <p:cNvSpPr/>
          <p:nvPr/>
        </p:nvSpPr>
        <p:spPr>
          <a:xfrm>
            <a:off x="4151520" y="1162440"/>
            <a:ext cx="858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SDK Java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0" name="Shape 671"/>
          <p:cNvSpPr/>
          <p:nvPr/>
        </p:nvSpPr>
        <p:spPr>
          <a:xfrm>
            <a:off x="5029200" y="1162440"/>
            <a:ext cx="959040" cy="364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1" name="Text 651"/>
          <p:cNvSpPr/>
          <p:nvPr/>
        </p:nvSpPr>
        <p:spPr>
          <a:xfrm>
            <a:off x="5065920" y="1162440"/>
            <a:ext cx="904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Data Prepper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2" name="Shape 672"/>
          <p:cNvSpPr/>
          <p:nvPr/>
        </p:nvSpPr>
        <p:spPr>
          <a:xfrm>
            <a:off x="5989320" y="1162440"/>
            <a:ext cx="1004760" cy="364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3" name="Text 652"/>
          <p:cNvSpPr/>
          <p:nvPr/>
        </p:nvSpPr>
        <p:spPr>
          <a:xfrm>
            <a:off x="6026040" y="1162440"/>
            <a:ext cx="9500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Kafka Connect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4" name="Shape 673"/>
          <p:cNvSpPr/>
          <p:nvPr/>
        </p:nvSpPr>
        <p:spPr>
          <a:xfrm>
            <a:off x="6995160" y="1162440"/>
            <a:ext cx="867600" cy="3646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5" name="Text 653"/>
          <p:cNvSpPr/>
          <p:nvPr/>
        </p:nvSpPr>
        <p:spPr>
          <a:xfrm>
            <a:off x="7031880" y="1162440"/>
            <a:ext cx="812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Logstash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6" name="Shape 674"/>
          <p:cNvSpPr/>
          <p:nvPr/>
        </p:nvSpPr>
        <p:spPr>
          <a:xfrm>
            <a:off x="320040" y="1528200"/>
            <a:ext cx="196488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7" name="Text 654"/>
          <p:cNvSpPr/>
          <p:nvPr/>
        </p:nvSpPr>
        <p:spPr>
          <a:xfrm>
            <a:off x="356760" y="152820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Ingestion ad hoc / test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8" name="Shape 675"/>
          <p:cNvSpPr/>
          <p:nvPr/>
        </p:nvSpPr>
        <p:spPr>
          <a:xfrm>
            <a:off x="2286000" y="15282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9" name="Text 902"/>
          <p:cNvSpPr/>
          <p:nvPr/>
        </p:nvSpPr>
        <p:spPr>
          <a:xfrm>
            <a:off x="2322720" y="15282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0" name="Shape 871"/>
          <p:cNvSpPr/>
          <p:nvPr/>
        </p:nvSpPr>
        <p:spPr>
          <a:xfrm>
            <a:off x="3200400" y="15282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1" name="Text 903"/>
          <p:cNvSpPr/>
          <p:nvPr/>
        </p:nvSpPr>
        <p:spPr>
          <a:xfrm>
            <a:off x="3237120" y="15282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2" name="Shape 872"/>
          <p:cNvSpPr/>
          <p:nvPr/>
        </p:nvSpPr>
        <p:spPr>
          <a:xfrm>
            <a:off x="4114800" y="15282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3" name="Text 904"/>
          <p:cNvSpPr/>
          <p:nvPr/>
        </p:nvSpPr>
        <p:spPr>
          <a:xfrm>
            <a:off x="4151520" y="15282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4" name="Shape 873"/>
          <p:cNvSpPr/>
          <p:nvPr/>
        </p:nvSpPr>
        <p:spPr>
          <a:xfrm>
            <a:off x="5029200" y="1528200"/>
            <a:ext cx="95904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5" name="Text 905"/>
          <p:cNvSpPr/>
          <p:nvPr/>
        </p:nvSpPr>
        <p:spPr>
          <a:xfrm>
            <a:off x="5065920" y="152820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6" name="Shape 874"/>
          <p:cNvSpPr/>
          <p:nvPr/>
        </p:nvSpPr>
        <p:spPr>
          <a:xfrm>
            <a:off x="5989320" y="1528200"/>
            <a:ext cx="100476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7" name="Text 906"/>
          <p:cNvSpPr/>
          <p:nvPr/>
        </p:nvSpPr>
        <p:spPr>
          <a:xfrm>
            <a:off x="6026040" y="152820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8" name="Shape 875"/>
          <p:cNvSpPr/>
          <p:nvPr/>
        </p:nvSpPr>
        <p:spPr>
          <a:xfrm>
            <a:off x="6995160" y="1528200"/>
            <a:ext cx="86760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9" name="Text 907"/>
          <p:cNvSpPr/>
          <p:nvPr/>
        </p:nvSpPr>
        <p:spPr>
          <a:xfrm>
            <a:off x="7031880" y="152820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0" name="Shape 876"/>
          <p:cNvSpPr/>
          <p:nvPr/>
        </p:nvSpPr>
        <p:spPr>
          <a:xfrm>
            <a:off x="320040" y="1930680"/>
            <a:ext cx="196488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1" name="Text 908"/>
          <p:cNvSpPr/>
          <p:nvPr/>
        </p:nvSpPr>
        <p:spPr>
          <a:xfrm>
            <a:off x="356760" y="193068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Application métier (API)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2" name="Shape 877"/>
          <p:cNvSpPr/>
          <p:nvPr/>
        </p:nvSpPr>
        <p:spPr>
          <a:xfrm>
            <a:off x="2286000" y="1930680"/>
            <a:ext cx="91332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3" name="Text 909"/>
          <p:cNvSpPr/>
          <p:nvPr/>
        </p:nvSpPr>
        <p:spPr>
          <a:xfrm>
            <a:off x="2322720" y="19306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4" name="Shape 878"/>
          <p:cNvSpPr/>
          <p:nvPr/>
        </p:nvSpPr>
        <p:spPr>
          <a:xfrm>
            <a:off x="3200400" y="1930680"/>
            <a:ext cx="91332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5" name="Text 910"/>
          <p:cNvSpPr/>
          <p:nvPr/>
        </p:nvSpPr>
        <p:spPr>
          <a:xfrm>
            <a:off x="3237120" y="19306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6" name="Shape 879"/>
          <p:cNvSpPr/>
          <p:nvPr/>
        </p:nvSpPr>
        <p:spPr>
          <a:xfrm>
            <a:off x="4114800" y="1930680"/>
            <a:ext cx="91332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7" name="Text 911"/>
          <p:cNvSpPr/>
          <p:nvPr/>
        </p:nvSpPr>
        <p:spPr>
          <a:xfrm>
            <a:off x="4151520" y="19306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8" name="Shape 880"/>
          <p:cNvSpPr/>
          <p:nvPr/>
        </p:nvSpPr>
        <p:spPr>
          <a:xfrm>
            <a:off x="5029200" y="1930680"/>
            <a:ext cx="95904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9" name="Text 912"/>
          <p:cNvSpPr/>
          <p:nvPr/>
        </p:nvSpPr>
        <p:spPr>
          <a:xfrm>
            <a:off x="5065920" y="193068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0" name="Shape 881"/>
          <p:cNvSpPr/>
          <p:nvPr/>
        </p:nvSpPr>
        <p:spPr>
          <a:xfrm>
            <a:off x="5989320" y="1930680"/>
            <a:ext cx="100476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1" name="Text 913"/>
          <p:cNvSpPr/>
          <p:nvPr/>
        </p:nvSpPr>
        <p:spPr>
          <a:xfrm>
            <a:off x="6026040" y="193068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2" name="Shape 882"/>
          <p:cNvSpPr/>
          <p:nvPr/>
        </p:nvSpPr>
        <p:spPr>
          <a:xfrm>
            <a:off x="6995160" y="1930680"/>
            <a:ext cx="86760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3" name="Text 914"/>
          <p:cNvSpPr/>
          <p:nvPr/>
        </p:nvSpPr>
        <p:spPr>
          <a:xfrm>
            <a:off x="7031880" y="193068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4" name="Shape 883"/>
          <p:cNvSpPr/>
          <p:nvPr/>
        </p:nvSpPr>
        <p:spPr>
          <a:xfrm>
            <a:off x="320040" y="2332800"/>
            <a:ext cx="196488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5" name="Text 915"/>
          <p:cNvSpPr/>
          <p:nvPr/>
        </p:nvSpPr>
        <p:spPr>
          <a:xfrm>
            <a:off x="356760" y="233280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Logs structurés (fichiers)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6" name="Shape 884"/>
          <p:cNvSpPr/>
          <p:nvPr/>
        </p:nvSpPr>
        <p:spPr>
          <a:xfrm>
            <a:off x="2286000" y="23328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7" name="Text 916"/>
          <p:cNvSpPr/>
          <p:nvPr/>
        </p:nvSpPr>
        <p:spPr>
          <a:xfrm>
            <a:off x="2322720" y="23328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8" name="Shape 885"/>
          <p:cNvSpPr/>
          <p:nvPr/>
        </p:nvSpPr>
        <p:spPr>
          <a:xfrm>
            <a:off x="3200400" y="23328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9" name="Text 917"/>
          <p:cNvSpPr/>
          <p:nvPr/>
        </p:nvSpPr>
        <p:spPr>
          <a:xfrm>
            <a:off x="3237120" y="23328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0" name="Shape 886"/>
          <p:cNvSpPr/>
          <p:nvPr/>
        </p:nvSpPr>
        <p:spPr>
          <a:xfrm>
            <a:off x="4114800" y="23328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1" name="Text 918"/>
          <p:cNvSpPr/>
          <p:nvPr/>
        </p:nvSpPr>
        <p:spPr>
          <a:xfrm>
            <a:off x="4151520" y="23328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2" name="Shape 887"/>
          <p:cNvSpPr/>
          <p:nvPr/>
        </p:nvSpPr>
        <p:spPr>
          <a:xfrm>
            <a:off x="5029200" y="2332800"/>
            <a:ext cx="95904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3" name="Text 919"/>
          <p:cNvSpPr/>
          <p:nvPr/>
        </p:nvSpPr>
        <p:spPr>
          <a:xfrm>
            <a:off x="5065920" y="233280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4" name="Shape 888"/>
          <p:cNvSpPr/>
          <p:nvPr/>
        </p:nvSpPr>
        <p:spPr>
          <a:xfrm>
            <a:off x="5989320" y="2332800"/>
            <a:ext cx="100476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5" name="Text 920"/>
          <p:cNvSpPr/>
          <p:nvPr/>
        </p:nvSpPr>
        <p:spPr>
          <a:xfrm>
            <a:off x="6026040" y="233280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6" name="Shape 889"/>
          <p:cNvSpPr/>
          <p:nvPr/>
        </p:nvSpPr>
        <p:spPr>
          <a:xfrm>
            <a:off x="6995160" y="2332800"/>
            <a:ext cx="86760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7" name="Text 921"/>
          <p:cNvSpPr/>
          <p:nvPr/>
        </p:nvSpPr>
        <p:spPr>
          <a:xfrm>
            <a:off x="7031880" y="233280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8" name="Shape 890"/>
          <p:cNvSpPr/>
          <p:nvPr/>
        </p:nvSpPr>
        <p:spPr>
          <a:xfrm>
            <a:off x="320040" y="2735280"/>
            <a:ext cx="196488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9" name="Text 922"/>
          <p:cNvSpPr/>
          <p:nvPr/>
        </p:nvSpPr>
        <p:spPr>
          <a:xfrm>
            <a:off x="356760" y="273528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Traces OpenTelemetry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0" name="Shape 891"/>
          <p:cNvSpPr/>
          <p:nvPr/>
        </p:nvSpPr>
        <p:spPr>
          <a:xfrm>
            <a:off x="2286000" y="2735280"/>
            <a:ext cx="91332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1" name="Text 923"/>
          <p:cNvSpPr/>
          <p:nvPr/>
        </p:nvSpPr>
        <p:spPr>
          <a:xfrm>
            <a:off x="2322720" y="27352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2" name="Shape 892"/>
          <p:cNvSpPr/>
          <p:nvPr/>
        </p:nvSpPr>
        <p:spPr>
          <a:xfrm>
            <a:off x="3200400" y="2735280"/>
            <a:ext cx="91332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3" name="Text 924"/>
          <p:cNvSpPr/>
          <p:nvPr/>
        </p:nvSpPr>
        <p:spPr>
          <a:xfrm>
            <a:off x="3237120" y="27352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4" name="Shape 893"/>
          <p:cNvSpPr/>
          <p:nvPr/>
        </p:nvSpPr>
        <p:spPr>
          <a:xfrm>
            <a:off x="4114800" y="2735280"/>
            <a:ext cx="91332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5" name="Text 925"/>
          <p:cNvSpPr/>
          <p:nvPr/>
        </p:nvSpPr>
        <p:spPr>
          <a:xfrm>
            <a:off x="4151520" y="27352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6" name="Shape 894"/>
          <p:cNvSpPr/>
          <p:nvPr/>
        </p:nvSpPr>
        <p:spPr>
          <a:xfrm>
            <a:off x="5029200" y="2735280"/>
            <a:ext cx="95904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7" name="Text 926"/>
          <p:cNvSpPr/>
          <p:nvPr/>
        </p:nvSpPr>
        <p:spPr>
          <a:xfrm>
            <a:off x="5065920" y="273528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8" name="Shape 895"/>
          <p:cNvSpPr/>
          <p:nvPr/>
        </p:nvSpPr>
        <p:spPr>
          <a:xfrm>
            <a:off x="5989320" y="2735280"/>
            <a:ext cx="100476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9" name="Text 927"/>
          <p:cNvSpPr/>
          <p:nvPr/>
        </p:nvSpPr>
        <p:spPr>
          <a:xfrm>
            <a:off x="6026040" y="273528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0" name="Shape 896"/>
          <p:cNvSpPr/>
          <p:nvPr/>
        </p:nvSpPr>
        <p:spPr>
          <a:xfrm>
            <a:off x="6995160" y="2735280"/>
            <a:ext cx="867600" cy="401400"/>
          </a:xfrm>
          <a:prstGeom prst="rect">
            <a:avLst/>
          </a:prstGeom>
          <a:solidFill>
            <a:srgbClr val="00576b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1" name="Text 928"/>
          <p:cNvSpPr/>
          <p:nvPr/>
        </p:nvSpPr>
        <p:spPr>
          <a:xfrm>
            <a:off x="7031880" y="273528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2" name="Shape 897"/>
          <p:cNvSpPr/>
          <p:nvPr/>
        </p:nvSpPr>
        <p:spPr>
          <a:xfrm>
            <a:off x="320040" y="3137400"/>
            <a:ext cx="196488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3" name="Text 929"/>
          <p:cNvSpPr/>
          <p:nvPr/>
        </p:nvSpPr>
        <p:spPr>
          <a:xfrm>
            <a:off x="356760" y="313740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Streaming Kafka haute perf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4" name="Shape 898"/>
          <p:cNvSpPr/>
          <p:nvPr/>
        </p:nvSpPr>
        <p:spPr>
          <a:xfrm>
            <a:off x="2286000" y="31374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5" name="Text 930"/>
          <p:cNvSpPr/>
          <p:nvPr/>
        </p:nvSpPr>
        <p:spPr>
          <a:xfrm>
            <a:off x="2322720" y="31374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6" name="Shape 899"/>
          <p:cNvSpPr/>
          <p:nvPr/>
        </p:nvSpPr>
        <p:spPr>
          <a:xfrm>
            <a:off x="3200400" y="31374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7" name="Text 931"/>
          <p:cNvSpPr/>
          <p:nvPr/>
        </p:nvSpPr>
        <p:spPr>
          <a:xfrm>
            <a:off x="3237120" y="31374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8" name="Shape 900"/>
          <p:cNvSpPr/>
          <p:nvPr/>
        </p:nvSpPr>
        <p:spPr>
          <a:xfrm>
            <a:off x="4114800" y="3137400"/>
            <a:ext cx="91332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9" name="Text 932"/>
          <p:cNvSpPr/>
          <p:nvPr/>
        </p:nvSpPr>
        <p:spPr>
          <a:xfrm>
            <a:off x="4151520" y="313740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0" name="Shape 901"/>
          <p:cNvSpPr/>
          <p:nvPr/>
        </p:nvSpPr>
        <p:spPr>
          <a:xfrm>
            <a:off x="5029200" y="3137400"/>
            <a:ext cx="95904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1" name="Text 933"/>
          <p:cNvSpPr/>
          <p:nvPr/>
        </p:nvSpPr>
        <p:spPr>
          <a:xfrm>
            <a:off x="5065920" y="313740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2" name="Shape 1245"/>
          <p:cNvSpPr/>
          <p:nvPr/>
        </p:nvSpPr>
        <p:spPr>
          <a:xfrm>
            <a:off x="5989320" y="3137400"/>
            <a:ext cx="100476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3" name="Text 934"/>
          <p:cNvSpPr/>
          <p:nvPr/>
        </p:nvSpPr>
        <p:spPr>
          <a:xfrm>
            <a:off x="6026040" y="313740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4" name="Shape 1246"/>
          <p:cNvSpPr/>
          <p:nvPr/>
        </p:nvSpPr>
        <p:spPr>
          <a:xfrm>
            <a:off x="6995160" y="3137400"/>
            <a:ext cx="867600" cy="401400"/>
          </a:xfrm>
          <a:prstGeom prst="rect">
            <a:avLst/>
          </a:prstGeom>
          <a:solidFill>
            <a:srgbClr val="005f75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5" name="Text 1326"/>
          <p:cNvSpPr/>
          <p:nvPr/>
        </p:nvSpPr>
        <p:spPr>
          <a:xfrm>
            <a:off x="7031880" y="313740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6" name="Shape 1247"/>
          <p:cNvSpPr/>
          <p:nvPr/>
        </p:nvSpPr>
        <p:spPr>
          <a:xfrm>
            <a:off x="320040" y="3539880"/>
            <a:ext cx="196488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7" name="Text 1327"/>
          <p:cNvSpPr/>
          <p:nvPr/>
        </p:nvSpPr>
        <p:spPr>
          <a:xfrm>
            <a:off x="356760" y="353988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Migration depuis 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8" name="Shape 1248"/>
          <p:cNvSpPr/>
          <p:nvPr/>
        </p:nvSpPr>
        <p:spPr>
          <a:xfrm>
            <a:off x="2286000" y="353988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9" name="Text 1328"/>
          <p:cNvSpPr/>
          <p:nvPr/>
        </p:nvSpPr>
        <p:spPr>
          <a:xfrm>
            <a:off x="2322720" y="35398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0" name="Shape 1249"/>
          <p:cNvSpPr/>
          <p:nvPr/>
        </p:nvSpPr>
        <p:spPr>
          <a:xfrm>
            <a:off x="3200400" y="353988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1" name="Text 1329"/>
          <p:cNvSpPr/>
          <p:nvPr/>
        </p:nvSpPr>
        <p:spPr>
          <a:xfrm>
            <a:off x="3237120" y="35398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2" name="Shape 1250"/>
          <p:cNvSpPr/>
          <p:nvPr/>
        </p:nvSpPr>
        <p:spPr>
          <a:xfrm>
            <a:off x="4114800" y="353988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3" name="Text 1330"/>
          <p:cNvSpPr/>
          <p:nvPr/>
        </p:nvSpPr>
        <p:spPr>
          <a:xfrm>
            <a:off x="4151520" y="35398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4" name="Shape 1251"/>
          <p:cNvSpPr/>
          <p:nvPr/>
        </p:nvSpPr>
        <p:spPr>
          <a:xfrm>
            <a:off x="5029200" y="3539880"/>
            <a:ext cx="95904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5" name="Text 1331"/>
          <p:cNvSpPr/>
          <p:nvPr/>
        </p:nvSpPr>
        <p:spPr>
          <a:xfrm>
            <a:off x="5065920" y="353988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6" name="Shape 1252"/>
          <p:cNvSpPr/>
          <p:nvPr/>
        </p:nvSpPr>
        <p:spPr>
          <a:xfrm>
            <a:off x="5989320" y="3539880"/>
            <a:ext cx="100476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7" name="Text 1332"/>
          <p:cNvSpPr/>
          <p:nvPr/>
        </p:nvSpPr>
        <p:spPr>
          <a:xfrm>
            <a:off x="6026040" y="353988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8" name="Shape 1253"/>
          <p:cNvSpPr/>
          <p:nvPr/>
        </p:nvSpPr>
        <p:spPr>
          <a:xfrm>
            <a:off x="6995160" y="3539880"/>
            <a:ext cx="86760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9" name="Text 1333"/>
          <p:cNvSpPr/>
          <p:nvPr/>
        </p:nvSpPr>
        <p:spPr>
          <a:xfrm>
            <a:off x="7031880" y="353988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0" name="Shape 1254"/>
          <p:cNvSpPr/>
          <p:nvPr/>
        </p:nvSpPr>
        <p:spPr>
          <a:xfrm>
            <a:off x="320040" y="3942360"/>
            <a:ext cx="196488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1" name="Text 1334"/>
          <p:cNvSpPr/>
          <p:nvPr/>
        </p:nvSpPr>
        <p:spPr>
          <a:xfrm>
            <a:off x="356760" y="394236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Infra Beats existante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2" name="Shape 1255"/>
          <p:cNvSpPr/>
          <p:nvPr/>
        </p:nvSpPr>
        <p:spPr>
          <a:xfrm>
            <a:off x="2286000" y="394236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3" name="Text 1335"/>
          <p:cNvSpPr/>
          <p:nvPr/>
        </p:nvSpPr>
        <p:spPr>
          <a:xfrm>
            <a:off x="2322720" y="394236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4" name="Shape 1256"/>
          <p:cNvSpPr/>
          <p:nvPr/>
        </p:nvSpPr>
        <p:spPr>
          <a:xfrm>
            <a:off x="3200400" y="394236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5" name="Text 1336"/>
          <p:cNvSpPr/>
          <p:nvPr/>
        </p:nvSpPr>
        <p:spPr>
          <a:xfrm>
            <a:off x="3237120" y="394236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6" name="Shape 1257"/>
          <p:cNvSpPr/>
          <p:nvPr/>
        </p:nvSpPr>
        <p:spPr>
          <a:xfrm>
            <a:off x="4114800" y="394236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7" name="Text 1337"/>
          <p:cNvSpPr/>
          <p:nvPr/>
        </p:nvSpPr>
        <p:spPr>
          <a:xfrm>
            <a:off x="4151520" y="394236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8" name="Shape 1258"/>
          <p:cNvSpPr/>
          <p:nvPr/>
        </p:nvSpPr>
        <p:spPr>
          <a:xfrm>
            <a:off x="5029200" y="3942360"/>
            <a:ext cx="95904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9" name="Text 1338"/>
          <p:cNvSpPr/>
          <p:nvPr/>
        </p:nvSpPr>
        <p:spPr>
          <a:xfrm>
            <a:off x="5065920" y="394236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0" name="Shape 1259"/>
          <p:cNvSpPr/>
          <p:nvPr/>
        </p:nvSpPr>
        <p:spPr>
          <a:xfrm>
            <a:off x="5989320" y="3942360"/>
            <a:ext cx="100476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1" name="Text 1339"/>
          <p:cNvSpPr/>
          <p:nvPr/>
        </p:nvSpPr>
        <p:spPr>
          <a:xfrm>
            <a:off x="6026040" y="394236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ccccc"/>
                </a:solidFill>
                <a:latin typeface="Calibri"/>
                <a:ea typeface="Calibri"/>
              </a:rPr>
              <a:t>✗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2" name="Shape 1260"/>
          <p:cNvSpPr/>
          <p:nvPr/>
        </p:nvSpPr>
        <p:spPr>
          <a:xfrm>
            <a:off x="6995160" y="3942360"/>
            <a:ext cx="86760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3" name="Text 1340"/>
          <p:cNvSpPr/>
          <p:nvPr/>
        </p:nvSpPr>
        <p:spPr>
          <a:xfrm>
            <a:off x="7031880" y="394236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4" name="Shape 1261"/>
          <p:cNvSpPr/>
          <p:nvPr/>
        </p:nvSpPr>
        <p:spPr>
          <a:xfrm>
            <a:off x="320040" y="4344480"/>
            <a:ext cx="196488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5" name="Text 1341"/>
          <p:cNvSpPr/>
          <p:nvPr/>
        </p:nvSpPr>
        <p:spPr>
          <a:xfrm>
            <a:off x="356760" y="4344480"/>
            <a:ext cx="19101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Débit maximal (batch)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6" name="Shape 1262"/>
          <p:cNvSpPr/>
          <p:nvPr/>
        </p:nvSpPr>
        <p:spPr>
          <a:xfrm>
            <a:off x="2286000" y="434448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7" name="Text 1342"/>
          <p:cNvSpPr/>
          <p:nvPr/>
        </p:nvSpPr>
        <p:spPr>
          <a:xfrm>
            <a:off x="2322720" y="43444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8" name="Shape 1263"/>
          <p:cNvSpPr/>
          <p:nvPr/>
        </p:nvSpPr>
        <p:spPr>
          <a:xfrm>
            <a:off x="3200400" y="434448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9" name="Text 1344"/>
          <p:cNvSpPr/>
          <p:nvPr/>
        </p:nvSpPr>
        <p:spPr>
          <a:xfrm>
            <a:off x="3237120" y="43444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0" name="Shape 1264"/>
          <p:cNvSpPr/>
          <p:nvPr/>
        </p:nvSpPr>
        <p:spPr>
          <a:xfrm>
            <a:off x="4114800" y="4344480"/>
            <a:ext cx="91332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1" name="Text 1347"/>
          <p:cNvSpPr/>
          <p:nvPr/>
        </p:nvSpPr>
        <p:spPr>
          <a:xfrm>
            <a:off x="4151520" y="4344480"/>
            <a:ext cx="8586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✓✓✓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2" name="Shape 1265"/>
          <p:cNvSpPr/>
          <p:nvPr/>
        </p:nvSpPr>
        <p:spPr>
          <a:xfrm>
            <a:off x="5029200" y="4344480"/>
            <a:ext cx="95904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3" name="Text 1348"/>
          <p:cNvSpPr/>
          <p:nvPr/>
        </p:nvSpPr>
        <p:spPr>
          <a:xfrm>
            <a:off x="5065920" y="4344480"/>
            <a:ext cx="9043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4" name="Shape 1266"/>
          <p:cNvSpPr/>
          <p:nvPr/>
        </p:nvSpPr>
        <p:spPr>
          <a:xfrm>
            <a:off x="5989320" y="4344480"/>
            <a:ext cx="100476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5" name="Text 1349"/>
          <p:cNvSpPr/>
          <p:nvPr/>
        </p:nvSpPr>
        <p:spPr>
          <a:xfrm>
            <a:off x="6026040" y="4344480"/>
            <a:ext cx="9500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6" name="Shape 1269"/>
          <p:cNvSpPr/>
          <p:nvPr/>
        </p:nvSpPr>
        <p:spPr>
          <a:xfrm>
            <a:off x="6995160" y="4344480"/>
            <a:ext cx="86760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dded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7" name="Text 1350"/>
          <p:cNvSpPr/>
          <p:nvPr/>
        </p:nvSpPr>
        <p:spPr>
          <a:xfrm>
            <a:off x="7031880" y="4344480"/>
            <a:ext cx="812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8" name="Shape 1270"/>
          <p:cNvSpPr/>
          <p:nvPr/>
        </p:nvSpPr>
        <p:spPr>
          <a:xfrm>
            <a:off x="320040" y="4792680"/>
            <a:ext cx="7599960" cy="2790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9" name="Shape 1271"/>
          <p:cNvSpPr/>
          <p:nvPr/>
        </p:nvSpPr>
        <p:spPr>
          <a:xfrm>
            <a:off x="320040" y="4792680"/>
            <a:ext cx="53640" cy="279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0" name="Text 1351"/>
          <p:cNvSpPr/>
          <p:nvPr/>
        </p:nvSpPr>
        <p:spPr>
          <a:xfrm>
            <a:off x="448200" y="4847400"/>
            <a:ext cx="7471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✓✓✓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Recommandé  ·  ✓✓ Possible  ·  ✓ Acceptable  ·  ✗ Déconseillé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Shape 525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2" name="Text 495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3" name="Text 663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800" spc="-1" strike="noStrike">
                <a:solidFill>
                  <a:srgbClr val="e8834a"/>
                </a:solidFill>
                <a:latin typeface="Calibri"/>
                <a:ea typeface="Calibri"/>
              </a:rPr>
              <a:t>DSL</a:t>
            </a:r>
            <a:endParaRPr b="0" lang="fr-FR" sz="8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4" name="Shape 678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5" name="Shape 679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6" name="Text 664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7" name="Text 665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Syntaxe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8" name="Shape 680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9" name="Text 666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0" name="Text 667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Principaux opérateurs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1" name="Shape 681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2" name="Text 668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3" name="Text 669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4" name="Shape 682"/>
          <p:cNvSpPr/>
          <p:nvPr/>
        </p:nvSpPr>
        <p:spPr>
          <a:xfrm>
            <a:off x="46177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5" name="Text 670"/>
          <p:cNvSpPr/>
          <p:nvPr/>
        </p:nvSpPr>
        <p:spPr>
          <a:xfrm>
            <a:off x="46177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6" name="Text 671"/>
          <p:cNvSpPr/>
          <p:nvPr/>
        </p:nvSpPr>
        <p:spPr>
          <a:xfrm>
            <a:off x="49651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Géolocalisation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7" name="Shape 683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8" name="Text 672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1.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9" name="Shape 684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0" name="Text 673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2.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1" name="Shape 685"/>
          <p:cNvSpPr/>
          <p:nvPr/>
        </p:nvSpPr>
        <p:spPr>
          <a:xfrm>
            <a:off x="3908520" y="4316040"/>
            <a:ext cx="130608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2" name="Shape 686"/>
          <p:cNvSpPr/>
          <p:nvPr/>
        </p:nvSpPr>
        <p:spPr>
          <a:xfrm>
            <a:off x="3908520" y="4316040"/>
            <a:ext cx="130608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3" name="Shape 687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4" name="Text 674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3. 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5" name="Shape 688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6" name="Text 675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4. 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7" name="Shape 689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8" name="Text 676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5.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9" name="Shape 690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0" name="Text 677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6.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1" name="Shape 691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2" name="Text 678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7.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Monitoring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3" name="Text 679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Shape 692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5" name="Text 680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6" name="Text 681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Syntaxe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7" name="Shape 693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8" name="Text 682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Structure – Requêtes vs Filtres – Combinaison de clauses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9" name="Shape 694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0" name="Shape 695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1" name="Text 683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DSL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2" name="Shape 696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3" name="Text 684"/>
          <p:cNvSpPr/>
          <p:nvPr/>
        </p:nvSpPr>
        <p:spPr>
          <a:xfrm>
            <a:off x="3290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4" name="Shape 697"/>
          <p:cNvSpPr/>
          <p:nvPr/>
        </p:nvSpPr>
        <p:spPr>
          <a:xfrm>
            <a:off x="1814040" y="4509360"/>
            <a:ext cx="153792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5" name="Text 685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6" name="Text 686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Syntaxe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7" name="Text 687"/>
          <p:cNvSpPr/>
          <p:nvPr/>
        </p:nvSpPr>
        <p:spPr>
          <a:xfrm>
            <a:off x="3816000" y="4546800"/>
            <a:ext cx="97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Opérateurs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8" name="Text 688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9" name="Text 689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Géolocalisation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0" name="Text 690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1" name="Text 691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2" name="Shape 809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3" name="Shape 810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4" name="Text 842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 au DSL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5" name="Shape 811"/>
          <p:cNvSpPr/>
          <p:nvPr/>
        </p:nvSpPr>
        <p:spPr>
          <a:xfrm>
            <a:off x="320040" y="822960"/>
            <a:ext cx="4113720" cy="356508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6" name="Shape 812"/>
          <p:cNvSpPr/>
          <p:nvPr/>
        </p:nvSpPr>
        <p:spPr>
          <a:xfrm>
            <a:off x="320040" y="822960"/>
            <a:ext cx="63000" cy="35650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7" name="Text 845"/>
          <p:cNvSpPr/>
          <p:nvPr/>
        </p:nvSpPr>
        <p:spPr>
          <a:xfrm>
            <a:off x="484560" y="9144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Pourquoi utiliser le DSL ?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8" name="Text 846"/>
          <p:cNvSpPr/>
          <p:nvPr/>
        </p:nvSpPr>
        <p:spPr>
          <a:xfrm>
            <a:off x="521280" y="1225440"/>
            <a:ext cx="3793680" cy="30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Combiner des clauses de requêtes plus facilement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Influencer le score de pertinence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Mettre en surbrillance des parties du résultat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Agréger des sous-ensembles de résultats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Retourner des suggestions à l'utilisateur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9" name="Shape 813"/>
          <p:cNvSpPr/>
          <p:nvPr/>
        </p:nvSpPr>
        <p:spPr>
          <a:xfrm>
            <a:off x="4754880" y="822960"/>
            <a:ext cx="4068000" cy="356508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0" name="Shape 814"/>
          <p:cNvSpPr/>
          <p:nvPr/>
        </p:nvSpPr>
        <p:spPr>
          <a:xfrm>
            <a:off x="4754880" y="822960"/>
            <a:ext cx="63000" cy="35650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1" name="Text 847"/>
          <p:cNvSpPr/>
          <p:nvPr/>
        </p:nvSpPr>
        <p:spPr>
          <a:xfrm>
            <a:off x="4919400" y="914400"/>
            <a:ext cx="38394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</a:rPr>
              <a:t>Rappel : Recherche simple vs DSL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2" name="Text 848"/>
          <p:cNvSpPr/>
          <p:nvPr/>
        </p:nvSpPr>
        <p:spPr>
          <a:xfrm>
            <a:off x="4919400" y="1280160"/>
            <a:ext cx="374796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/mon-index/_search?q=opensearch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onsolas"/>
              </a:rPr>
              <a:t>→ </a:t>
            </a: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onsolas"/>
              </a:rPr>
              <a:t>Recherche simple, limitée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POST /mon-index/_search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"query": { ... 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3" name="Shape 815"/>
          <p:cNvSpPr/>
          <p:nvPr/>
        </p:nvSpPr>
        <p:spPr>
          <a:xfrm>
            <a:off x="4754880" y="2468880"/>
            <a:ext cx="4068000" cy="191916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4" name="Text 849"/>
          <p:cNvSpPr/>
          <p:nvPr/>
        </p:nvSpPr>
        <p:spPr>
          <a:xfrm>
            <a:off x="4919400" y="2560320"/>
            <a:ext cx="3747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834a"/>
                </a:solidFill>
                <a:latin typeface="Calibri"/>
              </a:rPr>
              <a:t>💡 </a:t>
            </a:r>
            <a:r>
              <a:rPr b="1" lang="en-US" sz="1200" spc="-1" strike="noStrike">
                <a:solidFill>
                  <a:srgbClr val="e8834a"/>
                </a:solidFill>
                <a:latin typeface="Calibri"/>
              </a:rPr>
              <a:t>Avantage OpenSearch DSL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5" name="Text 850"/>
          <p:cNvSpPr/>
          <p:nvPr/>
        </p:nvSpPr>
        <p:spPr>
          <a:xfrm>
            <a:off x="4919400" y="2907720"/>
            <a:ext cx="374796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Le DSL OpenSearch expose toute la puissance de Lucene via une interface JSON lisible et extensible.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6" name="Text 851"/>
          <p:cNvSpPr/>
          <p:nvPr/>
        </p:nvSpPr>
        <p:spPr>
          <a:xfrm>
            <a:off x="320040" y="4572000"/>
            <a:ext cx="85028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Les requêtes DSL offrent bien plus de fonctionnalités qu'une recherche simple.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Shape 816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8" name="Shape 817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9" name="Text 852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Structure d'une requête DSL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0" name="Shape 818"/>
          <p:cNvSpPr/>
          <p:nvPr/>
        </p:nvSpPr>
        <p:spPr>
          <a:xfrm>
            <a:off x="320040" y="822960"/>
            <a:ext cx="4022280" cy="1644840"/>
          </a:xfrm>
          <a:prstGeom prst="rect">
            <a:avLst/>
          </a:prstGeom>
          <a:solidFill>
            <a:srgbClr val="1a2b2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1" name="Shape 819"/>
          <p:cNvSpPr/>
          <p:nvPr/>
        </p:nvSpPr>
        <p:spPr>
          <a:xfrm>
            <a:off x="320040" y="822960"/>
            <a:ext cx="402228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2" name="Text 854"/>
          <p:cNvSpPr/>
          <p:nvPr/>
        </p:nvSpPr>
        <p:spPr>
          <a:xfrm>
            <a:off x="411480" y="822960"/>
            <a:ext cx="39308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3" name="Text 855"/>
          <p:cNvSpPr/>
          <p:nvPr/>
        </p:nvSpPr>
        <p:spPr>
          <a:xfrm>
            <a:off x="457200" y="1078920"/>
            <a:ext cx="3747960" cy="12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"query": YOUR_QUERY_HERE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4" name="Shape 820"/>
          <p:cNvSpPr/>
          <p:nvPr/>
        </p:nvSpPr>
        <p:spPr>
          <a:xfrm>
            <a:off x="4754880" y="822960"/>
            <a:ext cx="4068000" cy="164484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5" name="Shape 821"/>
          <p:cNvSpPr/>
          <p:nvPr/>
        </p:nvSpPr>
        <p:spPr>
          <a:xfrm>
            <a:off x="4754880" y="822960"/>
            <a:ext cx="63000" cy="164484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6" name="Text 856"/>
          <p:cNvSpPr/>
          <p:nvPr/>
        </p:nvSpPr>
        <p:spPr>
          <a:xfrm>
            <a:off x="4919400" y="914400"/>
            <a:ext cx="379368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Le </a:t>
            </a: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paramètre </a:t>
            </a: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query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7" name="Text 857"/>
          <p:cNvSpPr/>
          <p:nvPr/>
        </p:nvSpPr>
        <p:spPr>
          <a:xfrm>
            <a:off x="4956120" y="1225440"/>
            <a:ext cx="374796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Paramètre principal pour passer une clause DSL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Expose toute la puissance du moteur Lucene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Interface JSON lisible et structurée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8" name="Shape 822"/>
          <p:cNvSpPr/>
          <p:nvPr/>
        </p:nvSpPr>
        <p:spPr>
          <a:xfrm>
            <a:off x="320040" y="2651760"/>
            <a:ext cx="8502840" cy="228492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9" name="Shape 823"/>
          <p:cNvSpPr/>
          <p:nvPr/>
        </p:nvSpPr>
        <p:spPr>
          <a:xfrm>
            <a:off x="320040" y="2651760"/>
            <a:ext cx="63000" cy="22849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0" name="Text 858"/>
          <p:cNvSpPr/>
          <p:nvPr/>
        </p:nvSpPr>
        <p:spPr>
          <a:xfrm>
            <a:off x="502920" y="2724840"/>
            <a:ext cx="8228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</a:rPr>
              <a:t>DSL = Arbre syntaxique de clauses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1" name="Shape 824"/>
          <p:cNvSpPr/>
          <p:nvPr/>
        </p:nvSpPr>
        <p:spPr>
          <a:xfrm>
            <a:off x="502920" y="3127320"/>
            <a:ext cx="2650680" cy="15534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2" name="Shape 825"/>
          <p:cNvSpPr/>
          <p:nvPr/>
        </p:nvSpPr>
        <p:spPr>
          <a:xfrm>
            <a:off x="594360" y="3145680"/>
            <a:ext cx="24678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3" name="Text 859"/>
          <p:cNvSpPr/>
          <p:nvPr/>
        </p:nvSpPr>
        <p:spPr>
          <a:xfrm>
            <a:off x="594360" y="31456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Clauses feuilles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4" name="Text 860"/>
          <p:cNvSpPr/>
          <p:nvPr/>
        </p:nvSpPr>
        <p:spPr>
          <a:xfrm>
            <a:off x="594360" y="3456360"/>
            <a:ext cx="24678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match, term, range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S'appliquent à un champ.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Peuvent s'exécuter seules.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5" name="Shape 826"/>
          <p:cNvSpPr/>
          <p:nvPr/>
        </p:nvSpPr>
        <p:spPr>
          <a:xfrm>
            <a:off x="3429000" y="3127320"/>
            <a:ext cx="2650680" cy="15534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6" name="Shape 827"/>
          <p:cNvSpPr/>
          <p:nvPr/>
        </p:nvSpPr>
        <p:spPr>
          <a:xfrm>
            <a:off x="3520440" y="3145680"/>
            <a:ext cx="24678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7" name="Text 861"/>
          <p:cNvSpPr/>
          <p:nvPr/>
        </p:nvSpPr>
        <p:spPr>
          <a:xfrm>
            <a:off x="3520440" y="31456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Clauses composées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8" name="Text 862"/>
          <p:cNvSpPr/>
          <p:nvPr/>
        </p:nvSpPr>
        <p:spPr>
          <a:xfrm>
            <a:off x="3520440" y="3456360"/>
            <a:ext cx="24678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bool, dis_max, constant_score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Combinent d'autres clauses avec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des opérateurs logiques.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9" name="Shape 828"/>
          <p:cNvSpPr/>
          <p:nvPr/>
        </p:nvSpPr>
        <p:spPr>
          <a:xfrm>
            <a:off x="6355080" y="3127320"/>
            <a:ext cx="2467800" cy="15534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0" name="Shape 829"/>
          <p:cNvSpPr/>
          <p:nvPr/>
        </p:nvSpPr>
        <p:spPr>
          <a:xfrm>
            <a:off x="6374520" y="3145680"/>
            <a:ext cx="24678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1" name="Text 863"/>
          <p:cNvSpPr/>
          <p:nvPr/>
        </p:nvSpPr>
        <p:spPr>
          <a:xfrm>
            <a:off x="6446520" y="31456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Contextes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2" name="Text 864"/>
          <p:cNvSpPr/>
          <p:nvPr/>
        </p:nvSpPr>
        <p:spPr>
          <a:xfrm>
            <a:off x="6446520" y="3456360"/>
            <a:ext cx="237348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Contexte requête (score)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Contexte filtre (booléen)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Modifient le comportement.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Shape 830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4" name="Shape 831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5" name="Text 865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Distinction : Requête vs Filtre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6" name="Text 867"/>
          <p:cNvSpPr/>
          <p:nvPr/>
        </p:nvSpPr>
        <p:spPr>
          <a:xfrm>
            <a:off x="320040" y="7772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DSL exprime deux types de requêtes selon le contexte d'utilisation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7" name="Shape 832"/>
          <p:cNvSpPr/>
          <p:nvPr/>
        </p:nvSpPr>
        <p:spPr>
          <a:xfrm>
            <a:off x="320040" y="1188720"/>
            <a:ext cx="4113720" cy="329076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8" name="Shape 833"/>
          <p:cNvSpPr/>
          <p:nvPr/>
        </p:nvSpPr>
        <p:spPr>
          <a:xfrm>
            <a:off x="320040" y="1188720"/>
            <a:ext cx="4113720" cy="410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9" name="Text 868"/>
          <p:cNvSpPr/>
          <p:nvPr/>
        </p:nvSpPr>
        <p:spPr>
          <a:xfrm>
            <a:off x="457200" y="1188720"/>
            <a:ext cx="3839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🔍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Contexte REQUÊTE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0" name="Text 869"/>
          <p:cNvSpPr/>
          <p:nvPr/>
        </p:nvSpPr>
        <p:spPr>
          <a:xfrm>
            <a:off x="502920" y="1691640"/>
            <a:ext cx="379368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80ccd8"/>
                </a:solidFill>
                <a:latin typeface="Calibri"/>
              </a:rPr>
              <a:t>Score de pertinence calculé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</a:rPr>
              <a:t>Chaque document reçoit un score _score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</a:rPr>
              <a:t>Résultats triés par pertinence décroissante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Activé par le mot-clé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query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onsolas"/>
              </a:rPr>
              <a:t>Usage : recherche full-text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1" name="Shape 834"/>
          <p:cNvSpPr/>
          <p:nvPr/>
        </p:nvSpPr>
        <p:spPr>
          <a:xfrm>
            <a:off x="4709160" y="1188720"/>
            <a:ext cx="4113720" cy="329076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2" name="Shape 835"/>
          <p:cNvSpPr/>
          <p:nvPr/>
        </p:nvSpPr>
        <p:spPr>
          <a:xfrm>
            <a:off x="4709160" y="1188720"/>
            <a:ext cx="4113720" cy="410400"/>
          </a:xfrm>
          <a:prstGeom prst="rect">
            <a:avLst/>
          </a:prstGeom>
          <a:solidFill>
            <a:srgbClr val="ff8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highlight>
                <a:srgbClr val="ea7500"/>
              </a:highlight>
              <a:latin typeface="Arial"/>
            </a:endParaRPr>
          </a:p>
        </p:txBody>
      </p:sp>
      <p:sp>
        <p:nvSpPr>
          <p:cNvPr id="3503" name="Text 870"/>
          <p:cNvSpPr/>
          <p:nvPr/>
        </p:nvSpPr>
        <p:spPr>
          <a:xfrm>
            <a:off x="4846320" y="1188720"/>
            <a:ext cx="38394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⚡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Contexte FILTRE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4" name="Text 871"/>
          <p:cNvSpPr/>
          <p:nvPr/>
        </p:nvSpPr>
        <p:spPr>
          <a:xfrm>
            <a:off x="4846320" y="1691640"/>
            <a:ext cx="383940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80ccd8"/>
                </a:solidFill>
                <a:latin typeface="Calibri"/>
              </a:rPr>
              <a:t>Résultat booléen uniquement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</a:rPr>
              <a:t>Pas de calcul de score (oui/non)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</a:rPr>
              <a:t>Résultats mis en cache → plus rapide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Activé par les mots-clés 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filter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onsolas"/>
              </a:rPr>
              <a:t> ou </a:t>
            </a:r>
            <a:r>
              <a:rPr b="1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must_not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onsolas"/>
              </a:rPr>
              <a:t>Usage : valeurs exactes, dates, ranges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Shape 836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6" name="Shape 837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7" name="Text 872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Activation des contextes – Exemple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8" name="Shape 838"/>
          <p:cNvSpPr/>
          <p:nvPr/>
        </p:nvSpPr>
        <p:spPr>
          <a:xfrm>
            <a:off x="320040" y="822960"/>
            <a:ext cx="5485320" cy="4113720"/>
          </a:xfrm>
          <a:prstGeom prst="rect">
            <a:avLst/>
          </a:prstGeom>
          <a:solidFill>
            <a:srgbClr val="1a2b2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9" name="Shape 839"/>
          <p:cNvSpPr/>
          <p:nvPr/>
        </p:nvSpPr>
        <p:spPr>
          <a:xfrm>
            <a:off x="320040" y="822960"/>
            <a:ext cx="54853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0" name="Text 874"/>
          <p:cNvSpPr/>
          <p:nvPr/>
        </p:nvSpPr>
        <p:spPr>
          <a:xfrm>
            <a:off x="411480" y="822960"/>
            <a:ext cx="5393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1" name="Text 875"/>
          <p:cNvSpPr/>
          <p:nvPr/>
        </p:nvSpPr>
        <p:spPr>
          <a:xfrm>
            <a:off x="457200" y="1078920"/>
            <a:ext cx="52110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"query": {                    // ← contexte REQUÊTE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"bool":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"must": [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{ "match": { "title":   "Search" }},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{ "match": { "content": "OpenSearch" 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],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"filter": [               // ← contexte FILTRE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{ "term":  { "status": "published" }},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{ "range": { "publish_date": { "gte": "2023-01-01" }}}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2" name="Shape 840"/>
          <p:cNvSpPr/>
          <p:nvPr/>
        </p:nvSpPr>
        <p:spPr>
          <a:xfrm>
            <a:off x="6035040" y="822960"/>
            <a:ext cx="2742120" cy="137052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3" name="Shape 841"/>
          <p:cNvSpPr/>
          <p:nvPr/>
        </p:nvSpPr>
        <p:spPr>
          <a:xfrm>
            <a:off x="6126480" y="896040"/>
            <a:ext cx="2559240" cy="273240"/>
          </a:xfrm>
          <a:prstGeom prst="roundRect">
            <a:avLst>
              <a:gd name="adj" fmla="val 26667"/>
            </a:avLst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4" name="Text 876"/>
          <p:cNvSpPr/>
          <p:nvPr/>
        </p:nvSpPr>
        <p:spPr>
          <a:xfrm>
            <a:off x="6126480" y="89604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Contexte REQUÊTE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5" name="Text 877"/>
          <p:cNvSpPr/>
          <p:nvPr/>
        </p:nvSpPr>
        <p:spPr>
          <a:xfrm>
            <a:off x="6126480" y="1243440"/>
            <a:ext cx="25592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Clauses must et match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calculent un score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6" name="Shape 842"/>
          <p:cNvSpPr/>
          <p:nvPr/>
        </p:nvSpPr>
        <p:spPr>
          <a:xfrm>
            <a:off x="6035040" y="2331720"/>
            <a:ext cx="2742120" cy="137052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7" name="Shape 843"/>
          <p:cNvSpPr/>
          <p:nvPr/>
        </p:nvSpPr>
        <p:spPr>
          <a:xfrm>
            <a:off x="6126480" y="2404800"/>
            <a:ext cx="2559240" cy="273240"/>
          </a:xfrm>
          <a:prstGeom prst="roundRect">
            <a:avLst>
              <a:gd name="adj" fmla="val 26667"/>
            </a:avLst>
          </a:prstGeom>
          <a:solidFill>
            <a:srgbClr val="ff860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8" name="Text 878"/>
          <p:cNvSpPr/>
          <p:nvPr/>
        </p:nvSpPr>
        <p:spPr>
          <a:xfrm>
            <a:off x="6126480" y="2404800"/>
            <a:ext cx="2559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Contexte FILTRE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9" name="Text 879"/>
          <p:cNvSpPr/>
          <p:nvPr/>
        </p:nvSpPr>
        <p:spPr>
          <a:xfrm>
            <a:off x="6126480" y="2752200"/>
            <a:ext cx="25592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Clauses filter, must_not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80ccd8"/>
                </a:solidFill>
                <a:latin typeface="Calibri"/>
              </a:rPr>
              <a:t>pas de score, mis en cache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0" name="Shape 844"/>
          <p:cNvSpPr/>
          <p:nvPr/>
        </p:nvSpPr>
        <p:spPr>
          <a:xfrm>
            <a:off x="6035040" y="3840480"/>
            <a:ext cx="2742120" cy="109620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1" name="Text 880"/>
          <p:cNvSpPr/>
          <p:nvPr/>
        </p:nvSpPr>
        <p:spPr>
          <a:xfrm>
            <a:off x="6126480" y="3931920"/>
            <a:ext cx="25592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💡 </a:t>
            </a: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Bonne pratique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Utilisez filter pour les valeurs exactes : meilleure performance car les résultats sont mis en cache par OpenSearch.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" name="Shape 845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3" name="Shape 846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4" name="Text 881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Combinaison de clauses – bool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5" name="Text 883"/>
          <p:cNvSpPr/>
          <p:nvPr/>
        </p:nvSpPr>
        <p:spPr>
          <a:xfrm>
            <a:off x="320040" y="7772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La clause bool permet de combiner plusieurs conditions avec des opérateurs logiques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6" name="Shape 847"/>
          <p:cNvSpPr/>
          <p:nvPr/>
        </p:nvSpPr>
        <p:spPr>
          <a:xfrm>
            <a:off x="320040" y="1188720"/>
            <a:ext cx="4845240" cy="3199320"/>
          </a:xfrm>
          <a:prstGeom prst="rect">
            <a:avLst/>
          </a:prstGeom>
          <a:solidFill>
            <a:srgbClr val="1a2b2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7" name="Shape 848"/>
          <p:cNvSpPr/>
          <p:nvPr/>
        </p:nvSpPr>
        <p:spPr>
          <a:xfrm>
            <a:off x="320040" y="1188720"/>
            <a:ext cx="484524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8" name="Text 884"/>
          <p:cNvSpPr/>
          <p:nvPr/>
        </p:nvSpPr>
        <p:spPr>
          <a:xfrm>
            <a:off x="411480" y="1188720"/>
            <a:ext cx="4753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9" name="Text 885"/>
          <p:cNvSpPr/>
          <p:nvPr/>
        </p:nvSpPr>
        <p:spPr>
          <a:xfrm>
            <a:off x="457200" y="1444680"/>
            <a:ext cx="4570920" cy="28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"bool":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"must":     { "match": { "tweet": "opensearch" }},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"must_not": { "match": { "name": "marie" }},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"should":   { "match": { "tweet": "full text" 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0" name="Shape 849"/>
          <p:cNvSpPr/>
          <p:nvPr/>
        </p:nvSpPr>
        <p:spPr>
          <a:xfrm>
            <a:off x="5394960" y="1188720"/>
            <a:ext cx="3427920" cy="9864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1" name="Shape 850"/>
          <p:cNvSpPr/>
          <p:nvPr/>
        </p:nvSpPr>
        <p:spPr>
          <a:xfrm>
            <a:off x="5394960" y="1188720"/>
            <a:ext cx="63000" cy="98640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2" name="Shape 851"/>
          <p:cNvSpPr/>
          <p:nvPr/>
        </p:nvSpPr>
        <p:spPr>
          <a:xfrm>
            <a:off x="5532120" y="1261800"/>
            <a:ext cx="913320" cy="273240"/>
          </a:xfrm>
          <a:prstGeom prst="roundRect">
            <a:avLst>
              <a:gd name="adj" fmla="val 26667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3" name="Text 886"/>
          <p:cNvSpPr/>
          <p:nvPr/>
        </p:nvSpPr>
        <p:spPr>
          <a:xfrm>
            <a:off x="5532120" y="1261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must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4" name="Text 887"/>
          <p:cNvSpPr/>
          <p:nvPr/>
        </p:nvSpPr>
        <p:spPr>
          <a:xfrm>
            <a:off x="6510600" y="1243440"/>
            <a:ext cx="2193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≡ </a:t>
            </a:r>
            <a:r>
              <a:rPr b="1" lang="en-US" sz="1100" spc="-1" strike="noStrike">
                <a:solidFill>
                  <a:srgbClr val="2e7d32"/>
                </a:solidFill>
                <a:latin typeface="Calibri"/>
              </a:rPr>
              <a:t>ET logique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5" name="Text 888"/>
          <p:cNvSpPr/>
          <p:nvPr/>
        </p:nvSpPr>
        <p:spPr>
          <a:xfrm>
            <a:off x="5532120" y="151776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Le document DOIT correspondre.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Contribue au score de pertinence.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6" name="Shape 852"/>
          <p:cNvSpPr/>
          <p:nvPr/>
        </p:nvSpPr>
        <p:spPr>
          <a:xfrm>
            <a:off x="5394960" y="2267640"/>
            <a:ext cx="3427920" cy="9864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7" name="Shape 853"/>
          <p:cNvSpPr/>
          <p:nvPr/>
        </p:nvSpPr>
        <p:spPr>
          <a:xfrm>
            <a:off x="5394960" y="2267640"/>
            <a:ext cx="63000" cy="986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8" name="Shape 854"/>
          <p:cNvSpPr/>
          <p:nvPr/>
        </p:nvSpPr>
        <p:spPr>
          <a:xfrm>
            <a:off x="5532120" y="2340720"/>
            <a:ext cx="913320" cy="273240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9" name="Text 889"/>
          <p:cNvSpPr/>
          <p:nvPr/>
        </p:nvSpPr>
        <p:spPr>
          <a:xfrm>
            <a:off x="5532120" y="234072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must_not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0" name="Text 890"/>
          <p:cNvSpPr/>
          <p:nvPr/>
        </p:nvSpPr>
        <p:spPr>
          <a:xfrm>
            <a:off x="6510600" y="2322720"/>
            <a:ext cx="2193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f4444"/>
                </a:solidFill>
                <a:latin typeface="Calibri"/>
              </a:rPr>
              <a:t>≡ </a:t>
            </a:r>
            <a:r>
              <a:rPr b="1" lang="en-US" sz="1100" spc="-1" strike="noStrike">
                <a:solidFill>
                  <a:srgbClr val="ef4444"/>
                </a:solidFill>
                <a:latin typeface="Calibri"/>
              </a:rPr>
              <a:t>NOT logique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1" name="Text 891"/>
          <p:cNvSpPr/>
          <p:nvPr/>
        </p:nvSpPr>
        <p:spPr>
          <a:xfrm>
            <a:off x="5532120" y="259704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Le document NE DOIT PAS correspondre.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Exécuté en contexte filtre (pas de score).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2" name="Shape 855"/>
          <p:cNvSpPr/>
          <p:nvPr/>
        </p:nvSpPr>
        <p:spPr>
          <a:xfrm>
            <a:off x="5394960" y="3346560"/>
            <a:ext cx="3427920" cy="9864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3" name="Shape 856"/>
          <p:cNvSpPr/>
          <p:nvPr/>
        </p:nvSpPr>
        <p:spPr>
          <a:xfrm>
            <a:off x="5394960" y="3346560"/>
            <a:ext cx="63000" cy="9864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4" name="Shape 857"/>
          <p:cNvSpPr/>
          <p:nvPr/>
        </p:nvSpPr>
        <p:spPr>
          <a:xfrm>
            <a:off x="5532120" y="3420000"/>
            <a:ext cx="913320" cy="273240"/>
          </a:xfrm>
          <a:prstGeom prst="roundRect">
            <a:avLst>
              <a:gd name="adj" fmla="val 26667"/>
            </a:avLst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5" name="Text 892"/>
          <p:cNvSpPr/>
          <p:nvPr/>
        </p:nvSpPr>
        <p:spPr>
          <a:xfrm>
            <a:off x="5532120" y="34200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should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6" name="Text 893"/>
          <p:cNvSpPr/>
          <p:nvPr/>
        </p:nvSpPr>
        <p:spPr>
          <a:xfrm>
            <a:off x="6510600" y="3401640"/>
            <a:ext cx="21934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</a:rPr>
              <a:t>≡ </a:t>
            </a:r>
            <a:r>
              <a:rPr b="1" lang="en-US" sz="1100" spc="-1" strike="noStrike">
                <a:solidFill>
                  <a:srgbClr val="e8834a"/>
                </a:solidFill>
                <a:latin typeface="Calibri"/>
              </a:rPr>
              <a:t>OU logique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7" name="Text 894"/>
          <p:cNvSpPr/>
          <p:nvPr/>
        </p:nvSpPr>
        <p:spPr>
          <a:xfrm>
            <a:off x="5532120" y="3675960"/>
            <a:ext cx="31993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Le document DEVRAIT correspondre.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0ccd8"/>
                </a:solidFill>
                <a:latin typeface="Calibri"/>
              </a:rPr>
              <a:t>Améliore le score si correspondance.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8" name="Shape 858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1a2b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9" name="Shape 859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0" name="Text 895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Requêtes vides et pagination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1" name="Shape 860"/>
          <p:cNvSpPr/>
          <p:nvPr/>
        </p:nvSpPr>
        <p:spPr>
          <a:xfrm>
            <a:off x="320040" y="822960"/>
            <a:ext cx="5028120" cy="4113720"/>
          </a:xfrm>
          <a:prstGeom prst="rect">
            <a:avLst/>
          </a:prstGeom>
          <a:solidFill>
            <a:srgbClr val="1a2b2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2" name="Shape 861"/>
          <p:cNvSpPr/>
          <p:nvPr/>
        </p:nvSpPr>
        <p:spPr>
          <a:xfrm>
            <a:off x="320040" y="82296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3" name="Text 897"/>
          <p:cNvSpPr/>
          <p:nvPr/>
        </p:nvSpPr>
        <p:spPr>
          <a:xfrm>
            <a:off x="411480" y="82296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4" name="Text 898"/>
          <p:cNvSpPr/>
          <p:nvPr/>
        </p:nvSpPr>
        <p:spPr>
          <a:xfrm>
            <a:off x="457200" y="1078920"/>
            <a:ext cx="47538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a7500"/>
                </a:solidFill>
                <a:latin typeface="Consolas"/>
                <a:ea typeface="Consolas"/>
              </a:rPr>
              <a:t># Requête vide – tous les indices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# Pagination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"from": 30,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"size": 10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5" name="Shape 862"/>
          <p:cNvSpPr/>
          <p:nvPr/>
        </p:nvSpPr>
        <p:spPr>
          <a:xfrm>
            <a:off x="5577840" y="822960"/>
            <a:ext cx="3245040" cy="246780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6" name="Shape 863"/>
          <p:cNvSpPr/>
          <p:nvPr/>
        </p:nvSpPr>
        <p:spPr>
          <a:xfrm>
            <a:off x="5577840" y="822960"/>
            <a:ext cx="63000" cy="246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7" name="Text 899"/>
          <p:cNvSpPr/>
          <p:nvPr/>
        </p:nvSpPr>
        <p:spPr>
          <a:xfrm>
            <a:off x="5742360" y="91440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Requête vide — tous documents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8" name="Text 900"/>
          <p:cNvSpPr/>
          <p:nvPr/>
        </p:nvSpPr>
        <p:spPr>
          <a:xfrm>
            <a:off x="5779080" y="1333440"/>
            <a:ext cx="2925000" cy="172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GET /_search {}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GET /index-2024*/_search {}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Aucun critère → retourne tous les documents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Utile pour inspecter un index ou tester une connexion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Supporte les wildcards sur le nom d'index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9" name="Shape 864"/>
          <p:cNvSpPr/>
          <p:nvPr/>
        </p:nvSpPr>
        <p:spPr>
          <a:xfrm>
            <a:off x="5577840" y="3429000"/>
            <a:ext cx="3245040" cy="1507680"/>
          </a:xfrm>
          <a:prstGeom prst="rect">
            <a:avLst/>
          </a:prstGeom>
          <a:solidFill>
            <a:srgbClr val="005f7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0" name="Shape 865"/>
          <p:cNvSpPr/>
          <p:nvPr/>
        </p:nvSpPr>
        <p:spPr>
          <a:xfrm>
            <a:off x="5577840" y="3429000"/>
            <a:ext cx="63000" cy="15076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1" name="Text 901"/>
          <p:cNvSpPr/>
          <p:nvPr/>
        </p:nvSpPr>
        <p:spPr>
          <a:xfrm>
            <a:off x="5742360" y="352044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Pagination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2" name="Text 1147"/>
          <p:cNvSpPr/>
          <p:nvPr/>
        </p:nvSpPr>
        <p:spPr>
          <a:xfrm>
            <a:off x="5779080" y="3831480"/>
            <a:ext cx="29250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from  : offset de départ (défaut : 0)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size  : nombre de résultats (défaut : 10)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⚠  </a:t>
            </a:r>
            <a:r>
              <a:rPr b="0" lang="en-US" sz="1200" spc="-1" strike="noStrike">
                <a:solidFill>
                  <a:srgbClr val="80ccd8"/>
                </a:solidFill>
                <a:latin typeface="Calibri"/>
                <a:ea typeface="Calibri"/>
              </a:rPr>
              <a:t>from + size &gt; 10 000 → utiliser search_after ou scroll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Shape 698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4" name="Text 692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5" name="Text 693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Principaux opérateurs</a:t>
            </a:r>
            <a:endParaRPr b="0" lang="fr-FR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6" name="Shape 699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7" name="Text 694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Filtre – match - multi-match - phrase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8" name="Shape 700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9" name="Shape 701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0" name="Text 695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DSL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1" name="Shape 702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2" name="Text 696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3" name="Shape 703"/>
          <p:cNvSpPr/>
          <p:nvPr/>
        </p:nvSpPr>
        <p:spPr>
          <a:xfrm>
            <a:off x="3650400" y="4545360"/>
            <a:ext cx="12816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4" name="Text 697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5" name="Text 698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Syntaxe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6" name="Text 699"/>
          <p:cNvSpPr/>
          <p:nvPr/>
        </p:nvSpPr>
        <p:spPr>
          <a:xfrm>
            <a:off x="3708000" y="4546800"/>
            <a:ext cx="122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Opérateurs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7" name="Text 700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8" name="Text 701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Géolocalisation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9" name="Text 702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0" name="Text 703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Shape 991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2" name="Shape 992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3" name="Text 1050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Opérateurs dans le contexte filtre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4" name="Shape 993"/>
          <p:cNvSpPr/>
          <p:nvPr/>
        </p:nvSpPr>
        <p:spPr>
          <a:xfrm>
            <a:off x="320040" y="804600"/>
            <a:ext cx="8502840" cy="7578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5" name="Shape 994"/>
          <p:cNvSpPr/>
          <p:nvPr/>
        </p:nvSpPr>
        <p:spPr>
          <a:xfrm>
            <a:off x="320040" y="804600"/>
            <a:ext cx="63000" cy="75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6" name="Shape 995"/>
          <p:cNvSpPr/>
          <p:nvPr/>
        </p:nvSpPr>
        <p:spPr>
          <a:xfrm>
            <a:off x="457200" y="969120"/>
            <a:ext cx="91332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7" name="Text 1052"/>
          <p:cNvSpPr/>
          <p:nvPr/>
        </p:nvSpPr>
        <p:spPr>
          <a:xfrm>
            <a:off x="457200" y="96912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term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8" name="Text 1053"/>
          <p:cNvSpPr/>
          <p:nvPr/>
        </p:nvSpPr>
        <p:spPr>
          <a:xfrm>
            <a:off x="1508760" y="877680"/>
            <a:ext cx="29250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Valeur exacte sur un champ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9" name="Shape 996"/>
          <p:cNvSpPr/>
          <p:nvPr/>
        </p:nvSpPr>
        <p:spPr>
          <a:xfrm>
            <a:off x="4480560" y="850320"/>
            <a:ext cx="4205160" cy="666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0" name="Text 1054"/>
          <p:cNvSpPr/>
          <p:nvPr/>
        </p:nvSpPr>
        <p:spPr>
          <a:xfrm>
            <a:off x="4572000" y="914400"/>
            <a:ext cx="4022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"term": { "age": 26 }}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1" name="Shape 997"/>
          <p:cNvSpPr/>
          <p:nvPr/>
        </p:nvSpPr>
        <p:spPr>
          <a:xfrm>
            <a:off x="320040" y="1654920"/>
            <a:ext cx="8502840" cy="7578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2" name="Shape 998"/>
          <p:cNvSpPr/>
          <p:nvPr/>
        </p:nvSpPr>
        <p:spPr>
          <a:xfrm>
            <a:off x="320040" y="1654920"/>
            <a:ext cx="63000" cy="75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3" name="Shape 999"/>
          <p:cNvSpPr/>
          <p:nvPr/>
        </p:nvSpPr>
        <p:spPr>
          <a:xfrm>
            <a:off x="457200" y="1819800"/>
            <a:ext cx="91332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4" name="Text 1055"/>
          <p:cNvSpPr/>
          <p:nvPr/>
        </p:nvSpPr>
        <p:spPr>
          <a:xfrm>
            <a:off x="457200" y="181980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terms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5" name="Text 1056"/>
          <p:cNvSpPr/>
          <p:nvPr/>
        </p:nvSpPr>
        <p:spPr>
          <a:xfrm>
            <a:off x="1508760" y="1728360"/>
            <a:ext cx="29250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Plusieurs valeurs possibles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6" name="Shape 1000"/>
          <p:cNvSpPr/>
          <p:nvPr/>
        </p:nvSpPr>
        <p:spPr>
          <a:xfrm>
            <a:off x="4480560" y="1700640"/>
            <a:ext cx="4205160" cy="666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7" name="Text 1057"/>
          <p:cNvSpPr/>
          <p:nvPr/>
        </p:nvSpPr>
        <p:spPr>
          <a:xfrm>
            <a:off x="4572000" y="1764720"/>
            <a:ext cx="4022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"terms": { "tag": ["search","nosql"] }}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8" name="Shape 1001"/>
          <p:cNvSpPr/>
          <p:nvPr/>
        </p:nvSpPr>
        <p:spPr>
          <a:xfrm>
            <a:off x="320040" y="2505600"/>
            <a:ext cx="8502840" cy="7578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9" name="Shape 1002"/>
          <p:cNvSpPr/>
          <p:nvPr/>
        </p:nvSpPr>
        <p:spPr>
          <a:xfrm>
            <a:off x="320040" y="2505600"/>
            <a:ext cx="63000" cy="75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0" name="Shape 1003"/>
          <p:cNvSpPr/>
          <p:nvPr/>
        </p:nvSpPr>
        <p:spPr>
          <a:xfrm>
            <a:off x="457200" y="2670120"/>
            <a:ext cx="91332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1" name="Text 1058"/>
          <p:cNvSpPr/>
          <p:nvPr/>
        </p:nvSpPr>
        <p:spPr>
          <a:xfrm>
            <a:off x="457200" y="267012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range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2" name="Text 1059"/>
          <p:cNvSpPr/>
          <p:nvPr/>
        </p:nvSpPr>
        <p:spPr>
          <a:xfrm>
            <a:off x="1508760" y="2578680"/>
            <a:ext cx="29250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Intervalle numérique ou de dates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3" name="Shape 1004"/>
          <p:cNvSpPr/>
          <p:nvPr/>
        </p:nvSpPr>
        <p:spPr>
          <a:xfrm>
            <a:off x="4480560" y="2551320"/>
            <a:ext cx="4205160" cy="666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4" name="Text 1060"/>
          <p:cNvSpPr/>
          <p:nvPr/>
        </p:nvSpPr>
        <p:spPr>
          <a:xfrm>
            <a:off x="4572000" y="2615040"/>
            <a:ext cx="4022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"range": { "age": { "gte": 20, "lt": 30 }}}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5" name="Shape 1005"/>
          <p:cNvSpPr/>
          <p:nvPr/>
        </p:nvSpPr>
        <p:spPr>
          <a:xfrm>
            <a:off x="320040" y="3355920"/>
            <a:ext cx="8502840" cy="7578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6" name="Shape 1006"/>
          <p:cNvSpPr/>
          <p:nvPr/>
        </p:nvSpPr>
        <p:spPr>
          <a:xfrm>
            <a:off x="320040" y="3355920"/>
            <a:ext cx="63000" cy="75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7" name="Text 1061"/>
          <p:cNvSpPr/>
          <p:nvPr/>
        </p:nvSpPr>
        <p:spPr>
          <a:xfrm>
            <a:off x="457200" y="359244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exists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8" name="Text 1062"/>
          <p:cNvSpPr/>
          <p:nvPr/>
        </p:nvSpPr>
        <p:spPr>
          <a:xfrm>
            <a:off x="1508760" y="3429000"/>
            <a:ext cx="29250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Teste la présence d'un champ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9" name="Shape 1008"/>
          <p:cNvSpPr/>
          <p:nvPr/>
        </p:nvSpPr>
        <p:spPr>
          <a:xfrm>
            <a:off x="4480560" y="3401640"/>
            <a:ext cx="4205160" cy="666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0" name="Text 1063"/>
          <p:cNvSpPr/>
          <p:nvPr/>
        </p:nvSpPr>
        <p:spPr>
          <a:xfrm>
            <a:off x="4572000" y="3465720"/>
            <a:ext cx="4022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"exists": { "field": "title" }}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1" name="Shape 1009"/>
          <p:cNvSpPr/>
          <p:nvPr/>
        </p:nvSpPr>
        <p:spPr>
          <a:xfrm>
            <a:off x="320040" y="4206240"/>
            <a:ext cx="8502840" cy="7578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2" name="Shape 1010"/>
          <p:cNvSpPr/>
          <p:nvPr/>
        </p:nvSpPr>
        <p:spPr>
          <a:xfrm>
            <a:off x="320040" y="4206240"/>
            <a:ext cx="63000" cy="75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3" name="Text 1064"/>
          <p:cNvSpPr/>
          <p:nvPr/>
        </p:nvSpPr>
        <p:spPr>
          <a:xfrm>
            <a:off x="457200" y="437076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bool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4" name="Text 1065"/>
          <p:cNvSpPr/>
          <p:nvPr/>
        </p:nvSpPr>
        <p:spPr>
          <a:xfrm>
            <a:off x="1508760" y="4279320"/>
            <a:ext cx="29250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Combine : must (ET), must_not (NOT), should (OU)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5" name="Shape 1012"/>
          <p:cNvSpPr/>
          <p:nvPr/>
        </p:nvSpPr>
        <p:spPr>
          <a:xfrm>
            <a:off x="4480560" y="4251960"/>
            <a:ext cx="4205160" cy="666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6" name="Text 1066"/>
          <p:cNvSpPr/>
          <p:nvPr/>
        </p:nvSpPr>
        <p:spPr>
          <a:xfrm>
            <a:off x="4572000" y="4316040"/>
            <a:ext cx="4022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 "bool": { "must": [...], "should": [...] }}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7" name="Shape 1013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8" name="Shape 1014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9" name="Text 1067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Opérateur match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0" name="Text 1069"/>
          <p:cNvSpPr/>
          <p:nvPr/>
        </p:nvSpPr>
        <p:spPr>
          <a:xfrm>
            <a:off x="320040" y="7772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La requête match est la recherche standard pour full-text ou valeurs exactes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1" name="Shape 1015"/>
          <p:cNvSpPr/>
          <p:nvPr/>
        </p:nvSpPr>
        <p:spPr>
          <a:xfrm>
            <a:off x="320040" y="1188720"/>
            <a:ext cx="4570920" cy="374796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2" name="Shape 1016"/>
          <p:cNvSpPr/>
          <p:nvPr/>
        </p:nvSpPr>
        <p:spPr>
          <a:xfrm>
            <a:off x="320040" y="1188720"/>
            <a:ext cx="45709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3" name="Text 1070"/>
          <p:cNvSpPr/>
          <p:nvPr/>
        </p:nvSpPr>
        <p:spPr>
          <a:xfrm>
            <a:off x="411480" y="1188720"/>
            <a:ext cx="4479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4" name="Text 1071"/>
          <p:cNvSpPr/>
          <p:nvPr/>
        </p:nvSpPr>
        <p:spPr>
          <a:xfrm>
            <a:off x="457200" y="1444680"/>
            <a:ext cx="4296600" cy="340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{ "match": { "tweet": "About OpenSearch" 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Avec options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"match":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"message":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"query":    "this is a test",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"operator": "and"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5" name="Shape 1017"/>
          <p:cNvSpPr/>
          <p:nvPr/>
        </p:nvSpPr>
        <p:spPr>
          <a:xfrm>
            <a:off x="5120640" y="1188720"/>
            <a:ext cx="3656520" cy="146196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6" name="Shape 1018"/>
          <p:cNvSpPr/>
          <p:nvPr/>
        </p:nvSpPr>
        <p:spPr>
          <a:xfrm>
            <a:off x="5120640" y="1188720"/>
            <a:ext cx="63000" cy="14619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7" name="Text 1072"/>
          <p:cNvSpPr/>
          <p:nvPr/>
        </p:nvSpPr>
        <p:spPr>
          <a:xfrm>
            <a:off x="5285160" y="128016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Comportement selon le champ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8" name="Text 1073"/>
          <p:cNvSpPr/>
          <p:nvPr/>
        </p:nvSpPr>
        <p:spPr>
          <a:xfrm>
            <a:off x="5321880" y="1591200"/>
            <a:ext cx="333648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Champ full-text → analyse la chaîne avec le même analyseur que le champ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Champ à valeur exacte → recherche la valeur exacte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9" name="Shape 1019"/>
          <p:cNvSpPr/>
          <p:nvPr/>
        </p:nvSpPr>
        <p:spPr>
          <a:xfrm>
            <a:off x="5120640" y="2834640"/>
            <a:ext cx="3656520" cy="214776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0" name="Shape 1020"/>
          <p:cNvSpPr/>
          <p:nvPr/>
        </p:nvSpPr>
        <p:spPr>
          <a:xfrm>
            <a:off x="5120640" y="2834640"/>
            <a:ext cx="63000" cy="21477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1" name="Text 1074"/>
          <p:cNvSpPr/>
          <p:nvPr/>
        </p:nvSpPr>
        <p:spPr>
          <a:xfrm>
            <a:off x="5285160" y="292608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Options principales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2" name="Text 1075"/>
          <p:cNvSpPr/>
          <p:nvPr/>
        </p:nvSpPr>
        <p:spPr>
          <a:xfrm>
            <a:off x="5321880" y="3237120"/>
            <a:ext cx="333648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operator (and/or) : opérateur booléen entre les termes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minimum_should_match : nbre minimum de clauses matchant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analyzer : analyseur à utiliser pour la chaîne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lenient : ignorer les erreurs de types de données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Shape 1021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4" name="Shape 1022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5" name="Text 1076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Opérateur multi_match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6" name="Text 1078"/>
          <p:cNvSpPr/>
          <p:nvPr/>
        </p:nvSpPr>
        <p:spPr>
          <a:xfrm>
            <a:off x="320040" y="7772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Exécuter la même requête sur plusieurs champs simultanément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7" name="Shape 1023"/>
          <p:cNvSpPr/>
          <p:nvPr/>
        </p:nvSpPr>
        <p:spPr>
          <a:xfrm>
            <a:off x="320040" y="1188720"/>
            <a:ext cx="5028120" cy="356508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8" name="Shape 1024"/>
          <p:cNvSpPr/>
          <p:nvPr/>
        </p:nvSpPr>
        <p:spPr>
          <a:xfrm>
            <a:off x="320040" y="118872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9" name="Text 1079"/>
          <p:cNvSpPr/>
          <p:nvPr/>
        </p:nvSpPr>
        <p:spPr>
          <a:xfrm>
            <a:off x="411480" y="118872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0" name="Text 1080"/>
          <p:cNvSpPr/>
          <p:nvPr/>
        </p:nvSpPr>
        <p:spPr>
          <a:xfrm>
            <a:off x="457200" y="1444680"/>
            <a:ext cx="4753800" cy="321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Recherche sur plusieurs champs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"multi_match":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"query":  "this is a test",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"fields": [ "subject^3", "text*" ]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1" name="Shape 1025"/>
          <p:cNvSpPr/>
          <p:nvPr/>
        </p:nvSpPr>
        <p:spPr>
          <a:xfrm>
            <a:off x="5577840" y="1188720"/>
            <a:ext cx="3245040" cy="228492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2" name="Shape 1026"/>
          <p:cNvSpPr/>
          <p:nvPr/>
        </p:nvSpPr>
        <p:spPr>
          <a:xfrm>
            <a:off x="5577840" y="1188720"/>
            <a:ext cx="63000" cy="22849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3" name="Text 1081"/>
          <p:cNvSpPr/>
          <p:nvPr/>
        </p:nvSpPr>
        <p:spPr>
          <a:xfrm>
            <a:off x="5742360" y="128016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Fonctionnalités avancées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4" name="Text 1082"/>
          <p:cNvSpPr/>
          <p:nvPr/>
        </p:nvSpPr>
        <p:spPr>
          <a:xfrm>
            <a:off x="5779080" y="1591200"/>
            <a:ext cx="2925000" cy="17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Les caractères joker (*) sont utilisables pour les noms de champs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Notation ^ pour booster un champ : subject^3 triple le score sur subject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Plusieurs types : best_fields, most_fields, cross_fields, phrase…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5" name="Shape 1027"/>
          <p:cNvSpPr/>
          <p:nvPr/>
        </p:nvSpPr>
        <p:spPr>
          <a:xfrm>
            <a:off x="5577840" y="3611880"/>
            <a:ext cx="3245040" cy="137052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6" name="Text 1083"/>
          <p:cNvSpPr/>
          <p:nvPr/>
        </p:nvSpPr>
        <p:spPr>
          <a:xfrm>
            <a:off x="5715000" y="3703320"/>
            <a:ext cx="30164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💡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Exemple simple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7" name="Text 1084"/>
          <p:cNvSpPr/>
          <p:nvPr/>
        </p:nvSpPr>
        <p:spPr>
          <a:xfrm>
            <a:off x="5715000" y="4005000"/>
            <a:ext cx="301644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{"multi_match": 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"query": "full text",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"fields": ["title","body"]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}}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Shape 1028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9" name="Shape 1029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0" name="Text 1085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prefix · wildcard · regexp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1" name="Shape 1030"/>
          <p:cNvSpPr/>
          <p:nvPr/>
        </p:nvSpPr>
        <p:spPr>
          <a:xfrm>
            <a:off x="320040" y="914400"/>
            <a:ext cx="10962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2" name="Text 1087"/>
          <p:cNvSpPr/>
          <p:nvPr/>
        </p:nvSpPr>
        <p:spPr>
          <a:xfrm>
            <a:off x="320040" y="91440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prefix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3" name="Text 1088"/>
          <p:cNvSpPr/>
          <p:nvPr/>
        </p:nvSpPr>
        <p:spPr>
          <a:xfrm>
            <a:off x="1554480" y="91440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Recherche sur le terme sans analyse. Cherche le préfixe exact.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4" name="Shape 1031"/>
          <p:cNvSpPr/>
          <p:nvPr/>
        </p:nvSpPr>
        <p:spPr>
          <a:xfrm>
            <a:off x="4480560" y="868680"/>
            <a:ext cx="4342320" cy="11419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5" name="Shape 1032"/>
          <p:cNvSpPr/>
          <p:nvPr/>
        </p:nvSpPr>
        <p:spPr>
          <a:xfrm>
            <a:off x="4480560" y="868680"/>
            <a:ext cx="43423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6" name="Text 1089"/>
          <p:cNvSpPr/>
          <p:nvPr/>
        </p:nvSpPr>
        <p:spPr>
          <a:xfrm>
            <a:off x="4572000" y="868680"/>
            <a:ext cx="4250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7" name="Text 1090"/>
          <p:cNvSpPr/>
          <p:nvPr/>
        </p:nvSpPr>
        <p:spPr>
          <a:xfrm>
            <a:off x="4617720" y="1124640"/>
            <a:ext cx="406800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  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"prefix": { "postcode": "W1"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8" name="Shape 1033"/>
          <p:cNvSpPr/>
          <p:nvPr/>
        </p:nvSpPr>
        <p:spPr>
          <a:xfrm>
            <a:off x="320040" y="2240280"/>
            <a:ext cx="10962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9" name="Text 1091"/>
          <p:cNvSpPr/>
          <p:nvPr/>
        </p:nvSpPr>
        <p:spPr>
          <a:xfrm>
            <a:off x="320040" y="224028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wildcard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0" name="Text 1092"/>
          <p:cNvSpPr/>
          <p:nvPr/>
        </p:nvSpPr>
        <p:spPr>
          <a:xfrm>
            <a:off x="1554480" y="224028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Caractères joker dans le terme (* et ?).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1" name="Shape 1034"/>
          <p:cNvSpPr/>
          <p:nvPr/>
        </p:nvSpPr>
        <p:spPr>
          <a:xfrm>
            <a:off x="4480560" y="2194560"/>
            <a:ext cx="4342320" cy="11419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2" name="Shape 1035"/>
          <p:cNvSpPr/>
          <p:nvPr/>
        </p:nvSpPr>
        <p:spPr>
          <a:xfrm>
            <a:off x="4480560" y="2194560"/>
            <a:ext cx="43423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3" name="Text 1093"/>
          <p:cNvSpPr/>
          <p:nvPr/>
        </p:nvSpPr>
        <p:spPr>
          <a:xfrm>
            <a:off x="4572000" y="2194560"/>
            <a:ext cx="4250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4" name="Text 1094"/>
          <p:cNvSpPr/>
          <p:nvPr/>
        </p:nvSpPr>
        <p:spPr>
          <a:xfrm>
            <a:off x="4617720" y="2450520"/>
            <a:ext cx="406800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  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"wildcard": { "postcode": "W?F*HW"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5" name="Text 1095"/>
          <p:cNvSpPr/>
          <p:nvPr/>
        </p:nvSpPr>
        <p:spPr>
          <a:xfrm>
            <a:off x="320040" y="356616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regexp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6" name="Text 1096"/>
          <p:cNvSpPr/>
          <p:nvPr/>
        </p:nvSpPr>
        <p:spPr>
          <a:xfrm>
            <a:off x="1554480" y="3566160"/>
            <a:ext cx="2742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Expression régulière sur le terme.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7" name="Shape 1037"/>
          <p:cNvSpPr/>
          <p:nvPr/>
        </p:nvSpPr>
        <p:spPr>
          <a:xfrm>
            <a:off x="4480560" y="3520440"/>
            <a:ext cx="4342320" cy="11419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8" name="Shape 1038"/>
          <p:cNvSpPr/>
          <p:nvPr/>
        </p:nvSpPr>
        <p:spPr>
          <a:xfrm>
            <a:off x="4480560" y="3520440"/>
            <a:ext cx="4342320" cy="20016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9" name="Text 1097"/>
          <p:cNvSpPr/>
          <p:nvPr/>
        </p:nvSpPr>
        <p:spPr>
          <a:xfrm>
            <a:off x="4572000" y="3520440"/>
            <a:ext cx="4250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0" name="Text 1098"/>
          <p:cNvSpPr/>
          <p:nvPr/>
        </p:nvSpPr>
        <p:spPr>
          <a:xfrm>
            <a:off x="4617720" y="3776400"/>
            <a:ext cx="406800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  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"regexp": { "postcode": "W[0-9].+"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1" name="Shape 1039"/>
          <p:cNvSpPr/>
          <p:nvPr/>
        </p:nvSpPr>
        <p:spPr>
          <a:xfrm>
            <a:off x="320040" y="4662360"/>
            <a:ext cx="8502840" cy="44460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2" name="Shape 1040"/>
          <p:cNvSpPr/>
          <p:nvPr/>
        </p:nvSpPr>
        <p:spPr>
          <a:xfrm>
            <a:off x="320040" y="4662360"/>
            <a:ext cx="63000" cy="40860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3" name="Text 1099"/>
          <p:cNvSpPr/>
          <p:nvPr/>
        </p:nvSpPr>
        <p:spPr>
          <a:xfrm>
            <a:off x="502920" y="4556520"/>
            <a:ext cx="82285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</a:rPr>
              <a:t>⚠️ </a:t>
            </a:r>
            <a:r>
              <a:rPr b="0" lang="en-US" sz="1100" spc="-1" strike="noStrike">
                <a:solidFill>
                  <a:srgbClr val="d0eaee"/>
                </a:solidFill>
                <a:latin typeface="Calibri"/>
              </a:rPr>
              <a:t>Performance : Ces requêtes peuvent être lentes sur de grands index. Activez index_prefixes sur les champs concernés pour accélérer prefix.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4" name="Shape 1041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5" name="Shape 1042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6" name="Text 1100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match_phrase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7" name="Text 1102"/>
          <p:cNvSpPr/>
          <p:nvPr/>
        </p:nvSpPr>
        <p:spPr>
          <a:xfrm>
            <a:off x="320040" y="777240"/>
            <a:ext cx="85028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</a:rPr>
              <a:t>Recherche les documents contenant tous les termes dans le même ordre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8" name="Shape 1043"/>
          <p:cNvSpPr/>
          <p:nvPr/>
        </p:nvSpPr>
        <p:spPr>
          <a:xfrm>
            <a:off x="320040" y="1143000"/>
            <a:ext cx="5028120" cy="379368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9" name="Shape 1044"/>
          <p:cNvSpPr/>
          <p:nvPr/>
        </p:nvSpPr>
        <p:spPr>
          <a:xfrm>
            <a:off x="320040" y="114300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0" name="Text 1103"/>
          <p:cNvSpPr/>
          <p:nvPr/>
        </p:nvSpPr>
        <p:spPr>
          <a:xfrm>
            <a:off x="411480" y="114300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1" name="Text 1104"/>
          <p:cNvSpPr/>
          <p:nvPr/>
        </p:nvSpPr>
        <p:spPr>
          <a:xfrm>
            <a:off x="457200" y="1398960"/>
            <a:ext cx="4753800" cy="34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Phrase exacte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  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"match_phrase": { "title": "quick brown fox"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Avec flexibilité (slop)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  "query": { "match_phrase":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"title":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"query": "quick fox",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"slop":  20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2" name="Shape 1045"/>
          <p:cNvSpPr/>
          <p:nvPr/>
        </p:nvSpPr>
        <p:spPr>
          <a:xfrm>
            <a:off x="5577840" y="1143000"/>
            <a:ext cx="3245040" cy="17820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3" name="Shape 1046"/>
          <p:cNvSpPr/>
          <p:nvPr/>
        </p:nvSpPr>
        <p:spPr>
          <a:xfrm>
            <a:off x="5577840" y="1143000"/>
            <a:ext cx="63000" cy="17820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4" name="Text 1105"/>
          <p:cNvSpPr/>
          <p:nvPr/>
        </p:nvSpPr>
        <p:spPr>
          <a:xfrm>
            <a:off x="5742360" y="123444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match_phrase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5" name="Text 1106"/>
          <p:cNvSpPr/>
          <p:nvPr/>
        </p:nvSpPr>
        <p:spPr>
          <a:xfrm>
            <a:off x="5779080" y="1545480"/>
            <a:ext cx="29250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Analyse la chaîne pour produire une liste de termes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Ne garde que les documents contenant tous les termes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Les termes doivent être dans la même position relative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6" name="Shape 1047"/>
          <p:cNvSpPr/>
          <p:nvPr/>
        </p:nvSpPr>
        <p:spPr>
          <a:xfrm>
            <a:off x="5577840" y="3063240"/>
            <a:ext cx="3245040" cy="187344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7" name="Shape 1048"/>
          <p:cNvSpPr/>
          <p:nvPr/>
        </p:nvSpPr>
        <p:spPr>
          <a:xfrm>
            <a:off x="5577840" y="3063240"/>
            <a:ext cx="63000" cy="187344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8" name="Text 1107"/>
          <p:cNvSpPr/>
          <p:nvPr/>
        </p:nvSpPr>
        <p:spPr>
          <a:xfrm>
            <a:off x="5742360" y="315468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Paramètre slop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9" name="Text 1108"/>
          <p:cNvSpPr/>
          <p:nvPr/>
        </p:nvSpPr>
        <p:spPr>
          <a:xfrm>
            <a:off x="5779080" y="3465720"/>
            <a:ext cx="292500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Introduit de la flexibilité dans le phrase matching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Indique la distance maximale entre les termes (en mots)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Les termes les plus proches obtiennent un meilleur score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Shape 1049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1" name="Shape 1050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2" name="Text 1109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match_phrase_prefix · fuzzy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3" name="Shape 1051"/>
          <p:cNvSpPr/>
          <p:nvPr/>
        </p:nvSpPr>
        <p:spPr>
          <a:xfrm>
            <a:off x="320040" y="822960"/>
            <a:ext cx="5028120" cy="241704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4" name="Shape 1052"/>
          <p:cNvSpPr/>
          <p:nvPr/>
        </p:nvSpPr>
        <p:spPr>
          <a:xfrm>
            <a:off x="320040" y="82296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5" name="Text 1111"/>
          <p:cNvSpPr/>
          <p:nvPr/>
        </p:nvSpPr>
        <p:spPr>
          <a:xfrm>
            <a:off x="411480" y="82296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6" name="Text 1112"/>
          <p:cNvSpPr/>
          <p:nvPr/>
        </p:nvSpPr>
        <p:spPr>
          <a:xfrm>
            <a:off x="457200" y="1078920"/>
            <a:ext cx="475380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match_phrase_prefix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Comme match_phrase, dernier mot = préfixe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"match_phrase_prefix":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"brand":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"query": "johnnie walker bl",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"max_expansions": 50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7" name="Shape 1053"/>
          <p:cNvSpPr/>
          <p:nvPr/>
        </p:nvSpPr>
        <p:spPr>
          <a:xfrm>
            <a:off x="320040" y="3480480"/>
            <a:ext cx="5028120" cy="109620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8" name="Shape 1054"/>
          <p:cNvSpPr/>
          <p:nvPr/>
        </p:nvSpPr>
        <p:spPr>
          <a:xfrm>
            <a:off x="320040" y="3480480"/>
            <a:ext cx="5028120" cy="20016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9" name="Text 1113"/>
          <p:cNvSpPr/>
          <p:nvPr/>
        </p:nvSpPr>
        <p:spPr>
          <a:xfrm>
            <a:off x="411480" y="348048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0" name="Text 1114"/>
          <p:cNvSpPr/>
          <p:nvPr/>
        </p:nvSpPr>
        <p:spPr>
          <a:xfrm>
            <a:off x="457200" y="3736440"/>
            <a:ext cx="4753800" cy="74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fuzzy – Distance de Levenshtein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/mon-index/_search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  "query":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"fuzzy": { "text": "surprize"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1" name="Shape 1055"/>
          <p:cNvSpPr/>
          <p:nvPr/>
        </p:nvSpPr>
        <p:spPr>
          <a:xfrm>
            <a:off x="5577840" y="822960"/>
            <a:ext cx="3245040" cy="19648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2" name="Shape 1056"/>
          <p:cNvSpPr/>
          <p:nvPr/>
        </p:nvSpPr>
        <p:spPr>
          <a:xfrm>
            <a:off x="5577840" y="822960"/>
            <a:ext cx="63000" cy="19648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3" name="Text 1115"/>
          <p:cNvSpPr/>
          <p:nvPr/>
        </p:nvSpPr>
        <p:spPr>
          <a:xfrm>
            <a:off x="5742360" y="91440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match_phrase_prefix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4" name="Text 1116"/>
          <p:cNvSpPr/>
          <p:nvPr/>
        </p:nvSpPr>
        <p:spPr>
          <a:xfrm>
            <a:off x="5779080" y="1225440"/>
            <a:ext cx="292500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 comporte comme match_phrase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Traite le dernier mot comme un préfixe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max_expansions : limite le nombre d'expansions du préfixe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Idéal pour l'autocomplétion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5" name="Shape 1057"/>
          <p:cNvSpPr/>
          <p:nvPr/>
        </p:nvSpPr>
        <p:spPr>
          <a:xfrm>
            <a:off x="5577840" y="2926080"/>
            <a:ext cx="3245040" cy="175392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6" name="Shape 1058"/>
          <p:cNvSpPr/>
          <p:nvPr/>
        </p:nvSpPr>
        <p:spPr>
          <a:xfrm>
            <a:off x="5577840" y="2926080"/>
            <a:ext cx="63000" cy="17539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7" name="Text 1117"/>
          <p:cNvSpPr/>
          <p:nvPr/>
        </p:nvSpPr>
        <p:spPr>
          <a:xfrm>
            <a:off x="5742360" y="301752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fuzzy – Recherche floue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8" name="Text 1118"/>
          <p:cNvSpPr/>
          <p:nvPr/>
        </p:nvSpPr>
        <p:spPr>
          <a:xfrm>
            <a:off x="5779080" y="3328560"/>
            <a:ext cx="2925000" cy="13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Gère les erreurs de frappe (typos)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Utilise la distance de Levenshtein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prefix_length : caractères initiaux non modifiés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max_expansions : limite les termes approchants générés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9" name="Shape 496"/>
          <p:cNvSpPr/>
          <p:nvPr/>
        </p:nvSpPr>
        <p:spPr>
          <a:xfrm>
            <a:off x="274320" y="4753080"/>
            <a:ext cx="859320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0" name="Shape 517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1" name="Text 455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5.1 —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Requêt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es DSL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2" name="Shape 704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3" name="Text 704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4" name="Text 705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5" name="Shape 705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6" name="Text 706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Buckets – Metrics - Imbrication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7" name="Shape 706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8" name="Shape 707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9" name="Text 707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DSL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0" name="Shape 708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1" name="Text 708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2" name="Shape 709"/>
          <p:cNvSpPr/>
          <p:nvPr/>
        </p:nvSpPr>
        <p:spPr>
          <a:xfrm>
            <a:off x="5270400" y="4509360"/>
            <a:ext cx="12816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3" name="Text 709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4" name="Text 710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Syntaxe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5" name="Text 711"/>
          <p:cNvSpPr/>
          <p:nvPr/>
        </p:nvSpPr>
        <p:spPr>
          <a:xfrm>
            <a:off x="3708000" y="4546800"/>
            <a:ext cx="122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Opérateurs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6" name="Text 712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7" name="Text 713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Géolocalisation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8" name="Text 714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9" name="Text 715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0" name="Shape 1272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1" name="Shape 1273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2" name="Text 1129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Introduction aux agrégations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3" name="Shape 1274"/>
          <p:cNvSpPr/>
          <p:nvPr/>
        </p:nvSpPr>
        <p:spPr>
          <a:xfrm>
            <a:off x="320040" y="822960"/>
            <a:ext cx="8502840" cy="151632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4" name="Shape 1275"/>
          <p:cNvSpPr/>
          <p:nvPr/>
        </p:nvSpPr>
        <p:spPr>
          <a:xfrm>
            <a:off x="320040" y="822960"/>
            <a:ext cx="63000" cy="15163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5" name="Text 1352"/>
          <p:cNvSpPr/>
          <p:nvPr/>
        </p:nvSpPr>
        <p:spPr>
          <a:xfrm>
            <a:off x="484560" y="914400"/>
            <a:ext cx="8228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Pourquoi les agrégations ?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6" name="Text 1353"/>
          <p:cNvSpPr/>
          <p:nvPr/>
        </p:nvSpPr>
        <p:spPr>
          <a:xfrm>
            <a:off x="521280" y="1225440"/>
            <a:ext cx="818280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Extrêmement puissantes pour le reporting et les tableaux de bord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 de volumes massifs de données en temps réel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Le reporting s'adapte dynamiquement aux nouvelles données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Base de OpenSearch Dashboards (équivalent Kibana)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7" name="Shape 1276"/>
          <p:cNvSpPr/>
          <p:nvPr/>
        </p:nvSpPr>
        <p:spPr>
          <a:xfrm>
            <a:off x="320040" y="2552400"/>
            <a:ext cx="2650680" cy="17362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8" name="Shape 1277"/>
          <p:cNvSpPr/>
          <p:nvPr/>
        </p:nvSpPr>
        <p:spPr>
          <a:xfrm>
            <a:off x="411480" y="2625480"/>
            <a:ext cx="24678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9" name="Text 1354"/>
          <p:cNvSpPr/>
          <p:nvPr/>
        </p:nvSpPr>
        <p:spPr>
          <a:xfrm>
            <a:off x="411480" y="26254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Metric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0" name="Text 1355"/>
          <p:cNvSpPr/>
          <p:nvPr/>
        </p:nvSpPr>
        <p:spPr>
          <a:xfrm>
            <a:off x="457200" y="2963880"/>
            <a:ext cx="23763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Calculs statistiques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(min, max, avg, sum, stats, percentiles)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1" name="Shape 1278"/>
          <p:cNvSpPr/>
          <p:nvPr/>
        </p:nvSpPr>
        <p:spPr>
          <a:xfrm>
            <a:off x="3246120" y="2552400"/>
            <a:ext cx="2650680" cy="17362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2" name="Shape 1279"/>
          <p:cNvSpPr/>
          <p:nvPr/>
        </p:nvSpPr>
        <p:spPr>
          <a:xfrm>
            <a:off x="3337560" y="2625480"/>
            <a:ext cx="2467800" cy="273240"/>
          </a:xfrm>
          <a:prstGeom prst="roundRect">
            <a:avLst>
              <a:gd name="adj" fmla="val 26667"/>
            </a:avLst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3" name="Text 1356"/>
          <p:cNvSpPr/>
          <p:nvPr/>
        </p:nvSpPr>
        <p:spPr>
          <a:xfrm>
            <a:off x="3337560" y="26254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Bucket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4" name="Text 1357"/>
          <p:cNvSpPr/>
          <p:nvPr/>
        </p:nvSpPr>
        <p:spPr>
          <a:xfrm>
            <a:off x="3383280" y="2963880"/>
            <a:ext cx="23763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Regroupe en "seaux"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(terms, range, date_histogram, filter)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5" name="Shape 1280"/>
          <p:cNvSpPr/>
          <p:nvPr/>
        </p:nvSpPr>
        <p:spPr>
          <a:xfrm>
            <a:off x="6172200" y="2552400"/>
            <a:ext cx="2650680" cy="17362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6" name="Shape 1281"/>
          <p:cNvSpPr/>
          <p:nvPr/>
        </p:nvSpPr>
        <p:spPr>
          <a:xfrm>
            <a:off x="6263640" y="2625480"/>
            <a:ext cx="2467800" cy="273240"/>
          </a:xfrm>
          <a:prstGeom prst="roundRect">
            <a:avLst>
              <a:gd name="adj" fmla="val 26667"/>
            </a:avLst>
          </a:prstGeom>
          <a:solidFill>
            <a:srgbClr val="0040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7" name="Text 1358"/>
          <p:cNvSpPr/>
          <p:nvPr/>
        </p:nvSpPr>
        <p:spPr>
          <a:xfrm>
            <a:off x="6263640" y="2625480"/>
            <a:ext cx="24678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Pipeline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8" name="Text 1359"/>
          <p:cNvSpPr/>
          <p:nvPr/>
        </p:nvSpPr>
        <p:spPr>
          <a:xfrm>
            <a:off x="6309360" y="2963880"/>
            <a:ext cx="237636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Opèrent sur les résultats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d'autres agrégations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9" name="Text 1360"/>
          <p:cNvSpPr/>
          <p:nvPr/>
        </p:nvSpPr>
        <p:spPr>
          <a:xfrm>
            <a:off x="320040" y="4406040"/>
            <a:ext cx="850284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Structure : { "</a:t>
            </a: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aggs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": { "mon_agg": { "</a:t>
            </a:r>
            <a:r>
              <a:rPr b="1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terms</a:t>
            </a:r>
            <a:r>
              <a:rPr b="0" lang="en-US" sz="1400" spc="-1" strike="noStrike">
                <a:solidFill>
                  <a:srgbClr val="ffffff"/>
                </a:solidFill>
                <a:latin typeface="Consolas"/>
                <a:ea typeface="Consolas"/>
              </a:rPr>
              <a:t>": { "field": "status" } } } }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0" name="Shape 1282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1" name="Shape 1283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2" name="Text 1361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Metric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3" name="Shape 1284"/>
          <p:cNvSpPr/>
          <p:nvPr/>
        </p:nvSpPr>
        <p:spPr>
          <a:xfrm>
            <a:off x="320040" y="822960"/>
            <a:ext cx="5028120" cy="41137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4" name="Shape 1285"/>
          <p:cNvSpPr/>
          <p:nvPr/>
        </p:nvSpPr>
        <p:spPr>
          <a:xfrm>
            <a:off x="320040" y="82296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5" name="Text 1363"/>
          <p:cNvSpPr/>
          <p:nvPr/>
        </p:nvSpPr>
        <p:spPr>
          <a:xfrm>
            <a:off x="411480" y="82296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6" name="Text 1364"/>
          <p:cNvSpPr/>
          <p:nvPr/>
        </p:nvSpPr>
        <p:spPr>
          <a:xfrm>
            <a:off x="457200" y="1078920"/>
            <a:ext cx="47538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avg – Durée moyenne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/logs/_search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"size": 0,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"aggs":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"duree_moy":  { "avg":   { "field": "duration" } 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"duree_min":  { "min":   { "field": "duration" } 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"duree_max":  { "max":   { "field": "duration" } 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"duree_stats": { "stats": { "field": "duration" }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7" name="Shape 1286"/>
          <p:cNvSpPr/>
          <p:nvPr/>
        </p:nvSpPr>
        <p:spPr>
          <a:xfrm>
            <a:off x="5577840" y="822960"/>
            <a:ext cx="3245040" cy="24678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8" name="Shape 1287"/>
          <p:cNvSpPr/>
          <p:nvPr/>
        </p:nvSpPr>
        <p:spPr>
          <a:xfrm>
            <a:off x="5577840" y="822960"/>
            <a:ext cx="63000" cy="246780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9" name="Text 1365"/>
          <p:cNvSpPr/>
          <p:nvPr/>
        </p:nvSpPr>
        <p:spPr>
          <a:xfrm>
            <a:off x="5742360" y="91440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Metric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0" name="Text 1366"/>
          <p:cNvSpPr/>
          <p:nvPr/>
        </p:nvSpPr>
        <p:spPr>
          <a:xfrm>
            <a:off x="5779080" y="1225440"/>
            <a:ext cx="2925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avg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moyenne d'un champ numérique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min / max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valeur </a:t>
            </a: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minimale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ou maximale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sum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somme d'un champ numérique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stats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avg, min, max, sum, count en une seule requête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percentiles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distribution (p50, p95, p99…)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1" name="Shape 1288"/>
          <p:cNvSpPr/>
          <p:nvPr/>
        </p:nvSpPr>
        <p:spPr>
          <a:xfrm>
            <a:off x="5577840" y="3429000"/>
            <a:ext cx="3245040" cy="15076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2" name="Shape 1289"/>
          <p:cNvSpPr/>
          <p:nvPr/>
        </p:nvSpPr>
        <p:spPr>
          <a:xfrm>
            <a:off x="5577840" y="3429000"/>
            <a:ext cx="63000" cy="15076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3" name="Text 1367"/>
          <p:cNvSpPr/>
          <p:nvPr/>
        </p:nvSpPr>
        <p:spPr>
          <a:xfrm>
            <a:off x="5742360" y="352044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Tip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4" name="Text 1368"/>
          <p:cNvSpPr/>
          <p:nvPr/>
        </p:nvSpPr>
        <p:spPr>
          <a:xfrm>
            <a:off x="5779080" y="3831480"/>
            <a:ext cx="29250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Ajoutez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"size": 0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pour ne retourner que les agrégations.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Combinables avec une </a:t>
            </a:r>
            <a:r>
              <a:rPr b="1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query</a:t>
            </a: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 pour restreindre le périmètre de calcul.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5" name="Shape 1290"/>
          <p:cNvSpPr/>
          <p:nvPr/>
        </p:nvSpPr>
        <p:spPr>
          <a:xfrm>
            <a:off x="0" y="0"/>
            <a:ext cx="914292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6" name="Shape 1291"/>
          <p:cNvSpPr/>
          <p:nvPr/>
        </p:nvSpPr>
        <p:spPr>
          <a:xfrm>
            <a:off x="0" y="0"/>
            <a:ext cx="131400" cy="529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7" name="Text 1369"/>
          <p:cNvSpPr/>
          <p:nvPr/>
        </p:nvSpPr>
        <p:spPr>
          <a:xfrm>
            <a:off x="223920" y="0"/>
            <a:ext cx="8278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Agrégations Metric</a:t>
            </a:r>
            <a:endParaRPr b="0" lang="fr-FR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8" name="Shape 1292"/>
          <p:cNvSpPr/>
          <p:nvPr/>
        </p:nvSpPr>
        <p:spPr>
          <a:xfrm>
            <a:off x="0" y="530280"/>
            <a:ext cx="4068000" cy="4611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9" name="Shape 1293"/>
          <p:cNvSpPr/>
          <p:nvPr/>
        </p:nvSpPr>
        <p:spPr>
          <a:xfrm>
            <a:off x="0" y="530280"/>
            <a:ext cx="4068000" cy="168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0" name="Text 1371"/>
          <p:cNvSpPr/>
          <p:nvPr/>
        </p:nvSpPr>
        <p:spPr>
          <a:xfrm>
            <a:off x="73080" y="530280"/>
            <a:ext cx="3976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 / OpenSearch Response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1" name="Shape 1294"/>
          <p:cNvSpPr/>
          <p:nvPr/>
        </p:nvSpPr>
        <p:spPr>
          <a:xfrm>
            <a:off x="4069080" y="530280"/>
            <a:ext cx="5073840" cy="461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2" name="Text 1372"/>
          <p:cNvSpPr/>
          <p:nvPr/>
        </p:nvSpPr>
        <p:spPr>
          <a:xfrm>
            <a:off x="91440" y="740520"/>
            <a:ext cx="3885120" cy="43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# Réponse de la requête avg / stats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"hits": {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"total"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1240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}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"aggregations"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 {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142.7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"duree_min"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 {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12.0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"duree_max"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 {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998.3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"duree_stats"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"count"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1240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"min"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12.0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"max"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998.3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"avg"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142.7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7ec8d4"/>
                </a:solidFill>
                <a:latin typeface="Consolas"/>
                <a:ea typeface="Consolas"/>
              </a:rPr>
              <a:t>"sum"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50" spc="-1" strike="noStrike">
                <a:solidFill>
                  <a:srgbClr val="ffd580"/>
                </a:solidFill>
                <a:latin typeface="Consolas"/>
                <a:ea typeface="Consolas"/>
              </a:rPr>
              <a:t>176948.0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3" name="Text 1373"/>
          <p:cNvSpPr/>
          <p:nvPr/>
        </p:nvSpPr>
        <p:spPr>
          <a:xfrm>
            <a:off x="4325040" y="731520"/>
            <a:ext cx="4744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Agrégations Metric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4" name="Text 1374"/>
          <p:cNvSpPr/>
          <p:nvPr/>
        </p:nvSpPr>
        <p:spPr>
          <a:xfrm>
            <a:off x="4325040" y="1078920"/>
            <a:ext cx="4744800" cy="21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hits.total.value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 — nombre total de documents analysés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duree_moy.value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 — résultat de avg : la moyenne calculée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duree_min / max.value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 — valeur minimale et maximale du champ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duree_stats</a:t>
            </a: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 — objet unique retournant count, min, max, avg et sum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5" name="Shape 1295"/>
          <p:cNvSpPr/>
          <p:nvPr/>
        </p:nvSpPr>
        <p:spPr>
          <a:xfrm>
            <a:off x="4325040" y="3380400"/>
            <a:ext cx="4744800" cy="138888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6" name="Shape 1296"/>
          <p:cNvSpPr/>
          <p:nvPr/>
        </p:nvSpPr>
        <p:spPr>
          <a:xfrm>
            <a:off x="4325040" y="3380400"/>
            <a:ext cx="58320" cy="1388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7" name="Text 1375"/>
          <p:cNvSpPr/>
          <p:nvPr/>
        </p:nvSpPr>
        <p:spPr>
          <a:xfrm>
            <a:off x="4434840" y="3444480"/>
            <a:ext cx="457992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73139"/>
                </a:solidFill>
                <a:latin typeface="Calibri"/>
                <a:ea typeface="Calibri"/>
              </a:rPr>
              <a:t>Tip</a:t>
            </a:r>
            <a:endParaRPr b="0" lang="fr-FR" sz="1050" spc="-1" strike="noStrike">
              <a:solidFill>
                <a:srgbClr val="07313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07313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73139"/>
                </a:solidFill>
                <a:latin typeface="Calibri"/>
                <a:ea typeface="Calibri"/>
              </a:rPr>
              <a:t>Le champ </a:t>
            </a:r>
            <a:r>
              <a:rPr b="0" lang="en-US" sz="1000" spc="-1" strike="noStrike">
                <a:solidFill>
                  <a:srgbClr val="073139"/>
                </a:solidFill>
                <a:latin typeface="Consolas"/>
                <a:ea typeface="Consolas"/>
              </a:rPr>
              <a:t>"aggregations"</a:t>
            </a:r>
            <a:r>
              <a:rPr b="0" lang="en-US" sz="1000" spc="-1" strike="noStrike">
                <a:solidFill>
                  <a:srgbClr val="073139"/>
                </a:solidFill>
                <a:latin typeface="Calibri"/>
                <a:ea typeface="Calibri"/>
              </a:rPr>
              <a:t> n'apparaît que si au moins une agrégation est définie dans la requête.</a:t>
            </a:r>
            <a:endParaRPr b="0" lang="fr-FR" sz="1000" spc="-1" strike="noStrike">
              <a:solidFill>
                <a:srgbClr val="07313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73139"/>
                </a:solidFill>
                <a:latin typeface="Calibri"/>
                <a:ea typeface="Calibri"/>
              </a:rPr>
              <a:t>Avec </a:t>
            </a:r>
            <a:r>
              <a:rPr b="0" lang="en-US" sz="1000" spc="-1" strike="noStrike">
                <a:solidFill>
                  <a:srgbClr val="073139"/>
                </a:solidFill>
                <a:latin typeface="Consolas"/>
                <a:ea typeface="Consolas"/>
              </a:rPr>
              <a:t>"size": 0</a:t>
            </a:r>
            <a:r>
              <a:rPr b="0" lang="en-US" sz="1000" spc="-1" strike="noStrike">
                <a:solidFill>
                  <a:srgbClr val="073139"/>
                </a:solidFill>
                <a:latin typeface="Calibri"/>
                <a:ea typeface="Calibri"/>
              </a:rPr>
              <a:t>, le tableau </a:t>
            </a:r>
            <a:r>
              <a:rPr b="0" lang="en-US" sz="1000" spc="-1" strike="noStrike">
                <a:solidFill>
                  <a:srgbClr val="073139"/>
                </a:solidFill>
                <a:latin typeface="Consolas"/>
                <a:ea typeface="Consolas"/>
              </a:rPr>
              <a:t>"hits.hits"</a:t>
            </a:r>
            <a:r>
              <a:rPr b="0" lang="en-US" sz="1000" spc="-1" strike="noStrike">
                <a:solidFill>
                  <a:srgbClr val="073139"/>
                </a:solidFill>
                <a:latin typeface="Calibri"/>
                <a:ea typeface="Calibri"/>
              </a:rPr>
              <a:t> est vide — seul le bloc </a:t>
            </a:r>
            <a:r>
              <a:rPr b="0" lang="en-US" sz="1000" spc="-1" strike="noStrike">
                <a:solidFill>
                  <a:srgbClr val="073139"/>
                </a:solidFill>
                <a:latin typeface="Consolas"/>
                <a:ea typeface="Consolas"/>
              </a:rPr>
              <a:t>"aggregations"</a:t>
            </a:r>
            <a:r>
              <a:rPr b="0" lang="en-US" sz="1000" spc="-1" strike="noStrike">
                <a:solidFill>
                  <a:srgbClr val="073139"/>
                </a:solidFill>
                <a:latin typeface="Calibri"/>
                <a:ea typeface="Calibri"/>
              </a:rPr>
              <a:t> est retourné.</a:t>
            </a:r>
            <a:endParaRPr b="0" lang="fr-FR" sz="1000" spc="-1" strike="noStrike">
              <a:solidFill>
                <a:srgbClr val="07313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Shape 1297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9" name="Shape 1329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0" name="Text 1376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Bucket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1" name="Shape 1330"/>
          <p:cNvSpPr/>
          <p:nvPr/>
        </p:nvSpPr>
        <p:spPr>
          <a:xfrm>
            <a:off x="320040" y="822960"/>
            <a:ext cx="5028120" cy="41137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2" name="Shape 1331"/>
          <p:cNvSpPr/>
          <p:nvPr/>
        </p:nvSpPr>
        <p:spPr>
          <a:xfrm>
            <a:off x="320040" y="82296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3" name="Text 1411"/>
          <p:cNvSpPr/>
          <p:nvPr/>
        </p:nvSpPr>
        <p:spPr>
          <a:xfrm>
            <a:off x="411480" y="82296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4" name="Text 1412"/>
          <p:cNvSpPr/>
          <p:nvPr/>
        </p:nvSpPr>
        <p:spPr>
          <a:xfrm>
            <a:off x="457200" y="1078920"/>
            <a:ext cx="47538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terms – Répartition par statut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/logs/_search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"size": 0,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"aggs":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"par_statut":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"terms": { "field": "status", "size": 5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"par_jour":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"date_histogram": { "field": "date", "calendar_interval": "day"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5" name="Shape 1332"/>
          <p:cNvSpPr/>
          <p:nvPr/>
        </p:nvSpPr>
        <p:spPr>
          <a:xfrm>
            <a:off x="5577840" y="822960"/>
            <a:ext cx="3245040" cy="223632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6" name="Shape 1333"/>
          <p:cNvSpPr/>
          <p:nvPr/>
        </p:nvSpPr>
        <p:spPr>
          <a:xfrm>
            <a:off x="5577840" y="822960"/>
            <a:ext cx="63000" cy="22363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7" name="Text 1413"/>
          <p:cNvSpPr/>
          <p:nvPr/>
        </p:nvSpPr>
        <p:spPr>
          <a:xfrm>
            <a:off x="5742360" y="905760"/>
            <a:ext cx="29707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Bucket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8" name="Text 1414"/>
          <p:cNvSpPr/>
          <p:nvPr/>
        </p:nvSpPr>
        <p:spPr>
          <a:xfrm>
            <a:off x="5779080" y="1187640"/>
            <a:ext cx="2925000" cy="17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terms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regroupe par valeur de champ (top N)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range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tranches numériques (0-100, 100-500…)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date_histogram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regroupement par période (day, month…)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filter(s)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Filtre sur les buckets selon des critères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9" name="Shape 1334"/>
          <p:cNvSpPr/>
          <p:nvPr/>
        </p:nvSpPr>
        <p:spPr>
          <a:xfrm>
            <a:off x="5577840" y="3240000"/>
            <a:ext cx="3245040" cy="16966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0" name="Shape 1335"/>
          <p:cNvSpPr/>
          <p:nvPr/>
        </p:nvSpPr>
        <p:spPr>
          <a:xfrm>
            <a:off x="5577840" y="3240000"/>
            <a:ext cx="63000" cy="16966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1" name="Text 1415"/>
          <p:cNvSpPr/>
          <p:nvPr/>
        </p:nvSpPr>
        <p:spPr>
          <a:xfrm>
            <a:off x="5742360" y="3342960"/>
            <a:ext cx="29707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Tip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2" name="Text 1416"/>
          <p:cNvSpPr/>
          <p:nvPr/>
        </p:nvSpPr>
        <p:spPr>
          <a:xfrm>
            <a:off x="5779080" y="3692880"/>
            <a:ext cx="2925000" cy="11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Chaque bucket expose son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doc_count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Imbrication : Bucket dans Bucket, ou Metric dans Bucket.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Limitation du nombre de buckets via size (défaut : 10).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Shape 1336"/>
          <p:cNvSpPr/>
          <p:nvPr/>
        </p:nvSpPr>
        <p:spPr>
          <a:xfrm>
            <a:off x="0" y="0"/>
            <a:ext cx="914292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4" name="Shape 1337"/>
          <p:cNvSpPr/>
          <p:nvPr/>
        </p:nvSpPr>
        <p:spPr>
          <a:xfrm>
            <a:off x="0" y="0"/>
            <a:ext cx="131400" cy="529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5" name="Text 1417"/>
          <p:cNvSpPr/>
          <p:nvPr/>
        </p:nvSpPr>
        <p:spPr>
          <a:xfrm>
            <a:off x="223920" y="0"/>
            <a:ext cx="8278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Agrégations Bucket</a:t>
            </a:r>
            <a:endParaRPr b="0" lang="fr-FR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6" name="Shape 1338"/>
          <p:cNvSpPr/>
          <p:nvPr/>
        </p:nvSpPr>
        <p:spPr>
          <a:xfrm>
            <a:off x="0" y="530280"/>
            <a:ext cx="4068000" cy="4611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7" name="Shape 1339"/>
          <p:cNvSpPr/>
          <p:nvPr/>
        </p:nvSpPr>
        <p:spPr>
          <a:xfrm>
            <a:off x="0" y="530280"/>
            <a:ext cx="4068000" cy="168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8" name="Text 1419"/>
          <p:cNvSpPr/>
          <p:nvPr/>
        </p:nvSpPr>
        <p:spPr>
          <a:xfrm>
            <a:off x="73080" y="530280"/>
            <a:ext cx="3976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 / OpenSearch Response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9" name="Shape 1340"/>
          <p:cNvSpPr/>
          <p:nvPr/>
        </p:nvSpPr>
        <p:spPr>
          <a:xfrm>
            <a:off x="4069080" y="530280"/>
            <a:ext cx="5073840" cy="461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0" name="Text 1420"/>
          <p:cNvSpPr/>
          <p:nvPr/>
        </p:nvSpPr>
        <p:spPr>
          <a:xfrm>
            <a:off x="91440" y="740520"/>
            <a:ext cx="3885120" cy="43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# Réponse terms + date_histogram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"aggregations"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"par_statut"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"buckets"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"200"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9820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"404"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1043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"500"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317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"par_jour"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"buckets"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"key_as_string"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"2024-03-01"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1709251200000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482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"key_as_string"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"2024-03-02"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... 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1" name="Text 1421"/>
          <p:cNvSpPr/>
          <p:nvPr/>
        </p:nvSpPr>
        <p:spPr>
          <a:xfrm>
            <a:off x="4325040" y="731520"/>
            <a:ext cx="4744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Agrégations Bucket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2" name="Text 1422"/>
          <p:cNvSpPr/>
          <p:nvPr/>
        </p:nvSpPr>
        <p:spPr>
          <a:xfrm>
            <a:off x="4325040" y="1078920"/>
            <a:ext cx="4744800" cy="22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buckets[ ]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tableau des groupes (un objet par valeur distincte)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key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valeur du champ utilisé pour le regroupement (ex: "200", "404")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doc_count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nombre de documents dans ce bucket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key_as_string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date formatée (uniquement pour date_histogram)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key (timestamp)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epoch millis correspondant à la période du bucket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3" name="Shape 1341"/>
          <p:cNvSpPr/>
          <p:nvPr/>
        </p:nvSpPr>
        <p:spPr>
          <a:xfrm>
            <a:off x="4325040" y="3776400"/>
            <a:ext cx="4744800" cy="126360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4" name="Shape 1342"/>
          <p:cNvSpPr/>
          <p:nvPr/>
        </p:nvSpPr>
        <p:spPr>
          <a:xfrm>
            <a:off x="4325040" y="3776400"/>
            <a:ext cx="58320" cy="1388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5" name="Text 1423"/>
          <p:cNvSpPr/>
          <p:nvPr/>
        </p:nvSpPr>
        <p:spPr>
          <a:xfrm>
            <a:off x="4434840" y="3840480"/>
            <a:ext cx="457992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355269"/>
                </a:solidFill>
                <a:latin typeface="Calibri"/>
                <a:ea typeface="Calibri"/>
              </a:rPr>
              <a:t>Tip</a:t>
            </a: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Chaque bucket peut contenir des </a:t>
            </a: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sous-agrégations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imbriquées (metric ou bucket) — elles apparaissent à l'intérieur de l'objet bucket.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Le paramètre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"size"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limite le nombre de buckets retournés (défaut :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10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).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6" name="Shape 1343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7" name="Shape 1344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8" name="Text 1424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Pipeline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9" name="Shape 1345"/>
          <p:cNvSpPr/>
          <p:nvPr/>
        </p:nvSpPr>
        <p:spPr>
          <a:xfrm>
            <a:off x="320040" y="822960"/>
            <a:ext cx="5028120" cy="41137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0" name="Shape 1346"/>
          <p:cNvSpPr/>
          <p:nvPr/>
        </p:nvSpPr>
        <p:spPr>
          <a:xfrm>
            <a:off x="320040" y="82296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1" name="Text 1426"/>
          <p:cNvSpPr/>
          <p:nvPr/>
        </p:nvSpPr>
        <p:spPr>
          <a:xfrm>
            <a:off x="411480" y="82296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2" name="Text 1427"/>
          <p:cNvSpPr/>
          <p:nvPr/>
        </p:nvSpPr>
        <p:spPr>
          <a:xfrm>
            <a:off x="457200" y="1078920"/>
            <a:ext cx="47538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max_bucket – Max parmi les buckets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/logs/_search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"size": 0,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"aggs":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"ventes_jour":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"date_histogram": { "field": "date", "calendar_interval": "day" 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"aggs": { "total": { "sum": { "field": "amount" } }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"pic_ventes":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"max_bucket": { "buckets_path": "ventes_jour&gt;total"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3" name="Shape 1347"/>
          <p:cNvSpPr/>
          <p:nvPr/>
        </p:nvSpPr>
        <p:spPr>
          <a:xfrm>
            <a:off x="5577840" y="822960"/>
            <a:ext cx="3245040" cy="236736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4" name="Shape 1348"/>
          <p:cNvSpPr/>
          <p:nvPr/>
        </p:nvSpPr>
        <p:spPr>
          <a:xfrm>
            <a:off x="5577840" y="822960"/>
            <a:ext cx="63000" cy="236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5" name="Text 1428"/>
          <p:cNvSpPr/>
          <p:nvPr/>
        </p:nvSpPr>
        <p:spPr>
          <a:xfrm>
            <a:off x="5742360" y="91440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Pipeline — opérer sur d'autres 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6" name="Text 1429"/>
          <p:cNvSpPr/>
          <p:nvPr/>
        </p:nvSpPr>
        <p:spPr>
          <a:xfrm>
            <a:off x="5779080" y="1333440"/>
            <a:ext cx="2925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max_bucket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valeur max parmi tous les buckets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min_bucket / avg_bucket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min ou moyenne inter-buckets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sum_bucket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somme des valeurs de tous les buckets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derivative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dérivée (variation entre deux buckets)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cumulative_sum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– somme cumulée au fil du temps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7" name="Shape 1349"/>
          <p:cNvSpPr/>
          <p:nvPr/>
        </p:nvSpPr>
        <p:spPr>
          <a:xfrm>
            <a:off x="5577840" y="3240000"/>
            <a:ext cx="3245040" cy="16966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8" name="Shape 1350"/>
          <p:cNvSpPr/>
          <p:nvPr/>
        </p:nvSpPr>
        <p:spPr>
          <a:xfrm>
            <a:off x="5577840" y="3240000"/>
            <a:ext cx="63000" cy="16966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9" name="Text 1430"/>
          <p:cNvSpPr/>
          <p:nvPr/>
        </p:nvSpPr>
        <p:spPr>
          <a:xfrm>
            <a:off x="5742360" y="3240000"/>
            <a:ext cx="2970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Tip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0" name="Text 1431"/>
          <p:cNvSpPr/>
          <p:nvPr/>
        </p:nvSpPr>
        <p:spPr>
          <a:xfrm>
            <a:off x="5779080" y="3600360"/>
            <a:ext cx="2925000" cy="11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Les pipelines référencent une agrégation parente via </a:t>
            </a:r>
            <a:r>
              <a:rPr b="1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buckets_path</a:t>
            </a: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Elles s'appliquent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APRÈS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le calcul des buckets — pas sur les documents bruts.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Shape 1351"/>
          <p:cNvSpPr/>
          <p:nvPr/>
        </p:nvSpPr>
        <p:spPr>
          <a:xfrm>
            <a:off x="0" y="0"/>
            <a:ext cx="914292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2" name="Shape 1352"/>
          <p:cNvSpPr/>
          <p:nvPr/>
        </p:nvSpPr>
        <p:spPr>
          <a:xfrm>
            <a:off x="0" y="0"/>
            <a:ext cx="131400" cy="529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3" name="Text 1432"/>
          <p:cNvSpPr/>
          <p:nvPr/>
        </p:nvSpPr>
        <p:spPr>
          <a:xfrm>
            <a:off x="223920" y="0"/>
            <a:ext cx="8278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Agrégations Pipeline</a:t>
            </a:r>
            <a:endParaRPr b="0" lang="fr-FR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4" name="Shape 1353"/>
          <p:cNvSpPr/>
          <p:nvPr/>
        </p:nvSpPr>
        <p:spPr>
          <a:xfrm>
            <a:off x="0" y="530280"/>
            <a:ext cx="4068000" cy="4611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5" name="Shape 1354"/>
          <p:cNvSpPr/>
          <p:nvPr/>
        </p:nvSpPr>
        <p:spPr>
          <a:xfrm>
            <a:off x="0" y="530280"/>
            <a:ext cx="4068000" cy="168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6" name="Text 1434"/>
          <p:cNvSpPr/>
          <p:nvPr/>
        </p:nvSpPr>
        <p:spPr>
          <a:xfrm>
            <a:off x="73080" y="530280"/>
            <a:ext cx="3976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 / OpenSearch Response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7" name="Shape 1355"/>
          <p:cNvSpPr/>
          <p:nvPr/>
        </p:nvSpPr>
        <p:spPr>
          <a:xfrm>
            <a:off x="4069080" y="530280"/>
            <a:ext cx="5073840" cy="461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8" name="Text 1435"/>
          <p:cNvSpPr/>
          <p:nvPr/>
        </p:nvSpPr>
        <p:spPr>
          <a:xfrm>
            <a:off x="91440" y="740520"/>
            <a:ext cx="3885120" cy="43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# Réponse max_bucket sur ventes_jour&gt;total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"aggregations"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"ventes_jour"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"buckets"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"key_as_string"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"2024-03-01"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320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"total"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45200.0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 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"key_as_string"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"2024-03-02"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410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"total"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68750.5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 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"pic_ventes"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68750.5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"2024-03-02"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9" name="Text 1436"/>
          <p:cNvSpPr/>
          <p:nvPr/>
        </p:nvSpPr>
        <p:spPr>
          <a:xfrm>
            <a:off x="4325040" y="731520"/>
            <a:ext cx="4744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Agrégations Pipeline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0" name="Text 1437"/>
          <p:cNvSpPr/>
          <p:nvPr/>
        </p:nvSpPr>
        <p:spPr>
          <a:xfrm>
            <a:off x="4325040" y="1078920"/>
            <a:ext cx="474480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ventes_jour.buckets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buckets parentes contenant l'agrégation source (total)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total.value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résultat de l'agrégation metric pour chaque bucket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pic_ventes.value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valeur maximale trouvée parmi tous les buckets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pic_ventes.keys[ ]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clé(s) du bucket où cette valeur max a été trouvée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1" name="Shape 1356"/>
          <p:cNvSpPr/>
          <p:nvPr/>
        </p:nvSpPr>
        <p:spPr>
          <a:xfrm>
            <a:off x="4325040" y="3593520"/>
            <a:ext cx="4744800" cy="126648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2" name="Shape 1357"/>
          <p:cNvSpPr/>
          <p:nvPr/>
        </p:nvSpPr>
        <p:spPr>
          <a:xfrm>
            <a:off x="4325040" y="3593520"/>
            <a:ext cx="58320" cy="1266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3" name="Text 1438"/>
          <p:cNvSpPr/>
          <p:nvPr/>
        </p:nvSpPr>
        <p:spPr>
          <a:xfrm>
            <a:off x="4434840" y="3657600"/>
            <a:ext cx="4579920" cy="12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355269"/>
                </a:solidFill>
                <a:latin typeface="Calibri"/>
                <a:ea typeface="Calibri"/>
              </a:rPr>
              <a:t>Tip</a:t>
            </a: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Les agrégations pipeline </a:t>
            </a: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ne produisent pas de bucket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— elles retournent uniquement une valeur scalaire (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value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) et les clés associées (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keys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).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Le champ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buckets_path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utilise la notation "parent&gt;enfant" pour cibler l'agrégation source.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4" name="Shape 1358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0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5" name="Shape 1359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6" name="Text 1439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imbriquées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7" name="Shape 1360"/>
          <p:cNvSpPr/>
          <p:nvPr/>
        </p:nvSpPr>
        <p:spPr>
          <a:xfrm>
            <a:off x="320040" y="822960"/>
            <a:ext cx="5028120" cy="4113720"/>
          </a:xfrm>
          <a:prstGeom prst="rect">
            <a:avLst/>
          </a:prstGeom>
          <a:solidFill>
            <a:srgbClr val="00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8" name="Shape 1361"/>
          <p:cNvSpPr/>
          <p:nvPr/>
        </p:nvSpPr>
        <p:spPr>
          <a:xfrm>
            <a:off x="320040" y="822960"/>
            <a:ext cx="5028120" cy="200160"/>
          </a:xfrm>
          <a:prstGeom prst="rect">
            <a:avLst/>
          </a:prstGeom>
          <a:solidFill>
            <a:srgbClr val="0057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9" name="Text 1441"/>
          <p:cNvSpPr/>
          <p:nvPr/>
        </p:nvSpPr>
        <p:spPr>
          <a:xfrm>
            <a:off x="411480" y="82296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JSON / OpenSearch DSL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0" name="Text 1442"/>
          <p:cNvSpPr/>
          <p:nvPr/>
        </p:nvSpPr>
        <p:spPr>
          <a:xfrm>
            <a:off x="457200" y="1078920"/>
            <a:ext cx="47538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# Bucket + Metric imbriqués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GET /logs/_search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"size": 0,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"aggs":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"par_statut":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"terms": { "field": "status.keyword" },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"aggs": {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"duree_moy": { "avg": { "field": "duration_ms" } 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      </a:t>
            </a:r>
            <a:r>
              <a:rPr b="0" lang="en-US" sz="1100" spc="-1" strike="noStrike">
                <a:solidFill>
                  <a:srgbClr val="e8834a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1" name="Shape 1675"/>
          <p:cNvSpPr/>
          <p:nvPr/>
        </p:nvSpPr>
        <p:spPr>
          <a:xfrm>
            <a:off x="5577840" y="822960"/>
            <a:ext cx="3245040" cy="169632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2" name="Shape 1676"/>
          <p:cNvSpPr/>
          <p:nvPr/>
        </p:nvSpPr>
        <p:spPr>
          <a:xfrm>
            <a:off x="5577840" y="822960"/>
            <a:ext cx="63000" cy="169632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3" name="Text 1443"/>
          <p:cNvSpPr/>
          <p:nvPr/>
        </p:nvSpPr>
        <p:spPr>
          <a:xfrm>
            <a:off x="5742360" y="91440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Imbrication : Bucket + Metric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4" name="Text 1444"/>
          <p:cNvSpPr/>
          <p:nvPr/>
        </p:nvSpPr>
        <p:spPr>
          <a:xfrm>
            <a:off x="5779080" y="1225440"/>
            <a:ext cx="2925000" cy="19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Chaque bucket peut contenir ses propres agrégations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Un seul appel API : query + bucket + metric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5" name="Shape 1677"/>
          <p:cNvSpPr/>
          <p:nvPr/>
        </p:nvSpPr>
        <p:spPr>
          <a:xfrm>
            <a:off x="5577840" y="3429000"/>
            <a:ext cx="3245040" cy="150768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6" name="Shape 1678"/>
          <p:cNvSpPr/>
          <p:nvPr/>
        </p:nvSpPr>
        <p:spPr>
          <a:xfrm>
            <a:off x="5577840" y="3429000"/>
            <a:ext cx="63000" cy="1507680"/>
          </a:xfrm>
          <a:prstGeom prst="rect">
            <a:avLst/>
          </a:prstGeom>
          <a:solidFill>
            <a:srgbClr val="007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7" name="Text 1445"/>
          <p:cNvSpPr/>
          <p:nvPr/>
        </p:nvSpPr>
        <p:spPr>
          <a:xfrm>
            <a:off x="5742360" y="3520440"/>
            <a:ext cx="29707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Astuce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8" name="Text 1446"/>
          <p:cNvSpPr/>
          <p:nvPr/>
        </p:nvSpPr>
        <p:spPr>
          <a:xfrm>
            <a:off x="5779080" y="3831480"/>
            <a:ext cx="29250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fr-FR" sz="1200" spc="-1" strike="noStrike">
                <a:solidFill>
                  <a:srgbClr val="ffffff"/>
                </a:solidFill>
                <a:latin typeface="Calibri"/>
                <a:ea typeface="Calibri"/>
              </a:rPr>
              <a:t>size: 0 → ne retourne que les agrégations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Combinez query pour restreindre le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périmètre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Nommez vos agrégations de façon 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explicite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9" name="Shape 1679"/>
          <p:cNvSpPr/>
          <p:nvPr/>
        </p:nvSpPr>
        <p:spPr>
          <a:xfrm>
            <a:off x="0" y="0"/>
            <a:ext cx="914292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0" name="Shape 1680"/>
          <p:cNvSpPr/>
          <p:nvPr/>
        </p:nvSpPr>
        <p:spPr>
          <a:xfrm>
            <a:off x="0" y="0"/>
            <a:ext cx="131400" cy="529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1" name="Text 1447"/>
          <p:cNvSpPr/>
          <p:nvPr/>
        </p:nvSpPr>
        <p:spPr>
          <a:xfrm>
            <a:off x="223920" y="0"/>
            <a:ext cx="8278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Bucket + Metric imbriqués</a:t>
            </a:r>
            <a:endParaRPr b="0" lang="fr-FR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2" name="Shape 1681"/>
          <p:cNvSpPr/>
          <p:nvPr/>
        </p:nvSpPr>
        <p:spPr>
          <a:xfrm>
            <a:off x="0" y="530280"/>
            <a:ext cx="4068000" cy="4611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3" name="Shape 1682"/>
          <p:cNvSpPr/>
          <p:nvPr/>
        </p:nvSpPr>
        <p:spPr>
          <a:xfrm>
            <a:off x="0" y="530280"/>
            <a:ext cx="4068000" cy="168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4" name="Text 1772"/>
          <p:cNvSpPr/>
          <p:nvPr/>
        </p:nvSpPr>
        <p:spPr>
          <a:xfrm>
            <a:off x="73080" y="530280"/>
            <a:ext cx="3976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 / </a:t>
            </a: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OpenSearch </a:t>
            </a: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Response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5" name="Shape 1683"/>
          <p:cNvSpPr/>
          <p:nvPr/>
        </p:nvSpPr>
        <p:spPr>
          <a:xfrm>
            <a:off x="4069080" y="530280"/>
            <a:ext cx="5073840" cy="461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6" name="Text 1773"/>
          <p:cNvSpPr/>
          <p:nvPr/>
        </p:nvSpPr>
        <p:spPr>
          <a:xfrm>
            <a:off x="91440" y="740520"/>
            <a:ext cx="3885120" cy="43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# Réponse : par_statut (terms) + duree_moy (avg)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"aggregations"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"par_statut"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"buckets"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"200"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9820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132.4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"404"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1043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287.9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"500"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317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542.1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7" name="Text 1774"/>
          <p:cNvSpPr/>
          <p:nvPr/>
        </p:nvSpPr>
        <p:spPr>
          <a:xfrm>
            <a:off x="4325040" y="731520"/>
            <a:ext cx="4744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Bucket + Metric imbriqués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8" name="Shape 1684"/>
          <p:cNvSpPr/>
          <p:nvPr/>
        </p:nvSpPr>
        <p:spPr>
          <a:xfrm>
            <a:off x="4325040" y="1078920"/>
            <a:ext cx="1550520" cy="1690560"/>
          </a:xfrm>
          <a:prstGeom prst="rect">
            <a:avLst/>
          </a:prstGeom>
          <a:solidFill>
            <a:srgbClr val="f0f8fa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9" name="Shape 1685"/>
          <p:cNvSpPr/>
          <p:nvPr/>
        </p:nvSpPr>
        <p:spPr>
          <a:xfrm>
            <a:off x="4325040" y="1078920"/>
            <a:ext cx="1550520" cy="20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0" name="Text 1775"/>
          <p:cNvSpPr/>
          <p:nvPr/>
        </p:nvSpPr>
        <p:spPr>
          <a:xfrm>
            <a:off x="4380120" y="1097280"/>
            <a:ext cx="14590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status = "200"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1" name="Text 1776"/>
          <p:cNvSpPr/>
          <p:nvPr/>
        </p:nvSpPr>
        <p:spPr>
          <a:xfrm>
            <a:off x="4380120" y="1316880"/>
            <a:ext cx="14590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55269"/>
                </a:solidFill>
                <a:latin typeface="Calibri"/>
                <a:ea typeface="Calibri"/>
              </a:rPr>
              <a:t>doc_count</a:t>
            </a:r>
            <a:endParaRPr b="0" lang="fr-FR" sz="85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62" name="Text 1777"/>
          <p:cNvSpPr/>
          <p:nvPr/>
        </p:nvSpPr>
        <p:spPr>
          <a:xfrm>
            <a:off x="4380120" y="1481400"/>
            <a:ext cx="1459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55269"/>
                </a:solidFill>
                <a:latin typeface="Calibri"/>
                <a:ea typeface="Calibri"/>
              </a:rPr>
              <a:t>9 820 docs</a:t>
            </a:r>
            <a:endParaRPr b="0" lang="fr-FR" sz="13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63" name="Shape 1686"/>
          <p:cNvSpPr/>
          <p:nvPr/>
        </p:nvSpPr>
        <p:spPr>
          <a:xfrm>
            <a:off x="4380120" y="1737360"/>
            <a:ext cx="1440720" cy="12600"/>
          </a:xfrm>
          <a:prstGeom prst="rect">
            <a:avLst/>
          </a:prstGeom>
          <a:solidFill>
            <a:srgbClr val="c8e6ec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4" name="Text 1778"/>
          <p:cNvSpPr/>
          <p:nvPr/>
        </p:nvSpPr>
        <p:spPr>
          <a:xfrm>
            <a:off x="4380120" y="1764720"/>
            <a:ext cx="14590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55269"/>
                </a:solidFill>
                <a:latin typeface="Calibri"/>
                <a:ea typeface="Calibri"/>
              </a:rPr>
              <a:t>duree_moy.value</a:t>
            </a:r>
            <a:endParaRPr b="0" lang="fr-FR" sz="85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65" name="Text 1779"/>
          <p:cNvSpPr/>
          <p:nvPr/>
        </p:nvSpPr>
        <p:spPr>
          <a:xfrm>
            <a:off x="4380120" y="1929240"/>
            <a:ext cx="14590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a8a"/>
                </a:solidFill>
                <a:latin typeface="Calibri"/>
                <a:ea typeface="Calibri"/>
              </a:rPr>
              <a:t>132.4 ms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6" name="Shape 1687"/>
          <p:cNvSpPr/>
          <p:nvPr/>
        </p:nvSpPr>
        <p:spPr>
          <a:xfrm>
            <a:off x="4380120" y="2450520"/>
            <a:ext cx="1440720" cy="200160"/>
          </a:xfrm>
          <a:prstGeom prst="rect">
            <a:avLst/>
          </a:prstGeom>
          <a:solidFill>
            <a:srgbClr val="d0eef2"/>
          </a:solidFill>
          <a:ln w="12700">
            <a:solidFill>
              <a:srgbClr val="d0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7" name="Text 1780"/>
          <p:cNvSpPr/>
          <p:nvPr/>
        </p:nvSpPr>
        <p:spPr>
          <a:xfrm>
            <a:off x="4380120" y="2450520"/>
            <a:ext cx="144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5566"/>
                </a:solidFill>
                <a:latin typeface="Calibri"/>
                <a:ea typeface="Calibri"/>
              </a:rPr>
              <a:t>↳ </a:t>
            </a:r>
            <a:r>
              <a:rPr b="0" lang="en-US" sz="800" spc="-1" strike="noStrike">
                <a:solidFill>
                  <a:srgbClr val="005566"/>
                </a:solidFill>
                <a:latin typeface="Calibri"/>
                <a:ea typeface="Calibri"/>
              </a:rPr>
              <a:t>avg imbriqué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8" name="Shape 1688"/>
          <p:cNvSpPr/>
          <p:nvPr/>
        </p:nvSpPr>
        <p:spPr>
          <a:xfrm>
            <a:off x="5922360" y="1078920"/>
            <a:ext cx="1550520" cy="1690560"/>
          </a:xfrm>
          <a:prstGeom prst="rect">
            <a:avLst/>
          </a:prstGeom>
          <a:solidFill>
            <a:srgbClr val="f0f8fa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9" name="Shape 1689"/>
          <p:cNvSpPr/>
          <p:nvPr/>
        </p:nvSpPr>
        <p:spPr>
          <a:xfrm>
            <a:off x="5922360" y="1078920"/>
            <a:ext cx="1550520" cy="200160"/>
          </a:xfrm>
          <a:prstGeom prst="rect">
            <a:avLst/>
          </a:prstGeom>
          <a:solidFill>
            <a:srgbClr val="c0760a"/>
          </a:solidFill>
          <a:ln w="12700">
            <a:solidFill>
              <a:srgbClr val="c076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0" name="Text 1781"/>
          <p:cNvSpPr/>
          <p:nvPr/>
        </p:nvSpPr>
        <p:spPr>
          <a:xfrm>
            <a:off x="5977080" y="1097280"/>
            <a:ext cx="14590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status = "404"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1" name="Text 1782"/>
          <p:cNvSpPr/>
          <p:nvPr/>
        </p:nvSpPr>
        <p:spPr>
          <a:xfrm>
            <a:off x="5977080" y="1316880"/>
            <a:ext cx="14590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55269"/>
                </a:solidFill>
                <a:latin typeface="Calibri"/>
                <a:ea typeface="Calibri"/>
              </a:rPr>
              <a:t>doc_count</a:t>
            </a:r>
            <a:endParaRPr b="0" lang="fr-FR" sz="85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72" name="Text 1783"/>
          <p:cNvSpPr/>
          <p:nvPr/>
        </p:nvSpPr>
        <p:spPr>
          <a:xfrm>
            <a:off x="5977080" y="1481400"/>
            <a:ext cx="1459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55269"/>
                </a:solidFill>
                <a:latin typeface="Calibri"/>
                <a:ea typeface="Calibri"/>
              </a:rPr>
              <a:t>1 043 docs</a:t>
            </a:r>
            <a:endParaRPr b="0" lang="fr-FR" sz="13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73" name="Shape 1690"/>
          <p:cNvSpPr/>
          <p:nvPr/>
        </p:nvSpPr>
        <p:spPr>
          <a:xfrm>
            <a:off x="5977080" y="1737360"/>
            <a:ext cx="1440720" cy="12600"/>
          </a:xfrm>
          <a:prstGeom prst="rect">
            <a:avLst/>
          </a:prstGeom>
          <a:solidFill>
            <a:srgbClr val="c8e6ec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4" name="Text 1784"/>
          <p:cNvSpPr/>
          <p:nvPr/>
        </p:nvSpPr>
        <p:spPr>
          <a:xfrm>
            <a:off x="5977080" y="1764720"/>
            <a:ext cx="14590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duree_moy.value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5" name="Text 1785"/>
          <p:cNvSpPr/>
          <p:nvPr/>
        </p:nvSpPr>
        <p:spPr>
          <a:xfrm>
            <a:off x="5977080" y="1929240"/>
            <a:ext cx="14590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0760a"/>
                </a:solidFill>
                <a:latin typeface="Calibri"/>
                <a:ea typeface="Calibri"/>
              </a:rPr>
              <a:t>287.9 ms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6" name="Shape 1691"/>
          <p:cNvSpPr/>
          <p:nvPr/>
        </p:nvSpPr>
        <p:spPr>
          <a:xfrm>
            <a:off x="5977080" y="2450520"/>
            <a:ext cx="1440720" cy="200160"/>
          </a:xfrm>
          <a:prstGeom prst="rect">
            <a:avLst/>
          </a:prstGeom>
          <a:solidFill>
            <a:srgbClr val="d0eef2"/>
          </a:solidFill>
          <a:ln w="12700">
            <a:solidFill>
              <a:srgbClr val="d0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7" name="Text 1786"/>
          <p:cNvSpPr/>
          <p:nvPr/>
        </p:nvSpPr>
        <p:spPr>
          <a:xfrm>
            <a:off x="5977080" y="2450520"/>
            <a:ext cx="144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5566"/>
                </a:solidFill>
                <a:latin typeface="Calibri"/>
                <a:ea typeface="Calibri"/>
              </a:rPr>
              <a:t>↳ </a:t>
            </a:r>
            <a:r>
              <a:rPr b="0" lang="en-US" sz="800" spc="-1" strike="noStrike">
                <a:solidFill>
                  <a:srgbClr val="005566"/>
                </a:solidFill>
                <a:latin typeface="Calibri"/>
                <a:ea typeface="Calibri"/>
              </a:rPr>
              <a:t>avg imbriqué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8" name="Shape 1692"/>
          <p:cNvSpPr/>
          <p:nvPr/>
        </p:nvSpPr>
        <p:spPr>
          <a:xfrm>
            <a:off x="7519320" y="1078920"/>
            <a:ext cx="1550520" cy="1690560"/>
          </a:xfrm>
          <a:prstGeom prst="rect">
            <a:avLst/>
          </a:prstGeom>
          <a:solidFill>
            <a:srgbClr val="f0f8fa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9" name="Shape 1693"/>
          <p:cNvSpPr/>
          <p:nvPr/>
        </p:nvSpPr>
        <p:spPr>
          <a:xfrm>
            <a:off x="7519320" y="1078920"/>
            <a:ext cx="1550520" cy="2001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0" name="Text 1787"/>
          <p:cNvSpPr/>
          <p:nvPr/>
        </p:nvSpPr>
        <p:spPr>
          <a:xfrm>
            <a:off x="7574400" y="1097280"/>
            <a:ext cx="14590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status = "500"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1" name="Text 1788"/>
          <p:cNvSpPr/>
          <p:nvPr/>
        </p:nvSpPr>
        <p:spPr>
          <a:xfrm>
            <a:off x="7574400" y="1316880"/>
            <a:ext cx="14590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doc_count</a:t>
            </a:r>
            <a:endParaRPr b="1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2" name="Text 1789"/>
          <p:cNvSpPr/>
          <p:nvPr/>
        </p:nvSpPr>
        <p:spPr>
          <a:xfrm>
            <a:off x="7574400" y="1481400"/>
            <a:ext cx="1459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355269"/>
                </a:solidFill>
                <a:latin typeface="Calibri"/>
                <a:ea typeface="Calibri"/>
              </a:rPr>
              <a:t>317 docs</a:t>
            </a:r>
            <a:endParaRPr b="0" lang="fr-FR" sz="13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883" name="Shape 1694"/>
          <p:cNvSpPr/>
          <p:nvPr/>
        </p:nvSpPr>
        <p:spPr>
          <a:xfrm>
            <a:off x="7574400" y="1737360"/>
            <a:ext cx="1440720" cy="12600"/>
          </a:xfrm>
          <a:prstGeom prst="rect">
            <a:avLst/>
          </a:prstGeom>
          <a:solidFill>
            <a:srgbClr val="c8e6ec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4" name="Text 1790"/>
          <p:cNvSpPr/>
          <p:nvPr/>
        </p:nvSpPr>
        <p:spPr>
          <a:xfrm>
            <a:off x="7574400" y="1764720"/>
            <a:ext cx="14590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duree_moy.value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5" name="Text 1791"/>
          <p:cNvSpPr/>
          <p:nvPr/>
        </p:nvSpPr>
        <p:spPr>
          <a:xfrm>
            <a:off x="7574400" y="1929240"/>
            <a:ext cx="14590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8b1a1a"/>
                </a:solidFill>
                <a:latin typeface="Calibri"/>
                <a:ea typeface="Calibri"/>
              </a:rPr>
              <a:t>542.1 ms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6" name="Shape 1695"/>
          <p:cNvSpPr/>
          <p:nvPr/>
        </p:nvSpPr>
        <p:spPr>
          <a:xfrm>
            <a:off x="7574400" y="2450520"/>
            <a:ext cx="1440720" cy="200160"/>
          </a:xfrm>
          <a:prstGeom prst="rect">
            <a:avLst/>
          </a:prstGeom>
          <a:solidFill>
            <a:srgbClr val="d0eef2"/>
          </a:solidFill>
          <a:ln w="12700">
            <a:solidFill>
              <a:srgbClr val="d0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7" name="Text 1792"/>
          <p:cNvSpPr/>
          <p:nvPr/>
        </p:nvSpPr>
        <p:spPr>
          <a:xfrm>
            <a:off x="7574400" y="2450520"/>
            <a:ext cx="144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5566"/>
                </a:solidFill>
                <a:latin typeface="Calibri"/>
                <a:ea typeface="Calibri"/>
              </a:rPr>
              <a:t>↳ </a:t>
            </a:r>
            <a:r>
              <a:rPr b="0" lang="en-US" sz="800" spc="-1" strike="noStrike">
                <a:solidFill>
                  <a:srgbClr val="005566"/>
                </a:solidFill>
                <a:latin typeface="Calibri"/>
                <a:ea typeface="Calibri"/>
              </a:rPr>
              <a:t>avg imbriqué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8" name="Text 1793"/>
          <p:cNvSpPr/>
          <p:nvPr/>
        </p:nvSpPr>
        <p:spPr>
          <a:xfrm>
            <a:off x="4325040" y="2862000"/>
            <a:ext cx="4744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Chaque objet bucket contient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ses propres agrégations imbriquées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ici la metric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duree_moy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est calculée séparément pour chaque valeur de statut.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9" name="Shape 1696"/>
          <p:cNvSpPr/>
          <p:nvPr/>
        </p:nvSpPr>
        <p:spPr>
          <a:xfrm>
            <a:off x="4325040" y="3840480"/>
            <a:ext cx="4744800" cy="12517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0" name="Shape 1697"/>
          <p:cNvSpPr/>
          <p:nvPr/>
        </p:nvSpPr>
        <p:spPr>
          <a:xfrm>
            <a:off x="4325040" y="3840480"/>
            <a:ext cx="58320" cy="1251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1" name="Text 1794"/>
          <p:cNvSpPr/>
          <p:nvPr/>
        </p:nvSpPr>
        <p:spPr>
          <a:xfrm>
            <a:off x="4434840" y="3904560"/>
            <a:ext cx="4579920" cy="11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355269"/>
                </a:solidFill>
                <a:latin typeface="Calibri"/>
                <a:ea typeface="Calibri"/>
              </a:rPr>
              <a:t>Tip</a:t>
            </a: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La metric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duree_moy.value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apparaît </a:t>
            </a: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à l'intérieur de chaque bucket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— pas au niveau racine. Plus le code de statut est élevé, plus la durée moyenne est importante ici.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" name="Shape 1698"/>
          <p:cNvSpPr/>
          <p:nvPr/>
        </p:nvSpPr>
        <p:spPr>
          <a:xfrm>
            <a:off x="0" y="0"/>
            <a:ext cx="914292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3" name="Shape 1699"/>
          <p:cNvSpPr/>
          <p:nvPr/>
        </p:nvSpPr>
        <p:spPr>
          <a:xfrm>
            <a:off x="0" y="0"/>
            <a:ext cx="131400" cy="529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4" name="Text 1795"/>
          <p:cNvSpPr/>
          <p:nvPr/>
        </p:nvSpPr>
        <p:spPr>
          <a:xfrm>
            <a:off x="223920" y="0"/>
            <a:ext cx="8278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Agrégations imbriquées — Bucket dans Bucket</a:t>
            </a:r>
            <a:endParaRPr b="0" lang="fr-FR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5" name="Shape 1700"/>
          <p:cNvSpPr/>
          <p:nvPr/>
        </p:nvSpPr>
        <p:spPr>
          <a:xfrm>
            <a:off x="0" y="530280"/>
            <a:ext cx="4068000" cy="4611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6" name="Shape 1701"/>
          <p:cNvSpPr/>
          <p:nvPr/>
        </p:nvSpPr>
        <p:spPr>
          <a:xfrm>
            <a:off x="0" y="530280"/>
            <a:ext cx="4068000" cy="168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7" name="Text 1797"/>
          <p:cNvSpPr/>
          <p:nvPr/>
        </p:nvSpPr>
        <p:spPr>
          <a:xfrm>
            <a:off x="73080" y="530280"/>
            <a:ext cx="3976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 / OpenSearch DSL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8" name="Shape 1702"/>
          <p:cNvSpPr/>
          <p:nvPr/>
        </p:nvSpPr>
        <p:spPr>
          <a:xfrm>
            <a:off x="4069080" y="530280"/>
            <a:ext cx="5073840" cy="461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9" name="Text 1798"/>
          <p:cNvSpPr/>
          <p:nvPr/>
        </p:nvSpPr>
        <p:spPr>
          <a:xfrm>
            <a:off x="91440" y="740520"/>
            <a:ext cx="3885120" cy="43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# Bucket dans Bucket : statut → jour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GET /logs/_search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"size"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0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"aggs"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"par_statut"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"terms"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"field"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"status.keyword"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"size"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ffd580"/>
                </a:solidFill>
                <a:latin typeface="Consolas"/>
                <a:ea typeface="Consolas"/>
              </a:rPr>
              <a:t>5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"aggs"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"par_jour"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"date_histogram"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"field"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"@timestamp"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"calendar_interval"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"day"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"aggs"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 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"avg"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900" spc="-1" strike="noStrike">
                <a:solidFill>
                  <a:srgbClr val="7ec8d4"/>
                </a:solidFill>
                <a:latin typeface="Consolas"/>
                <a:ea typeface="Consolas"/>
              </a:rPr>
              <a:t>"field"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900" spc="-1" strike="noStrike">
                <a:solidFill>
                  <a:srgbClr val="a8e6cf"/>
                </a:solidFill>
                <a:latin typeface="Consolas"/>
                <a:ea typeface="Consolas"/>
              </a:rPr>
              <a:t>"duration_ms"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0" name="Text 1799"/>
          <p:cNvSpPr/>
          <p:nvPr/>
        </p:nvSpPr>
        <p:spPr>
          <a:xfrm>
            <a:off x="4325040" y="731520"/>
            <a:ext cx="4744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Imbrication : Bucket dans Bucket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1" name="Shape 1703"/>
          <p:cNvSpPr/>
          <p:nvPr/>
        </p:nvSpPr>
        <p:spPr>
          <a:xfrm>
            <a:off x="4325040" y="1115640"/>
            <a:ext cx="4653360" cy="327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2" name="Shape 1704"/>
          <p:cNvSpPr/>
          <p:nvPr/>
        </p:nvSpPr>
        <p:spPr>
          <a:xfrm>
            <a:off x="4325040" y="1115640"/>
            <a:ext cx="53640" cy="327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3" name="Text 1800"/>
          <p:cNvSpPr/>
          <p:nvPr/>
        </p:nvSpPr>
        <p:spPr>
          <a:xfrm>
            <a:off x="4434840" y="1115640"/>
            <a:ext cx="45435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Niveau 1 — </a:t>
            </a:r>
            <a:r>
              <a:rPr b="1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par_statut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  (terms)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4" name="Shape 1705"/>
          <p:cNvSpPr/>
          <p:nvPr/>
        </p:nvSpPr>
        <p:spPr>
          <a:xfrm>
            <a:off x="4553640" y="1444680"/>
            <a:ext cx="17280" cy="163440"/>
          </a:xfrm>
          <a:prstGeom prst="rect">
            <a:avLst/>
          </a:prstGeom>
          <a:solidFill>
            <a:srgbClr val="b0cdd4"/>
          </a:solidFill>
          <a:ln w="12700">
            <a:solidFill>
              <a:srgbClr val="b0cd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5" name="Text 1801"/>
          <p:cNvSpPr/>
          <p:nvPr/>
        </p:nvSpPr>
        <p:spPr>
          <a:xfrm>
            <a:off x="4453200" y="1554480"/>
            <a:ext cx="25488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cdd4"/>
                </a:solidFill>
                <a:latin typeface="Calibri"/>
                <a:ea typeface="Calibri"/>
              </a:rPr>
              <a:t>▼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6" name="Shape 1706"/>
          <p:cNvSpPr/>
          <p:nvPr/>
        </p:nvSpPr>
        <p:spPr>
          <a:xfrm>
            <a:off x="4581000" y="1627560"/>
            <a:ext cx="4397040" cy="327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7" name="Shape 1707"/>
          <p:cNvSpPr/>
          <p:nvPr/>
        </p:nvSpPr>
        <p:spPr>
          <a:xfrm>
            <a:off x="4581000" y="1627560"/>
            <a:ext cx="53640" cy="3279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8" name="Text 1802"/>
          <p:cNvSpPr/>
          <p:nvPr/>
        </p:nvSpPr>
        <p:spPr>
          <a:xfrm>
            <a:off x="4690800" y="1627560"/>
            <a:ext cx="42692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Niveau 2 — </a:t>
            </a:r>
            <a:r>
              <a:rPr b="1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par_jour</a:t>
            </a:r>
            <a:r>
              <a:rPr b="0" lang="en-US" sz="1000" spc="-1" strike="noStrike">
                <a:solidFill>
                  <a:srgbClr val="7ec8d4"/>
                </a:solidFill>
                <a:latin typeface="Calibri"/>
                <a:ea typeface="Calibri"/>
              </a:rPr>
              <a:t>  (date_histogram)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9" name="Text 1803"/>
          <p:cNvSpPr/>
          <p:nvPr/>
        </p:nvSpPr>
        <p:spPr>
          <a:xfrm>
            <a:off x="4709160" y="1965960"/>
            <a:ext cx="2548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0cdd4"/>
                </a:solidFill>
                <a:latin typeface="Calibri"/>
                <a:ea typeface="Calibri"/>
              </a:rPr>
              <a:t>▼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0" name="Shape 1708"/>
          <p:cNvSpPr/>
          <p:nvPr/>
        </p:nvSpPr>
        <p:spPr>
          <a:xfrm>
            <a:off x="4837320" y="2148840"/>
            <a:ext cx="4141080" cy="327960"/>
          </a:xfrm>
          <a:prstGeom prst="rect">
            <a:avLst/>
          </a:prstGeom>
          <a:solidFill>
            <a:srgbClr val="014f5e"/>
          </a:solidFill>
          <a:ln w="12700">
            <a:solidFill>
              <a:srgbClr val="014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1" name="Shape 1709"/>
          <p:cNvSpPr/>
          <p:nvPr/>
        </p:nvSpPr>
        <p:spPr>
          <a:xfrm>
            <a:off x="4837320" y="2148840"/>
            <a:ext cx="53640" cy="327960"/>
          </a:xfrm>
          <a:prstGeom prst="rect">
            <a:avLst/>
          </a:prstGeom>
          <a:solidFill>
            <a:srgbClr val="ffd580"/>
          </a:solidFill>
          <a:ln w="12700">
            <a:solidFill>
              <a:srgbClr val="ffd5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2" name="Text 1804"/>
          <p:cNvSpPr/>
          <p:nvPr/>
        </p:nvSpPr>
        <p:spPr>
          <a:xfrm>
            <a:off x="4946760" y="2148840"/>
            <a:ext cx="4013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Niveau 3 — </a:t>
            </a:r>
            <a:r>
              <a:rPr b="1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duree_moy</a:t>
            </a:r>
            <a:r>
              <a:rPr b="0" lang="en-US" sz="1000" spc="-1" strike="noStrike">
                <a:solidFill>
                  <a:srgbClr val="7ec8d4"/>
                </a:solidFill>
                <a:latin typeface="Calibri"/>
                <a:ea typeface="Calibri"/>
              </a:rPr>
              <a:t>  (avg metric)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3" name="Text 1805"/>
          <p:cNvSpPr/>
          <p:nvPr/>
        </p:nvSpPr>
        <p:spPr>
          <a:xfrm>
            <a:off x="4325040" y="2578680"/>
            <a:ext cx="47448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terms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→ regroupe les docs par valeur de champ (status)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date_histogram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→ subdivise chaque groupe par période (jour)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avg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→ calcule la durée moyenne dans chaque sous-groupe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4" name="Shape 1710"/>
          <p:cNvSpPr/>
          <p:nvPr/>
        </p:nvSpPr>
        <p:spPr>
          <a:xfrm>
            <a:off x="4325040" y="3972960"/>
            <a:ext cx="4744800" cy="10231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5" name="Shape 1711"/>
          <p:cNvSpPr/>
          <p:nvPr/>
        </p:nvSpPr>
        <p:spPr>
          <a:xfrm>
            <a:off x="4325040" y="3972960"/>
            <a:ext cx="58320" cy="1023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6" name="Text 1806"/>
          <p:cNvSpPr/>
          <p:nvPr/>
        </p:nvSpPr>
        <p:spPr>
          <a:xfrm>
            <a:off x="4434840" y="4037040"/>
            <a:ext cx="4579920" cy="9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355269"/>
                </a:solidFill>
                <a:latin typeface="Calibri"/>
                <a:ea typeface="Calibri"/>
              </a:rPr>
              <a:t>Tip</a:t>
            </a: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L'imbrication est </a:t>
            </a: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illimitée en théorie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— chaque niveau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"aggs"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s'imbrique dans le bucket parent. En pratique, 2-3 niveaux suffisent.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7" name="Shape 1712"/>
          <p:cNvSpPr/>
          <p:nvPr/>
        </p:nvSpPr>
        <p:spPr>
          <a:xfrm>
            <a:off x="0" y="0"/>
            <a:ext cx="914292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8" name="Shape 1713"/>
          <p:cNvSpPr/>
          <p:nvPr/>
        </p:nvSpPr>
        <p:spPr>
          <a:xfrm>
            <a:off x="0" y="0"/>
            <a:ext cx="131400" cy="529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9" name="Text 1807"/>
          <p:cNvSpPr/>
          <p:nvPr/>
        </p:nvSpPr>
        <p:spPr>
          <a:xfrm>
            <a:off x="223920" y="0"/>
            <a:ext cx="82789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Bucket dans Bucket</a:t>
            </a:r>
            <a:endParaRPr b="0" lang="fr-FR" sz="1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0" name="Shape 1714"/>
          <p:cNvSpPr/>
          <p:nvPr/>
        </p:nvSpPr>
        <p:spPr>
          <a:xfrm>
            <a:off x="0" y="530280"/>
            <a:ext cx="4068000" cy="4149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1" name="Shape 1715"/>
          <p:cNvSpPr/>
          <p:nvPr/>
        </p:nvSpPr>
        <p:spPr>
          <a:xfrm>
            <a:off x="0" y="530280"/>
            <a:ext cx="4068000" cy="168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2" name="Text 1809"/>
          <p:cNvSpPr/>
          <p:nvPr/>
        </p:nvSpPr>
        <p:spPr>
          <a:xfrm>
            <a:off x="73080" y="530280"/>
            <a:ext cx="3976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JSON / OpenSearch Response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3" name="Shape 1716"/>
          <p:cNvSpPr/>
          <p:nvPr/>
        </p:nvSpPr>
        <p:spPr>
          <a:xfrm>
            <a:off x="4069080" y="530280"/>
            <a:ext cx="5073840" cy="461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4" name="Text 1810"/>
          <p:cNvSpPr/>
          <p:nvPr/>
        </p:nvSpPr>
        <p:spPr>
          <a:xfrm>
            <a:off x="91440" y="740520"/>
            <a:ext cx="3885120" cy="43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# par_statut &gt; par_jour &gt; duree_moy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{ "aggregations": {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"par_statut"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"buckets"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"key"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a8e6cf"/>
                </a:solidFill>
                <a:latin typeface="Consolas"/>
                <a:ea typeface="Consolas"/>
              </a:rPr>
              <a:t>"200"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ffd580"/>
                </a:solidFill>
                <a:latin typeface="Consolas"/>
                <a:ea typeface="Consolas"/>
              </a:rPr>
              <a:t>9820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"par_jour"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"buckets"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[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  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{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"key_as_string"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a8e6cf"/>
                </a:solidFill>
                <a:latin typeface="Consolas"/>
                <a:ea typeface="Consolas"/>
              </a:rPr>
              <a:t>"2024-03-01"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ffd580"/>
                </a:solidFill>
                <a:latin typeface="Consolas"/>
                <a:ea typeface="Consolas"/>
              </a:rPr>
              <a:t>482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    </a:t>
            </a: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ffd580"/>
                </a:solidFill>
                <a:latin typeface="Consolas"/>
                <a:ea typeface="Consolas"/>
              </a:rPr>
              <a:t>128.7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  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{ "key_as_string"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a8e6cf"/>
                </a:solidFill>
                <a:latin typeface="Consolas"/>
                <a:ea typeface="Consolas"/>
              </a:rPr>
              <a:t>"2024-03-02"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ffd580"/>
                </a:solidFill>
                <a:latin typeface="Consolas"/>
                <a:ea typeface="Consolas"/>
              </a:rPr>
              <a:t>391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                </a:t>
            </a: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"duree_moy"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"value"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ffd580"/>
                </a:solidFill>
                <a:latin typeface="Consolas"/>
                <a:ea typeface="Consolas"/>
              </a:rPr>
              <a:t>135.2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} 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},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       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{ "key"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a8e6cf"/>
                </a:solidFill>
                <a:latin typeface="Consolas"/>
                <a:ea typeface="Consolas"/>
              </a:rPr>
              <a:t>"404"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870" spc="-1" strike="noStrike">
                <a:solidFill>
                  <a:srgbClr val="7ec8d4"/>
                </a:solidFill>
                <a:latin typeface="Consolas"/>
                <a:ea typeface="Consolas"/>
              </a:rPr>
              <a:t>"doc_count"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70" spc="-1" strike="noStrike">
                <a:solidFill>
                  <a:srgbClr val="ffd580"/>
                </a:solidFill>
                <a:latin typeface="Consolas"/>
                <a:ea typeface="Consolas"/>
              </a:rPr>
              <a:t>1043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, </a:t>
            </a:r>
            <a:r>
              <a:rPr b="0" lang="en-US" sz="870" spc="-1" strike="noStrike">
                <a:solidFill>
                  <a:srgbClr val="ffffff"/>
                </a:solidFill>
                <a:latin typeface="Consolas"/>
                <a:ea typeface="Consolas"/>
              </a:rPr>
              <a:t>"par_jour"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: { ... } 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]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70" spc="-1" strike="noStrike">
                <a:solidFill>
                  <a:srgbClr val="d0eaee"/>
                </a:solidFill>
                <a:latin typeface="Consolas"/>
                <a:ea typeface="Consolas"/>
              </a:rPr>
              <a:t>}</a:t>
            </a:r>
            <a:endParaRPr b="0" lang="fr-FR" sz="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5" name="Text 1811"/>
          <p:cNvSpPr/>
          <p:nvPr/>
        </p:nvSpPr>
        <p:spPr>
          <a:xfrm>
            <a:off x="4325040" y="731520"/>
            <a:ext cx="4744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Réponse — Bucket dans Bucket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6" name="Text 1812"/>
          <p:cNvSpPr/>
          <p:nvPr/>
        </p:nvSpPr>
        <p:spPr>
          <a:xfrm>
            <a:off x="4325040" y="1078920"/>
            <a:ext cx="4744800" cy="27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aggregations.par_statut.buckets[]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liste des buckets de 1er niveau (par statut HTTP)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.key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valeur du bucket parent ("200", "404"…)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.doc_count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nombre total de documents pour ce statut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.par_jour.buckets[]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— liste des sous-buckets de 2e niveau (par jour)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.key_as_string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— date formatée du sous-bucket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.doc_count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— nombre de docs pour ce statut ET ce jour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.duree_moy.value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— durée moyenne — calculée dans le sous-bucket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7" name="Shape 1717"/>
          <p:cNvSpPr/>
          <p:nvPr/>
        </p:nvSpPr>
        <p:spPr>
          <a:xfrm>
            <a:off x="4325040" y="3573000"/>
            <a:ext cx="4744800" cy="109620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8" name="Shape 1718"/>
          <p:cNvSpPr/>
          <p:nvPr/>
        </p:nvSpPr>
        <p:spPr>
          <a:xfrm>
            <a:off x="4325040" y="3573000"/>
            <a:ext cx="58320" cy="10962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9" name="Text 1813"/>
          <p:cNvSpPr/>
          <p:nvPr/>
        </p:nvSpPr>
        <p:spPr>
          <a:xfrm>
            <a:off x="4434840" y="3637080"/>
            <a:ext cx="45799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355269"/>
                </a:solidFill>
                <a:latin typeface="Calibri"/>
                <a:ea typeface="Calibri"/>
              </a:rPr>
              <a:t>Tip</a:t>
            </a: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La réponse reflète exactement </a:t>
            </a: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la hiérarchie de la requête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— chaque bucket parent contient un objet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par_jour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lui-même contenant ses propres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buckets[]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avec la metric </a:t>
            </a: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duree_moy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imbriquée.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3930" name="Shape 1143"/>
          <p:cNvSpPr/>
          <p:nvPr/>
        </p:nvSpPr>
        <p:spPr>
          <a:xfrm>
            <a:off x="274320" y="4753080"/>
            <a:ext cx="859320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1" name="Shape 1157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2" name="Text 479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5.2 —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Agréga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tions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3" name="Shape 783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4" name="Text 805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5" name="Text 806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Géolocalisation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6" name="Shape 784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7" name="Text 807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Geopoint – Requêtes - Agrégations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8" name="Shape 785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9" name="Shape 786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0" name="Text 808"/>
          <p:cNvSpPr/>
          <p:nvPr/>
        </p:nvSpPr>
        <p:spPr>
          <a:xfrm>
            <a:off x="0" y="4316040"/>
            <a:ext cx="161964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DSL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1" name="Shape 787"/>
          <p:cNvSpPr/>
          <p:nvPr/>
        </p:nvSpPr>
        <p:spPr>
          <a:xfrm flipH="1">
            <a:off x="143352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2" name="Text 809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3" name="Shape 788"/>
          <p:cNvSpPr/>
          <p:nvPr/>
        </p:nvSpPr>
        <p:spPr>
          <a:xfrm>
            <a:off x="7034400" y="4509360"/>
            <a:ext cx="15696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4" name="Text 810"/>
          <p:cNvSpPr/>
          <p:nvPr/>
        </p:nvSpPr>
        <p:spPr>
          <a:xfrm>
            <a:off x="5079240" y="4527720"/>
            <a:ext cx="1671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Agrégations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5" name="Text 811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Syntaxe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6" name="Text 812"/>
          <p:cNvSpPr/>
          <p:nvPr/>
        </p:nvSpPr>
        <p:spPr>
          <a:xfrm>
            <a:off x="3708000" y="4546800"/>
            <a:ext cx="122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Opérateurs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7" name="Text 813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8" name="Text 814"/>
          <p:cNvSpPr/>
          <p:nvPr/>
        </p:nvSpPr>
        <p:spPr>
          <a:xfrm>
            <a:off x="6876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Géolocalisation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9" name="Text 815"/>
          <p:cNvSpPr/>
          <p:nvPr/>
        </p:nvSpPr>
        <p:spPr>
          <a:xfrm>
            <a:off x="6665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0" name="Text 816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1" name="Shape 1418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2" name="Shape 1419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3" name="Text 1503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Géolocalisation dans OpenSearch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4" name="Shape 1420"/>
          <p:cNvSpPr/>
          <p:nvPr/>
        </p:nvSpPr>
        <p:spPr>
          <a:xfrm>
            <a:off x="320040" y="804600"/>
            <a:ext cx="8502840" cy="65736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5" name="Shape 1421"/>
          <p:cNvSpPr/>
          <p:nvPr/>
        </p:nvSpPr>
        <p:spPr>
          <a:xfrm>
            <a:off x="320040" y="804600"/>
            <a:ext cx="6300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6" name="Text 1505"/>
          <p:cNvSpPr/>
          <p:nvPr/>
        </p:nvSpPr>
        <p:spPr>
          <a:xfrm>
            <a:off x="502920" y="877680"/>
            <a:ext cx="82285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OpenSearch permet de combiner la géolocalisation avec les recherches full-text, structurées et les agrégations.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7" name="Shape 1422"/>
          <p:cNvSpPr/>
          <p:nvPr/>
        </p:nvSpPr>
        <p:spPr>
          <a:xfrm>
            <a:off x="320040" y="1600200"/>
            <a:ext cx="4159440" cy="329076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8" name="Shape 1423"/>
          <p:cNvSpPr/>
          <p:nvPr/>
        </p:nvSpPr>
        <p:spPr>
          <a:xfrm>
            <a:off x="320040" y="1600200"/>
            <a:ext cx="4159440" cy="38304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9" name="Text 1506"/>
          <p:cNvSpPr/>
          <p:nvPr/>
        </p:nvSpPr>
        <p:spPr>
          <a:xfrm>
            <a:off x="457200" y="16002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📍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geo_point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0" name="Text 1507"/>
          <p:cNvSpPr/>
          <p:nvPr/>
        </p:nvSpPr>
        <p:spPr>
          <a:xfrm>
            <a:off x="457200" y="2030040"/>
            <a:ext cx="393084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Représente un couple latitude/longitude.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Permet principalement le calcul de distance et le filtrage par zone rectangulaire, polygone ou rayon.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1" name="Shape 1424"/>
          <p:cNvSpPr/>
          <p:nvPr/>
        </p:nvSpPr>
        <p:spPr>
          <a:xfrm>
            <a:off x="411480" y="3154680"/>
            <a:ext cx="3930840" cy="1599120"/>
          </a:xfrm>
          <a:prstGeom prst="rect">
            <a:avLst/>
          </a:prstGeom>
          <a:solidFill>
            <a:srgbClr val="1a2e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2" name="Text 1508"/>
          <p:cNvSpPr/>
          <p:nvPr/>
        </p:nvSpPr>
        <p:spPr>
          <a:xfrm>
            <a:off x="502920" y="3246120"/>
            <a:ext cx="374796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String : "40.715, -74.011"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Object : { "lat": 40.72, "lon": -73.99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Array  : [ -73.983, 40.719 ]   // [lon, lat]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3" name="Shape 1425"/>
          <p:cNvSpPr/>
          <p:nvPr/>
        </p:nvSpPr>
        <p:spPr>
          <a:xfrm>
            <a:off x="4709160" y="1600200"/>
            <a:ext cx="4159440" cy="329076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4" name="Shape 1426"/>
          <p:cNvSpPr/>
          <p:nvPr/>
        </p:nvSpPr>
        <p:spPr>
          <a:xfrm>
            <a:off x="4709160" y="1600200"/>
            <a:ext cx="4159440" cy="38304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5" name="Text 1509"/>
          <p:cNvSpPr/>
          <p:nvPr/>
        </p:nvSpPr>
        <p:spPr>
          <a:xfrm>
            <a:off x="4846320" y="16002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🗺️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geo_shape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6" name="Text 1510"/>
          <p:cNvSpPr/>
          <p:nvPr/>
        </p:nvSpPr>
        <p:spPr>
          <a:xfrm>
            <a:off x="4846320" y="2030040"/>
            <a:ext cx="393084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Définit une zone via le format GeoJSON standard.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Permet de tester l'intersection entre deux zones géographiques.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7" name="Shape 1427"/>
          <p:cNvSpPr/>
          <p:nvPr/>
        </p:nvSpPr>
        <p:spPr>
          <a:xfrm>
            <a:off x="4800600" y="3154680"/>
            <a:ext cx="3930840" cy="1599120"/>
          </a:xfrm>
          <a:prstGeom prst="rect">
            <a:avLst/>
          </a:prstGeom>
          <a:solidFill>
            <a:srgbClr val="1a2e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8" name="Text 1511"/>
          <p:cNvSpPr/>
          <p:nvPr/>
        </p:nvSpPr>
        <p:spPr>
          <a:xfrm>
            <a:off x="4892040" y="3246120"/>
            <a:ext cx="3747960" cy="14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point, linestring, polygon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multipoint, multilinestring, multipolygon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geometrycollection, envelope, circle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9" name="Shape 1428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0" name="Shape 1429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1" name="Text 1512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Mapping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&amp;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indexati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on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geo_poin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2" name="Shape 1430"/>
          <p:cNvSpPr/>
          <p:nvPr/>
        </p:nvSpPr>
        <p:spPr>
          <a:xfrm>
            <a:off x="320040" y="804600"/>
            <a:ext cx="4359960" cy="233064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3" name="Shape 1431"/>
          <p:cNvSpPr/>
          <p:nvPr/>
        </p:nvSpPr>
        <p:spPr>
          <a:xfrm>
            <a:off x="320040" y="804600"/>
            <a:ext cx="435996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4" name="Text 1514"/>
          <p:cNvSpPr/>
          <p:nvPr/>
        </p:nvSpPr>
        <p:spPr>
          <a:xfrm>
            <a:off x="411480" y="80460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5" name="Text 1515"/>
          <p:cNvSpPr/>
          <p:nvPr/>
        </p:nvSpPr>
        <p:spPr>
          <a:xfrm>
            <a:off x="457200" y="1060560"/>
            <a:ext cx="4753800" cy="19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a7500"/>
                </a:solidFill>
                <a:latin typeface="Consolas"/>
                <a:ea typeface="Consolas"/>
              </a:rPr>
              <a:t># 1. Définir le mapping explicitement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PUT /attractions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"mappings":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"properties":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"name":     { "type": "text"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"location": { "type": "geo_point"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6" name="Shape 1432"/>
          <p:cNvSpPr/>
          <p:nvPr/>
        </p:nvSpPr>
        <p:spPr>
          <a:xfrm>
            <a:off x="4997160" y="804600"/>
            <a:ext cx="4012560" cy="279540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7" name="Shape 1433"/>
          <p:cNvSpPr/>
          <p:nvPr/>
        </p:nvSpPr>
        <p:spPr>
          <a:xfrm>
            <a:off x="4997160" y="804600"/>
            <a:ext cx="401256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8" name="Text 1516"/>
          <p:cNvSpPr/>
          <p:nvPr/>
        </p:nvSpPr>
        <p:spPr>
          <a:xfrm>
            <a:off x="5088600" y="804600"/>
            <a:ext cx="40222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Indexation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9" name="Text 1517"/>
          <p:cNvSpPr/>
          <p:nvPr/>
        </p:nvSpPr>
        <p:spPr>
          <a:xfrm>
            <a:off x="5040000" y="1060560"/>
            <a:ext cx="3969720" cy="28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a7500"/>
                </a:solidFill>
                <a:latin typeface="Consolas"/>
                <a:ea typeface="Consolas"/>
              </a:rPr>
              <a:t># 3 formats d'indexation possibles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a7500"/>
                </a:solidFill>
                <a:latin typeface="Consolas"/>
                <a:ea typeface="Consolas"/>
              </a:rPr>
              <a:t>// Format string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PUT /attractions/_doc/1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{ "name": "Chipotle", "location": "40.715, -74.011"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a7500"/>
                </a:solidFill>
                <a:latin typeface="Consolas"/>
                <a:ea typeface="Consolas"/>
              </a:rPr>
              <a:t>// Format objet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PUT /attractions/_doc/2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 "name": "Pala Pizza",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"location": { "lat": 40.722, "lon": -73.989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a7500"/>
                </a:solidFill>
                <a:latin typeface="Consolas"/>
                <a:ea typeface="Consolas"/>
              </a:rPr>
              <a:t>// Format tableau [lon, lat]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PUT /attractions/_doc/3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 "name": "Mini Munchies",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"location": [ -73.983, 40.719 ]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0" name="Shape 1434"/>
          <p:cNvSpPr/>
          <p:nvPr/>
        </p:nvSpPr>
        <p:spPr>
          <a:xfrm>
            <a:off x="5000040" y="3786120"/>
            <a:ext cx="3999960" cy="1073880"/>
          </a:xfrm>
          <a:prstGeom prst="rect">
            <a:avLst/>
          </a:prstGeom>
          <a:solidFill>
            <a:srgbClr val="005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1" name="Shape 1435"/>
          <p:cNvSpPr/>
          <p:nvPr/>
        </p:nvSpPr>
        <p:spPr>
          <a:xfrm>
            <a:off x="5000040" y="3786120"/>
            <a:ext cx="55800" cy="84024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2" name="Shape 1436"/>
          <p:cNvSpPr/>
          <p:nvPr/>
        </p:nvSpPr>
        <p:spPr>
          <a:xfrm>
            <a:off x="5000040" y="3786120"/>
            <a:ext cx="55800" cy="1073880"/>
          </a:xfrm>
          <a:prstGeom prst="rect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3" name="Text 1519"/>
          <p:cNvSpPr/>
          <p:nvPr/>
        </p:nvSpPr>
        <p:spPr>
          <a:xfrm>
            <a:off x="5162040" y="3850200"/>
            <a:ext cx="3543480" cy="8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Noto Sans CJK SC"/>
              </a:rPr>
              <a:t>⚠️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Noto Sans CJK SC"/>
              </a:rPr>
              <a:t>Format Array → [longitude, latitude] (ordre GeoJSON). Formats string/objet → latitude, longitude.</a:t>
            </a:r>
            <a:br>
              <a:rPr sz="1100"/>
            </a:b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Noto Sans CJK SC"/>
              </a:rPr>
              <a:t>Formats string et objet  →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latitude, longitude.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4" name="Shape 1437"/>
          <p:cNvSpPr/>
          <p:nvPr/>
        </p:nvSpPr>
        <p:spPr>
          <a:xfrm>
            <a:off x="320040" y="3420000"/>
            <a:ext cx="4434120" cy="144000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5" name="Shape 1438"/>
          <p:cNvSpPr/>
          <p:nvPr/>
        </p:nvSpPr>
        <p:spPr>
          <a:xfrm>
            <a:off x="320040" y="3440520"/>
            <a:ext cx="63000" cy="141948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6" name="Text 1520"/>
          <p:cNvSpPr/>
          <p:nvPr/>
        </p:nvSpPr>
        <p:spPr>
          <a:xfrm>
            <a:off x="540000" y="3488400"/>
            <a:ext cx="4214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a92"/>
                </a:solidFill>
                <a:latin typeface="Calibri"/>
                <a:ea typeface="Calibri"/>
              </a:rPr>
              <a:t>Bonne pratique de mapping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7" name="Text 1521"/>
          <p:cNvSpPr/>
          <p:nvPr/>
        </p:nvSpPr>
        <p:spPr>
          <a:xfrm>
            <a:off x="485280" y="3816000"/>
            <a:ext cx="415872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Utiliser index_prefixes pour accélérer les requêtes prefix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Activer doc_values: true (défaut) pour les agrégations geo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Préférer le format objet {lat, lon} pour la lisibilité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8" name="Shape 1439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9" name="Shape 1440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0" name="Text 1522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Filtres géographiques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1" name="Text 1524"/>
          <p:cNvSpPr/>
          <p:nvPr/>
        </p:nvSpPr>
        <p:spPr>
          <a:xfrm>
            <a:off x="320040" y="777240"/>
            <a:ext cx="8502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d6a80"/>
                </a:solidFill>
                <a:latin typeface="Calibri"/>
              </a:rPr>
              <a:t>4 types de filtres permettent d'inclure ou exclure des documents selon leur position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2" name="Shape 1441"/>
          <p:cNvSpPr/>
          <p:nvPr/>
        </p:nvSpPr>
        <p:spPr>
          <a:xfrm>
            <a:off x="320040" y="1170360"/>
            <a:ext cx="2284920" cy="264240"/>
          </a:xfrm>
          <a:prstGeom prst="roundRect">
            <a:avLst>
              <a:gd name="adj" fmla="val 27586"/>
            </a:avLst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3" name="Text 1525"/>
          <p:cNvSpPr/>
          <p:nvPr/>
        </p:nvSpPr>
        <p:spPr>
          <a:xfrm>
            <a:off x="320040" y="1170360"/>
            <a:ext cx="22849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geo_bounding_box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4" name="Text 1526"/>
          <p:cNvSpPr/>
          <p:nvPr/>
        </p:nvSpPr>
        <p:spPr>
          <a:xfrm>
            <a:off x="2743200" y="1170360"/>
            <a:ext cx="17820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Points dans un rectangle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(top_left + bottom_right)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5" name="Shape 1442"/>
          <p:cNvSpPr/>
          <p:nvPr/>
        </p:nvSpPr>
        <p:spPr>
          <a:xfrm>
            <a:off x="320040" y="1517760"/>
            <a:ext cx="4159440" cy="148032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6" name="Shape 1443"/>
          <p:cNvSpPr/>
          <p:nvPr/>
        </p:nvSpPr>
        <p:spPr>
          <a:xfrm>
            <a:off x="320040" y="1517760"/>
            <a:ext cx="415944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7" name="Text 1527"/>
          <p:cNvSpPr/>
          <p:nvPr/>
        </p:nvSpPr>
        <p:spPr>
          <a:xfrm>
            <a:off x="411480" y="1517760"/>
            <a:ext cx="4068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8" name="Text 1528"/>
          <p:cNvSpPr/>
          <p:nvPr/>
        </p:nvSpPr>
        <p:spPr>
          <a:xfrm>
            <a:off x="457200" y="1774080"/>
            <a:ext cx="388512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"filter":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"geo_bounding_box":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"location":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"top_left":     { "lat": 40.8, "lon": -74.0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"bottom_right": { "lat": 40.7, "lon": -73.0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9" name="Shape 1444"/>
          <p:cNvSpPr/>
          <p:nvPr/>
        </p:nvSpPr>
        <p:spPr>
          <a:xfrm>
            <a:off x="4709160" y="1170360"/>
            <a:ext cx="2284920" cy="264240"/>
          </a:xfrm>
          <a:prstGeom prst="roundRect">
            <a:avLst>
              <a:gd name="adj" fmla="val 27586"/>
            </a:avLst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0" name="Text 1529"/>
          <p:cNvSpPr/>
          <p:nvPr/>
        </p:nvSpPr>
        <p:spPr>
          <a:xfrm>
            <a:off x="4709160" y="1170360"/>
            <a:ext cx="22849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geo_distance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1" name="Text 1530"/>
          <p:cNvSpPr/>
          <p:nvPr/>
        </p:nvSpPr>
        <p:spPr>
          <a:xfrm>
            <a:off x="7132320" y="1134360"/>
            <a:ext cx="201168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Points dans un rayon autour d'un centre (+ tri/score par distance)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2" name="Shape 1445"/>
          <p:cNvSpPr/>
          <p:nvPr/>
        </p:nvSpPr>
        <p:spPr>
          <a:xfrm>
            <a:off x="4709160" y="1517760"/>
            <a:ext cx="4159440" cy="148032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3" name="Shape 1446"/>
          <p:cNvSpPr/>
          <p:nvPr/>
        </p:nvSpPr>
        <p:spPr>
          <a:xfrm>
            <a:off x="4709160" y="1517760"/>
            <a:ext cx="415944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4" name="Text 1531"/>
          <p:cNvSpPr/>
          <p:nvPr/>
        </p:nvSpPr>
        <p:spPr>
          <a:xfrm>
            <a:off x="4800600" y="1517760"/>
            <a:ext cx="4068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5" name="Text 1532"/>
          <p:cNvSpPr/>
          <p:nvPr/>
        </p:nvSpPr>
        <p:spPr>
          <a:xfrm>
            <a:off x="4846320" y="1774080"/>
            <a:ext cx="388512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"filter":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"geo_distance":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"distance": "200km",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"location": { "lat": 40.72, "lon": -73.99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6" name="Shape 1447"/>
          <p:cNvSpPr/>
          <p:nvPr/>
        </p:nvSpPr>
        <p:spPr>
          <a:xfrm>
            <a:off x="320040" y="3090600"/>
            <a:ext cx="2284920" cy="264240"/>
          </a:xfrm>
          <a:prstGeom prst="roundRect">
            <a:avLst>
              <a:gd name="adj" fmla="val 27586"/>
            </a:avLst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7" name="Text 1533"/>
          <p:cNvSpPr/>
          <p:nvPr/>
        </p:nvSpPr>
        <p:spPr>
          <a:xfrm>
            <a:off x="320040" y="3090600"/>
            <a:ext cx="22849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geo_distance_range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8" name="Text 1534"/>
          <p:cNvSpPr/>
          <p:nvPr/>
        </p:nvSpPr>
        <p:spPr>
          <a:xfrm>
            <a:off x="2743200" y="3090600"/>
            <a:ext cx="17820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Points dans un anneau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(distance dans un intervalle)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9" name="Shape 1448"/>
          <p:cNvSpPr/>
          <p:nvPr/>
        </p:nvSpPr>
        <p:spPr>
          <a:xfrm>
            <a:off x="320040" y="3438000"/>
            <a:ext cx="4159440" cy="148032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0" name="Shape 1449"/>
          <p:cNvSpPr/>
          <p:nvPr/>
        </p:nvSpPr>
        <p:spPr>
          <a:xfrm>
            <a:off x="320040" y="3438000"/>
            <a:ext cx="415944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1" name="Text 1535"/>
          <p:cNvSpPr/>
          <p:nvPr/>
        </p:nvSpPr>
        <p:spPr>
          <a:xfrm>
            <a:off x="411480" y="3438000"/>
            <a:ext cx="4068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2" name="Text 1536"/>
          <p:cNvSpPr/>
          <p:nvPr/>
        </p:nvSpPr>
        <p:spPr>
          <a:xfrm>
            <a:off x="457200" y="3694320"/>
            <a:ext cx="388512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"filter":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"geo_distance_range":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"from": "100km",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"to":   "300km",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"location": { "lat": 40.72, "lon": -73.99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3" name="Shape 1450"/>
          <p:cNvSpPr/>
          <p:nvPr/>
        </p:nvSpPr>
        <p:spPr>
          <a:xfrm>
            <a:off x="4709160" y="3090600"/>
            <a:ext cx="2284920" cy="264240"/>
          </a:xfrm>
          <a:prstGeom prst="roundRect">
            <a:avLst>
              <a:gd name="adj" fmla="val 27586"/>
            </a:avLst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4" name="Text 1537"/>
          <p:cNvSpPr/>
          <p:nvPr/>
        </p:nvSpPr>
        <p:spPr>
          <a:xfrm>
            <a:off x="4709160" y="3090600"/>
            <a:ext cx="22849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geo_polygon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5" name="Text 1538"/>
          <p:cNvSpPr/>
          <p:nvPr/>
        </p:nvSpPr>
        <p:spPr>
          <a:xfrm>
            <a:off x="7132320" y="3090600"/>
            <a:ext cx="178200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Points inclus dans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d6a80"/>
                </a:solidFill>
                <a:latin typeface="Calibri"/>
              </a:rPr>
              <a:t>un polygone quelconque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6" name="Shape 1451"/>
          <p:cNvSpPr/>
          <p:nvPr/>
        </p:nvSpPr>
        <p:spPr>
          <a:xfrm>
            <a:off x="4709160" y="3438000"/>
            <a:ext cx="4159440" cy="148032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7" name="Shape 1452"/>
          <p:cNvSpPr/>
          <p:nvPr/>
        </p:nvSpPr>
        <p:spPr>
          <a:xfrm>
            <a:off x="4709160" y="3438000"/>
            <a:ext cx="415944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8" name="Text 1539"/>
          <p:cNvSpPr/>
          <p:nvPr/>
        </p:nvSpPr>
        <p:spPr>
          <a:xfrm>
            <a:off x="4800600" y="3438000"/>
            <a:ext cx="4068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9" name="Text 1540"/>
          <p:cNvSpPr/>
          <p:nvPr/>
        </p:nvSpPr>
        <p:spPr>
          <a:xfrm>
            <a:off x="4846320" y="3694320"/>
            <a:ext cx="388512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"filter":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"geo_polygon":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"location": { "points": [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{ "lat": 40.73, "lon": -74.1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{ "lat": 40.01, "lon": -71.1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{ "lat": 50.56, "lon": -90.58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] 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Shape 1453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1" name="Shape 1454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2" name="Text 1541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Exemple – geo_bounding_box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3" name="Shape 1455"/>
          <p:cNvSpPr/>
          <p:nvPr/>
        </p:nvSpPr>
        <p:spPr>
          <a:xfrm>
            <a:off x="320040" y="804600"/>
            <a:ext cx="5028120" cy="411372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4" name="Shape 1456"/>
          <p:cNvSpPr/>
          <p:nvPr/>
        </p:nvSpPr>
        <p:spPr>
          <a:xfrm>
            <a:off x="320040" y="804600"/>
            <a:ext cx="502812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5" name="Text 1543"/>
          <p:cNvSpPr/>
          <p:nvPr/>
        </p:nvSpPr>
        <p:spPr>
          <a:xfrm>
            <a:off x="411480" y="80460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6" name="Text 1544"/>
          <p:cNvSpPr/>
          <p:nvPr/>
        </p:nvSpPr>
        <p:spPr>
          <a:xfrm>
            <a:off x="457200" y="1060560"/>
            <a:ext cx="475380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GET /attractions/_search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"query":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"bool":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"filter":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"geo_bounding_box":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"location":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"top_left":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  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"lat": 40.8, "lon": -74.0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"bottom_right":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  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"lat": 40.7, "lon": -73.0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7" name="Shape 1457"/>
          <p:cNvSpPr/>
          <p:nvPr/>
        </p:nvSpPr>
        <p:spPr>
          <a:xfrm>
            <a:off x="5577840" y="804600"/>
            <a:ext cx="3245040" cy="411372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8" name="Shape 1458"/>
          <p:cNvSpPr/>
          <p:nvPr/>
        </p:nvSpPr>
        <p:spPr>
          <a:xfrm>
            <a:off x="5760720" y="1005840"/>
            <a:ext cx="2879280" cy="3565080"/>
          </a:xfrm>
          <a:prstGeom prst="rect">
            <a:avLst/>
          </a:prstGeom>
          <a:solidFill>
            <a:srgbClr val="d4ee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9" name="Shape 1459"/>
          <p:cNvSpPr/>
          <p:nvPr/>
        </p:nvSpPr>
        <p:spPr>
          <a:xfrm>
            <a:off x="6035040" y="1280160"/>
            <a:ext cx="2330640" cy="2650680"/>
          </a:xfrm>
          <a:prstGeom prst="rect">
            <a:avLst/>
          </a:prstGeom>
          <a:solidFill>
            <a:srgbClr val="e0f4fa"/>
          </a:solidFill>
          <a:ln w="31750">
            <a:solidFill>
              <a:srgbClr val="00b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0" name="Shape 1478"/>
          <p:cNvSpPr/>
          <p:nvPr/>
        </p:nvSpPr>
        <p:spPr>
          <a:xfrm>
            <a:off x="6583680" y="1645920"/>
            <a:ext cx="145080" cy="145080"/>
          </a:xfrm>
          <a:prstGeom prst="ellipse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1" name="Shape 1479"/>
          <p:cNvSpPr/>
          <p:nvPr/>
        </p:nvSpPr>
        <p:spPr>
          <a:xfrm>
            <a:off x="7132320" y="2103120"/>
            <a:ext cx="145080" cy="145080"/>
          </a:xfrm>
          <a:prstGeom prst="ellipse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2" name="Shape 1480"/>
          <p:cNvSpPr/>
          <p:nvPr/>
        </p:nvSpPr>
        <p:spPr>
          <a:xfrm>
            <a:off x="6309360" y="2743200"/>
            <a:ext cx="145080" cy="145080"/>
          </a:xfrm>
          <a:prstGeom prst="ellipse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3" name="Shape 1481"/>
          <p:cNvSpPr/>
          <p:nvPr/>
        </p:nvSpPr>
        <p:spPr>
          <a:xfrm>
            <a:off x="7498080" y="1463040"/>
            <a:ext cx="145080" cy="145080"/>
          </a:xfrm>
          <a:prstGeom prst="ellipse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4" name="Shape 1482"/>
          <p:cNvSpPr/>
          <p:nvPr/>
        </p:nvSpPr>
        <p:spPr>
          <a:xfrm>
            <a:off x="5715000" y="4114800"/>
            <a:ext cx="145080" cy="145080"/>
          </a:xfrm>
          <a:prstGeom prst="ellipse">
            <a:avLst/>
          </a:prstGeom>
          <a:solidFill>
            <a:srgbClr val="aaaa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5" name="Shape 1483"/>
          <p:cNvSpPr/>
          <p:nvPr/>
        </p:nvSpPr>
        <p:spPr>
          <a:xfrm>
            <a:off x="8138160" y="1828800"/>
            <a:ext cx="145080" cy="145080"/>
          </a:xfrm>
          <a:prstGeom prst="ellipse">
            <a:avLst/>
          </a:prstGeom>
          <a:solidFill>
            <a:srgbClr val="aaaa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6" name="Text 1545"/>
          <p:cNvSpPr/>
          <p:nvPr/>
        </p:nvSpPr>
        <p:spPr>
          <a:xfrm>
            <a:off x="6053400" y="1298520"/>
            <a:ext cx="1370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7a92"/>
                </a:solidFill>
                <a:latin typeface="Calibri"/>
              </a:rPr>
              <a:t>top_left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7" name="Text 1564"/>
          <p:cNvSpPr/>
          <p:nvPr/>
        </p:nvSpPr>
        <p:spPr>
          <a:xfrm>
            <a:off x="7040880" y="3749040"/>
            <a:ext cx="1370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007a92"/>
                </a:solidFill>
                <a:latin typeface="Calibri"/>
              </a:rPr>
              <a:t>bottom_right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8" name="Text 1565"/>
          <p:cNvSpPr/>
          <p:nvPr/>
        </p:nvSpPr>
        <p:spPr>
          <a:xfrm>
            <a:off x="5760720" y="4572000"/>
            <a:ext cx="2879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●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</a:rPr>
              <a:t>dans la zone  ● hors zone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9" name="Shape 1484"/>
          <p:cNvSpPr/>
          <p:nvPr/>
        </p:nvSpPr>
        <p:spPr>
          <a:xfrm>
            <a:off x="320040" y="5047560"/>
            <a:ext cx="5028120" cy="36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0" name="Shape 1485"/>
          <p:cNvSpPr/>
          <p:nvPr/>
        </p:nvSpPr>
        <p:spPr>
          <a:xfrm>
            <a:off x="320040" y="5047560"/>
            <a:ext cx="63000" cy="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1" name="Text 1566"/>
          <p:cNvSpPr/>
          <p:nvPr/>
        </p:nvSpPr>
        <p:spPr>
          <a:xfrm>
            <a:off x="457200" y="3780000"/>
            <a:ext cx="47538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7a92"/>
                </a:solidFill>
                <a:latin typeface="Calibri"/>
                <a:ea typeface="Calibri"/>
              </a:rPr>
              <a:t>Contexte filtre (bool.filter)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2" name="Text 1567"/>
          <p:cNvSpPr/>
          <p:nvPr/>
        </p:nvSpPr>
        <p:spPr>
          <a:xfrm>
            <a:off x="521280" y="4200120"/>
            <a:ext cx="47080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d3b4f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Pas de calcul de score → exécution rapide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3b4f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Résultats mis en cache par le query cache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3b4f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Combinable avec d'autres filtres (term, range…)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Shape 1486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4" name="Shape 1487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5" name="Text 1568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Quelques agrégations géographiques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6" name="Text 1570"/>
          <p:cNvSpPr/>
          <p:nvPr/>
        </p:nvSpPr>
        <p:spPr>
          <a:xfrm>
            <a:off x="320040" y="777240"/>
            <a:ext cx="8502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d6a80"/>
                </a:solidFill>
                <a:latin typeface="Calibri"/>
              </a:rPr>
              <a:t>3 types d'agrégations bucket spécifiques aux données géospatiales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7" name="Shape 1488"/>
          <p:cNvSpPr/>
          <p:nvPr/>
        </p:nvSpPr>
        <p:spPr>
          <a:xfrm>
            <a:off x="320040" y="1170360"/>
            <a:ext cx="2376360" cy="264240"/>
          </a:xfrm>
          <a:prstGeom prst="roundRect">
            <a:avLst>
              <a:gd name="adj" fmla="val 27586"/>
            </a:avLst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8" name="Text 1571"/>
          <p:cNvSpPr/>
          <p:nvPr/>
        </p:nvSpPr>
        <p:spPr>
          <a:xfrm>
            <a:off x="320040" y="1170360"/>
            <a:ext cx="23763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geo_distance (bucket)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9" name="Text 1572"/>
          <p:cNvSpPr/>
          <p:nvPr/>
        </p:nvSpPr>
        <p:spPr>
          <a:xfrm>
            <a:off x="2834640" y="1170360"/>
            <a:ext cx="2742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4f"/>
                </a:solidFill>
                <a:latin typeface="Calibri"/>
              </a:rPr>
              <a:t>Groupe les documents dans des ronds concentriques autour d'un point central. Chaque anneau = un bucket.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0" name="Shape 1489"/>
          <p:cNvSpPr/>
          <p:nvPr/>
        </p:nvSpPr>
        <p:spPr>
          <a:xfrm>
            <a:off x="5669280" y="1124640"/>
            <a:ext cx="3153600" cy="121536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1" name="Shape 1490"/>
          <p:cNvSpPr/>
          <p:nvPr/>
        </p:nvSpPr>
        <p:spPr>
          <a:xfrm>
            <a:off x="5669280" y="900000"/>
            <a:ext cx="3153600" cy="24120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2" name="Text 1573"/>
          <p:cNvSpPr/>
          <p:nvPr/>
        </p:nvSpPr>
        <p:spPr>
          <a:xfrm>
            <a:off x="5760720" y="900000"/>
            <a:ext cx="306216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3" name="Text 1574"/>
          <p:cNvSpPr/>
          <p:nvPr/>
        </p:nvSpPr>
        <p:spPr>
          <a:xfrm>
            <a:off x="5806440" y="1208520"/>
            <a:ext cx="2879280" cy="10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"aggs": { "per_ring":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00d4ff"/>
                </a:solidFill>
                <a:latin typeface="Consolas"/>
                <a:ea typeface="Consolas"/>
              </a:rPr>
              <a:t>"geo_distance": {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ec8a4"/>
                </a:solidFill>
                <a:latin typeface="Consolas"/>
                <a:ea typeface="Consolas"/>
              </a:rPr>
              <a:t> </a:t>
            </a:r>
            <a:r>
              <a:rPr b="0" lang="en-US" sz="800" spc="-1" strike="noStrike">
                <a:solidFill>
                  <a:srgbClr val="7ec8a4"/>
                </a:solidFill>
                <a:latin typeface="Consolas"/>
                <a:ea typeface="Consolas"/>
              </a:rPr>
              <a:t>"field":  "location",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7ec8a4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7ec8a4"/>
                </a:solidFill>
                <a:latin typeface="Consolas"/>
                <a:ea typeface="Consolas"/>
              </a:rPr>
              <a:t>"origin": { "lat": 40.712, "lon": -73.988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"unit": "km",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"ranges": [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b86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ffb86c"/>
                </a:solidFill>
                <a:latin typeface="Consolas"/>
                <a:ea typeface="Consolas"/>
              </a:rPr>
              <a:t>{ "from": 0, "to": 1 },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b86c"/>
                </a:solidFill>
                <a:latin typeface="Consolas"/>
                <a:ea typeface="Consolas"/>
              </a:rPr>
              <a:t>      </a:t>
            </a:r>
            <a:r>
              <a:rPr b="0" lang="en-US" sz="800" spc="-1" strike="noStrike">
                <a:solidFill>
                  <a:srgbClr val="ffb86c"/>
                </a:solidFill>
                <a:latin typeface="Consolas"/>
                <a:ea typeface="Consolas"/>
              </a:rPr>
              <a:t>{ "from": 1, "to": 2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800" spc="-1" strike="noStrike">
                <a:solidFill>
                  <a:srgbClr val="a8d8e8"/>
                </a:solidFill>
                <a:latin typeface="Consolas"/>
                <a:ea typeface="Consolas"/>
              </a:rPr>
              <a:t>] } } }</a:t>
            </a:r>
            <a:endParaRPr b="0" lang="fr-FR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4" name="Shape 1491"/>
          <p:cNvSpPr/>
          <p:nvPr/>
        </p:nvSpPr>
        <p:spPr>
          <a:xfrm>
            <a:off x="320040" y="2496240"/>
            <a:ext cx="2376360" cy="264240"/>
          </a:xfrm>
          <a:prstGeom prst="roundRect">
            <a:avLst>
              <a:gd name="adj" fmla="val 27586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5" name="Text 1575"/>
          <p:cNvSpPr/>
          <p:nvPr/>
        </p:nvSpPr>
        <p:spPr>
          <a:xfrm>
            <a:off x="320040" y="2496240"/>
            <a:ext cx="23763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geohash_grid (bucket)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6" name="Text 1576"/>
          <p:cNvSpPr/>
          <p:nvPr/>
        </p:nvSpPr>
        <p:spPr>
          <a:xfrm>
            <a:off x="2834640" y="2496240"/>
            <a:ext cx="2742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4f"/>
                </a:solidFill>
                <a:latin typeface="Calibri"/>
              </a:rPr>
              <a:t>Groupe les documents par cellule de grille géographique (geohash). Idéal pour les heatmaps sur une carte.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7" name="Shape 1492"/>
          <p:cNvSpPr/>
          <p:nvPr/>
        </p:nvSpPr>
        <p:spPr>
          <a:xfrm>
            <a:off x="5669280" y="2450520"/>
            <a:ext cx="3153600" cy="118764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8" name="Shape 1493"/>
          <p:cNvSpPr/>
          <p:nvPr/>
        </p:nvSpPr>
        <p:spPr>
          <a:xfrm>
            <a:off x="5669280" y="2450520"/>
            <a:ext cx="315360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9" name="Text 1577"/>
          <p:cNvSpPr/>
          <p:nvPr/>
        </p:nvSpPr>
        <p:spPr>
          <a:xfrm>
            <a:off x="5760720" y="2450520"/>
            <a:ext cx="3062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0" name="Text 1578"/>
          <p:cNvSpPr/>
          <p:nvPr/>
        </p:nvSpPr>
        <p:spPr>
          <a:xfrm>
            <a:off x="5806440" y="2706480"/>
            <a:ext cx="287928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"aggs": { "map_grid":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"geohash_grid":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"field":     "location",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"precision": 3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1" name="Shape 1494"/>
          <p:cNvSpPr/>
          <p:nvPr/>
        </p:nvSpPr>
        <p:spPr>
          <a:xfrm>
            <a:off x="320040" y="3822120"/>
            <a:ext cx="2376360" cy="264240"/>
          </a:xfrm>
          <a:prstGeom prst="roundRect">
            <a:avLst>
              <a:gd name="adj" fmla="val 27586"/>
            </a:avLst>
          </a:prstGeom>
          <a:solidFill>
            <a:srgbClr val="4a14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2" name="Text 1579"/>
          <p:cNvSpPr/>
          <p:nvPr/>
        </p:nvSpPr>
        <p:spPr>
          <a:xfrm>
            <a:off x="320040" y="3822120"/>
            <a:ext cx="237636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geo_bounds (métrique)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3" name="Text 1580"/>
          <p:cNvSpPr/>
          <p:nvPr/>
        </p:nvSpPr>
        <p:spPr>
          <a:xfrm>
            <a:off x="2834640" y="3822120"/>
            <a:ext cx="27421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4f"/>
                </a:solidFill>
                <a:latin typeface="Calibri"/>
              </a:rPr>
              <a:t>Retourne un rectangle englobant tous les geo-points. Utile pour définir le niveau de zoom d'une carte.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4" name="Shape 1495"/>
          <p:cNvSpPr/>
          <p:nvPr/>
        </p:nvSpPr>
        <p:spPr>
          <a:xfrm>
            <a:off x="5669280" y="3776400"/>
            <a:ext cx="3153600" cy="118764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5" name="Shape 1496"/>
          <p:cNvSpPr/>
          <p:nvPr/>
        </p:nvSpPr>
        <p:spPr>
          <a:xfrm>
            <a:off x="5669280" y="3776400"/>
            <a:ext cx="315360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6" name="Text 1581"/>
          <p:cNvSpPr/>
          <p:nvPr/>
        </p:nvSpPr>
        <p:spPr>
          <a:xfrm>
            <a:off x="5760720" y="3776400"/>
            <a:ext cx="3062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7" name="Text 1582"/>
          <p:cNvSpPr/>
          <p:nvPr/>
        </p:nvSpPr>
        <p:spPr>
          <a:xfrm>
            <a:off x="5806440" y="4032360"/>
            <a:ext cx="2879280" cy="8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"aggs": { "viewport":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"geo_bounds":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"field":      "location",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"wrap_longitude": true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8" name="Shape 1497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9" name="Shape 1498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0" name="Text 1583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Exemple combiné – Recherche + Filtre + Agrégation géo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1" name="Shape 1499"/>
          <p:cNvSpPr/>
          <p:nvPr/>
        </p:nvSpPr>
        <p:spPr>
          <a:xfrm>
            <a:off x="320040" y="804600"/>
            <a:ext cx="5622480" cy="429660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2" name="Shape 1500"/>
          <p:cNvSpPr/>
          <p:nvPr/>
        </p:nvSpPr>
        <p:spPr>
          <a:xfrm>
            <a:off x="320040" y="804600"/>
            <a:ext cx="562248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3" name="Text 1585"/>
          <p:cNvSpPr/>
          <p:nvPr/>
        </p:nvSpPr>
        <p:spPr>
          <a:xfrm>
            <a:off x="411480" y="804600"/>
            <a:ext cx="5531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4" name="Text 1586"/>
          <p:cNvSpPr/>
          <p:nvPr/>
        </p:nvSpPr>
        <p:spPr>
          <a:xfrm>
            <a:off x="457200" y="1060560"/>
            <a:ext cx="5348160" cy="39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GET /attractions/_search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"query":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"bool":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"must":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"match": { "name": "pizza" }   // recherche full-text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"filter": {                       // filtre géo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"geo_bounding_box":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"location":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"top_left":     { "lat": 40.8, "lon": -74.1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"bottom_right": { "lat": 40.4, "lon": -73.7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 }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"aggs": {                             // agrégation géo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"per_ring":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"geo_distance":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"field":  "location", "unit": "km",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"origin": { "lat": 40.712, "lon": -73.988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"ranges": [{ "from": 0, "to": 1 }, { "from": 1, "to": 2 }]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5" name="Shape 1501"/>
          <p:cNvSpPr/>
          <p:nvPr/>
        </p:nvSpPr>
        <p:spPr>
          <a:xfrm>
            <a:off x="6080760" y="804600"/>
            <a:ext cx="2742120" cy="4296600"/>
          </a:xfrm>
          <a:prstGeom prst="rect">
            <a:avLst/>
          </a:prstGeom>
          <a:solidFill>
            <a:srgbClr val="00576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6" name="Shape 1502"/>
          <p:cNvSpPr/>
          <p:nvPr/>
        </p:nvSpPr>
        <p:spPr>
          <a:xfrm>
            <a:off x="6080760" y="804600"/>
            <a:ext cx="2742120" cy="34632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7" name="Text 1587"/>
          <p:cNvSpPr/>
          <p:nvPr/>
        </p:nvSpPr>
        <p:spPr>
          <a:xfrm>
            <a:off x="6217920" y="804600"/>
            <a:ext cx="25592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Enchaînement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8" name="Shape 1503"/>
          <p:cNvSpPr/>
          <p:nvPr/>
        </p:nvSpPr>
        <p:spPr>
          <a:xfrm>
            <a:off x="6172200" y="1243440"/>
            <a:ext cx="364680" cy="364680"/>
          </a:xfrm>
          <a:prstGeom prst="ellipse">
            <a:avLst/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9" name="Text 1588"/>
          <p:cNvSpPr/>
          <p:nvPr/>
        </p:nvSpPr>
        <p:spPr>
          <a:xfrm>
            <a:off x="6172200" y="124344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0" name="Shape 1504"/>
          <p:cNvSpPr/>
          <p:nvPr/>
        </p:nvSpPr>
        <p:spPr>
          <a:xfrm>
            <a:off x="6629400" y="1289160"/>
            <a:ext cx="2056320" cy="264240"/>
          </a:xfrm>
          <a:prstGeom prst="roundRect">
            <a:avLst>
              <a:gd name="adj" fmla="val 27586"/>
            </a:avLst>
          </a:prstGeom>
          <a:solidFill>
            <a:srgbClr val="e651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1" name="Text 1589"/>
          <p:cNvSpPr/>
          <p:nvPr/>
        </p:nvSpPr>
        <p:spPr>
          <a:xfrm>
            <a:off x="6629400" y="1289160"/>
            <a:ext cx="20563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must : match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2" name="Text 1590"/>
          <p:cNvSpPr/>
          <p:nvPr/>
        </p:nvSpPr>
        <p:spPr>
          <a:xfrm>
            <a:off x="6291000" y="1645920"/>
            <a:ext cx="24220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Filtre full-text sur le nom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calcule un score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3" name="Shape 1505"/>
          <p:cNvSpPr/>
          <p:nvPr/>
        </p:nvSpPr>
        <p:spPr>
          <a:xfrm>
            <a:off x="6172200" y="2541960"/>
            <a:ext cx="364680" cy="364680"/>
          </a:xfrm>
          <a:prstGeom prst="ellipse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4" name="Text 1591"/>
          <p:cNvSpPr/>
          <p:nvPr/>
        </p:nvSpPr>
        <p:spPr>
          <a:xfrm>
            <a:off x="6172200" y="254196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5" name="Shape 1506"/>
          <p:cNvSpPr/>
          <p:nvPr/>
        </p:nvSpPr>
        <p:spPr>
          <a:xfrm>
            <a:off x="6629400" y="2587680"/>
            <a:ext cx="2056320" cy="264240"/>
          </a:xfrm>
          <a:prstGeom prst="roundRect">
            <a:avLst>
              <a:gd name="adj" fmla="val 27586"/>
            </a:avLst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6" name="Text 1592"/>
          <p:cNvSpPr/>
          <p:nvPr/>
        </p:nvSpPr>
        <p:spPr>
          <a:xfrm>
            <a:off x="6629400" y="2587680"/>
            <a:ext cx="20563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filter : geo_bounding_box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7" name="Text 1593"/>
          <p:cNvSpPr/>
          <p:nvPr/>
        </p:nvSpPr>
        <p:spPr>
          <a:xfrm>
            <a:off x="6291000" y="2944440"/>
            <a:ext cx="24220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Restreint à la zone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→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pas de score, mis en cache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8" name="Shape 1507"/>
          <p:cNvSpPr/>
          <p:nvPr/>
        </p:nvSpPr>
        <p:spPr>
          <a:xfrm>
            <a:off x="6172200" y="3840480"/>
            <a:ext cx="364680" cy="364680"/>
          </a:xfrm>
          <a:prstGeom prst="ellipse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9" name="Text 1594"/>
          <p:cNvSpPr/>
          <p:nvPr/>
        </p:nvSpPr>
        <p:spPr>
          <a:xfrm>
            <a:off x="6172200" y="3840480"/>
            <a:ext cx="36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0" name="Shape 1508"/>
          <p:cNvSpPr/>
          <p:nvPr/>
        </p:nvSpPr>
        <p:spPr>
          <a:xfrm>
            <a:off x="6629400" y="3886200"/>
            <a:ext cx="2056320" cy="264240"/>
          </a:xfrm>
          <a:prstGeom prst="roundRect">
            <a:avLst>
              <a:gd name="adj" fmla="val 27586"/>
            </a:avLst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1" name="Text 1595"/>
          <p:cNvSpPr/>
          <p:nvPr/>
        </p:nvSpPr>
        <p:spPr>
          <a:xfrm>
            <a:off x="6629400" y="3886200"/>
            <a:ext cx="20563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aggs : geo_distance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2" name="Text 1596"/>
          <p:cNvSpPr/>
          <p:nvPr/>
        </p:nvSpPr>
        <p:spPr>
          <a:xfrm>
            <a:off x="6291000" y="4242960"/>
            <a:ext cx="24220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Groupe les pizzerias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par distance de 1 km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3" name="Shape 1509"/>
          <p:cNvSpPr/>
          <p:nvPr/>
        </p:nvSpPr>
        <p:spPr>
          <a:xfrm>
            <a:off x="0" y="0"/>
            <a:ext cx="9142920" cy="657360"/>
          </a:xfrm>
          <a:prstGeom prst="rect">
            <a:avLst/>
          </a:prstGeom>
          <a:solidFill>
            <a:srgbClr val="0d3b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4" name="Shape 1510"/>
          <p:cNvSpPr/>
          <p:nvPr/>
        </p:nvSpPr>
        <p:spPr>
          <a:xfrm>
            <a:off x="0" y="0"/>
            <a:ext cx="163440" cy="657360"/>
          </a:xfrm>
          <a:prstGeom prst="rect">
            <a:avLst/>
          </a:prstGeom>
          <a:solidFill>
            <a:srgbClr val="00b5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5" name="Text 1597"/>
          <p:cNvSpPr/>
          <p:nvPr/>
        </p:nvSpPr>
        <p:spPr>
          <a:xfrm>
            <a:off x="320040" y="0"/>
            <a:ext cx="80456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geo_shape – Zones polygonales (GeoJSON)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6" name="Text 1599"/>
          <p:cNvSpPr/>
          <p:nvPr/>
        </p:nvSpPr>
        <p:spPr>
          <a:xfrm>
            <a:off x="320040" y="777240"/>
            <a:ext cx="85028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d6a80"/>
                </a:solidFill>
                <a:latin typeface="Calibri"/>
              </a:rPr>
              <a:t>Permet de requêter des zones complexes et de tester leur intersection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7" name="Shape 1511"/>
          <p:cNvSpPr/>
          <p:nvPr/>
        </p:nvSpPr>
        <p:spPr>
          <a:xfrm>
            <a:off x="320040" y="1115640"/>
            <a:ext cx="4179960" cy="356436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8" name="Shape 1512"/>
          <p:cNvSpPr/>
          <p:nvPr/>
        </p:nvSpPr>
        <p:spPr>
          <a:xfrm>
            <a:off x="320040" y="1115640"/>
            <a:ext cx="502812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9" name="Text 1600"/>
          <p:cNvSpPr/>
          <p:nvPr/>
        </p:nvSpPr>
        <p:spPr>
          <a:xfrm>
            <a:off x="411480" y="1115640"/>
            <a:ext cx="49366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OpenSearch DSL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0" name="Text 1601"/>
          <p:cNvSpPr/>
          <p:nvPr/>
        </p:nvSpPr>
        <p:spPr>
          <a:xfrm>
            <a:off x="457200" y="1371600"/>
            <a:ext cx="4753800" cy="34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# 1. Mapping explicite requis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PUT /attractions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"mappings": { "properties":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"name":     { "type": "text" },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"location": { "type": "geo_shape"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# 2. Indexation d'un polygone GeoJSON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PUT /attractions/_doc/dam_square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"name": "Dam Square, Amsterdam",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"location":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"type": "polygon",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"coordinates": [[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[4.892, 52.373], [4.892, 52.372],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[4.893, 52.372], [4.894, 52.372],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[4.892, 52.373]  // fermer le polygone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]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1" name="Shape 1513"/>
          <p:cNvSpPr/>
          <p:nvPr/>
        </p:nvSpPr>
        <p:spPr>
          <a:xfrm>
            <a:off x="4846320" y="1115640"/>
            <a:ext cx="4153680" cy="2304360"/>
          </a:xfrm>
          <a:prstGeom prst="rect">
            <a:avLst/>
          </a:prstGeom>
          <a:solidFill>
            <a:srgbClr val="1a2e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2" name="Shape 1514"/>
          <p:cNvSpPr/>
          <p:nvPr/>
        </p:nvSpPr>
        <p:spPr>
          <a:xfrm>
            <a:off x="4846320" y="1115640"/>
            <a:ext cx="3976560" cy="200160"/>
          </a:xfrm>
          <a:prstGeom prst="rect">
            <a:avLst/>
          </a:prstGeom>
          <a:solidFill>
            <a:srgbClr val="007a9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3" name="Text 1602"/>
          <p:cNvSpPr/>
          <p:nvPr/>
        </p:nvSpPr>
        <p:spPr>
          <a:xfrm>
            <a:off x="4937760" y="1115640"/>
            <a:ext cx="38851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Requête geo_shape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4" name="Text 1603"/>
          <p:cNvSpPr/>
          <p:nvPr/>
        </p:nvSpPr>
        <p:spPr>
          <a:xfrm>
            <a:off x="4983480" y="1371600"/>
            <a:ext cx="3702240" cy="27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a"/>
                </a:solidFill>
                <a:latin typeface="Consolas"/>
                <a:ea typeface="Consolas"/>
              </a:rPr>
              <a:t># 3. Requête d'intersection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GET /attractions/_search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"query":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00d4ff"/>
                </a:solidFill>
                <a:latin typeface="Consolas"/>
                <a:ea typeface="Consolas"/>
              </a:rPr>
              <a:t>"geo_shape":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"location":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    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"shape": {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"type":   "circle",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          </a:t>
            </a:r>
            <a:r>
              <a:rPr b="0" lang="en-US" sz="1050" spc="-1" strike="noStrike">
                <a:solidFill>
                  <a:srgbClr val="ffb86c"/>
                </a:solidFill>
                <a:latin typeface="Consolas"/>
                <a:ea typeface="Consolas"/>
              </a:rPr>
              <a:t>"radius": "1km",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          </a:t>
            </a:r>
            <a:r>
              <a:rPr b="0" lang="en-US" sz="1050" spc="-1" strike="noStrike">
                <a:solidFill>
                  <a:srgbClr val="7ec8a4"/>
                </a:solidFill>
                <a:latin typeface="Consolas"/>
                <a:ea typeface="Consolas"/>
              </a:rPr>
              <a:t>"coordinates": [4.899, 52.378]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  </a:t>
            </a:r>
            <a:r>
              <a:rPr b="0" lang="en-US" sz="1050" spc="-1" strike="noStrike">
                <a:solidFill>
                  <a:srgbClr val="a8d8e8"/>
                </a:solidFill>
                <a:latin typeface="Consolas"/>
                <a:ea typeface="Consolas"/>
              </a:rPr>
              <a:t>} } } } }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5" name="Shape 1515"/>
          <p:cNvSpPr/>
          <p:nvPr/>
        </p:nvSpPr>
        <p:spPr>
          <a:xfrm>
            <a:off x="4846320" y="3452040"/>
            <a:ext cx="1919160" cy="38088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6" name="Shape 1516"/>
          <p:cNvSpPr/>
          <p:nvPr/>
        </p:nvSpPr>
        <p:spPr>
          <a:xfrm>
            <a:off x="4846320" y="3452040"/>
            <a:ext cx="53640" cy="3808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7" name="Text 1604"/>
          <p:cNvSpPr/>
          <p:nvPr/>
        </p:nvSpPr>
        <p:spPr>
          <a:xfrm>
            <a:off x="4956120" y="3452040"/>
            <a:ext cx="8218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92"/>
                </a:solidFill>
                <a:latin typeface="Consolas"/>
                <a:ea typeface="Consolas"/>
              </a:rPr>
              <a:t>point 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8" name="Text 1605"/>
          <p:cNvSpPr/>
          <p:nvPr/>
        </p:nvSpPr>
        <p:spPr>
          <a:xfrm>
            <a:off x="5760720" y="3452040"/>
            <a:ext cx="959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Un seul point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9" name="Shape 1517"/>
          <p:cNvSpPr/>
          <p:nvPr/>
        </p:nvSpPr>
        <p:spPr>
          <a:xfrm>
            <a:off x="6930000" y="3452040"/>
            <a:ext cx="2070000" cy="38088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0" name="Shape 1518"/>
          <p:cNvSpPr/>
          <p:nvPr/>
        </p:nvSpPr>
        <p:spPr>
          <a:xfrm>
            <a:off x="6858000" y="3452040"/>
            <a:ext cx="53640" cy="3808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1" name="Text 1606"/>
          <p:cNvSpPr/>
          <p:nvPr/>
        </p:nvSpPr>
        <p:spPr>
          <a:xfrm>
            <a:off x="6967800" y="3452040"/>
            <a:ext cx="95220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92"/>
                </a:solidFill>
                <a:latin typeface="Consolas"/>
                <a:ea typeface="Consolas"/>
              </a:rPr>
              <a:t>linestring 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2" name="Text 1607"/>
          <p:cNvSpPr/>
          <p:nvPr/>
        </p:nvSpPr>
        <p:spPr>
          <a:xfrm>
            <a:off x="7880400" y="3452040"/>
            <a:ext cx="122760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Ligne ou courbe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3" name="Shape 1519"/>
          <p:cNvSpPr/>
          <p:nvPr/>
        </p:nvSpPr>
        <p:spPr>
          <a:xfrm>
            <a:off x="4846320" y="3894120"/>
            <a:ext cx="1919160" cy="38052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4" name="Shape 1520"/>
          <p:cNvSpPr/>
          <p:nvPr/>
        </p:nvSpPr>
        <p:spPr>
          <a:xfrm>
            <a:off x="4846320" y="3894120"/>
            <a:ext cx="53640" cy="3805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5" name="Text 1608"/>
          <p:cNvSpPr/>
          <p:nvPr/>
        </p:nvSpPr>
        <p:spPr>
          <a:xfrm>
            <a:off x="4956120" y="3894120"/>
            <a:ext cx="821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92"/>
                </a:solidFill>
                <a:latin typeface="Consolas"/>
                <a:ea typeface="Consolas"/>
              </a:rPr>
              <a:t>polygon 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6" name="Text 1609"/>
          <p:cNvSpPr/>
          <p:nvPr/>
        </p:nvSpPr>
        <p:spPr>
          <a:xfrm>
            <a:off x="5760720" y="3894120"/>
            <a:ext cx="959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Zone fermée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7" name="Shape 1521"/>
          <p:cNvSpPr/>
          <p:nvPr/>
        </p:nvSpPr>
        <p:spPr>
          <a:xfrm>
            <a:off x="6930000" y="3894120"/>
            <a:ext cx="2070000" cy="38052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8" name="Shape 1522"/>
          <p:cNvSpPr/>
          <p:nvPr/>
        </p:nvSpPr>
        <p:spPr>
          <a:xfrm>
            <a:off x="6858000" y="3894120"/>
            <a:ext cx="53640" cy="38052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9" name="Text 1610"/>
          <p:cNvSpPr/>
          <p:nvPr/>
        </p:nvSpPr>
        <p:spPr>
          <a:xfrm>
            <a:off x="6967800" y="3894120"/>
            <a:ext cx="8218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92"/>
                </a:solidFill>
                <a:latin typeface="Consolas"/>
                <a:ea typeface="Consolas"/>
              </a:rPr>
              <a:t>circle 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0" name="Text 1611"/>
          <p:cNvSpPr/>
          <p:nvPr/>
        </p:nvSpPr>
        <p:spPr>
          <a:xfrm>
            <a:off x="7772400" y="3894120"/>
            <a:ext cx="122760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Rayon autour d'un point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1" name="Shape 1523"/>
          <p:cNvSpPr/>
          <p:nvPr/>
        </p:nvSpPr>
        <p:spPr>
          <a:xfrm>
            <a:off x="4846320" y="4335120"/>
            <a:ext cx="1919160" cy="38088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2" name="Shape 1524"/>
          <p:cNvSpPr/>
          <p:nvPr/>
        </p:nvSpPr>
        <p:spPr>
          <a:xfrm>
            <a:off x="4846320" y="4335120"/>
            <a:ext cx="53640" cy="3808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3" name="Text 1612"/>
          <p:cNvSpPr/>
          <p:nvPr/>
        </p:nvSpPr>
        <p:spPr>
          <a:xfrm>
            <a:off x="4956120" y="4335120"/>
            <a:ext cx="8218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92"/>
                </a:solidFill>
                <a:latin typeface="Consolas"/>
                <a:ea typeface="Consolas"/>
              </a:rPr>
              <a:t>envelope 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4" name="Text 1613"/>
          <p:cNvSpPr/>
          <p:nvPr/>
        </p:nvSpPr>
        <p:spPr>
          <a:xfrm>
            <a:off x="5760720" y="4335120"/>
            <a:ext cx="959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Rectangle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5" name="Shape 1525"/>
          <p:cNvSpPr/>
          <p:nvPr/>
        </p:nvSpPr>
        <p:spPr>
          <a:xfrm>
            <a:off x="6930000" y="4335120"/>
            <a:ext cx="2070000" cy="380880"/>
          </a:xfrm>
          <a:prstGeom prst="rect">
            <a:avLst/>
          </a:prstGeom>
          <a:solidFill>
            <a:srgbClr val="00304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6" name="Shape 1526"/>
          <p:cNvSpPr/>
          <p:nvPr/>
        </p:nvSpPr>
        <p:spPr>
          <a:xfrm>
            <a:off x="6858000" y="4335120"/>
            <a:ext cx="53640" cy="380880"/>
          </a:xfrm>
          <a:prstGeom prst="rect">
            <a:avLst/>
          </a:prstGeom>
          <a:solidFill>
            <a:srgbClr val="2e7d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7" name="Text 1614"/>
          <p:cNvSpPr/>
          <p:nvPr/>
        </p:nvSpPr>
        <p:spPr>
          <a:xfrm>
            <a:off x="6967800" y="4335120"/>
            <a:ext cx="8218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92"/>
                </a:solidFill>
                <a:latin typeface="Consolas"/>
                <a:ea typeface="Consolas"/>
              </a:rPr>
              <a:t>geometrycollection : 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8" name="Text 1615"/>
          <p:cNvSpPr/>
          <p:nvPr/>
        </p:nvSpPr>
        <p:spPr>
          <a:xfrm>
            <a:off x="7772400" y="4335120"/>
            <a:ext cx="122760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Combinaison de shapes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9" name="Shape 1173"/>
          <p:cNvSpPr/>
          <p:nvPr/>
        </p:nvSpPr>
        <p:spPr>
          <a:xfrm>
            <a:off x="274320" y="4753080"/>
            <a:ext cx="872568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0" name="Shape 1179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1" name="Text 645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5.3 — Géo-localisation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2" name="Shape 789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3" name="Text 817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4" name="Text 818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e8834a"/>
                </a:solidFill>
                <a:latin typeface="Calibri"/>
                <a:ea typeface="Calibri"/>
              </a:rPr>
              <a:t>Opensearch dashboard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5" name="Shape 790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6" name="Shape 791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7" name="Text 819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8" name="Text 820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Index pattern et Discover 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9" name="Shape 792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0" name="Text 821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1" name="Text 822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DQL et </a:t>
            </a: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PPL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2" name="Shape 793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3" name="Text 823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4" name="Text 824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Visualisations et Dashboards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5" name="Shape 795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0" lang="en-US" sz="1050" spc="-1" strike="noStrike">
              <a:solidFill>
                <a:srgbClr val="5a8a96"/>
              </a:solidFill>
              <a:latin typeface="Calibri"/>
              <a:ea typeface="Calibri"/>
            </a:endParaRPr>
          </a:p>
        </p:txBody>
      </p:sp>
      <p:sp>
        <p:nvSpPr>
          <p:cNvPr id="4146" name="Text 827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1.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7" name="Shape 796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8" name="Text 828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2.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9" name="Shape 797"/>
          <p:cNvSpPr/>
          <p:nvPr/>
        </p:nvSpPr>
        <p:spPr>
          <a:xfrm>
            <a:off x="5240520" y="4316040"/>
            <a:ext cx="127224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0" name="Shape 798"/>
          <p:cNvSpPr/>
          <p:nvPr/>
        </p:nvSpPr>
        <p:spPr>
          <a:xfrm>
            <a:off x="5240520" y="4316040"/>
            <a:ext cx="12722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1" name="Shape 799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2" name="Text 829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3.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3" name="Shape 800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4" name="Text 830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4. 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5" name="Shape 801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6" name="Text 831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5. 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7" name="Shape 802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8" name="Text 832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6.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9" name="Shape 803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0" name="Text 833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7.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Monitoring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1" name="Text 834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2" name="Shape 794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3" name="Text 825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</a:t>
            </a: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4" name="Text 826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Inde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x 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Patt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ern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5" name="Shape 804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6" name="Text 835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Filtres –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Booléens –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Champs </a:t>
            </a: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imbriqués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7" name="Shape 805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8" name="Shape 806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9" name="Text 836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O.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Dashboard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0" name="Shape 807"/>
          <p:cNvSpPr/>
          <p:nvPr/>
        </p:nvSpPr>
        <p:spPr>
          <a:xfrm>
            <a:off x="1439640" y="4316040"/>
            <a:ext cx="0" cy="80856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1" name="Text 837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2" name="Shape 808"/>
          <p:cNvSpPr/>
          <p:nvPr/>
        </p:nvSpPr>
        <p:spPr>
          <a:xfrm>
            <a:off x="1728000" y="4545360"/>
            <a:ext cx="1620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3" name="Text 838"/>
          <p:cNvSpPr/>
          <p:nvPr/>
        </p:nvSpPr>
        <p:spPr>
          <a:xfrm>
            <a:off x="5079240" y="4527720"/>
            <a:ext cx="320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Visualisations et </a:t>
            </a: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dashboards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4" name="Text 839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Index pattern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5" name="Text 840"/>
          <p:cNvSpPr/>
          <p:nvPr/>
        </p:nvSpPr>
        <p:spPr>
          <a:xfrm>
            <a:off x="3708000" y="4546800"/>
            <a:ext cx="122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DQL et PPL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6" name="Text 841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7" name="Text 844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8" name="Shape 1833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9" name="Shape 1192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0" name="Text 843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Présentation d'OpenSearch Dashboards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1" name="Shape 1193"/>
          <p:cNvSpPr/>
          <p:nvPr/>
        </p:nvSpPr>
        <p:spPr>
          <a:xfrm>
            <a:off x="320040" y="822960"/>
            <a:ext cx="411372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2" name="Text 853"/>
          <p:cNvSpPr/>
          <p:nvPr/>
        </p:nvSpPr>
        <p:spPr>
          <a:xfrm>
            <a:off x="502920" y="914400"/>
            <a:ext cx="3747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OpenSearch Dashboards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3" name="Text 866"/>
          <p:cNvSpPr/>
          <p:nvPr/>
        </p:nvSpPr>
        <p:spPr>
          <a:xfrm>
            <a:off x="502920" y="1353240"/>
            <a:ext cx="37479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Interface web de visualisation et d'analyse pour OpenSearch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Fork open-source de Kibana (depuis 2021), maintenu par AWS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S'exécute sur Node.js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4" name="Text 873"/>
          <p:cNvSpPr/>
          <p:nvPr/>
        </p:nvSpPr>
        <p:spPr>
          <a:xfrm>
            <a:off x="502920" y="2468880"/>
            <a:ext cx="3747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S'adresse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également à :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5" name="Text 882"/>
          <p:cNvSpPr/>
          <p:nvPr/>
        </p:nvSpPr>
        <p:spPr>
          <a:xfrm>
            <a:off x="502920" y="2834640"/>
            <a:ext cx="37479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L'administrateur de la plateforme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Les développeurs de solutions basées sur OpenSearch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Les équipes DevOps et observabilité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6" name="Shape 1199"/>
          <p:cNvSpPr/>
          <p:nvPr/>
        </p:nvSpPr>
        <p:spPr>
          <a:xfrm>
            <a:off x="4663440" y="868680"/>
            <a:ext cx="4113720" cy="1114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7" name="Shape 1200"/>
          <p:cNvSpPr/>
          <p:nvPr/>
        </p:nvSpPr>
        <p:spPr>
          <a:xfrm>
            <a:off x="4663440" y="868680"/>
            <a:ext cx="90360" cy="1114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8" name="Shape 1201"/>
          <p:cNvSpPr/>
          <p:nvPr/>
        </p:nvSpPr>
        <p:spPr>
          <a:xfrm>
            <a:off x="4846320" y="117036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89" name="Image 4" descr="preencoded.png"/>
          <p:cNvPicPr/>
          <p:nvPr/>
        </p:nvPicPr>
        <p:blipFill>
          <a:blip r:embed="rId1"/>
          <a:stretch/>
        </p:blipFill>
        <p:spPr>
          <a:xfrm>
            <a:off x="4919400" y="124344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190" name="Text 1110"/>
          <p:cNvSpPr/>
          <p:nvPr/>
        </p:nvSpPr>
        <p:spPr>
          <a:xfrm>
            <a:off x="5486400" y="97848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1" name="Text 1248"/>
          <p:cNvSpPr/>
          <p:nvPr/>
        </p:nvSpPr>
        <p:spPr>
          <a:xfrm>
            <a:off x="5486400" y="134424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Graphiques, cartes et tableaux de bord interactifs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2" name="Shape 1240"/>
          <p:cNvSpPr/>
          <p:nvPr/>
        </p:nvSpPr>
        <p:spPr>
          <a:xfrm>
            <a:off x="4663440" y="2167200"/>
            <a:ext cx="4113720" cy="1114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3" name="Shape 1242"/>
          <p:cNvSpPr/>
          <p:nvPr/>
        </p:nvSpPr>
        <p:spPr>
          <a:xfrm>
            <a:off x="4663440" y="2167200"/>
            <a:ext cx="90360" cy="11145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4" name="Shape 1536"/>
          <p:cNvSpPr/>
          <p:nvPr/>
        </p:nvSpPr>
        <p:spPr>
          <a:xfrm>
            <a:off x="4846320" y="2468880"/>
            <a:ext cx="501840" cy="501840"/>
          </a:xfrm>
          <a:prstGeom prst="ellipse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95" name="Image 5" descr="preencoded.png"/>
          <p:cNvPicPr/>
          <p:nvPr/>
        </p:nvPicPr>
        <p:blipFill>
          <a:blip r:embed="rId2"/>
          <a:stretch/>
        </p:blipFill>
        <p:spPr>
          <a:xfrm>
            <a:off x="4919400" y="254196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196" name="Text 1252"/>
          <p:cNvSpPr/>
          <p:nvPr/>
        </p:nvSpPr>
        <p:spPr>
          <a:xfrm>
            <a:off x="5486400" y="227700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Exploration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7" name="Text 1256"/>
          <p:cNvSpPr/>
          <p:nvPr/>
        </p:nvSpPr>
        <p:spPr>
          <a:xfrm>
            <a:off x="5486400" y="264276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Discover pour explorer et filtrer vos données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8" name="Shape 1537"/>
          <p:cNvSpPr/>
          <p:nvPr/>
        </p:nvSpPr>
        <p:spPr>
          <a:xfrm>
            <a:off x="4663440" y="3465720"/>
            <a:ext cx="4113720" cy="1114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9" name="Shape 1538"/>
          <p:cNvSpPr/>
          <p:nvPr/>
        </p:nvSpPr>
        <p:spPr>
          <a:xfrm>
            <a:off x="4663440" y="3465720"/>
            <a:ext cx="90360" cy="1114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0" name="Shape 1539"/>
          <p:cNvSpPr/>
          <p:nvPr/>
        </p:nvSpPr>
        <p:spPr>
          <a:xfrm>
            <a:off x="4846320" y="37674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01" name="Image 6" descr="preencoded.png"/>
          <p:cNvPicPr/>
          <p:nvPr/>
        </p:nvPicPr>
        <p:blipFill>
          <a:blip r:embed="rId3"/>
          <a:stretch/>
        </p:blipFill>
        <p:spPr>
          <a:xfrm>
            <a:off x="4919400" y="38404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202" name="Text 1283"/>
          <p:cNvSpPr/>
          <p:nvPr/>
        </p:nvSpPr>
        <p:spPr>
          <a:xfrm>
            <a:off x="5486400" y="357516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Administration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3" name="Text 1284"/>
          <p:cNvSpPr/>
          <p:nvPr/>
        </p:nvSpPr>
        <p:spPr>
          <a:xfrm>
            <a:off x="5486400" y="3940920"/>
            <a:ext cx="31078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Gestion des index, alertes et politiques ISM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4" name="Shape 1845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5" name="Shape 1540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6" name="Text 1285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Tenants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7" name="Shape 1604"/>
          <p:cNvSpPr/>
          <p:nvPr/>
        </p:nvSpPr>
        <p:spPr>
          <a:xfrm>
            <a:off x="320040" y="822960"/>
            <a:ext cx="411372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8" name="Text 1287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g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a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u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n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u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9" name="Text 1288"/>
          <p:cNvSpPr/>
          <p:nvPr/>
        </p:nvSpPr>
        <p:spPr>
          <a:xfrm>
            <a:off x="594360" y="138996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Tenants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: espaces de travail isolés pour organiser visualisations, dashboards et index patterns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0" name="Text 1289"/>
          <p:cNvSpPr/>
          <p:nvPr/>
        </p:nvSpPr>
        <p:spPr>
          <a:xfrm>
            <a:off x="594360" y="195696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Tenant Global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: partagé avec tous les utilisateurs ayant accès à Dashboards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1" name="Text 1290"/>
          <p:cNvSpPr/>
          <p:nvPr/>
        </p:nvSpPr>
        <p:spPr>
          <a:xfrm>
            <a:off x="594360" y="252360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Tenant Privé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: personnel à chaque utilisateur, non visible des autres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2" name="Text 1291"/>
          <p:cNvSpPr/>
          <p:nvPr/>
        </p:nvSpPr>
        <p:spPr>
          <a:xfrm>
            <a:off x="594360" y="309060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Tenants personnalisés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: créés par un administrateur, assignables à des rôles (Engineering, Marketing…)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3" name="Text 1292"/>
          <p:cNvSpPr/>
          <p:nvPr/>
        </p:nvSpPr>
        <p:spPr>
          <a:xfrm>
            <a:off x="594360" y="365760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Tags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: permettent d'organiser le contenu en complément des tenants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4" name="Shape 1609"/>
          <p:cNvSpPr/>
          <p:nvPr/>
        </p:nvSpPr>
        <p:spPr>
          <a:xfrm>
            <a:off x="4663440" y="914400"/>
            <a:ext cx="2010600" cy="17546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5" name="Shape 1640"/>
          <p:cNvSpPr/>
          <p:nvPr/>
        </p:nvSpPr>
        <p:spPr>
          <a:xfrm>
            <a:off x="5367600" y="1097280"/>
            <a:ext cx="593280" cy="5932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6" name="Text 1293"/>
          <p:cNvSpPr/>
          <p:nvPr/>
        </p:nvSpPr>
        <p:spPr>
          <a:xfrm>
            <a:off x="5367600" y="10972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G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7" name="Text 1294"/>
          <p:cNvSpPr/>
          <p:nvPr/>
        </p:nvSpPr>
        <p:spPr>
          <a:xfrm>
            <a:off x="4754880" y="1783080"/>
            <a:ext cx="1827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Global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8" name="Text 1295"/>
          <p:cNvSpPr/>
          <p:nvPr/>
        </p:nvSpPr>
        <p:spPr>
          <a:xfrm>
            <a:off x="4754880" y="21762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Shared with 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all users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9" name="Shape 1671"/>
          <p:cNvSpPr/>
          <p:nvPr/>
        </p:nvSpPr>
        <p:spPr>
          <a:xfrm>
            <a:off x="6784920" y="914400"/>
            <a:ext cx="2010600" cy="17546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0" name="Shape 1834"/>
          <p:cNvSpPr/>
          <p:nvPr/>
        </p:nvSpPr>
        <p:spPr>
          <a:xfrm>
            <a:off x="7489080" y="1097280"/>
            <a:ext cx="593280" cy="59328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1" name="Text 1296"/>
          <p:cNvSpPr/>
          <p:nvPr/>
        </p:nvSpPr>
        <p:spPr>
          <a:xfrm>
            <a:off x="7489080" y="10972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P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2" name="Text 1297"/>
          <p:cNvSpPr/>
          <p:nvPr/>
        </p:nvSpPr>
        <p:spPr>
          <a:xfrm>
            <a:off x="6876360" y="1783080"/>
            <a:ext cx="1827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Private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3" name="Text 1299"/>
          <p:cNvSpPr/>
          <p:nvPr/>
        </p:nvSpPr>
        <p:spPr>
          <a:xfrm>
            <a:off x="6876360" y="21762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Your personal space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4" name="Shape 1835"/>
          <p:cNvSpPr/>
          <p:nvPr/>
        </p:nvSpPr>
        <p:spPr>
          <a:xfrm>
            <a:off x="4663440" y="2853000"/>
            <a:ext cx="2010600" cy="17546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5" name="Shape 1836"/>
          <p:cNvSpPr/>
          <p:nvPr/>
        </p:nvSpPr>
        <p:spPr>
          <a:xfrm>
            <a:off x="5367600" y="3035880"/>
            <a:ext cx="593280" cy="5932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6" name="Text 1324"/>
          <p:cNvSpPr/>
          <p:nvPr/>
        </p:nvSpPr>
        <p:spPr>
          <a:xfrm>
            <a:off x="5367600" y="30358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7" name="Text 1362"/>
          <p:cNvSpPr/>
          <p:nvPr/>
        </p:nvSpPr>
        <p:spPr>
          <a:xfrm>
            <a:off x="4754880" y="3721680"/>
            <a:ext cx="1827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Engineeri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8" name="Text 1370"/>
          <p:cNvSpPr/>
          <p:nvPr/>
        </p:nvSpPr>
        <p:spPr>
          <a:xfrm>
            <a:off x="4754880" y="41148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Engineering workspace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9" name="Shape 1837"/>
          <p:cNvSpPr/>
          <p:nvPr/>
        </p:nvSpPr>
        <p:spPr>
          <a:xfrm>
            <a:off x="6784920" y="2853000"/>
            <a:ext cx="2010600" cy="17546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0" name="Shape 1838"/>
          <p:cNvSpPr/>
          <p:nvPr/>
        </p:nvSpPr>
        <p:spPr>
          <a:xfrm>
            <a:off x="7489080" y="3035880"/>
            <a:ext cx="593280" cy="593280"/>
          </a:xfrm>
          <a:prstGeom prst="ellipse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1" name="Text 1377"/>
          <p:cNvSpPr/>
          <p:nvPr/>
        </p:nvSpPr>
        <p:spPr>
          <a:xfrm>
            <a:off x="7489080" y="3035880"/>
            <a:ext cx="593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2" name="Text 1418"/>
          <p:cNvSpPr/>
          <p:nvPr/>
        </p:nvSpPr>
        <p:spPr>
          <a:xfrm>
            <a:off x="6876360" y="3721680"/>
            <a:ext cx="1827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Security Ops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3" name="Text 1425"/>
          <p:cNvSpPr/>
          <p:nvPr/>
        </p:nvSpPr>
        <p:spPr>
          <a:xfrm>
            <a:off x="6876360" y="411480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Security 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operations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4" name="Shape 1856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5" name="Shape 1839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6" name="Text 1433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Index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Patte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rns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7" name="Shape 1840"/>
          <p:cNvSpPr/>
          <p:nvPr/>
        </p:nvSpPr>
        <p:spPr>
          <a:xfrm>
            <a:off x="320040" y="822960"/>
            <a:ext cx="4113720" cy="367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8" name="Text 1440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Rôle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des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Index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Pattern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9" name="Text 1448"/>
          <p:cNvSpPr/>
          <p:nvPr/>
        </p:nvSpPr>
        <p:spPr>
          <a:xfrm>
            <a:off x="502920" y="1371600"/>
            <a:ext cx="3747960" cy="31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Équivalent des Data Views de Kibana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Indique à Dashboards quels index OpenSearch interroger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Référence un ou plusieurs index via un wildcard (logs-*, apache-*)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Définit le champ timestamp pour le filtre temporel (@timestamp par défaut)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Expose les champs et leurs types (Searchable / Aggregatable)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Créés dans Stack Management › Index Patterns par un administrateur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0" name="Shape 1841"/>
          <p:cNvSpPr/>
          <p:nvPr/>
        </p:nvSpPr>
        <p:spPr>
          <a:xfrm>
            <a:off x="4663440" y="822960"/>
            <a:ext cx="4159440" cy="36770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1" name="Shape 1842"/>
          <p:cNvSpPr/>
          <p:nvPr/>
        </p:nvSpPr>
        <p:spPr>
          <a:xfrm>
            <a:off x="4663440" y="822960"/>
            <a:ext cx="4159440" cy="456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2" name="Text 1502"/>
          <p:cNvSpPr/>
          <p:nvPr/>
        </p:nvSpPr>
        <p:spPr>
          <a:xfrm>
            <a:off x="4754880" y="822960"/>
            <a:ext cx="3930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Create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index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pattern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3" name="Text 1513"/>
          <p:cNvSpPr/>
          <p:nvPr/>
        </p:nvSpPr>
        <p:spPr>
          <a:xfrm>
            <a:off x="4800600" y="146304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Name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4" name="Shape 1843"/>
          <p:cNvSpPr/>
          <p:nvPr/>
        </p:nvSpPr>
        <p:spPr>
          <a:xfrm>
            <a:off x="4800600" y="1737360"/>
            <a:ext cx="3747960" cy="31896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5" name="Text 1518"/>
          <p:cNvSpPr/>
          <p:nvPr/>
        </p:nvSpPr>
        <p:spPr>
          <a:xfrm>
            <a:off x="4892040" y="1737360"/>
            <a:ext cx="3565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my-index-pattern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6" name="Text 1523"/>
          <p:cNvSpPr/>
          <p:nvPr/>
        </p:nvSpPr>
        <p:spPr>
          <a:xfrm>
            <a:off x="4800600" y="224028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Index </a:t>
            </a: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pattern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7" name="Shape 1844"/>
          <p:cNvSpPr/>
          <p:nvPr/>
        </p:nvSpPr>
        <p:spPr>
          <a:xfrm>
            <a:off x="4800600" y="2514600"/>
            <a:ext cx="3747960" cy="31896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8" name="Text 1542"/>
          <p:cNvSpPr/>
          <p:nvPr/>
        </p:nvSpPr>
        <p:spPr>
          <a:xfrm>
            <a:off x="4892040" y="2514600"/>
            <a:ext cx="3565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logs-*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9" name="Text 1569"/>
          <p:cNvSpPr/>
          <p:nvPr/>
        </p:nvSpPr>
        <p:spPr>
          <a:xfrm>
            <a:off x="4800600" y="3017520"/>
            <a:ext cx="3747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Time field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0" name="Shape 1846"/>
          <p:cNvSpPr/>
          <p:nvPr/>
        </p:nvSpPr>
        <p:spPr>
          <a:xfrm>
            <a:off x="4800600" y="3291840"/>
            <a:ext cx="3747960" cy="31896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1" name="Text 1584"/>
          <p:cNvSpPr/>
          <p:nvPr/>
        </p:nvSpPr>
        <p:spPr>
          <a:xfrm>
            <a:off x="4892040" y="3291840"/>
            <a:ext cx="3565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@timestamp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2" name="Shape 1847"/>
          <p:cNvSpPr/>
          <p:nvPr/>
        </p:nvSpPr>
        <p:spPr>
          <a:xfrm>
            <a:off x="4800600" y="3886200"/>
            <a:ext cx="1461960" cy="25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3" name="Text 1598"/>
          <p:cNvSpPr/>
          <p:nvPr/>
        </p:nvSpPr>
        <p:spPr>
          <a:xfrm>
            <a:off x="4800600" y="388620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3 sources found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4" name="Shape 1848"/>
          <p:cNvSpPr/>
          <p:nvPr/>
        </p:nvSpPr>
        <p:spPr>
          <a:xfrm>
            <a:off x="6675120" y="3886200"/>
            <a:ext cx="2010600" cy="25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5" name="Text 1644"/>
          <p:cNvSpPr/>
          <p:nvPr/>
        </p:nvSpPr>
        <p:spPr>
          <a:xfrm>
            <a:off x="6675120" y="3886200"/>
            <a:ext cx="2010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Save index pattern to Dashboards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6" name="Shape 1849"/>
          <p:cNvSpPr/>
          <p:nvPr/>
        </p:nvSpPr>
        <p:spPr>
          <a:xfrm>
            <a:off x="7882200" y="3227760"/>
            <a:ext cx="776160" cy="2001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7" name="Text 1645"/>
          <p:cNvSpPr/>
          <p:nvPr/>
        </p:nvSpPr>
        <p:spPr>
          <a:xfrm>
            <a:off x="7882200" y="3227760"/>
            <a:ext cx="776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7a8a"/>
                </a:solidFill>
                <a:latin typeface="Calibri"/>
                <a:ea typeface="Calibri"/>
              </a:rPr>
              <a:t>Data stream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8" name="Shape 1850"/>
          <p:cNvSpPr/>
          <p:nvPr/>
        </p:nvSpPr>
        <p:spPr>
          <a:xfrm>
            <a:off x="7882200" y="3547800"/>
            <a:ext cx="776160" cy="2001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9" name="Text 1646"/>
          <p:cNvSpPr/>
          <p:nvPr/>
        </p:nvSpPr>
        <p:spPr>
          <a:xfrm>
            <a:off x="7882200" y="3547800"/>
            <a:ext cx="776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7a8a"/>
                </a:solidFill>
                <a:latin typeface="Calibri"/>
                <a:ea typeface="Calibri"/>
              </a:rPr>
              <a:t>Index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0" name="Shape 1897"/>
          <p:cNvSpPr/>
          <p:nvPr/>
        </p:nvSpPr>
        <p:spPr>
          <a:xfrm>
            <a:off x="274320" y="4753080"/>
            <a:ext cx="872568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1" name="Shape 1898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2" name="Text 2007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Atelier 6.1 — Index patterns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3" name="Shape 866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4" name="Text 1148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5" name="Text 1149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i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s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c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o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v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e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r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, 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D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Q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L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e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t 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P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P</a:t>
            </a: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L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6" name="Shape 867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7" name="Text 1150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Syntaxe – Agrégations - Alertes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8" name="Shape 868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9" name="Shape 869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0" name="Text 1151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O. Dashboard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1" name="Shape 870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2" name="Text 1152"/>
          <p:cNvSpPr/>
          <p:nvPr/>
        </p:nvSpPr>
        <p:spPr>
          <a:xfrm>
            <a:off x="296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3" name="Shape 903"/>
          <p:cNvSpPr/>
          <p:nvPr/>
        </p:nvSpPr>
        <p:spPr>
          <a:xfrm>
            <a:off x="3420000" y="4509360"/>
            <a:ext cx="1368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4" name="Text 1153"/>
          <p:cNvSpPr/>
          <p:nvPr/>
        </p:nvSpPr>
        <p:spPr>
          <a:xfrm>
            <a:off x="5079240" y="4527720"/>
            <a:ext cx="320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Visualisations et dashboards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5" name="Text 1154"/>
          <p:cNvSpPr/>
          <p:nvPr/>
        </p:nvSpPr>
        <p:spPr>
          <a:xfrm>
            <a:off x="1512000" y="4546800"/>
            <a:ext cx="190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Index pattern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6" name="Text 1155"/>
          <p:cNvSpPr/>
          <p:nvPr/>
        </p:nvSpPr>
        <p:spPr>
          <a:xfrm>
            <a:off x="3492000" y="4510800"/>
            <a:ext cx="122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DQL / PPL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7" name="Text 1156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</a:t>
            </a: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OpenSearch · </a:t>
            </a: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8" name="Text 1157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9" name="Shape 1868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0" name="Shape 1851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1" name="Text 1647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Discover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2" name="Shape 1852"/>
          <p:cNvSpPr/>
          <p:nvPr/>
        </p:nvSpPr>
        <p:spPr>
          <a:xfrm>
            <a:off x="320040" y="822960"/>
            <a:ext cx="8502840" cy="8402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3" name="Text 1648"/>
          <p:cNvSpPr/>
          <p:nvPr/>
        </p:nvSpPr>
        <p:spPr>
          <a:xfrm>
            <a:off x="502920" y="841320"/>
            <a:ext cx="82285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Explorer ses données avec Discover — histogramme temporel, liste de documents, statistiques sur les champs. Recherches sauvegardables.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4" name="Shape 1853"/>
          <p:cNvSpPr/>
          <p:nvPr/>
        </p:nvSpPr>
        <p:spPr>
          <a:xfrm>
            <a:off x="320040" y="1783080"/>
            <a:ext cx="8502840" cy="30164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5" name="Shape 1854"/>
          <p:cNvSpPr/>
          <p:nvPr/>
        </p:nvSpPr>
        <p:spPr>
          <a:xfrm>
            <a:off x="320040" y="1783080"/>
            <a:ext cx="850284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6" name="Text 1649"/>
          <p:cNvSpPr/>
          <p:nvPr/>
        </p:nvSpPr>
        <p:spPr>
          <a:xfrm>
            <a:off x="457200" y="178308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Discover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7" name="Shape 1855"/>
          <p:cNvSpPr/>
          <p:nvPr/>
        </p:nvSpPr>
        <p:spPr>
          <a:xfrm>
            <a:off x="320040" y="2176200"/>
            <a:ext cx="8502840" cy="29160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8" name="Shape 1857"/>
          <p:cNvSpPr/>
          <p:nvPr/>
        </p:nvSpPr>
        <p:spPr>
          <a:xfrm>
            <a:off x="457200" y="2231280"/>
            <a:ext cx="1736280" cy="20016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9" name="Text 1650"/>
          <p:cNvSpPr/>
          <p:nvPr/>
        </p:nvSpPr>
        <p:spPr>
          <a:xfrm>
            <a:off x="457200" y="2231280"/>
            <a:ext cx="17362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7a8a"/>
                </a:solidFill>
                <a:latin typeface="Calibri"/>
                <a:ea typeface="Calibri"/>
              </a:rPr>
              <a:t>logs-* ▾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0" name="Shape 1858"/>
          <p:cNvSpPr/>
          <p:nvPr/>
        </p:nvSpPr>
        <p:spPr>
          <a:xfrm>
            <a:off x="2286000" y="2231280"/>
            <a:ext cx="5211000" cy="20016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1" name="Text 1690"/>
          <p:cNvSpPr/>
          <p:nvPr/>
        </p:nvSpPr>
        <p:spPr>
          <a:xfrm>
            <a:off x="2331720" y="2231280"/>
            <a:ext cx="5119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aaaa"/>
                </a:solidFill>
                <a:latin typeface="Calibri"/>
                <a:ea typeface="Calibri"/>
              </a:rPr>
              <a:t>🔍  </a:t>
            </a:r>
            <a:r>
              <a:rPr b="0" lang="en-US" sz="800" spc="-1" strike="noStrike">
                <a:solidFill>
                  <a:srgbClr val="aaaaaa"/>
                </a:solidFill>
                <a:latin typeface="Calibri"/>
                <a:ea typeface="Calibri"/>
              </a:rPr>
              <a:t>Filter your data using DQL syntax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2" name="Shape 1859"/>
          <p:cNvSpPr/>
          <p:nvPr/>
        </p:nvSpPr>
        <p:spPr>
          <a:xfrm>
            <a:off x="7589520" y="2231280"/>
            <a:ext cx="1096200" cy="200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3" name="Text 1735"/>
          <p:cNvSpPr/>
          <p:nvPr/>
        </p:nvSpPr>
        <p:spPr>
          <a:xfrm>
            <a:off x="7589520" y="2231280"/>
            <a:ext cx="1096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Last 15 min ▾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4" name="Shape 1860"/>
          <p:cNvSpPr/>
          <p:nvPr/>
        </p:nvSpPr>
        <p:spPr>
          <a:xfrm>
            <a:off x="320040" y="2514600"/>
            <a:ext cx="1644840" cy="22849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5" name="Text 1754"/>
          <p:cNvSpPr/>
          <p:nvPr/>
        </p:nvSpPr>
        <p:spPr>
          <a:xfrm>
            <a:off x="411480" y="256032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Available fields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6" name="Text 1969"/>
          <p:cNvSpPr/>
          <p:nvPr/>
        </p:nvSpPr>
        <p:spPr>
          <a:xfrm>
            <a:off x="411480" y="288036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  @timestamp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7" name="Text 1970"/>
          <p:cNvSpPr/>
          <p:nvPr/>
        </p:nvSpPr>
        <p:spPr>
          <a:xfrm>
            <a:off x="411480" y="317304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  http.status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8" name="Text 1971"/>
          <p:cNvSpPr/>
          <p:nvPr/>
        </p:nvSpPr>
        <p:spPr>
          <a:xfrm>
            <a:off x="411480" y="346572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  url.path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9" name="Text 1972"/>
          <p:cNvSpPr/>
          <p:nvPr/>
        </p:nvSpPr>
        <p:spPr>
          <a:xfrm>
            <a:off x="411480" y="375804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  bytes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0" name="Text 1973"/>
          <p:cNvSpPr/>
          <p:nvPr/>
        </p:nvSpPr>
        <p:spPr>
          <a:xfrm>
            <a:off x="411480" y="405072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  client.ip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1" name="Text 1974"/>
          <p:cNvSpPr/>
          <p:nvPr/>
        </p:nvSpPr>
        <p:spPr>
          <a:xfrm>
            <a:off x="411480" y="4343400"/>
            <a:ext cx="14619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t  geo.country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2" name="Shape 1861"/>
          <p:cNvSpPr/>
          <p:nvPr/>
        </p:nvSpPr>
        <p:spPr>
          <a:xfrm>
            <a:off x="2057400" y="2514600"/>
            <a:ext cx="6674040" cy="8218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3" name="Shape 1862"/>
          <p:cNvSpPr/>
          <p:nvPr/>
        </p:nvSpPr>
        <p:spPr>
          <a:xfrm>
            <a:off x="2148840" y="3044880"/>
            <a:ext cx="410400" cy="20016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4" name="Shape 1863"/>
          <p:cNvSpPr/>
          <p:nvPr/>
        </p:nvSpPr>
        <p:spPr>
          <a:xfrm>
            <a:off x="2679120" y="2894040"/>
            <a:ext cx="410400" cy="35100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5" name="Shape 1864"/>
          <p:cNvSpPr/>
          <p:nvPr/>
        </p:nvSpPr>
        <p:spPr>
          <a:xfrm>
            <a:off x="3209400" y="2994840"/>
            <a:ext cx="410400" cy="25056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6" name="Shape 1865"/>
          <p:cNvSpPr/>
          <p:nvPr/>
        </p:nvSpPr>
        <p:spPr>
          <a:xfrm>
            <a:off x="3740040" y="2793600"/>
            <a:ext cx="410400" cy="45144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7" name="Shape 1866"/>
          <p:cNvSpPr/>
          <p:nvPr/>
        </p:nvSpPr>
        <p:spPr>
          <a:xfrm>
            <a:off x="4270320" y="2743200"/>
            <a:ext cx="410400" cy="50184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8" name="Shape 1867"/>
          <p:cNvSpPr/>
          <p:nvPr/>
        </p:nvSpPr>
        <p:spPr>
          <a:xfrm>
            <a:off x="4800600" y="2944440"/>
            <a:ext cx="410400" cy="30060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9" name="Shape 1869"/>
          <p:cNvSpPr/>
          <p:nvPr/>
        </p:nvSpPr>
        <p:spPr>
          <a:xfrm>
            <a:off x="5330880" y="2843640"/>
            <a:ext cx="410400" cy="40140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0" name="Shape 1870"/>
          <p:cNvSpPr/>
          <p:nvPr/>
        </p:nvSpPr>
        <p:spPr>
          <a:xfrm>
            <a:off x="5861160" y="2894040"/>
            <a:ext cx="410400" cy="35100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1" name="Shape 1871"/>
          <p:cNvSpPr/>
          <p:nvPr/>
        </p:nvSpPr>
        <p:spPr>
          <a:xfrm>
            <a:off x="6391800" y="2793600"/>
            <a:ext cx="410400" cy="45144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2" name="Shape 1872"/>
          <p:cNvSpPr/>
          <p:nvPr/>
        </p:nvSpPr>
        <p:spPr>
          <a:xfrm>
            <a:off x="6922080" y="2944440"/>
            <a:ext cx="410400" cy="30060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3" name="Shape 1873"/>
          <p:cNvSpPr/>
          <p:nvPr/>
        </p:nvSpPr>
        <p:spPr>
          <a:xfrm>
            <a:off x="7452360" y="2994840"/>
            <a:ext cx="410400" cy="25056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4" name="Shape 1874"/>
          <p:cNvSpPr/>
          <p:nvPr/>
        </p:nvSpPr>
        <p:spPr>
          <a:xfrm>
            <a:off x="7982640" y="2894040"/>
            <a:ext cx="410400" cy="351000"/>
          </a:xfrm>
          <a:prstGeom prst="rect">
            <a:avLst/>
          </a:prstGeom>
          <a:solidFill>
            <a:srgbClr val="007a8a">
              <a:alpha val="75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5" name="Shape 1875"/>
          <p:cNvSpPr/>
          <p:nvPr/>
        </p:nvSpPr>
        <p:spPr>
          <a:xfrm>
            <a:off x="2057400" y="3383280"/>
            <a:ext cx="6674040" cy="2275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6" name="Text 1975"/>
          <p:cNvSpPr/>
          <p:nvPr/>
        </p:nvSpPr>
        <p:spPr>
          <a:xfrm>
            <a:off x="2148840" y="3383280"/>
            <a:ext cx="6399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Documents (1,295,287)      Field statistics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317" name="Shape 1876"/>
          <p:cNvSpPr/>
          <p:nvPr/>
        </p:nvSpPr>
        <p:spPr>
          <a:xfrm>
            <a:off x="2057400" y="3657600"/>
            <a:ext cx="6674040" cy="3373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8" name="Text 1976"/>
          <p:cNvSpPr/>
          <p:nvPr/>
        </p:nvSpPr>
        <p:spPr>
          <a:xfrm>
            <a:off x="2148840" y="3684960"/>
            <a:ext cx="6491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onsolas"/>
                <a:ea typeface="Consolas"/>
              </a:rPr>
              <a:t>Jan 3 @ 06:24:27  GET /formation/web/presentation.php  200  16655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9" name="Shape 1877"/>
          <p:cNvSpPr/>
          <p:nvPr/>
        </p:nvSpPr>
        <p:spPr>
          <a:xfrm>
            <a:off x="2057400" y="4023360"/>
            <a:ext cx="6674040" cy="3373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0" name="Text 1977"/>
          <p:cNvSpPr/>
          <p:nvPr/>
        </p:nvSpPr>
        <p:spPr>
          <a:xfrm>
            <a:off x="2148840" y="4050720"/>
            <a:ext cx="6491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onsolas"/>
                <a:ea typeface="Consolas"/>
              </a:rPr>
              <a:t>Jan 3 @ 06:24:05  GET /Page4047aspxerrorpath=/form...   200  8912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1" name="Shape 1878"/>
          <p:cNvSpPr/>
          <p:nvPr/>
        </p:nvSpPr>
        <p:spPr>
          <a:xfrm>
            <a:off x="2057400" y="4389120"/>
            <a:ext cx="6674040" cy="3373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2" name="Text 1978"/>
          <p:cNvSpPr/>
          <p:nvPr/>
        </p:nvSpPr>
        <p:spPr>
          <a:xfrm>
            <a:off x="2148840" y="4416480"/>
            <a:ext cx="6491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onsolas"/>
                <a:ea typeface="Consolas"/>
              </a:rPr>
              <a:t>Jan 3 @ 06:24:00  GET /Home/Page404.php                200  8912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3" name="Shape 1901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4" name="Shape 1879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5" name="Text 1979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Recherche dans Discover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6" name="Shape 1880"/>
          <p:cNvSpPr/>
          <p:nvPr/>
        </p:nvSpPr>
        <p:spPr>
          <a:xfrm>
            <a:off x="3200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7" name="Text 1980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Méthodes de recherche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8" name="Shape 1881"/>
          <p:cNvSpPr/>
          <p:nvPr/>
        </p:nvSpPr>
        <p:spPr>
          <a:xfrm>
            <a:off x="457200" y="141732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29" name="Image 1" descr="preencoded.png"/>
          <p:cNvPicPr/>
          <p:nvPr/>
        </p:nvPicPr>
        <p:blipFill>
          <a:blip r:embed="rId1"/>
          <a:stretch/>
        </p:blipFill>
        <p:spPr>
          <a:xfrm>
            <a:off x="530280" y="149040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330" name="Text 1981"/>
          <p:cNvSpPr/>
          <p:nvPr/>
        </p:nvSpPr>
        <p:spPr>
          <a:xfrm>
            <a:off x="1078920" y="141732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Filtre temporel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1" name="Text 1982"/>
          <p:cNvSpPr/>
          <p:nvPr/>
        </p:nvSpPr>
        <p:spPr>
          <a:xfrm>
            <a:off x="1078920" y="167328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Quick select,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plages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relatives ou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absolues,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rafraîchissem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ent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automatique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2" name="Shape 1882"/>
          <p:cNvSpPr/>
          <p:nvPr/>
        </p:nvSpPr>
        <p:spPr>
          <a:xfrm>
            <a:off x="457200" y="2240280"/>
            <a:ext cx="501840" cy="501840"/>
          </a:xfrm>
          <a:prstGeom prst="ellipse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33" name="Image 2" descr="preencoded.png"/>
          <p:cNvPicPr/>
          <p:nvPr/>
        </p:nvPicPr>
        <p:blipFill>
          <a:blip r:embed="rId2"/>
          <a:stretch/>
        </p:blipFill>
        <p:spPr>
          <a:xfrm>
            <a:off x="530280" y="231336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334" name="Text 1983"/>
          <p:cNvSpPr/>
          <p:nvPr/>
        </p:nvSpPr>
        <p:spPr>
          <a:xfrm>
            <a:off x="1078920" y="224028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Filtres sur données structurées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5" name="Text 1992"/>
          <p:cNvSpPr/>
          <p:nvPr/>
        </p:nvSpPr>
        <p:spPr>
          <a:xfrm>
            <a:off x="1078920" y="249624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Filtres visuels sur les champs. Convertibles en Query DSL.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6" name="Shape 1883"/>
          <p:cNvSpPr/>
          <p:nvPr/>
        </p:nvSpPr>
        <p:spPr>
          <a:xfrm>
            <a:off x="457200" y="30632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37" name="Image 8" descr="preencoded.png"/>
          <p:cNvPicPr/>
          <p:nvPr/>
        </p:nvPicPr>
        <p:blipFill>
          <a:blip r:embed="rId3"/>
          <a:stretch/>
        </p:blipFill>
        <p:spPr>
          <a:xfrm>
            <a:off x="530280" y="31363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338" name="Text 1993"/>
          <p:cNvSpPr/>
          <p:nvPr/>
        </p:nvSpPr>
        <p:spPr>
          <a:xfrm>
            <a:off x="1078920" y="306324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DQL – Dashboards Query Language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9" name="Text 1994"/>
          <p:cNvSpPr/>
          <p:nvPr/>
        </p:nvSpPr>
        <p:spPr>
          <a:xfrm>
            <a:off x="1078920" y="331920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Syntaxe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native pour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recherches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textuelles et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structurées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0" name="Shape 1884"/>
          <p:cNvSpPr/>
          <p:nvPr/>
        </p:nvSpPr>
        <p:spPr>
          <a:xfrm>
            <a:off x="457200" y="38862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41" name="Image 9" descr="preencoded.png"/>
          <p:cNvPicPr/>
          <p:nvPr/>
        </p:nvPicPr>
        <p:blipFill>
          <a:blip r:embed="rId4"/>
          <a:stretch/>
        </p:blipFill>
        <p:spPr>
          <a:xfrm>
            <a:off x="530280" y="3959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342" name="Text 1995"/>
          <p:cNvSpPr/>
          <p:nvPr/>
        </p:nvSpPr>
        <p:spPr>
          <a:xfrm>
            <a:off x="1078920" y="3886200"/>
            <a:ext cx="32450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PPL / SQL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3" name="Text 1996"/>
          <p:cNvSpPr/>
          <p:nvPr/>
        </p:nvSpPr>
        <p:spPr>
          <a:xfrm>
            <a:off x="1078920" y="4142160"/>
            <a:ext cx="3245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Piped Processing Language et SQL pour requêtes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analytiques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4" name="Shape 1885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5" name="Text 1997"/>
          <p:cNvSpPr/>
          <p:nvPr/>
        </p:nvSpPr>
        <p:spPr>
          <a:xfrm>
            <a:off x="48463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Exemp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les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DQL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6" name="Text 1998"/>
          <p:cNvSpPr/>
          <p:nvPr/>
        </p:nvSpPr>
        <p:spPr>
          <a:xfrm>
            <a:off x="4846320" y="1417320"/>
            <a:ext cx="3747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Recherche simple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7" name="Shape 1892"/>
          <p:cNvSpPr/>
          <p:nvPr/>
        </p:nvSpPr>
        <p:spPr>
          <a:xfrm>
            <a:off x="4846320" y="1673280"/>
            <a:ext cx="3747960" cy="456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8" name="Text 1999"/>
          <p:cNvSpPr/>
          <p:nvPr/>
        </p:nvSpPr>
        <p:spPr>
          <a:xfrm>
            <a:off x="4937760" y="1673280"/>
            <a:ext cx="356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onsolas"/>
                <a:ea typeface="Consolas"/>
              </a:rPr>
              <a:t>http.status_code: 404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9" name="Text 2000"/>
          <p:cNvSpPr/>
          <p:nvPr/>
        </p:nvSpPr>
        <p:spPr>
          <a:xfrm>
            <a:off x="4846320" y="2286000"/>
            <a:ext cx="3747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Plage de valeurs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0" name="Shape 1893"/>
          <p:cNvSpPr/>
          <p:nvPr/>
        </p:nvSpPr>
        <p:spPr>
          <a:xfrm>
            <a:off x="4846320" y="2541960"/>
            <a:ext cx="3747960" cy="456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1" name="Text 2001"/>
          <p:cNvSpPr/>
          <p:nvPr/>
        </p:nvSpPr>
        <p:spPr>
          <a:xfrm>
            <a:off x="4937760" y="2541960"/>
            <a:ext cx="356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onsolas"/>
                <a:ea typeface="Consolas"/>
              </a:rPr>
              <a:t>bytes &gt; 10000 AND bytes </a:t>
            </a:r>
            <a:r>
              <a:rPr b="0" lang="en-US" sz="1000" spc="-1" strike="noStrike">
                <a:solidFill>
                  <a:srgbClr val="007a8a"/>
                </a:solidFill>
                <a:latin typeface="Consolas"/>
                <a:ea typeface="Consolas"/>
              </a:rPr>
              <a:t>&lt; 50000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2" name="Text 2002"/>
          <p:cNvSpPr/>
          <p:nvPr/>
        </p:nvSpPr>
        <p:spPr>
          <a:xfrm>
            <a:off x="4846320" y="3154680"/>
            <a:ext cx="3747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Wildcard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3" name="Shape 1894"/>
          <p:cNvSpPr/>
          <p:nvPr/>
        </p:nvSpPr>
        <p:spPr>
          <a:xfrm>
            <a:off x="4846320" y="3410640"/>
            <a:ext cx="3747960" cy="456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4" name="Text 2003"/>
          <p:cNvSpPr/>
          <p:nvPr/>
        </p:nvSpPr>
        <p:spPr>
          <a:xfrm>
            <a:off x="4937760" y="3410640"/>
            <a:ext cx="356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onsolas"/>
                <a:ea typeface="Consolas"/>
              </a:rPr>
              <a:t>url.path: "/api/*"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5" name="Text 2004"/>
          <p:cNvSpPr/>
          <p:nvPr/>
        </p:nvSpPr>
        <p:spPr>
          <a:xfrm>
            <a:off x="4846320" y="4023360"/>
            <a:ext cx="3747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Combinaison de critères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6" name="Shape 1895"/>
          <p:cNvSpPr/>
          <p:nvPr/>
        </p:nvSpPr>
        <p:spPr>
          <a:xfrm>
            <a:off x="4846320" y="4279320"/>
            <a:ext cx="3747960" cy="456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7" name="Text 2005"/>
          <p:cNvSpPr/>
          <p:nvPr/>
        </p:nvSpPr>
        <p:spPr>
          <a:xfrm>
            <a:off x="4937760" y="4279320"/>
            <a:ext cx="356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onsolas"/>
                <a:ea typeface="Consolas"/>
              </a:rPr>
              <a:t>http.status_code: (400 OR 500)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onsolas"/>
                <a:ea typeface="Consolas"/>
              </a:rPr>
              <a:t>AND NOT http.method: GET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8" name="Shape 1896"/>
          <p:cNvSpPr/>
          <p:nvPr/>
        </p:nvSpPr>
        <p:spPr>
          <a:xfrm>
            <a:off x="360000" y="4858200"/>
            <a:ext cx="8462880" cy="27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9" name="Text 2006"/>
          <p:cNvSpPr/>
          <p:nvPr/>
        </p:nvSpPr>
        <p:spPr>
          <a:xfrm>
            <a:off x="2693160" y="4858200"/>
            <a:ext cx="4068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Les recherches peuvent être sauvegardées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0" name="Shape 1460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1" name="Shape 1461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2" name="Text 1546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DQL – Dashboards Query Language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3" name="Shape 1462"/>
          <p:cNvSpPr/>
          <p:nvPr/>
        </p:nvSpPr>
        <p:spPr>
          <a:xfrm>
            <a:off x="3200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4" name="Text 1547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Rôle de DQL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5" name="Text 1548"/>
          <p:cNvSpPr/>
          <p:nvPr/>
        </p:nvSpPr>
        <p:spPr>
          <a:xfrm>
            <a:off x="502920" y="138996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DQL (Dashboards Query Language)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est l'équivalent d'OpenSearch du KQL de Kibana — les syntaxes sont quasi identiques.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6" name="Text 1549"/>
          <p:cNvSpPr/>
          <p:nvPr/>
        </p:nvSpPr>
        <p:spPr>
          <a:xfrm>
            <a:off x="502920" y="196596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Sert uniquement à filtrer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les données. DQL n'effectue pas de tri ni d'agrégations.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7" name="Text 1550"/>
          <p:cNvSpPr/>
          <p:nvPr/>
        </p:nvSpPr>
        <p:spPr>
          <a:xfrm>
            <a:off x="502920" y="254196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Full-text + recherche par champ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: combine les deux modes en une syntaxe unifiée.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8" name="Text 1551"/>
          <p:cNvSpPr/>
          <p:nvPr/>
        </p:nvSpPr>
        <p:spPr>
          <a:xfrm>
            <a:off x="502920" y="311796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Résultats full-text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triables par pertinence dans Discover.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9" name="Text 1552"/>
          <p:cNvSpPr/>
          <p:nvPr/>
        </p:nvSpPr>
        <p:spPr>
          <a:xfrm>
            <a:off x="502920" y="3694320"/>
            <a:ext cx="383940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Alternatif : syntaxe Lucene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disponible en basculant le filtre language dans Discover.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0" name="Shape 1463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1" name="Shape 1464"/>
          <p:cNvSpPr/>
          <p:nvPr/>
        </p:nvSpPr>
        <p:spPr>
          <a:xfrm>
            <a:off x="4699440" y="900000"/>
            <a:ext cx="4120560" cy="3790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2" name="Text 1553"/>
          <p:cNvSpPr/>
          <p:nvPr/>
        </p:nvSpPr>
        <p:spPr>
          <a:xfrm>
            <a:off x="4682880" y="900000"/>
            <a:ext cx="406512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DQL vs Lucene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3" name="Shape 1465"/>
          <p:cNvSpPr/>
          <p:nvPr/>
        </p:nvSpPr>
        <p:spPr>
          <a:xfrm>
            <a:off x="4663440" y="1371600"/>
            <a:ext cx="4159440" cy="36468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4" name="Text 1554"/>
          <p:cNvSpPr/>
          <p:nvPr/>
        </p:nvSpPr>
        <p:spPr>
          <a:xfrm>
            <a:off x="4736520" y="137160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Fonctionnalité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375" name="Text 1555"/>
          <p:cNvSpPr/>
          <p:nvPr/>
        </p:nvSpPr>
        <p:spPr>
          <a:xfrm>
            <a:off x="6858000" y="137160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DQL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376" name="Text 1556"/>
          <p:cNvSpPr/>
          <p:nvPr/>
        </p:nvSpPr>
        <p:spPr>
          <a:xfrm>
            <a:off x="7955280" y="137160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Lucene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377" name="Shape 1466"/>
          <p:cNvSpPr/>
          <p:nvPr/>
        </p:nvSpPr>
        <p:spPr>
          <a:xfrm>
            <a:off x="4663440" y="175572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8" name="Text 1557"/>
          <p:cNvSpPr/>
          <p:nvPr/>
        </p:nvSpPr>
        <p:spPr>
          <a:xfrm>
            <a:off x="4736520" y="175572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Full-text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9" name="Text 1558"/>
          <p:cNvSpPr/>
          <p:nvPr/>
        </p:nvSpPr>
        <p:spPr>
          <a:xfrm>
            <a:off x="6858000" y="175572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0" name="Text 1559"/>
          <p:cNvSpPr/>
          <p:nvPr/>
        </p:nvSpPr>
        <p:spPr>
          <a:xfrm>
            <a:off x="7955280" y="175572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1" name="Shape 1467"/>
          <p:cNvSpPr/>
          <p:nvPr/>
        </p:nvSpPr>
        <p:spPr>
          <a:xfrm>
            <a:off x="4663440" y="213984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2" name="Text 1560"/>
          <p:cNvSpPr/>
          <p:nvPr/>
        </p:nvSpPr>
        <p:spPr>
          <a:xfrm>
            <a:off x="4736520" y="21398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Recherche par champ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3" name="Text 1561"/>
          <p:cNvSpPr/>
          <p:nvPr/>
        </p:nvSpPr>
        <p:spPr>
          <a:xfrm>
            <a:off x="6858000" y="21398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4" name="Text 1562"/>
          <p:cNvSpPr/>
          <p:nvPr/>
        </p:nvSpPr>
        <p:spPr>
          <a:xfrm>
            <a:off x="7955280" y="21398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5" name="Shape 1468"/>
          <p:cNvSpPr/>
          <p:nvPr/>
        </p:nvSpPr>
        <p:spPr>
          <a:xfrm>
            <a:off x="4663440" y="252360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6" name="Text 1563"/>
          <p:cNvSpPr/>
          <p:nvPr/>
        </p:nvSpPr>
        <p:spPr>
          <a:xfrm>
            <a:off x="4736520" y="252360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Wildcards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7" name="Text 1616"/>
          <p:cNvSpPr/>
          <p:nvPr/>
        </p:nvSpPr>
        <p:spPr>
          <a:xfrm>
            <a:off x="6858000" y="252360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8" name="Text 1617"/>
          <p:cNvSpPr/>
          <p:nvPr/>
        </p:nvSpPr>
        <p:spPr>
          <a:xfrm>
            <a:off x="7955280" y="252360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9" name="Shape 1469"/>
          <p:cNvSpPr/>
          <p:nvPr/>
        </p:nvSpPr>
        <p:spPr>
          <a:xfrm>
            <a:off x="4663440" y="290772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0" name="Text 1618"/>
          <p:cNvSpPr/>
          <p:nvPr/>
        </p:nvSpPr>
        <p:spPr>
          <a:xfrm>
            <a:off x="4736520" y="290772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Intervalles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1" name="Text 1619"/>
          <p:cNvSpPr/>
          <p:nvPr/>
        </p:nvSpPr>
        <p:spPr>
          <a:xfrm>
            <a:off x="6858000" y="290772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2" name="Text 1620"/>
          <p:cNvSpPr/>
          <p:nvPr/>
        </p:nvSpPr>
        <p:spPr>
          <a:xfrm>
            <a:off x="7955280" y="290772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3" name="Shape 1470"/>
          <p:cNvSpPr/>
          <p:nvPr/>
        </p:nvSpPr>
        <p:spPr>
          <a:xfrm>
            <a:off x="4663440" y="329184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4" name="Text 1621"/>
          <p:cNvSpPr/>
          <p:nvPr/>
        </p:nvSpPr>
        <p:spPr>
          <a:xfrm>
            <a:off x="4736520" y="32918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Objets imbriqués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5" name="Text 1622"/>
          <p:cNvSpPr/>
          <p:nvPr/>
        </p:nvSpPr>
        <p:spPr>
          <a:xfrm>
            <a:off x="6858000" y="32918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6" name="Text 1623"/>
          <p:cNvSpPr/>
          <p:nvPr/>
        </p:nvSpPr>
        <p:spPr>
          <a:xfrm>
            <a:off x="7955280" y="32918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✗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7" name="Shape 1471"/>
          <p:cNvSpPr/>
          <p:nvPr/>
        </p:nvSpPr>
        <p:spPr>
          <a:xfrm>
            <a:off x="4663440" y="3675960"/>
            <a:ext cx="41594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8" name="Text 1624"/>
          <p:cNvSpPr/>
          <p:nvPr/>
        </p:nvSpPr>
        <p:spPr>
          <a:xfrm>
            <a:off x="4736520" y="367596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Champs scriptés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9" name="Text 1625"/>
          <p:cNvSpPr/>
          <p:nvPr/>
        </p:nvSpPr>
        <p:spPr>
          <a:xfrm>
            <a:off x="6858000" y="367596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0" name="Text 1626"/>
          <p:cNvSpPr/>
          <p:nvPr/>
        </p:nvSpPr>
        <p:spPr>
          <a:xfrm>
            <a:off x="7955280" y="367596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✗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1" name="Shape 1472"/>
          <p:cNvSpPr/>
          <p:nvPr/>
        </p:nvSpPr>
        <p:spPr>
          <a:xfrm>
            <a:off x="4663440" y="4060080"/>
            <a:ext cx="41594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2" name="Text 1627"/>
          <p:cNvSpPr/>
          <p:nvPr/>
        </p:nvSpPr>
        <p:spPr>
          <a:xfrm>
            <a:off x="4736520" y="406008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Expressions régulières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3" name="Text 1628"/>
          <p:cNvSpPr/>
          <p:nvPr/>
        </p:nvSpPr>
        <p:spPr>
          <a:xfrm>
            <a:off x="6858000" y="406008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✗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4" name="Text 1629"/>
          <p:cNvSpPr/>
          <p:nvPr/>
        </p:nvSpPr>
        <p:spPr>
          <a:xfrm>
            <a:off x="7955280" y="406008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5" name="Shape 1473"/>
          <p:cNvSpPr/>
          <p:nvPr/>
        </p:nvSpPr>
        <p:spPr>
          <a:xfrm>
            <a:off x="4663440" y="4443840"/>
            <a:ext cx="41594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6" name="Text 1630"/>
          <p:cNvSpPr/>
          <p:nvPr/>
        </p:nvSpPr>
        <p:spPr>
          <a:xfrm>
            <a:off x="4736520" y="4443840"/>
            <a:ext cx="2010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Fuzzy search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7" name="Text 1631"/>
          <p:cNvSpPr/>
          <p:nvPr/>
        </p:nvSpPr>
        <p:spPr>
          <a:xfrm>
            <a:off x="6858000" y="44438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✗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8" name="Text 1632"/>
          <p:cNvSpPr/>
          <p:nvPr/>
        </p:nvSpPr>
        <p:spPr>
          <a:xfrm>
            <a:off x="7955280" y="4443840"/>
            <a:ext cx="7304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9" name="Shape 1474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0" name="Shape 1475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1" name="Text 1633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DQL – Exemples de filtrage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2" name="Shape 1476"/>
          <p:cNvSpPr/>
          <p:nvPr/>
        </p:nvSpPr>
        <p:spPr>
          <a:xfrm>
            <a:off x="320040" y="868680"/>
            <a:ext cx="8502840" cy="10414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3" name="Shape 1477"/>
          <p:cNvSpPr/>
          <p:nvPr/>
        </p:nvSpPr>
        <p:spPr>
          <a:xfrm>
            <a:off x="320040" y="868680"/>
            <a:ext cx="85028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4" name="Shape 1527"/>
          <p:cNvSpPr/>
          <p:nvPr/>
        </p:nvSpPr>
        <p:spPr>
          <a:xfrm>
            <a:off x="320040" y="941760"/>
            <a:ext cx="8502840" cy="27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5" name="Text 1634"/>
          <p:cNvSpPr/>
          <p:nvPr/>
        </p:nvSpPr>
        <p:spPr>
          <a:xfrm>
            <a:off x="457200" y="9417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Existence d'un champ</a:t>
            </a:r>
            <a:endParaRPr b="0" lang="fr-FR" sz="11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416" name="Text 1635"/>
          <p:cNvSpPr/>
          <p:nvPr/>
        </p:nvSpPr>
        <p:spPr>
          <a:xfrm>
            <a:off x="457200" y="125280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Le champ existe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7" name="Shape 1528"/>
          <p:cNvSpPr/>
          <p:nvPr/>
        </p:nvSpPr>
        <p:spPr>
          <a:xfrm>
            <a:off x="3474720" y="123444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8" name="Text 1636"/>
          <p:cNvSpPr/>
          <p:nvPr/>
        </p:nvSpPr>
        <p:spPr>
          <a:xfrm>
            <a:off x="3584520" y="123444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http.request.method: 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9" name="Shape 1529"/>
          <p:cNvSpPr/>
          <p:nvPr/>
        </p:nvSpPr>
        <p:spPr>
          <a:xfrm>
            <a:off x="320040" y="2075760"/>
            <a:ext cx="8502840" cy="25408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0" name="Shape 1530"/>
          <p:cNvSpPr/>
          <p:nvPr/>
        </p:nvSpPr>
        <p:spPr>
          <a:xfrm>
            <a:off x="320040" y="2075760"/>
            <a:ext cx="8502840" cy="72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1" name="Shape 1531"/>
          <p:cNvSpPr/>
          <p:nvPr/>
        </p:nvSpPr>
        <p:spPr>
          <a:xfrm>
            <a:off x="320040" y="2148840"/>
            <a:ext cx="8502840" cy="27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2" name="Text 1637"/>
          <p:cNvSpPr/>
          <p:nvPr/>
        </p:nvSpPr>
        <p:spPr>
          <a:xfrm>
            <a:off x="457200" y="21488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Recherche par valeur</a:t>
            </a:r>
            <a:endParaRPr b="0" lang="fr-FR" sz="11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423" name="Text 1638"/>
          <p:cNvSpPr/>
          <p:nvPr/>
        </p:nvSpPr>
        <p:spPr>
          <a:xfrm>
            <a:off x="457200" y="24598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Valeur exacte / full-text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4" name="Shape 1532"/>
          <p:cNvSpPr/>
          <p:nvPr/>
        </p:nvSpPr>
        <p:spPr>
          <a:xfrm>
            <a:off x="3474720" y="244152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5" name="Text 1639"/>
          <p:cNvSpPr/>
          <p:nvPr/>
        </p:nvSpPr>
        <p:spPr>
          <a:xfrm>
            <a:off x="3584520" y="244152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http.request.method: GET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6" name="Text 1640"/>
          <p:cNvSpPr/>
          <p:nvPr/>
        </p:nvSpPr>
        <p:spPr>
          <a:xfrm>
            <a:off x="457200" y="320940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Plusieurs valeurs (OU implicite)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7" name="Shape 1533"/>
          <p:cNvSpPr/>
          <p:nvPr/>
        </p:nvSpPr>
        <p:spPr>
          <a:xfrm>
            <a:off x="3474720" y="319140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8" name="Text 1641"/>
          <p:cNvSpPr/>
          <p:nvPr/>
        </p:nvSpPr>
        <p:spPr>
          <a:xfrm>
            <a:off x="3584520" y="319140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http.request.method: GET POST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9" name="Text 1642"/>
          <p:cNvSpPr/>
          <p:nvPr/>
        </p:nvSpPr>
        <p:spPr>
          <a:xfrm>
            <a:off x="457200" y="39592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Sans champ (tous les champs)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0" name="Shape 1534"/>
          <p:cNvSpPr/>
          <p:nvPr/>
        </p:nvSpPr>
        <p:spPr>
          <a:xfrm>
            <a:off x="3474720" y="394092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1" name="Text 1643"/>
          <p:cNvSpPr/>
          <p:nvPr/>
        </p:nvSpPr>
        <p:spPr>
          <a:xfrm>
            <a:off x="3584520" y="394092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GET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2" name="Shape 666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3" name="Shape 735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4" name="Text 458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DQL – Exemples de filtrage (2)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5" name="Shape 769"/>
          <p:cNvSpPr/>
          <p:nvPr/>
        </p:nvSpPr>
        <p:spPr>
          <a:xfrm>
            <a:off x="320040" y="868680"/>
            <a:ext cx="8502840" cy="3091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6" name="Shape 1194"/>
          <p:cNvSpPr/>
          <p:nvPr/>
        </p:nvSpPr>
        <p:spPr>
          <a:xfrm>
            <a:off x="320040" y="966240"/>
            <a:ext cx="85028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7" name="Shape 1195"/>
          <p:cNvSpPr/>
          <p:nvPr/>
        </p:nvSpPr>
        <p:spPr>
          <a:xfrm>
            <a:off x="320040" y="1039320"/>
            <a:ext cx="8502840" cy="27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8" name="Text 896"/>
          <p:cNvSpPr/>
          <p:nvPr/>
        </p:nvSpPr>
        <p:spPr>
          <a:xfrm>
            <a:off x="457200" y="103932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Recherche textuelle</a:t>
            </a:r>
            <a:endParaRPr b="0" lang="fr-FR" sz="11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439" name="Text 988"/>
          <p:cNvSpPr/>
          <p:nvPr/>
        </p:nvSpPr>
        <p:spPr>
          <a:xfrm>
            <a:off x="457200" y="135036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Champ contient les mots (ordre libre)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0" name="Shape 1196"/>
          <p:cNvSpPr/>
          <p:nvPr/>
        </p:nvSpPr>
        <p:spPr>
          <a:xfrm>
            <a:off x="3474720" y="133200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1" name="Text 1022"/>
          <p:cNvSpPr/>
          <p:nvPr/>
        </p:nvSpPr>
        <p:spPr>
          <a:xfrm>
            <a:off x="3584520" y="133200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http.request.body.content: null pointer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2" name="Text 1051"/>
          <p:cNvSpPr/>
          <p:nvPr/>
        </p:nvSpPr>
        <p:spPr>
          <a:xfrm>
            <a:off x="457200" y="210024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Champ contient la phrase exacte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3" name="Shape 1197"/>
          <p:cNvSpPr/>
          <p:nvPr/>
        </p:nvSpPr>
        <p:spPr>
          <a:xfrm>
            <a:off x="3474720" y="208188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4" name="Text 1130"/>
          <p:cNvSpPr/>
          <p:nvPr/>
        </p:nvSpPr>
        <p:spPr>
          <a:xfrm>
            <a:off x="3584520" y="208188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http.request.body.content: "null pointer"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5" name="Text 1191"/>
          <p:cNvSpPr/>
          <p:nvPr/>
        </p:nvSpPr>
        <p:spPr>
          <a:xfrm>
            <a:off x="457200" y="285012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Phrase dans le body de réponse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6" name="Shape 1198"/>
          <p:cNvSpPr/>
          <p:nvPr/>
        </p:nvSpPr>
        <p:spPr>
          <a:xfrm>
            <a:off x="3474720" y="283176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7" name="Text 1218"/>
          <p:cNvSpPr/>
          <p:nvPr/>
        </p:nvSpPr>
        <p:spPr>
          <a:xfrm>
            <a:off x="3584520" y="283176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http.response.body.content.text: "quick brown fox"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8" name="Shape 1541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9" name="Shape 1542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0" name="Text 1651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DQL – Intervalles et wildcards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1" name="Shape 1543"/>
          <p:cNvSpPr/>
          <p:nvPr/>
        </p:nvSpPr>
        <p:spPr>
          <a:xfrm>
            <a:off x="3200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2" name="Shape 1544"/>
          <p:cNvSpPr/>
          <p:nvPr/>
        </p:nvSpPr>
        <p:spPr>
          <a:xfrm>
            <a:off x="320040" y="822960"/>
            <a:ext cx="41594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3" name="Shape 1545"/>
          <p:cNvSpPr/>
          <p:nvPr/>
        </p:nvSpPr>
        <p:spPr>
          <a:xfrm>
            <a:off x="457200" y="10058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54" name="Image 3" descr="preencoded.png"/>
          <p:cNvPicPr/>
          <p:nvPr/>
        </p:nvPicPr>
        <p:blipFill>
          <a:blip r:embed="rId1"/>
          <a:stretch/>
        </p:blipFill>
        <p:spPr>
          <a:xfrm>
            <a:off x="530280" y="10789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455" name="Text 1652"/>
          <p:cNvSpPr/>
          <p:nvPr/>
        </p:nvSpPr>
        <p:spPr>
          <a:xfrm>
            <a:off x="1078920" y="1024200"/>
            <a:ext cx="31993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Intervalles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6" name="Text 1653"/>
          <p:cNvSpPr/>
          <p:nvPr/>
        </p:nvSpPr>
        <p:spPr>
          <a:xfrm>
            <a:off x="457200" y="1536120"/>
            <a:ext cx="37479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Principalement utilisés sur les chiffres et les dates 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7" name="Text 1654"/>
          <p:cNvSpPr/>
          <p:nvPr/>
        </p:nvSpPr>
        <p:spPr>
          <a:xfrm>
            <a:off x="457200" y="1993320"/>
            <a:ext cx="3656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Inférieur strict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8" name="Shape 1546"/>
          <p:cNvSpPr/>
          <p:nvPr/>
        </p:nvSpPr>
        <p:spPr>
          <a:xfrm>
            <a:off x="457200" y="2249280"/>
            <a:ext cx="36565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9" name="Text 1655"/>
          <p:cNvSpPr/>
          <p:nvPr/>
        </p:nvSpPr>
        <p:spPr>
          <a:xfrm>
            <a:off x="567000" y="224928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http.response.bytes &lt; 10000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0" name="Text 1656"/>
          <p:cNvSpPr/>
          <p:nvPr/>
        </p:nvSpPr>
        <p:spPr>
          <a:xfrm>
            <a:off x="457200" y="2907720"/>
            <a:ext cx="3656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Intervalle (and)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1" name="Shape 1547"/>
          <p:cNvSpPr/>
          <p:nvPr/>
        </p:nvSpPr>
        <p:spPr>
          <a:xfrm>
            <a:off x="457200" y="3163680"/>
            <a:ext cx="3656520" cy="474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2" name="Text 1657"/>
          <p:cNvSpPr/>
          <p:nvPr/>
        </p:nvSpPr>
        <p:spPr>
          <a:xfrm>
            <a:off x="567000" y="3163680"/>
            <a:ext cx="34736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http.response.bytes &gt; 10000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and http.response.bytes &lt;= 20000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3" name="Text 1658"/>
          <p:cNvSpPr/>
          <p:nvPr/>
        </p:nvSpPr>
        <p:spPr>
          <a:xfrm>
            <a:off x="457200" y="3822120"/>
            <a:ext cx="36565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Date relative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4" name="Shape 1548"/>
          <p:cNvSpPr/>
          <p:nvPr/>
        </p:nvSpPr>
        <p:spPr>
          <a:xfrm>
            <a:off x="457200" y="4078080"/>
            <a:ext cx="36565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5" name="Text 1659"/>
          <p:cNvSpPr/>
          <p:nvPr/>
        </p:nvSpPr>
        <p:spPr>
          <a:xfrm>
            <a:off x="567000" y="4078080"/>
            <a:ext cx="34736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@timestamp &lt; now-2w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6" name="Shape 1549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7" name="Shape 1550"/>
          <p:cNvSpPr/>
          <p:nvPr/>
        </p:nvSpPr>
        <p:spPr>
          <a:xfrm>
            <a:off x="4663440" y="822960"/>
            <a:ext cx="41594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8" name="Shape 1551"/>
          <p:cNvSpPr/>
          <p:nvPr/>
        </p:nvSpPr>
        <p:spPr>
          <a:xfrm>
            <a:off x="4800600" y="10058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69" name="Image 10" descr="preencoded.png"/>
          <p:cNvPicPr/>
          <p:nvPr/>
        </p:nvPicPr>
        <p:blipFill>
          <a:blip r:embed="rId2"/>
          <a:stretch/>
        </p:blipFill>
        <p:spPr>
          <a:xfrm>
            <a:off x="4873680" y="10789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470" name="Text 1660"/>
          <p:cNvSpPr/>
          <p:nvPr/>
        </p:nvSpPr>
        <p:spPr>
          <a:xfrm>
            <a:off x="5422320" y="1024200"/>
            <a:ext cx="319932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Wildcards  *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1" name="Text 1661"/>
          <p:cNvSpPr/>
          <p:nvPr/>
        </p:nvSpPr>
        <p:spPr>
          <a:xfrm>
            <a:off x="4800600" y="1536120"/>
            <a:ext cx="374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wildcard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* filtre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par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préfixe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valeur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ou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permet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 cibler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plusieurs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champs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2" name="Text 1662"/>
          <p:cNvSpPr/>
          <p:nvPr/>
        </p:nvSpPr>
        <p:spPr>
          <a:xfrm>
            <a:off x="4800600" y="213048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Préfixe de valeur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3" name="Shape 1552"/>
          <p:cNvSpPr/>
          <p:nvPr/>
        </p:nvSpPr>
        <p:spPr>
          <a:xfrm>
            <a:off x="4800600" y="2359080"/>
            <a:ext cx="3839400" cy="327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4" name="Text 1663"/>
          <p:cNvSpPr/>
          <p:nvPr/>
        </p:nvSpPr>
        <p:spPr>
          <a:xfrm>
            <a:off x="4910400" y="235908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http.response.status_code: 4*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5" name="Text 1664"/>
          <p:cNvSpPr/>
          <p:nvPr/>
        </p:nvSpPr>
        <p:spPr>
          <a:xfrm>
            <a:off x="4800600" y="278892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Tous les codes 2xx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6" name="Shape 1553"/>
          <p:cNvSpPr/>
          <p:nvPr/>
        </p:nvSpPr>
        <p:spPr>
          <a:xfrm>
            <a:off x="4800600" y="3017520"/>
            <a:ext cx="3839400" cy="327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7" name="Text 1665"/>
          <p:cNvSpPr/>
          <p:nvPr/>
        </p:nvSpPr>
        <p:spPr>
          <a:xfrm>
            <a:off x="4910400" y="301752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http.response.status_code: 2*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8" name="Text 1666"/>
          <p:cNvSpPr/>
          <p:nvPr/>
        </p:nvSpPr>
        <p:spPr>
          <a:xfrm>
            <a:off x="4800600" y="344736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Plusieurs champs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9" name="Shape 1554"/>
          <p:cNvSpPr/>
          <p:nvPr/>
        </p:nvSpPr>
        <p:spPr>
          <a:xfrm>
            <a:off x="4800600" y="3675960"/>
            <a:ext cx="3839400" cy="327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0" name="Text 1667"/>
          <p:cNvSpPr/>
          <p:nvPr/>
        </p:nvSpPr>
        <p:spPr>
          <a:xfrm>
            <a:off x="4910400" y="367596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datastream.*: logs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1" name="Text 1668"/>
          <p:cNvSpPr/>
          <p:nvPr/>
        </p:nvSpPr>
        <p:spPr>
          <a:xfrm>
            <a:off x="4800600" y="410580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Champ quelconque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2" name="Shape 1555"/>
          <p:cNvSpPr/>
          <p:nvPr/>
        </p:nvSpPr>
        <p:spPr>
          <a:xfrm>
            <a:off x="4800600" y="4334400"/>
            <a:ext cx="3839400" cy="327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3" name="Text 1669"/>
          <p:cNvSpPr/>
          <p:nvPr/>
        </p:nvSpPr>
        <p:spPr>
          <a:xfrm>
            <a:off x="4910400" y="4334400"/>
            <a:ext cx="3656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*.status_code: 200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4" name="Shape 1556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5" name="Shape 1557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6" name="Text 1670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DQL – Opérateurs booléens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7" name="Shape 1558"/>
          <p:cNvSpPr/>
          <p:nvPr/>
        </p:nvSpPr>
        <p:spPr>
          <a:xfrm>
            <a:off x="320040" y="822960"/>
            <a:ext cx="85028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8" name="Shape 1559"/>
          <p:cNvSpPr/>
          <p:nvPr/>
        </p:nvSpPr>
        <p:spPr>
          <a:xfrm>
            <a:off x="457200" y="960120"/>
            <a:ext cx="100476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9" name="Text 1671"/>
          <p:cNvSpPr/>
          <p:nvPr/>
        </p:nvSpPr>
        <p:spPr>
          <a:xfrm>
            <a:off x="457200" y="960120"/>
            <a:ext cx="1004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NOT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0" name="Text 1672"/>
          <p:cNvSpPr/>
          <p:nvPr/>
        </p:nvSpPr>
        <p:spPr>
          <a:xfrm>
            <a:off x="1600200" y="8355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Négation — exclut les documents correspondant à la condition.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1" name="Shape 1560"/>
          <p:cNvSpPr/>
          <p:nvPr/>
        </p:nvSpPr>
        <p:spPr>
          <a:xfrm>
            <a:off x="1600200" y="1185840"/>
            <a:ext cx="694836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2" name="Text 1673"/>
          <p:cNvSpPr/>
          <p:nvPr/>
        </p:nvSpPr>
        <p:spPr>
          <a:xfrm>
            <a:off x="1710000" y="1185840"/>
            <a:ext cx="6765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NOT http.request.method: GET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3" name="Shape 1561"/>
          <p:cNvSpPr/>
          <p:nvPr/>
        </p:nvSpPr>
        <p:spPr>
          <a:xfrm>
            <a:off x="1600200" y="1588320"/>
            <a:ext cx="694836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4" name="Text 1674"/>
          <p:cNvSpPr/>
          <p:nvPr/>
        </p:nvSpPr>
        <p:spPr>
          <a:xfrm>
            <a:off x="1710000" y="1588320"/>
            <a:ext cx="6765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NOT http.response.status_code: 200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5" name="Shape 1562"/>
          <p:cNvSpPr/>
          <p:nvPr/>
        </p:nvSpPr>
        <p:spPr>
          <a:xfrm>
            <a:off x="457200" y="2176200"/>
            <a:ext cx="100476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6" name="Text 1675"/>
          <p:cNvSpPr/>
          <p:nvPr/>
        </p:nvSpPr>
        <p:spPr>
          <a:xfrm>
            <a:off x="457200" y="2176200"/>
            <a:ext cx="1004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AND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7" name="Text 1676"/>
          <p:cNvSpPr/>
          <p:nvPr/>
        </p:nvSpPr>
        <p:spPr>
          <a:xfrm>
            <a:off x="1600200" y="205164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Les deux conditions doivent être vraies simultanément.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8" name="Shape 1563"/>
          <p:cNvSpPr/>
          <p:nvPr/>
        </p:nvSpPr>
        <p:spPr>
          <a:xfrm>
            <a:off x="1600200" y="2473920"/>
            <a:ext cx="694836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9" name="Text 1677"/>
          <p:cNvSpPr/>
          <p:nvPr/>
        </p:nvSpPr>
        <p:spPr>
          <a:xfrm>
            <a:off x="1710000" y="2473920"/>
            <a:ext cx="6765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http.request.method: GET AND http.response.status_code: 400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0" name="Shape 1564"/>
          <p:cNvSpPr/>
          <p:nvPr/>
        </p:nvSpPr>
        <p:spPr>
          <a:xfrm>
            <a:off x="457200" y="3127320"/>
            <a:ext cx="100476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1" name="Text 1678"/>
          <p:cNvSpPr/>
          <p:nvPr/>
        </p:nvSpPr>
        <p:spPr>
          <a:xfrm>
            <a:off x="457200" y="3127320"/>
            <a:ext cx="1004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OR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2" name="Text 1679"/>
          <p:cNvSpPr/>
          <p:nvPr/>
        </p:nvSpPr>
        <p:spPr>
          <a:xfrm>
            <a:off x="1600200" y="30027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Au moins une des conditions doit être vraie.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3" name="Shape 1565"/>
          <p:cNvSpPr/>
          <p:nvPr/>
        </p:nvSpPr>
        <p:spPr>
          <a:xfrm>
            <a:off x="1600200" y="3389040"/>
            <a:ext cx="694836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4" name="Text 1680"/>
          <p:cNvSpPr/>
          <p:nvPr/>
        </p:nvSpPr>
        <p:spPr>
          <a:xfrm>
            <a:off x="1710000" y="3389040"/>
            <a:ext cx="67654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http.request.method: GET OR http.response.status_code: 400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5" name="Shape 1566"/>
          <p:cNvSpPr/>
          <p:nvPr/>
        </p:nvSpPr>
        <p:spPr>
          <a:xfrm>
            <a:off x="457200" y="4160520"/>
            <a:ext cx="8228520" cy="38304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6" name="Shape 1567"/>
          <p:cNvSpPr/>
          <p:nvPr/>
        </p:nvSpPr>
        <p:spPr>
          <a:xfrm rot="21590400">
            <a:off x="457560" y="4149000"/>
            <a:ext cx="8228520" cy="3830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7" name="Text 1681"/>
          <p:cNvSpPr/>
          <p:nvPr/>
        </p:nvSpPr>
        <p:spPr>
          <a:xfrm>
            <a:off x="567000" y="4160520"/>
            <a:ext cx="80456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ef2"/>
                </a:solidFill>
                <a:latin typeface="Consolas"/>
                <a:ea typeface="Consolas"/>
              </a:rPr>
              <a:t>(http.request.method: GET AND http.response.status_code: 200) OR (http.request.method: POST AND http.response.status_code: 400)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8" name="Shape 1568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9" name="Shape 1569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0" name="Text 1682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DQL – Champs imbriqués (Nested objects)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1" name="Shape 1570"/>
          <p:cNvSpPr/>
          <p:nvPr/>
        </p:nvSpPr>
        <p:spPr>
          <a:xfrm>
            <a:off x="3200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2" name="Text 1683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Requêtes sur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objets imbriqués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3" name="Text 1684"/>
          <p:cNvSpPr/>
          <p:nvPr/>
        </p:nvSpPr>
        <p:spPr>
          <a:xfrm>
            <a:off x="457200" y="1371600"/>
            <a:ext cx="38394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DQL permet de cibler des champs au sein d'objets ou tableaux imbriqués avec une syntaxe dédiée. La cohérence entre les champs d'un même objet est garantie.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4" name="Shape 1571"/>
          <p:cNvSpPr/>
          <p:nvPr/>
        </p:nvSpPr>
        <p:spPr>
          <a:xfrm>
            <a:off x="457200" y="2194560"/>
            <a:ext cx="3839400" cy="12333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5" name="Text 1685"/>
          <p:cNvSpPr/>
          <p:nvPr/>
        </p:nvSpPr>
        <p:spPr>
          <a:xfrm>
            <a:off x="548640" y="2212920"/>
            <a:ext cx="36565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"user": [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"first": "John", "last": "Smith"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"first": "Alice", "last": "White"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6" name="Text 1686"/>
          <p:cNvSpPr/>
          <p:nvPr/>
        </p:nvSpPr>
        <p:spPr>
          <a:xfrm>
            <a:off x="457200" y="354780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Syntaxe : champ:{ cond1 and cond2 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7" name="Text 1687"/>
          <p:cNvSpPr/>
          <p:nvPr/>
        </p:nvSpPr>
        <p:spPr>
          <a:xfrm>
            <a:off x="457200" y="385884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Les accolades garantissent que les deux conditions portent sur le même objet du tableau.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8" name="Shape 1572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9" name="Text 1688"/>
          <p:cNvSpPr/>
          <p:nvPr/>
        </p:nvSpPr>
        <p:spPr>
          <a:xfrm>
            <a:off x="48463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Exemples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0" name="Text 1689"/>
          <p:cNvSpPr/>
          <p:nvPr/>
        </p:nvSpPr>
        <p:spPr>
          <a:xfrm>
            <a:off x="4800600" y="138996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Rechercher Alice White (1 niveau)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1" name="Shape 1573"/>
          <p:cNvSpPr/>
          <p:nvPr/>
        </p:nvSpPr>
        <p:spPr>
          <a:xfrm>
            <a:off x="4800600" y="1682640"/>
            <a:ext cx="383940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2" name="Text 1709"/>
          <p:cNvSpPr/>
          <p:nvPr/>
        </p:nvSpPr>
        <p:spPr>
          <a:xfrm>
            <a:off x="4910400" y="1682640"/>
            <a:ext cx="36565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user:{ first: "Alice" and last: "White" 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3" name="Shape 1574"/>
          <p:cNvSpPr/>
          <p:nvPr/>
        </p:nvSpPr>
        <p:spPr>
          <a:xfrm>
            <a:off x="4800600" y="2176200"/>
            <a:ext cx="3839400" cy="523800"/>
          </a:xfrm>
          <a:prstGeom prst="rect">
            <a:avLst/>
          </a:prstGeom>
          <a:solidFill>
            <a:srgbClr val="e6f4f7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4" name="Text 1710"/>
          <p:cNvSpPr/>
          <p:nvPr/>
        </p:nvSpPr>
        <p:spPr>
          <a:xfrm>
            <a:off x="4892040" y="2194560"/>
            <a:ext cx="365652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Sans les accolades, DQL pourrait matcher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John White + Alice Smith comme deux résultats distincts.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25" name="Text 1711"/>
          <p:cNvSpPr/>
          <p:nvPr/>
        </p:nvSpPr>
        <p:spPr>
          <a:xfrm>
            <a:off x="4800600" y="2818800"/>
            <a:ext cx="38394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Chemin complet si 2 niveaux d'imbrication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6" name="Shape 1575"/>
          <p:cNvSpPr/>
          <p:nvPr/>
        </p:nvSpPr>
        <p:spPr>
          <a:xfrm>
            <a:off x="4800600" y="3111120"/>
            <a:ext cx="3839400" cy="4377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7" name="Text 1712"/>
          <p:cNvSpPr/>
          <p:nvPr/>
        </p:nvSpPr>
        <p:spPr>
          <a:xfrm>
            <a:off x="4910400" y="3111120"/>
            <a:ext cx="36565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user.names:{ first: "Alice" and last: "White" 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8" name="Shape 1576"/>
          <p:cNvSpPr/>
          <p:nvPr/>
        </p:nvSpPr>
        <p:spPr>
          <a:xfrm>
            <a:off x="4800600" y="3605040"/>
            <a:ext cx="3839400" cy="570960"/>
          </a:xfrm>
          <a:prstGeom prst="rect">
            <a:avLst/>
          </a:prstGeom>
          <a:solidFill>
            <a:srgbClr val="e6f4f7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9" name="Text 1713"/>
          <p:cNvSpPr/>
          <p:nvPr/>
        </p:nvSpPr>
        <p:spPr>
          <a:xfrm>
            <a:off x="4892040" y="3623400"/>
            <a:ext cx="36565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Avec la structure user &gt; names &gt; {first, last},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il faut donner le chemin complet user.names.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30" name="Shape 1577"/>
          <p:cNvSpPr/>
          <p:nvPr/>
        </p:nvSpPr>
        <p:spPr>
          <a:xfrm>
            <a:off x="4663440" y="4325040"/>
            <a:ext cx="4159440" cy="38304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1" name="Text 1714"/>
          <p:cNvSpPr/>
          <p:nvPr/>
        </p:nvSpPr>
        <p:spPr>
          <a:xfrm>
            <a:off x="4754880" y="4325040"/>
            <a:ext cx="39765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⚠  </a:t>
            </a:r>
            <a:r>
              <a:rPr b="0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Lucene : fonctions avancées (regex, fuzzy) ne supporte pas les objets imbriqués ni les champs scriptés.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Shape 1578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3" name="Shape 1579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4" name="Text 1715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PPL – Piped Processing Language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5" name="Shape 1580"/>
          <p:cNvSpPr/>
          <p:nvPr/>
        </p:nvSpPr>
        <p:spPr>
          <a:xfrm>
            <a:off x="3200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6" name="Text 1716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Principe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7" name="Text 1717"/>
          <p:cNvSpPr/>
          <p:nvPr/>
        </p:nvSpPr>
        <p:spPr>
          <a:xfrm>
            <a:off x="502920" y="138996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PPL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est le langage de requêtes analytiques natif d'OpenSearch (équivalent de l'ES|QL d'Elasticsearch).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8" name="Text 1718"/>
          <p:cNvSpPr/>
          <p:nvPr/>
        </p:nvSpPr>
        <p:spPr>
          <a:xfrm>
            <a:off x="502920" y="194724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Commandes enchaînées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avec le symbole | (pipe) : chaque commande reçoit le résultat de la précédente.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9" name="Text 1719"/>
          <p:cNvSpPr/>
          <p:nvPr/>
        </p:nvSpPr>
        <p:spPr>
          <a:xfrm>
            <a:off x="502920" y="243216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Une seule requête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peut combiner recherche, filtrage, agrégation, calcul et tri.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0" name="Text 1720"/>
          <p:cNvSpPr/>
          <p:nvPr/>
        </p:nvSpPr>
        <p:spPr>
          <a:xfrm>
            <a:off x="502920" y="295344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Disponible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dans Discover et dans les Dev Tools via l'API _ppl.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1" name="Text 1721"/>
          <p:cNvSpPr/>
          <p:nvPr/>
        </p:nvSpPr>
        <p:spPr>
          <a:xfrm>
            <a:off x="502920" y="347472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Assistance intégrée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: auto-complétion, éditeur multiligne, historique des requêtes.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2" name="Text 1722"/>
          <p:cNvSpPr/>
          <p:nvPr/>
        </p:nvSpPr>
        <p:spPr>
          <a:xfrm>
            <a:off x="502920" y="399600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OpenSearch supporte aussi SQL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pour les utilisateurs préférant cette syntaxe.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3" name="Shape 1581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4" name="Shape 1582"/>
          <p:cNvSpPr/>
          <p:nvPr/>
        </p:nvSpPr>
        <p:spPr>
          <a:xfrm>
            <a:off x="4699440" y="831600"/>
            <a:ext cx="4022280" cy="4561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5" name="Text 1723"/>
          <p:cNvSpPr/>
          <p:nvPr/>
        </p:nvSpPr>
        <p:spPr>
          <a:xfrm>
            <a:off x="4754880" y="822960"/>
            <a:ext cx="3930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PPL (OpenSearch) vs ES|QL (Elasticsearch)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6" name="Shape 1583"/>
          <p:cNvSpPr/>
          <p:nvPr/>
        </p:nvSpPr>
        <p:spPr>
          <a:xfrm>
            <a:off x="4663440" y="1371600"/>
            <a:ext cx="4159440" cy="36468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7" name="Text 1724"/>
          <p:cNvSpPr/>
          <p:nvPr/>
        </p:nvSpPr>
        <p:spPr>
          <a:xfrm>
            <a:off x="4736520" y="137160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Fonctionnalité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48" name="Text 1814"/>
          <p:cNvSpPr/>
          <p:nvPr/>
        </p:nvSpPr>
        <p:spPr>
          <a:xfrm>
            <a:off x="6812280" y="137160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PPL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49" name="Text 1815"/>
          <p:cNvSpPr/>
          <p:nvPr/>
        </p:nvSpPr>
        <p:spPr>
          <a:xfrm>
            <a:off x="7909560" y="137160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ES|QL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50" name="Shape 1584"/>
          <p:cNvSpPr/>
          <p:nvPr/>
        </p:nvSpPr>
        <p:spPr>
          <a:xfrm>
            <a:off x="4663440" y="175572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1" name="Text 1816"/>
          <p:cNvSpPr/>
          <p:nvPr/>
        </p:nvSpPr>
        <p:spPr>
          <a:xfrm>
            <a:off x="4736520" y="175572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Syntaxe pipe |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2" name="Text 1817"/>
          <p:cNvSpPr/>
          <p:nvPr/>
        </p:nvSpPr>
        <p:spPr>
          <a:xfrm>
            <a:off x="6812280" y="175572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3" name="Text 1818"/>
          <p:cNvSpPr/>
          <p:nvPr/>
        </p:nvSpPr>
        <p:spPr>
          <a:xfrm>
            <a:off x="7909560" y="175572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4" name="Shape 1585"/>
          <p:cNvSpPr/>
          <p:nvPr/>
        </p:nvSpPr>
        <p:spPr>
          <a:xfrm>
            <a:off x="4663440" y="213984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5" name="Text 1819"/>
          <p:cNvSpPr/>
          <p:nvPr/>
        </p:nvSpPr>
        <p:spPr>
          <a:xfrm>
            <a:off x="4736520" y="21398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Filtre WHERE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6" name="Text 1820"/>
          <p:cNvSpPr/>
          <p:nvPr/>
        </p:nvSpPr>
        <p:spPr>
          <a:xfrm>
            <a:off x="6812280" y="213984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7" name="Text 1821"/>
          <p:cNvSpPr/>
          <p:nvPr/>
        </p:nvSpPr>
        <p:spPr>
          <a:xfrm>
            <a:off x="7909560" y="213984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WHERE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8" name="Shape 1586"/>
          <p:cNvSpPr/>
          <p:nvPr/>
        </p:nvSpPr>
        <p:spPr>
          <a:xfrm>
            <a:off x="4663440" y="252360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9" name="Text 1822"/>
          <p:cNvSpPr/>
          <p:nvPr/>
        </p:nvSpPr>
        <p:spPr>
          <a:xfrm>
            <a:off x="4736520" y="252360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Agrégation STATS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0" name="Text 1823"/>
          <p:cNvSpPr/>
          <p:nvPr/>
        </p:nvSpPr>
        <p:spPr>
          <a:xfrm>
            <a:off x="6812280" y="252360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stats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1" name="Text 1824"/>
          <p:cNvSpPr/>
          <p:nvPr/>
        </p:nvSpPr>
        <p:spPr>
          <a:xfrm>
            <a:off x="7909560" y="252360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STATS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2" name="Shape 1587"/>
          <p:cNvSpPr/>
          <p:nvPr/>
        </p:nvSpPr>
        <p:spPr>
          <a:xfrm>
            <a:off x="4663440" y="290772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3" name="Text 1825"/>
          <p:cNvSpPr/>
          <p:nvPr/>
        </p:nvSpPr>
        <p:spPr>
          <a:xfrm>
            <a:off x="4736520" y="290772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Tri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4" name="Text 1826"/>
          <p:cNvSpPr/>
          <p:nvPr/>
        </p:nvSpPr>
        <p:spPr>
          <a:xfrm>
            <a:off x="6812280" y="290772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sort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5" name="Text 1827"/>
          <p:cNvSpPr/>
          <p:nvPr/>
        </p:nvSpPr>
        <p:spPr>
          <a:xfrm>
            <a:off x="7909560" y="290772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SORT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6" name="Shape 1588"/>
          <p:cNvSpPr/>
          <p:nvPr/>
        </p:nvSpPr>
        <p:spPr>
          <a:xfrm>
            <a:off x="4663440" y="3291840"/>
            <a:ext cx="4159440" cy="364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7" name="Text 1828"/>
          <p:cNvSpPr/>
          <p:nvPr/>
        </p:nvSpPr>
        <p:spPr>
          <a:xfrm>
            <a:off x="4736520" y="32918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Sélection colonnes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8" name="Text 1829"/>
          <p:cNvSpPr/>
          <p:nvPr/>
        </p:nvSpPr>
        <p:spPr>
          <a:xfrm>
            <a:off x="6812280" y="329184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fields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9" name="Text 1830"/>
          <p:cNvSpPr/>
          <p:nvPr/>
        </p:nvSpPr>
        <p:spPr>
          <a:xfrm>
            <a:off x="7909560" y="329184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KEEP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0" name="Shape 1589"/>
          <p:cNvSpPr/>
          <p:nvPr/>
        </p:nvSpPr>
        <p:spPr>
          <a:xfrm>
            <a:off x="4663440" y="3675960"/>
            <a:ext cx="41594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1" name="Text 1831"/>
          <p:cNvSpPr/>
          <p:nvPr/>
        </p:nvSpPr>
        <p:spPr>
          <a:xfrm>
            <a:off x="4736520" y="367596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Enrichissement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2" name="Text 1832"/>
          <p:cNvSpPr/>
          <p:nvPr/>
        </p:nvSpPr>
        <p:spPr>
          <a:xfrm>
            <a:off x="6812280" y="367596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3" name="Text 1833"/>
          <p:cNvSpPr/>
          <p:nvPr/>
        </p:nvSpPr>
        <p:spPr>
          <a:xfrm>
            <a:off x="7909560" y="367596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4" name="Shape 1590"/>
          <p:cNvSpPr/>
          <p:nvPr/>
        </p:nvSpPr>
        <p:spPr>
          <a:xfrm>
            <a:off x="4663440" y="4060080"/>
            <a:ext cx="41594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5" name="Text 1834"/>
          <p:cNvSpPr/>
          <p:nvPr/>
        </p:nvSpPr>
        <p:spPr>
          <a:xfrm>
            <a:off x="4736520" y="406008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Visualisation directe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6" name="Text 1835"/>
          <p:cNvSpPr/>
          <p:nvPr/>
        </p:nvSpPr>
        <p:spPr>
          <a:xfrm>
            <a:off x="6812280" y="406008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7" name="Text 1836"/>
          <p:cNvSpPr/>
          <p:nvPr/>
        </p:nvSpPr>
        <p:spPr>
          <a:xfrm>
            <a:off x="7909560" y="406008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8" name="Shape 1591"/>
          <p:cNvSpPr/>
          <p:nvPr/>
        </p:nvSpPr>
        <p:spPr>
          <a:xfrm>
            <a:off x="4663440" y="4443840"/>
            <a:ext cx="4159440" cy="364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9" name="Text 1837"/>
          <p:cNvSpPr/>
          <p:nvPr/>
        </p:nvSpPr>
        <p:spPr>
          <a:xfrm>
            <a:off x="4736520" y="4443840"/>
            <a:ext cx="1919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Alertes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0" name="Text 1838"/>
          <p:cNvSpPr/>
          <p:nvPr/>
        </p:nvSpPr>
        <p:spPr>
          <a:xfrm>
            <a:off x="6812280" y="444384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1" name="Text 1839"/>
          <p:cNvSpPr/>
          <p:nvPr/>
        </p:nvSpPr>
        <p:spPr>
          <a:xfrm>
            <a:off x="7909560" y="4443840"/>
            <a:ext cx="821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007a8a"/>
                </a:solidFill>
                <a:latin typeface="Calibri"/>
                <a:ea typeface="Calibri"/>
              </a:rPr>
              <a:t>✓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2" name="Shape 1592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3" name="Shape 1593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4" name="Text 1840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PPL – Syntaxe de base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5" name="Shape 1594"/>
          <p:cNvSpPr/>
          <p:nvPr/>
        </p:nvSpPr>
        <p:spPr>
          <a:xfrm>
            <a:off x="320040" y="724680"/>
            <a:ext cx="8502840" cy="1255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6" name="Shape 1595"/>
          <p:cNvSpPr/>
          <p:nvPr/>
        </p:nvSpPr>
        <p:spPr>
          <a:xfrm>
            <a:off x="320040" y="688680"/>
            <a:ext cx="85028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7" name="Shape 1596"/>
          <p:cNvSpPr/>
          <p:nvPr/>
        </p:nvSpPr>
        <p:spPr>
          <a:xfrm>
            <a:off x="320040" y="761760"/>
            <a:ext cx="8502840" cy="27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8" name="Text 1886"/>
          <p:cNvSpPr/>
          <p:nvPr/>
        </p:nvSpPr>
        <p:spPr>
          <a:xfrm>
            <a:off x="457200" y="76176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Commande source obligatoire</a:t>
            </a:r>
            <a:endParaRPr b="0" lang="fr-FR" sz="11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89" name="Text 1887"/>
          <p:cNvSpPr/>
          <p:nvPr/>
        </p:nvSpPr>
        <p:spPr>
          <a:xfrm>
            <a:off x="457200" y="109116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Lire depuis un index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0" name="Shape 1597"/>
          <p:cNvSpPr/>
          <p:nvPr/>
        </p:nvSpPr>
        <p:spPr>
          <a:xfrm>
            <a:off x="3474720" y="107280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1" name="Text 1888"/>
          <p:cNvSpPr/>
          <p:nvPr/>
        </p:nvSpPr>
        <p:spPr>
          <a:xfrm>
            <a:off x="3584520" y="107280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search source=opensearch_sample_data_logs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2" name="Text 1889"/>
          <p:cNvSpPr/>
          <p:nvPr/>
        </p:nvSpPr>
        <p:spPr>
          <a:xfrm>
            <a:off x="457200" y="15166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Alias court (même résultat)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3" name="Shape 1615"/>
          <p:cNvSpPr/>
          <p:nvPr/>
        </p:nvSpPr>
        <p:spPr>
          <a:xfrm>
            <a:off x="3474720" y="149868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4" name="Text 1890"/>
          <p:cNvSpPr/>
          <p:nvPr/>
        </p:nvSpPr>
        <p:spPr>
          <a:xfrm>
            <a:off x="3584520" y="149868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source=opensearch_sample_data_logs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5" name="Shape 1616"/>
          <p:cNvSpPr/>
          <p:nvPr/>
        </p:nvSpPr>
        <p:spPr>
          <a:xfrm>
            <a:off x="320040" y="2043360"/>
            <a:ext cx="8502840" cy="180864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6" name="Shape 1617"/>
          <p:cNvSpPr/>
          <p:nvPr/>
        </p:nvSpPr>
        <p:spPr>
          <a:xfrm>
            <a:off x="320040" y="2007360"/>
            <a:ext cx="8502840" cy="72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7" name="Shape 1618"/>
          <p:cNvSpPr/>
          <p:nvPr/>
        </p:nvSpPr>
        <p:spPr>
          <a:xfrm>
            <a:off x="320040" y="2080440"/>
            <a:ext cx="8502840" cy="27324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8" name="Text 1891"/>
          <p:cNvSpPr/>
          <p:nvPr/>
        </p:nvSpPr>
        <p:spPr>
          <a:xfrm>
            <a:off x="457200" y="2080440"/>
            <a:ext cx="822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Filtrage et sélection</a:t>
            </a:r>
            <a:endParaRPr b="1" lang="fr-FR" sz="11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599" name="Text 1892"/>
          <p:cNvSpPr/>
          <p:nvPr/>
        </p:nvSpPr>
        <p:spPr>
          <a:xfrm>
            <a:off x="457200" y="240948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Limiter le nombre de résultats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0" name="Shape 1619"/>
          <p:cNvSpPr/>
          <p:nvPr/>
        </p:nvSpPr>
        <p:spPr>
          <a:xfrm>
            <a:off x="3474720" y="239112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1" name="Text 1893"/>
          <p:cNvSpPr/>
          <p:nvPr/>
        </p:nvSpPr>
        <p:spPr>
          <a:xfrm>
            <a:off x="3584520" y="239112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source=logs | head 10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2" name="Text 1894"/>
          <p:cNvSpPr/>
          <p:nvPr/>
        </p:nvSpPr>
        <p:spPr>
          <a:xfrm>
            <a:off x="457200" y="287136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Filtrer sur une condition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3" name="Shape 1620"/>
          <p:cNvSpPr/>
          <p:nvPr/>
        </p:nvSpPr>
        <p:spPr>
          <a:xfrm>
            <a:off x="3474720" y="285300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4" name="Text 1895"/>
          <p:cNvSpPr/>
          <p:nvPr/>
        </p:nvSpPr>
        <p:spPr>
          <a:xfrm>
            <a:off x="3584520" y="285300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source=logs | where bytes &gt; 10000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5" name="Text 1896"/>
          <p:cNvSpPr/>
          <p:nvPr/>
        </p:nvSpPr>
        <p:spPr>
          <a:xfrm>
            <a:off x="457200" y="3369240"/>
            <a:ext cx="2925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Sélectionner des colonnes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6" name="Shape 1621"/>
          <p:cNvSpPr/>
          <p:nvPr/>
        </p:nvSpPr>
        <p:spPr>
          <a:xfrm>
            <a:off x="3474720" y="3350880"/>
            <a:ext cx="5256720" cy="346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7" name="Text 1897"/>
          <p:cNvSpPr/>
          <p:nvPr/>
        </p:nvSpPr>
        <p:spPr>
          <a:xfrm>
            <a:off x="3584520" y="3350880"/>
            <a:ext cx="507384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source=logs | fields @timestamp, bytes, geo.dest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8" name="Shape 1900"/>
          <p:cNvSpPr/>
          <p:nvPr/>
        </p:nvSpPr>
        <p:spPr>
          <a:xfrm>
            <a:off x="329400" y="3850200"/>
            <a:ext cx="8502840" cy="1192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09" name="Shape 1902"/>
          <p:cNvSpPr/>
          <p:nvPr/>
        </p:nvSpPr>
        <p:spPr>
          <a:xfrm>
            <a:off x="329400" y="3850200"/>
            <a:ext cx="8502840" cy="61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10" name="Shape 1903"/>
          <p:cNvSpPr/>
          <p:nvPr/>
        </p:nvSpPr>
        <p:spPr>
          <a:xfrm>
            <a:off x="329400" y="3912480"/>
            <a:ext cx="8502840" cy="23328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11" name="Text 2009"/>
          <p:cNvSpPr/>
          <p:nvPr/>
        </p:nvSpPr>
        <p:spPr>
          <a:xfrm>
            <a:off x="466560" y="3912480"/>
            <a:ext cx="8228520" cy="2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Tri</a:t>
            </a:r>
            <a:endParaRPr b="0" lang="fr-FR" sz="11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612" name="Text 2010"/>
          <p:cNvSpPr/>
          <p:nvPr/>
        </p:nvSpPr>
        <p:spPr>
          <a:xfrm>
            <a:off x="466560" y="4194000"/>
            <a:ext cx="292500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highlight>
                  <a:srgbClr val="007a8a"/>
                </a:highlight>
                <a:latin typeface="Calibri"/>
                <a:ea typeface="Calibri"/>
              </a:rPr>
              <a:t>Tri descendant</a:t>
            </a:r>
            <a:endParaRPr b="0" lang="fr-FR" sz="10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13" name="Shape 1904"/>
          <p:cNvSpPr/>
          <p:nvPr/>
        </p:nvSpPr>
        <p:spPr>
          <a:xfrm>
            <a:off x="3484080" y="4178160"/>
            <a:ext cx="5256720" cy="2955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14" name="Text 2011"/>
          <p:cNvSpPr/>
          <p:nvPr/>
        </p:nvSpPr>
        <p:spPr>
          <a:xfrm>
            <a:off x="3593880" y="4178160"/>
            <a:ext cx="50738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source=logs | fields bytes, geo.dest | sort -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bytes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5" name="Text 2012"/>
          <p:cNvSpPr/>
          <p:nvPr/>
        </p:nvSpPr>
        <p:spPr>
          <a:xfrm>
            <a:off x="466560" y="4587840"/>
            <a:ext cx="29250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d0eaee"/>
                </a:solidFill>
                <a:highlight>
                  <a:srgbClr val="007a8a"/>
                </a:highlight>
                <a:latin typeface="Calibri"/>
                <a:ea typeface="Calibri"/>
              </a:rPr>
              <a:t>Tri ascendant</a:t>
            </a:r>
            <a:endParaRPr b="0" lang="fr-FR" sz="10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16" name="Shape 1905"/>
          <p:cNvSpPr/>
          <p:nvPr/>
        </p:nvSpPr>
        <p:spPr>
          <a:xfrm>
            <a:off x="3484080" y="4572360"/>
            <a:ext cx="5256720" cy="295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highlight>
                <a:srgbClr val="007a8a"/>
              </a:highlight>
              <a:latin typeface="Arial"/>
            </a:endParaRPr>
          </a:p>
        </p:txBody>
      </p:sp>
      <p:sp>
        <p:nvSpPr>
          <p:cNvPr id="4617" name="Text 2013"/>
          <p:cNvSpPr/>
          <p:nvPr/>
        </p:nvSpPr>
        <p:spPr>
          <a:xfrm>
            <a:off x="3593880" y="4572360"/>
            <a:ext cx="507384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source=logs | sort + @timestamp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" name="Shape 1627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9" name="Shape 1628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0" name="Text 1903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PPL –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Agréga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tions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avec </a:t>
            </a: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stats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1" name="Shape 1719"/>
          <p:cNvSpPr/>
          <p:nvPr/>
        </p:nvSpPr>
        <p:spPr>
          <a:xfrm>
            <a:off x="3200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2" name="Text 1904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La commande stats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3" name="Text 1905"/>
          <p:cNvSpPr/>
          <p:nvPr/>
        </p:nvSpPr>
        <p:spPr>
          <a:xfrm>
            <a:off x="457200" y="1371600"/>
            <a:ext cx="3839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Permet des calculs statistiques. Combinée avec by pour regrouper les résultats :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4" name="Text 1906"/>
          <p:cNvSpPr/>
          <p:nvPr/>
        </p:nvSpPr>
        <p:spPr>
          <a:xfrm>
            <a:off x="502920" y="1920240"/>
            <a:ext cx="37479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576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count()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576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sum(champ)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576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avg(champ)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576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max(champ)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576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min(champ)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576b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distinct_count(champ)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5" name="Text 1907"/>
          <p:cNvSpPr/>
          <p:nvPr/>
        </p:nvSpPr>
        <p:spPr>
          <a:xfrm>
            <a:off x="457200" y="3493080"/>
            <a:ext cx="38394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Résultat : tableau de résultats agrégés, directement visualisable dans Discover.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6" name="Shape 1720"/>
          <p:cNvSpPr/>
          <p:nvPr/>
        </p:nvSpPr>
        <p:spPr>
          <a:xfrm>
            <a:off x="457200" y="4069080"/>
            <a:ext cx="3839400" cy="56592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7" name="Text 1908"/>
          <p:cNvSpPr/>
          <p:nvPr/>
        </p:nvSpPr>
        <p:spPr>
          <a:xfrm>
            <a:off x="548640" y="4087440"/>
            <a:ext cx="36565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La visualisation Discover s'adapte à la query PPL. Elle est éditable (couleurs, axes) et sauvegardable dans un dashboard.</a:t>
            </a:r>
            <a:endParaRPr b="0" lang="fr-FR" sz="95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628" name="Shape 1721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9" name="Shape 1722"/>
          <p:cNvSpPr/>
          <p:nvPr/>
        </p:nvSpPr>
        <p:spPr>
          <a:xfrm>
            <a:off x="4663440" y="822960"/>
            <a:ext cx="4159440" cy="3830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0" name="Text 1909"/>
          <p:cNvSpPr/>
          <p:nvPr/>
        </p:nvSpPr>
        <p:spPr>
          <a:xfrm>
            <a:off x="4754880" y="8229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Exemple complet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1" name="Shape 1723"/>
          <p:cNvSpPr/>
          <p:nvPr/>
        </p:nvSpPr>
        <p:spPr>
          <a:xfrm>
            <a:off x="4709160" y="1261800"/>
            <a:ext cx="4040640" cy="12974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2" name="Text 1910"/>
          <p:cNvSpPr/>
          <p:nvPr/>
        </p:nvSpPr>
        <p:spPr>
          <a:xfrm>
            <a:off x="4709160" y="1280160"/>
            <a:ext cx="3958200" cy="12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source=opensearch_sample_data_logs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| stats total_bytes = sum(bytes) by geo.dest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| sort - total_bytes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| head 3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3" name="Text 1915"/>
          <p:cNvSpPr/>
          <p:nvPr/>
        </p:nvSpPr>
        <p:spPr>
          <a:xfrm>
            <a:off x="4754880" y="2651760"/>
            <a:ext cx="3930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Résultat 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4" name="Shape 1728"/>
          <p:cNvSpPr/>
          <p:nvPr/>
        </p:nvSpPr>
        <p:spPr>
          <a:xfrm>
            <a:off x="4709160" y="2971800"/>
            <a:ext cx="4040640" cy="3463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5" name="Text 1916"/>
          <p:cNvSpPr/>
          <p:nvPr/>
        </p:nvSpPr>
        <p:spPr>
          <a:xfrm>
            <a:off x="4800600" y="29718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total_bytes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636" name="Text 1917"/>
          <p:cNvSpPr/>
          <p:nvPr/>
        </p:nvSpPr>
        <p:spPr>
          <a:xfrm>
            <a:off x="7589520" y="2971800"/>
            <a:ext cx="1096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geo.dest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637" name="Shape 1729"/>
          <p:cNvSpPr/>
          <p:nvPr/>
        </p:nvSpPr>
        <p:spPr>
          <a:xfrm>
            <a:off x="4709160" y="3355920"/>
            <a:ext cx="4040640" cy="346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8" name="Text 1918"/>
          <p:cNvSpPr/>
          <p:nvPr/>
        </p:nvSpPr>
        <p:spPr>
          <a:xfrm>
            <a:off x="4800600" y="335592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2,996,101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9" name="Text 1919"/>
          <p:cNvSpPr/>
          <p:nvPr/>
        </p:nvSpPr>
        <p:spPr>
          <a:xfrm>
            <a:off x="7589520" y="3355920"/>
            <a:ext cx="1096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CN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0" name="Shape 1730"/>
          <p:cNvSpPr/>
          <p:nvPr/>
        </p:nvSpPr>
        <p:spPr>
          <a:xfrm>
            <a:off x="4709160" y="3740040"/>
            <a:ext cx="4040640" cy="3463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1" name="Text 1920"/>
          <p:cNvSpPr/>
          <p:nvPr/>
        </p:nvSpPr>
        <p:spPr>
          <a:xfrm>
            <a:off x="4800600" y="374004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2,428,634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2" name="Text 1921"/>
          <p:cNvSpPr/>
          <p:nvPr/>
        </p:nvSpPr>
        <p:spPr>
          <a:xfrm>
            <a:off x="7589520" y="3740040"/>
            <a:ext cx="1096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IN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3" name="Shape 1731"/>
          <p:cNvSpPr/>
          <p:nvPr/>
        </p:nvSpPr>
        <p:spPr>
          <a:xfrm>
            <a:off x="4709160" y="4123800"/>
            <a:ext cx="4040640" cy="3463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4" name="Text 1922"/>
          <p:cNvSpPr/>
          <p:nvPr/>
        </p:nvSpPr>
        <p:spPr>
          <a:xfrm>
            <a:off x="4800600" y="4123800"/>
            <a:ext cx="27421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1,125,692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5" name="Text 1923"/>
          <p:cNvSpPr/>
          <p:nvPr/>
        </p:nvSpPr>
        <p:spPr>
          <a:xfrm>
            <a:off x="7589520" y="4123800"/>
            <a:ext cx="10962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US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6" name="Shape 1732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7" name="Shape 1733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8" name="Text 1924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PPL – Enrichissement (lookup)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9" name="Shape 1734"/>
          <p:cNvSpPr/>
          <p:nvPr/>
        </p:nvSpPr>
        <p:spPr>
          <a:xfrm>
            <a:off x="340560" y="88344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0" name="Text 1925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La commande lookup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1" name="Text 1926"/>
          <p:cNvSpPr/>
          <p:nvPr/>
        </p:nvSpPr>
        <p:spPr>
          <a:xfrm>
            <a:off x="502920" y="13899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lookup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enrichit le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jeu de données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courant avec des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champs provenant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d'un autre index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(table de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référence).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2" name="Text 1927"/>
          <p:cNvSpPr/>
          <p:nvPr/>
        </p:nvSpPr>
        <p:spPr>
          <a:xfrm>
            <a:off x="502920" y="20757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Prérequis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: l'index de lookup doit exister dans OpenSearch avec les champs de jointure et les champs à ajouter.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3" name="Text 1928"/>
          <p:cNvSpPr/>
          <p:nvPr/>
        </p:nvSpPr>
        <p:spPr>
          <a:xfrm>
            <a:off x="502920" y="27615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Syntaxe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: lookup &lt;index&gt; &lt;champ_jointure&gt; AS &lt;alias&gt; APPEND &lt;champs_à_ajouter&gt;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4" name="Text 1929"/>
          <p:cNvSpPr/>
          <p:nvPr/>
        </p:nvSpPr>
        <p:spPr>
          <a:xfrm>
            <a:off x="502920" y="3447360"/>
            <a:ext cx="383940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Alternative ENRICH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: OpenSearch supporte également une ENRICH POLICY similaire à Elasticsearch, configurable dans Stack Management.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5" name="Shape 1735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6" name="Text 1930"/>
          <p:cNvSpPr/>
          <p:nvPr/>
        </p:nvSpPr>
        <p:spPr>
          <a:xfrm>
            <a:off x="4754880" y="8229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Exemples PPL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7" name="Text 1931"/>
          <p:cNvSpPr/>
          <p:nvPr/>
        </p:nvSpPr>
        <p:spPr>
          <a:xfrm>
            <a:off x="4754880" y="1154520"/>
            <a:ext cx="3839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Lookup direct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8" name="Shape 1737"/>
          <p:cNvSpPr/>
          <p:nvPr/>
        </p:nvSpPr>
        <p:spPr>
          <a:xfrm>
            <a:off x="4709160" y="1428840"/>
            <a:ext cx="4040640" cy="7304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9" name="Text 1932"/>
          <p:cNvSpPr/>
          <p:nvPr/>
        </p:nvSpPr>
        <p:spPr>
          <a:xfrm>
            <a:off x="4818960" y="1428840"/>
            <a:ext cx="385776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source=opensearch_sample_data_logs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stats total_bytes=sum(bytes) by geo.dest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sort - total_bytes | head 3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lookup countries geo.dest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APPEND country_name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0" name="Text 1933"/>
          <p:cNvSpPr/>
          <p:nvPr/>
        </p:nvSpPr>
        <p:spPr>
          <a:xfrm>
            <a:off x="4754880" y="2207160"/>
            <a:ext cx="3839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Sans lookup préconfiguré (jointure inline)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1" name="Shape 1738"/>
          <p:cNvSpPr/>
          <p:nvPr/>
        </p:nvSpPr>
        <p:spPr>
          <a:xfrm>
            <a:off x="4709160" y="2545560"/>
            <a:ext cx="4040640" cy="8035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2" name="Text 1934"/>
          <p:cNvSpPr/>
          <p:nvPr/>
        </p:nvSpPr>
        <p:spPr>
          <a:xfrm>
            <a:off x="4818960" y="2545560"/>
            <a:ext cx="385776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source=opensearch_sample_data_logs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JOIN ON geo.dest = country_name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country_index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FIELDS geo.dest, country_name,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country_code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3" name="Shape 1739"/>
          <p:cNvSpPr/>
          <p:nvPr/>
        </p:nvSpPr>
        <p:spPr>
          <a:xfrm>
            <a:off x="4699440" y="3477600"/>
            <a:ext cx="4086360" cy="1004760"/>
          </a:xfrm>
          <a:prstGeom prst="rect">
            <a:avLst/>
          </a:prstGeom>
          <a:solidFill>
            <a:srgbClr val="00576b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4" name="Text 1935"/>
          <p:cNvSpPr/>
          <p:nvPr/>
        </p:nvSpPr>
        <p:spPr>
          <a:xfrm>
            <a:off x="4754880" y="353232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ENRICH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i="1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POLICY (alternative) 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5" name="Shape 1740"/>
          <p:cNvSpPr/>
          <p:nvPr/>
        </p:nvSpPr>
        <p:spPr>
          <a:xfrm>
            <a:off x="4709160" y="3797640"/>
            <a:ext cx="4040640" cy="52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6" name="Text 1936"/>
          <p:cNvSpPr/>
          <p:nvPr/>
        </p:nvSpPr>
        <p:spPr>
          <a:xfrm>
            <a:off x="4818960" y="3797640"/>
            <a:ext cx="385776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source=logs | stats ... | enrich countries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7" name="Text 1937"/>
          <p:cNvSpPr/>
          <p:nvPr/>
        </p:nvSpPr>
        <p:spPr>
          <a:xfrm>
            <a:off x="4754880" y="3797640"/>
            <a:ext cx="3930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d0eaee"/>
                </a:solidFill>
                <a:latin typeface="Calibri"/>
                <a:ea typeface="Calibri"/>
              </a:rPr>
              <a:t>Policy créée dans Stack Management › Enrich Policies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8" name="Shape 1741"/>
          <p:cNvSpPr/>
          <p:nvPr/>
        </p:nvSpPr>
        <p:spPr>
          <a:xfrm>
            <a:off x="0" y="0"/>
            <a:ext cx="9142920" cy="540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9" name="Shape 1742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0" name="Text 1938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PPL – Alertes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1" name="Shape 1817"/>
          <p:cNvSpPr/>
          <p:nvPr/>
        </p:nvSpPr>
        <p:spPr>
          <a:xfrm>
            <a:off x="320040" y="64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2" name="Text 1939"/>
          <p:cNvSpPr/>
          <p:nvPr/>
        </p:nvSpPr>
        <p:spPr>
          <a:xfrm>
            <a:off x="502920" y="662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Créer une alerte PPL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3" name="Shape 1818"/>
          <p:cNvSpPr/>
          <p:nvPr/>
        </p:nvSpPr>
        <p:spPr>
          <a:xfrm>
            <a:off x="457200" y="117432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4" name="Text 1940"/>
          <p:cNvSpPr/>
          <p:nvPr/>
        </p:nvSpPr>
        <p:spPr>
          <a:xfrm>
            <a:off x="457200" y="117432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5" name="Text 1941"/>
          <p:cNvSpPr/>
          <p:nvPr/>
        </p:nvSpPr>
        <p:spPr>
          <a:xfrm>
            <a:off x="932760" y="1174320"/>
            <a:ext cx="338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Depuis Discover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6" name="Text 1942"/>
          <p:cNvSpPr/>
          <p:nvPr/>
        </p:nvSpPr>
        <p:spPr>
          <a:xfrm>
            <a:off x="932760" y="141228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Discover › Alerts › Create search threshold rule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7" name="Shape 1819"/>
          <p:cNvSpPr/>
          <p:nvPr/>
        </p:nvSpPr>
        <p:spPr>
          <a:xfrm>
            <a:off x="457200" y="1768680"/>
            <a:ext cx="346320" cy="346320"/>
          </a:xfrm>
          <a:prstGeom prst="ellipse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8" name="Shape 931"/>
          <p:cNvSpPr/>
          <p:nvPr/>
        </p:nvSpPr>
        <p:spPr>
          <a:xfrm>
            <a:off x="457560" y="175032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9" name="Text 1943"/>
          <p:cNvSpPr/>
          <p:nvPr/>
        </p:nvSpPr>
        <p:spPr>
          <a:xfrm>
            <a:off x="457200" y="176868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0" name="Text 1944"/>
          <p:cNvSpPr/>
          <p:nvPr/>
        </p:nvSpPr>
        <p:spPr>
          <a:xfrm>
            <a:off x="932760" y="1768680"/>
            <a:ext cx="338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Écrire la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requête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1" name="Text 1945"/>
          <p:cNvSpPr/>
          <p:nvPr/>
        </p:nvSpPr>
        <p:spPr>
          <a:xfrm>
            <a:off x="932760" y="200664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La requête PPL est saisie dans l'éditeur et associée à un champ temporel.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2" name="Shape 1820"/>
          <p:cNvSpPr/>
          <p:nvPr/>
        </p:nvSpPr>
        <p:spPr>
          <a:xfrm>
            <a:off x="457200" y="236304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3" name="Text 1946"/>
          <p:cNvSpPr/>
          <p:nvPr/>
        </p:nvSpPr>
        <p:spPr>
          <a:xfrm>
            <a:off x="457200" y="236304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4" name="Text 1947"/>
          <p:cNvSpPr/>
          <p:nvPr/>
        </p:nvSpPr>
        <p:spPr>
          <a:xfrm>
            <a:off x="932760" y="2363040"/>
            <a:ext cx="338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Fenêtre temporelle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5" name="Text 1948"/>
          <p:cNvSpPr/>
          <p:nvPr/>
        </p:nvSpPr>
        <p:spPr>
          <a:xfrm>
            <a:off x="932760" y="260100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Définir la fenêtre d'évaluation (ex : toutes les 5 minutes).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6" name="Shape 1821"/>
          <p:cNvSpPr/>
          <p:nvPr/>
        </p:nvSpPr>
        <p:spPr>
          <a:xfrm>
            <a:off x="457200" y="295740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7" name="Text 1949"/>
          <p:cNvSpPr/>
          <p:nvPr/>
        </p:nvSpPr>
        <p:spPr>
          <a:xfrm>
            <a:off x="457200" y="295740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8" name="Text 1950"/>
          <p:cNvSpPr/>
          <p:nvPr/>
        </p:nvSpPr>
        <p:spPr>
          <a:xfrm>
            <a:off x="932760" y="2957400"/>
            <a:ext cx="338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Condition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9" name="Text 1951"/>
          <p:cNvSpPr/>
          <p:nvPr/>
        </p:nvSpPr>
        <p:spPr>
          <a:xfrm>
            <a:off x="932760" y="319536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Si la requête retourne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des documents,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l'alerte est </a:t>
            </a: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déclenchée.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0" name="Shape 1822"/>
          <p:cNvSpPr/>
          <p:nvPr/>
        </p:nvSpPr>
        <p:spPr>
          <a:xfrm>
            <a:off x="457200" y="355176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1" name="Text 1952"/>
          <p:cNvSpPr/>
          <p:nvPr/>
        </p:nvSpPr>
        <p:spPr>
          <a:xfrm>
            <a:off x="457200" y="355176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2" name="Text 1953"/>
          <p:cNvSpPr/>
          <p:nvPr/>
        </p:nvSpPr>
        <p:spPr>
          <a:xfrm>
            <a:off x="932760" y="3551760"/>
            <a:ext cx="3382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Actions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3" name="Text 1954"/>
          <p:cNvSpPr/>
          <p:nvPr/>
        </p:nvSpPr>
        <p:spPr>
          <a:xfrm>
            <a:off x="932760" y="3789720"/>
            <a:ext cx="338220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Notification par email, Slack, webhook ou PagerDuty.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4" name="Shape 1823"/>
          <p:cNvSpPr/>
          <p:nvPr/>
        </p:nvSpPr>
        <p:spPr>
          <a:xfrm>
            <a:off x="4663440" y="64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5" name="Text 1955"/>
          <p:cNvSpPr/>
          <p:nvPr/>
        </p:nvSpPr>
        <p:spPr>
          <a:xfrm>
            <a:off x="4754880" y="684000"/>
            <a:ext cx="39308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Create rule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6" name="Text 1956"/>
          <p:cNvSpPr/>
          <p:nvPr/>
        </p:nvSpPr>
        <p:spPr>
          <a:xfrm>
            <a:off x="4754880" y="90252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Name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7" name="Shape 1825"/>
          <p:cNvSpPr/>
          <p:nvPr/>
        </p:nvSpPr>
        <p:spPr>
          <a:xfrm>
            <a:off x="4754880" y="1140120"/>
            <a:ext cx="3839400" cy="2732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8" name="Text 1957"/>
          <p:cNvSpPr/>
          <p:nvPr/>
        </p:nvSpPr>
        <p:spPr>
          <a:xfrm>
            <a:off x="4846320" y="114012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High traffic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9" name="Text 1958"/>
          <p:cNvSpPr/>
          <p:nvPr/>
        </p:nvSpPr>
        <p:spPr>
          <a:xfrm>
            <a:off x="4754880" y="146952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Tag (optional)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0" name="Shape 1826"/>
          <p:cNvSpPr/>
          <p:nvPr/>
        </p:nvSpPr>
        <p:spPr>
          <a:xfrm>
            <a:off x="4754880" y="1707120"/>
            <a:ext cx="3839400" cy="2732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1" name="Text 1959"/>
          <p:cNvSpPr/>
          <p:nvPr/>
        </p:nvSpPr>
        <p:spPr>
          <a:xfrm>
            <a:off x="4754880" y="2037960"/>
            <a:ext cx="38394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Requête PPL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2" name="Shape 1827"/>
          <p:cNvSpPr/>
          <p:nvPr/>
        </p:nvSpPr>
        <p:spPr>
          <a:xfrm>
            <a:off x="4754880" y="2284920"/>
            <a:ext cx="3839400" cy="8035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3" name="Text 1960"/>
          <p:cNvSpPr/>
          <p:nvPr/>
        </p:nvSpPr>
        <p:spPr>
          <a:xfrm>
            <a:off x="4864680" y="2284920"/>
            <a:ext cx="36565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source=opensearch_sample_data_logs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stats total_bytes=sum(bytes) by geo.dest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sort - total_bytes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| where total_bytes &gt; 10000000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4" name="Shape 1828"/>
          <p:cNvSpPr/>
          <p:nvPr/>
        </p:nvSpPr>
        <p:spPr>
          <a:xfrm>
            <a:off x="4754880" y="3171960"/>
            <a:ext cx="1827720" cy="254880"/>
          </a:xfrm>
          <a:prstGeom prst="rect">
            <a:avLst/>
          </a:prstGeom>
          <a:solidFill>
            <a:srgbClr val="003040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5" name="Text 1961"/>
          <p:cNvSpPr/>
          <p:nvPr/>
        </p:nvSpPr>
        <p:spPr>
          <a:xfrm>
            <a:off x="4827960" y="3171960"/>
            <a:ext cx="16815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Fenêtre : 5 minutes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6" name="Shape 1829"/>
          <p:cNvSpPr/>
          <p:nvPr/>
        </p:nvSpPr>
        <p:spPr>
          <a:xfrm>
            <a:off x="6720840" y="3171960"/>
            <a:ext cx="2010600" cy="25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7" name="Text 1962"/>
          <p:cNvSpPr/>
          <p:nvPr/>
        </p:nvSpPr>
        <p:spPr>
          <a:xfrm>
            <a:off x="6720840" y="3171960"/>
            <a:ext cx="20106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Query matched  ✓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8" name="Shape 1830"/>
          <p:cNvSpPr/>
          <p:nvPr/>
        </p:nvSpPr>
        <p:spPr>
          <a:xfrm>
            <a:off x="4754880" y="3501000"/>
            <a:ext cx="4040640" cy="3189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9" name="Text 1963"/>
          <p:cNvSpPr/>
          <p:nvPr/>
        </p:nvSpPr>
        <p:spPr>
          <a:xfrm>
            <a:off x="4827960" y="350100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total_bytes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710" name="Text 1964"/>
          <p:cNvSpPr/>
          <p:nvPr/>
        </p:nvSpPr>
        <p:spPr>
          <a:xfrm>
            <a:off x="7589520" y="3501000"/>
            <a:ext cx="1096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355269"/>
                </a:solidFill>
                <a:latin typeface="Calibri"/>
                <a:ea typeface="Calibri"/>
              </a:rPr>
              <a:t>geo.dest</a:t>
            </a:r>
            <a:endParaRPr b="0" lang="fr-FR" sz="9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4711" name="Shape 1831"/>
          <p:cNvSpPr/>
          <p:nvPr/>
        </p:nvSpPr>
        <p:spPr>
          <a:xfrm>
            <a:off x="4754880" y="3848400"/>
            <a:ext cx="4040640" cy="31896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2" name="Text 1965"/>
          <p:cNvSpPr/>
          <p:nvPr/>
        </p:nvSpPr>
        <p:spPr>
          <a:xfrm>
            <a:off x="4827960" y="384840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14,888,980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3" name="Text 1966"/>
          <p:cNvSpPr/>
          <p:nvPr/>
        </p:nvSpPr>
        <p:spPr>
          <a:xfrm>
            <a:off x="7589520" y="3848400"/>
            <a:ext cx="1096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CN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4" name="Shape 1832"/>
          <p:cNvSpPr/>
          <p:nvPr/>
        </p:nvSpPr>
        <p:spPr>
          <a:xfrm>
            <a:off x="4754880" y="4196160"/>
            <a:ext cx="4040640" cy="31896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5" name="Text 1967"/>
          <p:cNvSpPr/>
          <p:nvPr/>
        </p:nvSpPr>
        <p:spPr>
          <a:xfrm>
            <a:off x="4827960" y="419616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12,974,807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6" name="Text 1968"/>
          <p:cNvSpPr/>
          <p:nvPr/>
        </p:nvSpPr>
        <p:spPr>
          <a:xfrm>
            <a:off x="7589520" y="4196160"/>
            <a:ext cx="10962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IN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7" name="Shape 1824"/>
          <p:cNvSpPr/>
          <p:nvPr/>
        </p:nvSpPr>
        <p:spPr>
          <a:xfrm>
            <a:off x="274320" y="4753080"/>
            <a:ext cx="8725680" cy="345240"/>
          </a:xfrm>
          <a:prstGeom prst="rect">
            <a:avLst/>
          </a:prstGeom>
          <a:solidFill>
            <a:srgbClr val="00304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8" name="Shape 1899"/>
          <p:cNvSpPr/>
          <p:nvPr/>
        </p:nvSpPr>
        <p:spPr>
          <a:xfrm>
            <a:off x="274320" y="4753080"/>
            <a:ext cx="61920" cy="345240"/>
          </a:xfrm>
          <a:prstGeom prst="rect">
            <a:avLst/>
          </a:prstGeom>
          <a:solidFill>
            <a:srgbClr val="e88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9" name="Text 2008"/>
          <p:cNvSpPr/>
          <p:nvPr/>
        </p:nvSpPr>
        <p:spPr>
          <a:xfrm>
            <a:off x="457200" y="4753080"/>
            <a:ext cx="822744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✏️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A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t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el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ie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r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6.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2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—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D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Q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L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e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t 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P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P</a:t>
            </a:r>
            <a:r>
              <a:rPr b="1" lang="en-US" sz="1500" spc="-1" strike="noStrike">
                <a:solidFill>
                  <a:srgbClr val="e8834a"/>
                </a:solidFill>
                <a:latin typeface="Calibri"/>
                <a:ea typeface="Calibri"/>
              </a:rPr>
              <a:t>L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" name="Shape 904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1" name="Text 1158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2" name="Text 1159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Visualisations et dashboards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3" name="Shape 1088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4" name="Text 1160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Index pattern – Discover – Visualisations - Dashboards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5" name="Shape 1089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6" name="Shape 1090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7" name="Text 1161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O. Dashboard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8" name="Shape 1091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9" name="Text 1162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0" name="Shape 1092"/>
          <p:cNvSpPr/>
          <p:nvPr/>
        </p:nvSpPr>
        <p:spPr>
          <a:xfrm>
            <a:off x="5220000" y="4509360"/>
            <a:ext cx="2880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1" name="Text 1163"/>
          <p:cNvSpPr/>
          <p:nvPr/>
        </p:nvSpPr>
        <p:spPr>
          <a:xfrm>
            <a:off x="5079240" y="4527720"/>
            <a:ext cx="3200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Visualisations et dashboards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2" name="Text 1164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DQL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3" name="Text 1165"/>
          <p:cNvSpPr/>
          <p:nvPr/>
        </p:nvSpPr>
        <p:spPr>
          <a:xfrm>
            <a:off x="3708000" y="4546800"/>
            <a:ext cx="1224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PPL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4" name="Text 1166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5" name="Text 1167"/>
          <p:cNvSpPr/>
          <p:nvPr/>
        </p:nvSpPr>
        <p:spPr>
          <a:xfrm>
            <a:off x="475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Shape 1914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7" name="Shape 1915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8" name="Text 2060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Création de visualisations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9" name="Shape 1916"/>
          <p:cNvSpPr/>
          <p:nvPr/>
        </p:nvSpPr>
        <p:spPr>
          <a:xfrm>
            <a:off x="320040" y="822960"/>
            <a:ext cx="85028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0" name="Shape 1917"/>
          <p:cNvSpPr/>
          <p:nvPr/>
        </p:nvSpPr>
        <p:spPr>
          <a:xfrm>
            <a:off x="1005840" y="960120"/>
            <a:ext cx="547560" cy="5475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1" name="Text 2061"/>
          <p:cNvSpPr/>
          <p:nvPr/>
        </p:nvSpPr>
        <p:spPr>
          <a:xfrm>
            <a:off x="1005840" y="96012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2" name="Shape 1918"/>
          <p:cNvSpPr/>
          <p:nvPr/>
        </p:nvSpPr>
        <p:spPr>
          <a:xfrm>
            <a:off x="1554480" y="1234440"/>
            <a:ext cx="50292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3" name="Shape 1919"/>
          <p:cNvSpPr/>
          <p:nvPr/>
        </p:nvSpPr>
        <p:spPr>
          <a:xfrm>
            <a:off x="576000" y="1600200"/>
            <a:ext cx="1507680" cy="2833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4" name="Shape 1920"/>
          <p:cNvSpPr/>
          <p:nvPr/>
        </p:nvSpPr>
        <p:spPr>
          <a:xfrm>
            <a:off x="576000" y="1600200"/>
            <a:ext cx="1507680" cy="90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5" name="Text 2062"/>
          <p:cNvSpPr/>
          <p:nvPr/>
        </p:nvSpPr>
        <p:spPr>
          <a:xfrm>
            <a:off x="621720" y="1737360"/>
            <a:ext cx="1416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Accéder à Visualize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6" name="Text 2063"/>
          <p:cNvSpPr/>
          <p:nvPr/>
        </p:nvSpPr>
        <p:spPr>
          <a:xfrm>
            <a:off x="621720" y="2249280"/>
            <a:ext cx="141624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Menu Visualize › Create new visualization. Choisir le type de visualisation.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7" name="Shape 1921"/>
          <p:cNvSpPr/>
          <p:nvPr/>
        </p:nvSpPr>
        <p:spPr>
          <a:xfrm>
            <a:off x="2670120" y="960120"/>
            <a:ext cx="547560" cy="5475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8" name="Text 2064"/>
          <p:cNvSpPr/>
          <p:nvPr/>
        </p:nvSpPr>
        <p:spPr>
          <a:xfrm>
            <a:off x="2670120" y="96012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9" name="Shape 1922"/>
          <p:cNvSpPr/>
          <p:nvPr/>
        </p:nvSpPr>
        <p:spPr>
          <a:xfrm>
            <a:off x="3218400" y="1234440"/>
            <a:ext cx="50292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0" name="Shape 1923"/>
          <p:cNvSpPr/>
          <p:nvPr/>
        </p:nvSpPr>
        <p:spPr>
          <a:xfrm>
            <a:off x="2240280" y="1600200"/>
            <a:ext cx="1507680" cy="2833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1" name="Shape 1924"/>
          <p:cNvSpPr/>
          <p:nvPr/>
        </p:nvSpPr>
        <p:spPr>
          <a:xfrm>
            <a:off x="2240280" y="1600200"/>
            <a:ext cx="1507680" cy="90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2" name="Text 2065"/>
          <p:cNvSpPr/>
          <p:nvPr/>
        </p:nvSpPr>
        <p:spPr>
          <a:xfrm>
            <a:off x="2286000" y="1737360"/>
            <a:ext cx="1416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Sélectionner la source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3" name="Text 2066"/>
          <p:cNvSpPr/>
          <p:nvPr/>
        </p:nvSpPr>
        <p:spPr>
          <a:xfrm>
            <a:off x="2286000" y="2249280"/>
            <a:ext cx="141624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Choisir l'Index Pattern contenant les données à visualiser.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4" name="Shape 1925"/>
          <p:cNvSpPr/>
          <p:nvPr/>
        </p:nvSpPr>
        <p:spPr>
          <a:xfrm>
            <a:off x="4334400" y="960120"/>
            <a:ext cx="547560" cy="5475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5" name="Text 2067"/>
          <p:cNvSpPr/>
          <p:nvPr/>
        </p:nvSpPr>
        <p:spPr>
          <a:xfrm>
            <a:off x="4334400" y="96012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6" name="Shape 1926"/>
          <p:cNvSpPr/>
          <p:nvPr/>
        </p:nvSpPr>
        <p:spPr>
          <a:xfrm>
            <a:off x="4882680" y="1234440"/>
            <a:ext cx="50292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7" name="Shape 1927"/>
          <p:cNvSpPr/>
          <p:nvPr/>
        </p:nvSpPr>
        <p:spPr>
          <a:xfrm>
            <a:off x="3904560" y="1600200"/>
            <a:ext cx="1507680" cy="2833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8" name="Shape 1928"/>
          <p:cNvSpPr/>
          <p:nvPr/>
        </p:nvSpPr>
        <p:spPr>
          <a:xfrm>
            <a:off x="3904560" y="1600200"/>
            <a:ext cx="1507680" cy="90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9" name="Text 2068"/>
          <p:cNvSpPr/>
          <p:nvPr/>
        </p:nvSpPr>
        <p:spPr>
          <a:xfrm>
            <a:off x="3950280" y="1737360"/>
            <a:ext cx="1416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Configurer métriques &amp; buckets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0" name="Text 2069"/>
          <p:cNvSpPr/>
          <p:nvPr/>
        </p:nvSpPr>
        <p:spPr>
          <a:xfrm>
            <a:off x="3950280" y="2249280"/>
            <a:ext cx="141624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Métriques (Y-axis : Count, Sum, Avg…) et agrégations de regroupement (X-axis, Split series, Split chart).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1" name="Shape 1929"/>
          <p:cNvSpPr/>
          <p:nvPr/>
        </p:nvSpPr>
        <p:spPr>
          <a:xfrm>
            <a:off x="5998320" y="960120"/>
            <a:ext cx="547560" cy="5475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2" name="Text 2070"/>
          <p:cNvSpPr/>
          <p:nvPr/>
        </p:nvSpPr>
        <p:spPr>
          <a:xfrm>
            <a:off x="5998320" y="96012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3" name="Shape 1930"/>
          <p:cNvSpPr/>
          <p:nvPr/>
        </p:nvSpPr>
        <p:spPr>
          <a:xfrm>
            <a:off x="6546960" y="1234440"/>
            <a:ext cx="502920" cy="360"/>
          </a:xfrm>
          <a:prstGeom prst="line">
            <a:avLst/>
          </a:prstGeom>
          <a:ln w="190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4" name="Shape 1931"/>
          <p:cNvSpPr/>
          <p:nvPr/>
        </p:nvSpPr>
        <p:spPr>
          <a:xfrm>
            <a:off x="5568840" y="1600200"/>
            <a:ext cx="1507680" cy="2833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5" name="Shape 1932"/>
          <p:cNvSpPr/>
          <p:nvPr/>
        </p:nvSpPr>
        <p:spPr>
          <a:xfrm>
            <a:off x="5568840" y="1600200"/>
            <a:ext cx="1507680" cy="90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6" name="Text 2071"/>
          <p:cNvSpPr/>
          <p:nvPr/>
        </p:nvSpPr>
        <p:spPr>
          <a:xfrm>
            <a:off x="5614560" y="1737360"/>
            <a:ext cx="1416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Ajuster et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personnaliser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7" name="Text 2072"/>
          <p:cNvSpPr/>
          <p:nvPr/>
        </p:nvSpPr>
        <p:spPr>
          <a:xfrm>
            <a:off x="5614560" y="2249280"/>
            <a:ext cx="141624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Paramétrer l'affichage : couleurs, étiquettes, axes, légende, seuils visuels.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8" name="Shape 1933"/>
          <p:cNvSpPr/>
          <p:nvPr/>
        </p:nvSpPr>
        <p:spPr>
          <a:xfrm>
            <a:off x="7662600" y="960120"/>
            <a:ext cx="547560" cy="5475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9" name="Text 2073"/>
          <p:cNvSpPr/>
          <p:nvPr/>
        </p:nvSpPr>
        <p:spPr>
          <a:xfrm>
            <a:off x="7662600" y="96012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0" name="Shape 1934"/>
          <p:cNvSpPr/>
          <p:nvPr/>
        </p:nvSpPr>
        <p:spPr>
          <a:xfrm>
            <a:off x="7232760" y="1600200"/>
            <a:ext cx="1507680" cy="2833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1" name="Shape 1935"/>
          <p:cNvSpPr/>
          <p:nvPr/>
        </p:nvSpPr>
        <p:spPr>
          <a:xfrm>
            <a:off x="7232760" y="1600200"/>
            <a:ext cx="1507680" cy="90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2" name="Text 2074"/>
          <p:cNvSpPr/>
          <p:nvPr/>
        </p:nvSpPr>
        <p:spPr>
          <a:xfrm>
            <a:off x="7278480" y="1737360"/>
            <a:ext cx="1416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Sauvegarder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3" name="Text 2075"/>
          <p:cNvSpPr/>
          <p:nvPr/>
        </p:nvSpPr>
        <p:spPr>
          <a:xfrm>
            <a:off x="7278480" y="2249280"/>
            <a:ext cx="1416240" cy="20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Donner un nom à la visualisation et l'intégrer dans un tableau de bord.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4" name="Shape 1936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5" name="Shape 1937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6" name="Text 2076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Visualisations disponibles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7" name="Shape 1938"/>
          <p:cNvSpPr/>
          <p:nvPr/>
        </p:nvSpPr>
        <p:spPr>
          <a:xfrm>
            <a:off x="320040" y="8413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8" name="Shape 1939"/>
          <p:cNvSpPr/>
          <p:nvPr/>
        </p:nvSpPr>
        <p:spPr>
          <a:xfrm>
            <a:off x="320040" y="8413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9" name="Shape 1940"/>
          <p:cNvSpPr/>
          <p:nvPr/>
        </p:nvSpPr>
        <p:spPr>
          <a:xfrm>
            <a:off x="393120" y="10242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80" name="Image 57" descr="preencoded.png"/>
          <p:cNvPicPr/>
          <p:nvPr/>
        </p:nvPicPr>
        <p:blipFill>
          <a:blip r:embed="rId1"/>
          <a:stretch/>
        </p:blipFill>
        <p:spPr>
          <a:xfrm>
            <a:off x="466200" y="1097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781" name="Text 2077"/>
          <p:cNvSpPr/>
          <p:nvPr/>
        </p:nvSpPr>
        <p:spPr>
          <a:xfrm>
            <a:off x="1005840" y="10242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Bar chart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2" name="Text 2078"/>
          <p:cNvSpPr/>
          <p:nvPr/>
        </p:nvSpPr>
        <p:spPr>
          <a:xfrm>
            <a:off x="429840" y="15544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Histogrammes verticaux / horizontaux, empilés.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3" name="Shape 1941"/>
          <p:cNvSpPr/>
          <p:nvPr/>
        </p:nvSpPr>
        <p:spPr>
          <a:xfrm>
            <a:off x="2532960" y="8413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4" name="Shape 1942"/>
          <p:cNvSpPr/>
          <p:nvPr/>
        </p:nvSpPr>
        <p:spPr>
          <a:xfrm>
            <a:off x="2532960" y="8413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5" name="Shape 1943"/>
          <p:cNvSpPr/>
          <p:nvPr/>
        </p:nvSpPr>
        <p:spPr>
          <a:xfrm>
            <a:off x="2606040" y="10242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86" name="Image 58" descr="preencoded.png"/>
          <p:cNvPicPr/>
          <p:nvPr/>
        </p:nvPicPr>
        <p:blipFill>
          <a:blip r:embed="rId2"/>
          <a:stretch/>
        </p:blipFill>
        <p:spPr>
          <a:xfrm>
            <a:off x="2679120" y="1097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787" name="Text 2079"/>
          <p:cNvSpPr/>
          <p:nvPr/>
        </p:nvSpPr>
        <p:spPr>
          <a:xfrm>
            <a:off x="3218760" y="10242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Line / Area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8" name="Text 2080"/>
          <p:cNvSpPr/>
          <p:nvPr/>
        </p:nvSpPr>
        <p:spPr>
          <a:xfrm>
            <a:off x="2642760" y="15544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Séries temporelles, tendances, évolutions.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9" name="Shape 1944"/>
          <p:cNvSpPr/>
          <p:nvPr/>
        </p:nvSpPr>
        <p:spPr>
          <a:xfrm>
            <a:off x="4745880" y="8413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0" name="Shape 1945"/>
          <p:cNvSpPr/>
          <p:nvPr/>
        </p:nvSpPr>
        <p:spPr>
          <a:xfrm>
            <a:off x="4745880" y="8413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1" name="Shape 1946"/>
          <p:cNvSpPr/>
          <p:nvPr/>
        </p:nvSpPr>
        <p:spPr>
          <a:xfrm>
            <a:off x="4818960" y="10242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92" name="Image 59" descr="preencoded.png"/>
          <p:cNvPicPr/>
          <p:nvPr/>
        </p:nvPicPr>
        <p:blipFill>
          <a:blip r:embed="rId3"/>
          <a:stretch/>
        </p:blipFill>
        <p:spPr>
          <a:xfrm>
            <a:off x="4892040" y="1097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793" name="Text 2081"/>
          <p:cNvSpPr/>
          <p:nvPr/>
        </p:nvSpPr>
        <p:spPr>
          <a:xfrm>
            <a:off x="5431680" y="10242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Pie / Donut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4" name="Text 2082"/>
          <p:cNvSpPr/>
          <p:nvPr/>
        </p:nvSpPr>
        <p:spPr>
          <a:xfrm>
            <a:off x="4855320" y="15544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Répartition proportionnelle entre catégories.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5" name="Shape 1947"/>
          <p:cNvSpPr/>
          <p:nvPr/>
        </p:nvSpPr>
        <p:spPr>
          <a:xfrm>
            <a:off x="6958440" y="8413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6" name="Shape 1948"/>
          <p:cNvSpPr/>
          <p:nvPr/>
        </p:nvSpPr>
        <p:spPr>
          <a:xfrm>
            <a:off x="6958440" y="8413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7" name="Shape 1949"/>
          <p:cNvSpPr/>
          <p:nvPr/>
        </p:nvSpPr>
        <p:spPr>
          <a:xfrm>
            <a:off x="7031880" y="10242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98" name="Image 60" descr="preencoded.png"/>
          <p:cNvPicPr/>
          <p:nvPr/>
        </p:nvPicPr>
        <p:blipFill>
          <a:blip r:embed="rId4"/>
          <a:stretch/>
        </p:blipFill>
        <p:spPr>
          <a:xfrm>
            <a:off x="7104960" y="1097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799" name="Text 2083"/>
          <p:cNvSpPr/>
          <p:nvPr/>
        </p:nvSpPr>
        <p:spPr>
          <a:xfrm>
            <a:off x="7644240" y="10242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Data Table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0" name="Text 2084"/>
          <p:cNvSpPr/>
          <p:nvPr/>
        </p:nvSpPr>
        <p:spPr>
          <a:xfrm>
            <a:off x="7068240" y="15544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Résultats tabulaires multi-niveaux d'agrégation.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1" name="Shape 1950"/>
          <p:cNvSpPr/>
          <p:nvPr/>
        </p:nvSpPr>
        <p:spPr>
          <a:xfrm>
            <a:off x="320040" y="23227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2" name="Shape 1951"/>
          <p:cNvSpPr/>
          <p:nvPr/>
        </p:nvSpPr>
        <p:spPr>
          <a:xfrm>
            <a:off x="320040" y="23227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3" name="Shape 1952"/>
          <p:cNvSpPr/>
          <p:nvPr/>
        </p:nvSpPr>
        <p:spPr>
          <a:xfrm>
            <a:off x="393120" y="25056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04" name="Image 61" descr="preencoded.png"/>
          <p:cNvPicPr/>
          <p:nvPr/>
        </p:nvPicPr>
        <p:blipFill>
          <a:blip r:embed="rId5"/>
          <a:stretch/>
        </p:blipFill>
        <p:spPr>
          <a:xfrm>
            <a:off x="466200" y="2578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05" name="Text 2085"/>
          <p:cNvSpPr/>
          <p:nvPr/>
        </p:nvSpPr>
        <p:spPr>
          <a:xfrm>
            <a:off x="1005840" y="25056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Region / Tile Map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6" name="Text 2086"/>
          <p:cNvSpPr/>
          <p:nvPr/>
        </p:nvSpPr>
        <p:spPr>
          <a:xfrm>
            <a:off x="429840" y="30358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Visualisation géographique des données.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7" name="Shape 1953"/>
          <p:cNvSpPr/>
          <p:nvPr/>
        </p:nvSpPr>
        <p:spPr>
          <a:xfrm>
            <a:off x="2532960" y="23227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8" name="Shape 1954"/>
          <p:cNvSpPr/>
          <p:nvPr/>
        </p:nvSpPr>
        <p:spPr>
          <a:xfrm>
            <a:off x="2532960" y="23227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9" name="Shape 1955"/>
          <p:cNvSpPr/>
          <p:nvPr/>
        </p:nvSpPr>
        <p:spPr>
          <a:xfrm>
            <a:off x="2606040" y="25056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10" name="Image 62" descr="preencoded.png"/>
          <p:cNvPicPr/>
          <p:nvPr/>
        </p:nvPicPr>
        <p:blipFill>
          <a:blip r:embed="rId6"/>
          <a:stretch/>
        </p:blipFill>
        <p:spPr>
          <a:xfrm>
            <a:off x="2679120" y="2578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11" name="Text 2087"/>
          <p:cNvSpPr/>
          <p:nvPr/>
        </p:nvSpPr>
        <p:spPr>
          <a:xfrm>
            <a:off x="3218760" y="25056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Gauge / Metric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2" name="Text 2088"/>
          <p:cNvSpPr/>
          <p:nvPr/>
        </p:nvSpPr>
        <p:spPr>
          <a:xfrm>
            <a:off x="2642760" y="30358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Valeur unique mise en avant, jauge de progression.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3" name="Shape 1956"/>
          <p:cNvSpPr/>
          <p:nvPr/>
        </p:nvSpPr>
        <p:spPr>
          <a:xfrm>
            <a:off x="4745880" y="23227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4" name="Shape 1957"/>
          <p:cNvSpPr/>
          <p:nvPr/>
        </p:nvSpPr>
        <p:spPr>
          <a:xfrm>
            <a:off x="4745880" y="23227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5" name="Shape 1958"/>
          <p:cNvSpPr/>
          <p:nvPr/>
        </p:nvSpPr>
        <p:spPr>
          <a:xfrm>
            <a:off x="4818960" y="25056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16" name="Image 63" descr="preencoded.png"/>
          <p:cNvPicPr/>
          <p:nvPr/>
        </p:nvPicPr>
        <p:blipFill>
          <a:blip r:embed="rId7"/>
          <a:stretch/>
        </p:blipFill>
        <p:spPr>
          <a:xfrm>
            <a:off x="4892040" y="2578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17" name="Text 2089"/>
          <p:cNvSpPr/>
          <p:nvPr/>
        </p:nvSpPr>
        <p:spPr>
          <a:xfrm>
            <a:off x="5431680" y="25056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Tag Cloud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8" name="Text 2090"/>
          <p:cNvSpPr/>
          <p:nvPr/>
        </p:nvSpPr>
        <p:spPr>
          <a:xfrm>
            <a:off x="4855320" y="30358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Nuage de mots pondérés par fréquence.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9" name="Shape 1959"/>
          <p:cNvSpPr/>
          <p:nvPr/>
        </p:nvSpPr>
        <p:spPr>
          <a:xfrm>
            <a:off x="6958440" y="2322720"/>
            <a:ext cx="2102040" cy="13705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0" name="Shape 1960"/>
          <p:cNvSpPr/>
          <p:nvPr/>
        </p:nvSpPr>
        <p:spPr>
          <a:xfrm>
            <a:off x="6958440" y="232272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1" name="Shape 1961"/>
          <p:cNvSpPr/>
          <p:nvPr/>
        </p:nvSpPr>
        <p:spPr>
          <a:xfrm>
            <a:off x="7031880" y="25056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22" name="Image 64" descr="preencoded.png"/>
          <p:cNvPicPr/>
          <p:nvPr/>
        </p:nvPicPr>
        <p:blipFill>
          <a:blip r:embed="rId8"/>
          <a:stretch/>
        </p:blipFill>
        <p:spPr>
          <a:xfrm>
            <a:off x="7104960" y="2578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23" name="Text 2091"/>
          <p:cNvSpPr/>
          <p:nvPr/>
        </p:nvSpPr>
        <p:spPr>
          <a:xfrm>
            <a:off x="7644240" y="250560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Heat Map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4" name="Text 2092"/>
          <p:cNvSpPr/>
          <p:nvPr/>
        </p:nvSpPr>
        <p:spPr>
          <a:xfrm>
            <a:off x="7068240" y="30358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Densité de valeurs sur une grille temporelle.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5" name="Shape 1962"/>
          <p:cNvSpPr/>
          <p:nvPr/>
        </p:nvSpPr>
        <p:spPr>
          <a:xfrm>
            <a:off x="320040" y="3803760"/>
            <a:ext cx="2102040" cy="123624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6" name="Shape 1963"/>
          <p:cNvSpPr/>
          <p:nvPr/>
        </p:nvSpPr>
        <p:spPr>
          <a:xfrm>
            <a:off x="320040" y="3803760"/>
            <a:ext cx="2102040" cy="720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7" name="Shape 1964"/>
          <p:cNvSpPr/>
          <p:nvPr/>
        </p:nvSpPr>
        <p:spPr>
          <a:xfrm>
            <a:off x="393120" y="3986640"/>
            <a:ext cx="501840" cy="501840"/>
          </a:xfrm>
          <a:prstGeom prst="ellipse">
            <a:avLst/>
          </a:prstGeom>
          <a:solidFill>
            <a:srgbClr val="003040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28" name="Image 65" descr="preencoded.png"/>
          <p:cNvPicPr/>
          <p:nvPr/>
        </p:nvPicPr>
        <p:blipFill>
          <a:blip r:embed="rId9"/>
          <a:stretch/>
        </p:blipFill>
        <p:spPr>
          <a:xfrm>
            <a:off x="466200" y="40600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29" name="Text 2093"/>
          <p:cNvSpPr/>
          <p:nvPr/>
        </p:nvSpPr>
        <p:spPr>
          <a:xfrm>
            <a:off x="1005840" y="398664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TSVB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0" name="Text 2094"/>
          <p:cNvSpPr/>
          <p:nvPr/>
        </p:nvSpPr>
        <p:spPr>
          <a:xfrm>
            <a:off x="429840" y="45172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Time Series Visual Builder : métriques avancées.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1" name="Shape 1965"/>
          <p:cNvSpPr/>
          <p:nvPr/>
        </p:nvSpPr>
        <p:spPr>
          <a:xfrm>
            <a:off x="2532960" y="3803760"/>
            <a:ext cx="2102040" cy="123624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2" name="Shape 2572"/>
          <p:cNvSpPr/>
          <p:nvPr/>
        </p:nvSpPr>
        <p:spPr>
          <a:xfrm>
            <a:off x="2532960" y="380376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3" name="Shape 2573"/>
          <p:cNvSpPr/>
          <p:nvPr/>
        </p:nvSpPr>
        <p:spPr>
          <a:xfrm>
            <a:off x="2606040" y="39866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34" name="Image 66" descr="preencoded.png"/>
          <p:cNvPicPr/>
          <p:nvPr/>
        </p:nvPicPr>
        <p:blipFill>
          <a:blip r:embed="rId10"/>
          <a:stretch/>
        </p:blipFill>
        <p:spPr>
          <a:xfrm>
            <a:off x="2679120" y="40600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35" name="Text 2095"/>
          <p:cNvSpPr/>
          <p:nvPr/>
        </p:nvSpPr>
        <p:spPr>
          <a:xfrm>
            <a:off x="3218760" y="398664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Vega / Vega-Lite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6" name="Text 2096"/>
          <p:cNvSpPr/>
          <p:nvPr/>
        </p:nvSpPr>
        <p:spPr>
          <a:xfrm>
            <a:off x="2642760" y="45172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Visualisations personnalisées en JSON.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7" name="Shape 2574"/>
          <p:cNvSpPr/>
          <p:nvPr/>
        </p:nvSpPr>
        <p:spPr>
          <a:xfrm>
            <a:off x="4745880" y="3803760"/>
            <a:ext cx="2102040" cy="123624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8" name="Shape 2575"/>
          <p:cNvSpPr/>
          <p:nvPr/>
        </p:nvSpPr>
        <p:spPr>
          <a:xfrm>
            <a:off x="4745880" y="380376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9" name="Shape 2576"/>
          <p:cNvSpPr/>
          <p:nvPr/>
        </p:nvSpPr>
        <p:spPr>
          <a:xfrm>
            <a:off x="4818960" y="39866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40" name="Image 67" descr="preencoded.png"/>
          <p:cNvPicPr/>
          <p:nvPr/>
        </p:nvPicPr>
        <p:blipFill>
          <a:blip r:embed="rId11"/>
          <a:stretch/>
        </p:blipFill>
        <p:spPr>
          <a:xfrm>
            <a:off x="4892040" y="40600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41" name="Text 2097"/>
          <p:cNvSpPr/>
          <p:nvPr/>
        </p:nvSpPr>
        <p:spPr>
          <a:xfrm>
            <a:off x="5431680" y="398664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Saved search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2" name="Text 2098"/>
          <p:cNvSpPr/>
          <p:nvPr/>
        </p:nvSpPr>
        <p:spPr>
          <a:xfrm>
            <a:off x="4855320" y="45172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Recherche Discover intégrée dans un dashboard.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3" name="Shape 2577"/>
          <p:cNvSpPr/>
          <p:nvPr/>
        </p:nvSpPr>
        <p:spPr>
          <a:xfrm>
            <a:off x="6958440" y="3803760"/>
            <a:ext cx="2102040" cy="123624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4" name="Shape 2578"/>
          <p:cNvSpPr/>
          <p:nvPr/>
        </p:nvSpPr>
        <p:spPr>
          <a:xfrm>
            <a:off x="6958440" y="3803760"/>
            <a:ext cx="21020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5" name="Shape 2579"/>
          <p:cNvSpPr/>
          <p:nvPr/>
        </p:nvSpPr>
        <p:spPr>
          <a:xfrm>
            <a:off x="7031880" y="39866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46" name="Image 68" descr="preencoded.png"/>
          <p:cNvPicPr/>
          <p:nvPr/>
        </p:nvPicPr>
        <p:blipFill>
          <a:blip r:embed="rId12"/>
          <a:stretch/>
        </p:blipFill>
        <p:spPr>
          <a:xfrm>
            <a:off x="7104960" y="40600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847" name="Text 2099"/>
          <p:cNvSpPr/>
          <p:nvPr/>
        </p:nvSpPr>
        <p:spPr>
          <a:xfrm>
            <a:off x="7644240" y="398664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Markdown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8" name="Text 2100"/>
          <p:cNvSpPr/>
          <p:nvPr/>
        </p:nvSpPr>
        <p:spPr>
          <a:xfrm>
            <a:off x="7068240" y="4517280"/>
            <a:ext cx="19191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Texte enrichi pour documenter un dashboard.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9" name="Shape 2580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0" name="Shape 2581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1" name="Text 2101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Tableaux de bord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2" name="Shape 2582"/>
          <p:cNvSpPr/>
          <p:nvPr/>
        </p:nvSpPr>
        <p:spPr>
          <a:xfrm>
            <a:off x="320040" y="822960"/>
            <a:ext cx="411372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3" name="Text 2102"/>
          <p:cNvSpPr/>
          <p:nvPr/>
        </p:nvSpPr>
        <p:spPr>
          <a:xfrm>
            <a:off x="502920" y="914400"/>
            <a:ext cx="37479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Créer un tableau de bord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4" name="Shape 2583"/>
          <p:cNvSpPr/>
          <p:nvPr/>
        </p:nvSpPr>
        <p:spPr>
          <a:xfrm>
            <a:off x="457200" y="1426320"/>
            <a:ext cx="501840" cy="44748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55" name="Image 69" descr="preencoded.png"/>
          <p:cNvPicPr/>
          <p:nvPr/>
        </p:nvPicPr>
        <p:blipFill>
          <a:blip r:embed="rId1"/>
          <a:stretch/>
        </p:blipFill>
        <p:spPr>
          <a:xfrm>
            <a:off x="530280" y="1491840"/>
            <a:ext cx="346320" cy="308880"/>
          </a:xfrm>
          <a:prstGeom prst="rect">
            <a:avLst/>
          </a:prstGeom>
          <a:ln w="0">
            <a:noFill/>
          </a:ln>
        </p:spPr>
      </p:pic>
      <p:sp>
        <p:nvSpPr>
          <p:cNvPr id="4856" name="Text 2103"/>
          <p:cNvSpPr/>
          <p:nvPr/>
        </p:nvSpPr>
        <p:spPr>
          <a:xfrm>
            <a:off x="1078920" y="1426320"/>
            <a:ext cx="3245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Accéder à Dashboard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7" name="Text 2104"/>
          <p:cNvSpPr/>
          <p:nvPr/>
        </p:nvSpPr>
        <p:spPr>
          <a:xfrm>
            <a:off x="1078920" y="1646640"/>
            <a:ext cx="32450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Menu Dashboard › Create new dashboard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8" name="Shape 2584"/>
          <p:cNvSpPr/>
          <p:nvPr/>
        </p:nvSpPr>
        <p:spPr>
          <a:xfrm>
            <a:off x="457200" y="2095200"/>
            <a:ext cx="501840" cy="447840"/>
          </a:xfrm>
          <a:prstGeom prst="ellipse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59" name="Image 70" descr="preencoded.png"/>
          <p:cNvPicPr/>
          <p:nvPr/>
        </p:nvPicPr>
        <p:blipFill>
          <a:blip r:embed="rId2"/>
          <a:stretch/>
        </p:blipFill>
        <p:spPr>
          <a:xfrm>
            <a:off x="530280" y="2160360"/>
            <a:ext cx="346320" cy="308880"/>
          </a:xfrm>
          <a:prstGeom prst="rect">
            <a:avLst/>
          </a:prstGeom>
          <a:ln w="0">
            <a:noFill/>
          </a:ln>
        </p:spPr>
      </p:pic>
      <p:sp>
        <p:nvSpPr>
          <p:cNvPr id="4860" name="Text 2105"/>
          <p:cNvSpPr/>
          <p:nvPr/>
        </p:nvSpPr>
        <p:spPr>
          <a:xfrm>
            <a:off x="1078920" y="2095200"/>
            <a:ext cx="3245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Ajouter des panneaux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1" name="Text 2106"/>
          <p:cNvSpPr/>
          <p:nvPr/>
        </p:nvSpPr>
        <p:spPr>
          <a:xfrm>
            <a:off x="1078920" y="2315520"/>
            <a:ext cx="32450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Bouton Add — visualisations, saved searches ou Markdown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2" name="Shape 2585"/>
          <p:cNvSpPr/>
          <p:nvPr/>
        </p:nvSpPr>
        <p:spPr>
          <a:xfrm>
            <a:off x="457200" y="2764080"/>
            <a:ext cx="501840" cy="447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63" name="Image 71" descr="preencoded.png"/>
          <p:cNvPicPr/>
          <p:nvPr/>
        </p:nvPicPr>
        <p:blipFill>
          <a:blip r:embed="rId3"/>
          <a:stretch/>
        </p:blipFill>
        <p:spPr>
          <a:xfrm>
            <a:off x="530280" y="2829240"/>
            <a:ext cx="346320" cy="308880"/>
          </a:xfrm>
          <a:prstGeom prst="rect">
            <a:avLst/>
          </a:prstGeom>
          <a:ln w="0">
            <a:noFill/>
          </a:ln>
        </p:spPr>
      </p:pic>
      <p:sp>
        <p:nvSpPr>
          <p:cNvPr id="4864" name="Text 2107"/>
          <p:cNvSpPr/>
          <p:nvPr/>
        </p:nvSpPr>
        <p:spPr>
          <a:xfrm>
            <a:off x="1078920" y="2764080"/>
            <a:ext cx="3245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Disposition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5" name="Text 2108"/>
          <p:cNvSpPr/>
          <p:nvPr/>
        </p:nvSpPr>
        <p:spPr>
          <a:xfrm>
            <a:off x="1078920" y="2984400"/>
            <a:ext cx="32450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Déplacer et redimensionner par drag &amp; drop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6" name="Shape 2586"/>
          <p:cNvSpPr/>
          <p:nvPr/>
        </p:nvSpPr>
        <p:spPr>
          <a:xfrm>
            <a:off x="457200" y="3432960"/>
            <a:ext cx="501840" cy="447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67" name="Image 72" descr="preencoded.png"/>
          <p:cNvPicPr/>
          <p:nvPr/>
        </p:nvPicPr>
        <p:blipFill>
          <a:blip r:embed="rId4"/>
          <a:stretch/>
        </p:blipFill>
        <p:spPr>
          <a:xfrm>
            <a:off x="530280" y="3498120"/>
            <a:ext cx="346320" cy="308880"/>
          </a:xfrm>
          <a:prstGeom prst="rect">
            <a:avLst/>
          </a:prstGeom>
          <a:ln w="0">
            <a:noFill/>
          </a:ln>
        </p:spPr>
      </p:pic>
      <p:sp>
        <p:nvSpPr>
          <p:cNvPr id="4868" name="Text 2109"/>
          <p:cNvSpPr/>
          <p:nvPr/>
        </p:nvSpPr>
        <p:spPr>
          <a:xfrm>
            <a:off x="1078920" y="3432960"/>
            <a:ext cx="324504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Filtre global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9" name="Text 2110"/>
          <p:cNvSpPr/>
          <p:nvPr/>
        </p:nvSpPr>
        <p:spPr>
          <a:xfrm>
            <a:off x="1078920" y="3653280"/>
            <a:ext cx="32450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Filtres et sélecteur de temps appliqués à tous les panneaux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0" name="Shape 2587"/>
          <p:cNvSpPr/>
          <p:nvPr/>
        </p:nvSpPr>
        <p:spPr>
          <a:xfrm>
            <a:off x="457200" y="4101840"/>
            <a:ext cx="501840" cy="447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71" name="Image 73" descr="preencoded.png"/>
          <p:cNvPicPr/>
          <p:nvPr/>
        </p:nvPicPr>
        <p:blipFill>
          <a:blip r:embed="rId5"/>
          <a:stretch/>
        </p:blipFill>
        <p:spPr>
          <a:xfrm>
            <a:off x="530280" y="4167000"/>
            <a:ext cx="346320" cy="309240"/>
          </a:xfrm>
          <a:prstGeom prst="rect">
            <a:avLst/>
          </a:prstGeom>
          <a:ln w="0">
            <a:noFill/>
          </a:ln>
        </p:spPr>
      </p:pic>
      <p:sp>
        <p:nvSpPr>
          <p:cNvPr id="4872" name="Text 2111"/>
          <p:cNvSpPr/>
          <p:nvPr/>
        </p:nvSpPr>
        <p:spPr>
          <a:xfrm>
            <a:off x="1078920" y="4101840"/>
            <a:ext cx="324504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Drill-down inter-panneaux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3" name="Text 2996"/>
          <p:cNvSpPr/>
          <p:nvPr/>
        </p:nvSpPr>
        <p:spPr>
          <a:xfrm>
            <a:off x="1078920" y="4321800"/>
            <a:ext cx="32450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Un clic sur une valeur filtre automatiquement tout le dashboard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4" name="Shape 2588"/>
          <p:cNvSpPr/>
          <p:nvPr/>
        </p:nvSpPr>
        <p:spPr>
          <a:xfrm>
            <a:off x="4663440" y="822960"/>
            <a:ext cx="41594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5" name="Shape 2589"/>
          <p:cNvSpPr/>
          <p:nvPr/>
        </p:nvSpPr>
        <p:spPr>
          <a:xfrm>
            <a:off x="4663440" y="822960"/>
            <a:ext cx="4159440" cy="327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6" name="Text 2997"/>
          <p:cNvSpPr/>
          <p:nvPr/>
        </p:nvSpPr>
        <p:spPr>
          <a:xfrm>
            <a:off x="4754880" y="822960"/>
            <a:ext cx="27421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Apache Dashboard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7" name="Shape 2590"/>
          <p:cNvSpPr/>
          <p:nvPr/>
        </p:nvSpPr>
        <p:spPr>
          <a:xfrm>
            <a:off x="6903720" y="887040"/>
            <a:ext cx="419400" cy="20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8" name="Text 2998"/>
          <p:cNvSpPr/>
          <p:nvPr/>
        </p:nvSpPr>
        <p:spPr>
          <a:xfrm>
            <a:off x="6903720" y="887040"/>
            <a:ext cx="419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d0eaee"/>
                </a:solidFill>
                <a:latin typeface="Calibri"/>
                <a:ea typeface="Calibri"/>
              </a:rPr>
              <a:t>New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9" name="Shape 2591"/>
          <p:cNvSpPr/>
          <p:nvPr/>
        </p:nvSpPr>
        <p:spPr>
          <a:xfrm>
            <a:off x="7379280" y="887040"/>
            <a:ext cx="419400" cy="20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0" name="Text 2999"/>
          <p:cNvSpPr/>
          <p:nvPr/>
        </p:nvSpPr>
        <p:spPr>
          <a:xfrm>
            <a:off x="7379280" y="887040"/>
            <a:ext cx="419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d0eaee"/>
                </a:solidFill>
                <a:latin typeface="Calibri"/>
                <a:ea typeface="Calibri"/>
              </a:rPr>
              <a:t>Add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1" name="Shape 2592"/>
          <p:cNvSpPr/>
          <p:nvPr/>
        </p:nvSpPr>
        <p:spPr>
          <a:xfrm>
            <a:off x="7854840" y="887040"/>
            <a:ext cx="419400" cy="209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2" name="Text 3000"/>
          <p:cNvSpPr/>
          <p:nvPr/>
        </p:nvSpPr>
        <p:spPr>
          <a:xfrm>
            <a:off x="7854840" y="887040"/>
            <a:ext cx="419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Save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3" name="Shape 2593"/>
          <p:cNvSpPr/>
          <p:nvPr/>
        </p:nvSpPr>
        <p:spPr>
          <a:xfrm>
            <a:off x="8330040" y="887040"/>
            <a:ext cx="419400" cy="20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4" name="Text 3001"/>
          <p:cNvSpPr/>
          <p:nvPr/>
        </p:nvSpPr>
        <p:spPr>
          <a:xfrm>
            <a:off x="8330040" y="887040"/>
            <a:ext cx="4194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d0eaee"/>
                </a:solidFill>
                <a:latin typeface="Calibri"/>
                <a:ea typeface="Calibri"/>
              </a:rPr>
              <a:t>Share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5" name="Shape 2594"/>
          <p:cNvSpPr/>
          <p:nvPr/>
        </p:nvSpPr>
        <p:spPr>
          <a:xfrm>
            <a:off x="4663440" y="1207080"/>
            <a:ext cx="4159440" cy="2548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6" name="Shape 2595"/>
          <p:cNvSpPr/>
          <p:nvPr/>
        </p:nvSpPr>
        <p:spPr>
          <a:xfrm>
            <a:off x="4736520" y="1243440"/>
            <a:ext cx="2833560" cy="163440"/>
          </a:xfrm>
          <a:prstGeom prst="rect">
            <a:avLst/>
          </a:prstGeom>
          <a:solidFill>
            <a:srgbClr val="00576b"/>
          </a:solidFill>
          <a:ln w="1270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7" name="Text 3002"/>
          <p:cNvSpPr/>
          <p:nvPr/>
        </p:nvSpPr>
        <p:spPr>
          <a:xfrm>
            <a:off x="4773240" y="1243440"/>
            <a:ext cx="274212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12600" tIns="12600" bIns="126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aaaaaa"/>
                </a:solidFill>
                <a:latin typeface="Calibri"/>
                <a:ea typeface="Calibri"/>
              </a:rPr>
              <a:t>🔍  </a:t>
            </a:r>
            <a:r>
              <a:rPr b="0" lang="en-US" sz="700" spc="-1" strike="noStrike">
                <a:solidFill>
                  <a:srgbClr val="aaaaaa"/>
                </a:solidFill>
                <a:latin typeface="Calibri"/>
                <a:ea typeface="Calibri"/>
              </a:rPr>
              <a:t>DQL filter…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8" name="Shape 2596"/>
          <p:cNvSpPr/>
          <p:nvPr/>
        </p:nvSpPr>
        <p:spPr>
          <a:xfrm>
            <a:off x="7644240" y="1243440"/>
            <a:ext cx="1096200" cy="163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9" name="Text 3003"/>
          <p:cNvSpPr/>
          <p:nvPr/>
        </p:nvSpPr>
        <p:spPr>
          <a:xfrm>
            <a:off x="7644240" y="1243440"/>
            <a:ext cx="10962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00" spc="-1" strike="noStrike">
                <a:solidFill>
                  <a:srgbClr val="ffffff"/>
                </a:solidFill>
                <a:latin typeface="Calibri"/>
                <a:ea typeface="Calibri"/>
              </a:rPr>
              <a:t>Last 7 days ▾</a:t>
            </a:r>
            <a:endParaRPr b="0" lang="fr-FR" sz="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0" name="Shape 2597"/>
          <p:cNvSpPr/>
          <p:nvPr/>
        </p:nvSpPr>
        <p:spPr>
          <a:xfrm>
            <a:off x="4736520" y="1554480"/>
            <a:ext cx="1827720" cy="146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1" name="Text 3004"/>
          <p:cNvSpPr/>
          <p:nvPr/>
        </p:nvSpPr>
        <p:spPr>
          <a:xfrm>
            <a:off x="4809600" y="1600200"/>
            <a:ext cx="1681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Requests / hour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2" name="Shape 2598"/>
          <p:cNvSpPr/>
          <p:nvPr/>
        </p:nvSpPr>
        <p:spPr>
          <a:xfrm>
            <a:off x="4873680" y="2523600"/>
            <a:ext cx="245880" cy="401400"/>
          </a:xfrm>
          <a:prstGeom prst="rect">
            <a:avLst/>
          </a:prstGeom>
          <a:solidFill>
            <a:srgbClr val="007a8a">
              <a:alpha val="80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3" name="Shape 2599"/>
          <p:cNvSpPr/>
          <p:nvPr/>
        </p:nvSpPr>
        <p:spPr>
          <a:xfrm>
            <a:off x="5193720" y="2282400"/>
            <a:ext cx="245880" cy="642600"/>
          </a:xfrm>
          <a:prstGeom prst="rect">
            <a:avLst/>
          </a:prstGeom>
          <a:solidFill>
            <a:srgbClr val="007a8a">
              <a:alpha val="80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4" name="Shape 2600"/>
          <p:cNvSpPr/>
          <p:nvPr/>
        </p:nvSpPr>
        <p:spPr>
          <a:xfrm>
            <a:off x="5513760" y="2443320"/>
            <a:ext cx="245880" cy="481680"/>
          </a:xfrm>
          <a:prstGeom prst="rect">
            <a:avLst/>
          </a:prstGeom>
          <a:solidFill>
            <a:srgbClr val="007a8a">
              <a:alpha val="80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5" name="Shape 2601"/>
          <p:cNvSpPr/>
          <p:nvPr/>
        </p:nvSpPr>
        <p:spPr>
          <a:xfrm>
            <a:off x="5833800" y="2201760"/>
            <a:ext cx="245880" cy="723240"/>
          </a:xfrm>
          <a:prstGeom prst="rect">
            <a:avLst/>
          </a:prstGeom>
          <a:solidFill>
            <a:srgbClr val="007a8a">
              <a:alpha val="80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6" name="Shape 2602"/>
          <p:cNvSpPr/>
          <p:nvPr/>
        </p:nvSpPr>
        <p:spPr>
          <a:xfrm>
            <a:off x="6153840" y="2362680"/>
            <a:ext cx="245880" cy="562320"/>
          </a:xfrm>
          <a:prstGeom prst="rect">
            <a:avLst/>
          </a:prstGeom>
          <a:solidFill>
            <a:srgbClr val="007a8a">
              <a:alpha val="80000"/>
            </a:srgbClr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7" name="Shape 2603"/>
          <p:cNvSpPr/>
          <p:nvPr/>
        </p:nvSpPr>
        <p:spPr>
          <a:xfrm>
            <a:off x="6720840" y="1554480"/>
            <a:ext cx="2010600" cy="14619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8" name="Text 3005"/>
          <p:cNvSpPr/>
          <p:nvPr/>
        </p:nvSpPr>
        <p:spPr>
          <a:xfrm>
            <a:off x="6793920" y="1600200"/>
            <a:ext cx="1864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Status codes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9" name="Shape 2604"/>
          <p:cNvSpPr/>
          <p:nvPr/>
        </p:nvSpPr>
        <p:spPr>
          <a:xfrm>
            <a:off x="7086600" y="1874520"/>
            <a:ext cx="1187640" cy="913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0" name="Shape 2605"/>
          <p:cNvSpPr/>
          <p:nvPr/>
        </p:nvSpPr>
        <p:spPr>
          <a:xfrm>
            <a:off x="7315200" y="2057400"/>
            <a:ext cx="730440" cy="5475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1" name="Shape 2606"/>
          <p:cNvSpPr/>
          <p:nvPr/>
        </p:nvSpPr>
        <p:spPr>
          <a:xfrm>
            <a:off x="7434000" y="2167200"/>
            <a:ext cx="501840" cy="364680"/>
          </a:xfrm>
          <a:prstGeom prst="ellipse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2" name="Shape 2607"/>
          <p:cNvSpPr/>
          <p:nvPr/>
        </p:nvSpPr>
        <p:spPr>
          <a:xfrm>
            <a:off x="4736520" y="3108960"/>
            <a:ext cx="3994920" cy="15991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3" name="Text 3006"/>
          <p:cNvSpPr/>
          <p:nvPr/>
        </p:nvSpPr>
        <p:spPr>
          <a:xfrm>
            <a:off x="4809600" y="3154680"/>
            <a:ext cx="38484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Top URLs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4" name="Shape 2608"/>
          <p:cNvSpPr/>
          <p:nvPr/>
        </p:nvSpPr>
        <p:spPr>
          <a:xfrm>
            <a:off x="4809600" y="3383280"/>
            <a:ext cx="3848400" cy="2001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5" name="Text 3007"/>
          <p:cNvSpPr/>
          <p:nvPr/>
        </p:nvSpPr>
        <p:spPr>
          <a:xfrm>
            <a:off x="4827960" y="3383280"/>
            <a:ext cx="3812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Calibri"/>
                <a:ea typeface="Calibri"/>
              </a:rPr>
              <a:t>URL                          Requests    Avg bytes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6" name="Shape 2609"/>
          <p:cNvSpPr/>
          <p:nvPr/>
        </p:nvSpPr>
        <p:spPr>
          <a:xfrm>
            <a:off x="4809600" y="3620880"/>
            <a:ext cx="3848400" cy="31896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7" name="Text 3008"/>
          <p:cNvSpPr/>
          <p:nvPr/>
        </p:nvSpPr>
        <p:spPr>
          <a:xfrm>
            <a:off x="4846320" y="3639240"/>
            <a:ext cx="377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/>
                </a:solidFill>
                <a:latin typeface="Consolas"/>
                <a:ea typeface="Consolas"/>
              </a:rPr>
              <a:t>/index.php    45,231    12.4KB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8" name="Shape 2610"/>
          <p:cNvSpPr/>
          <p:nvPr/>
        </p:nvSpPr>
        <p:spPr>
          <a:xfrm>
            <a:off x="4809600" y="3959280"/>
            <a:ext cx="3848400" cy="31896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9" name="Text 3009"/>
          <p:cNvSpPr/>
          <p:nvPr/>
        </p:nvSpPr>
        <p:spPr>
          <a:xfrm>
            <a:off x="4846320" y="3977640"/>
            <a:ext cx="377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/>
                </a:solidFill>
                <a:latin typeface="Consolas"/>
                <a:ea typeface="Consolas"/>
              </a:rPr>
              <a:t>/api/data    23,119    8.2KB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0" name="Shape 2611"/>
          <p:cNvSpPr/>
          <p:nvPr/>
        </p:nvSpPr>
        <p:spPr>
          <a:xfrm>
            <a:off x="4809600" y="4297680"/>
            <a:ext cx="3848400" cy="31896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1" name="Text 3010"/>
          <p:cNvSpPr/>
          <p:nvPr/>
        </p:nvSpPr>
        <p:spPr>
          <a:xfrm>
            <a:off x="4846320" y="4316040"/>
            <a:ext cx="377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ffffff"/>
                </a:solidFill>
                <a:latin typeface="Consolas"/>
                <a:ea typeface="Consolas"/>
              </a:rPr>
              <a:t>/assets/…    18,842    245KB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2" name="Shape 2612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3" name="Shape 2613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4" name="Text 3011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Filtres et paramètres interactifs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5" name="Shape 2614"/>
          <p:cNvSpPr/>
          <p:nvPr/>
        </p:nvSpPr>
        <p:spPr>
          <a:xfrm>
            <a:off x="320040" y="822960"/>
            <a:ext cx="27878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6" name="Shape 2615"/>
          <p:cNvSpPr/>
          <p:nvPr/>
        </p:nvSpPr>
        <p:spPr>
          <a:xfrm>
            <a:off x="320040" y="822960"/>
            <a:ext cx="27878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7" name="Shape 2616"/>
          <p:cNvSpPr/>
          <p:nvPr/>
        </p:nvSpPr>
        <p:spPr>
          <a:xfrm>
            <a:off x="1435680" y="10058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18" name="Image 74" descr="preencoded.png"/>
          <p:cNvPicPr/>
          <p:nvPr/>
        </p:nvPicPr>
        <p:blipFill>
          <a:blip r:embed="rId1"/>
          <a:stretch/>
        </p:blipFill>
        <p:spPr>
          <a:xfrm>
            <a:off x="1508760" y="10789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19" name="Text 3012"/>
          <p:cNvSpPr/>
          <p:nvPr/>
        </p:nvSpPr>
        <p:spPr>
          <a:xfrm>
            <a:off x="411480" y="1618560"/>
            <a:ext cx="2604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Filtre temporel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0" name="Text 3013"/>
          <p:cNvSpPr/>
          <p:nvPr/>
        </p:nvSpPr>
        <p:spPr>
          <a:xfrm>
            <a:off x="502920" y="2084760"/>
            <a:ext cx="24678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Présent sur toutes les pages Dashboards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Quick select : dernières 15 min, 24h, 7 jours…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Plage relative ou absolue personnalisable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Rafraîchissement automatique configurable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1" name="Shape 2617"/>
          <p:cNvSpPr/>
          <p:nvPr/>
        </p:nvSpPr>
        <p:spPr>
          <a:xfrm>
            <a:off x="3227760" y="822960"/>
            <a:ext cx="27878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2" name="Shape 2618"/>
          <p:cNvSpPr/>
          <p:nvPr/>
        </p:nvSpPr>
        <p:spPr>
          <a:xfrm>
            <a:off x="3227760" y="822960"/>
            <a:ext cx="27878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3" name="Shape 2619"/>
          <p:cNvSpPr/>
          <p:nvPr/>
        </p:nvSpPr>
        <p:spPr>
          <a:xfrm>
            <a:off x="4343400" y="10058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24" name="Image 75" descr="preencoded.png"/>
          <p:cNvPicPr/>
          <p:nvPr/>
        </p:nvPicPr>
        <p:blipFill>
          <a:blip r:embed="rId2"/>
          <a:stretch/>
        </p:blipFill>
        <p:spPr>
          <a:xfrm>
            <a:off x="4416480" y="10789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25" name="Text 3014"/>
          <p:cNvSpPr/>
          <p:nvPr/>
        </p:nvSpPr>
        <p:spPr>
          <a:xfrm>
            <a:off x="3319200" y="1618560"/>
            <a:ext cx="2604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Filtres sur champs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6" name="Text 3015"/>
          <p:cNvSpPr/>
          <p:nvPr/>
        </p:nvSpPr>
        <p:spPr>
          <a:xfrm>
            <a:off x="3410640" y="2084760"/>
            <a:ext cx="24678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Clic sur une valeur → filtre automatique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Éditables visuellement (is / is not / exists / between)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Convertibles en Query DSL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Combinables avec AND sur tous les panneaux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7" name="Shape 2620"/>
          <p:cNvSpPr/>
          <p:nvPr/>
        </p:nvSpPr>
        <p:spPr>
          <a:xfrm>
            <a:off x="6135480" y="822960"/>
            <a:ext cx="2787840" cy="39765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8" name="Shape 2621"/>
          <p:cNvSpPr/>
          <p:nvPr/>
        </p:nvSpPr>
        <p:spPr>
          <a:xfrm>
            <a:off x="6135480" y="822960"/>
            <a:ext cx="278784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9" name="Shape 2622"/>
          <p:cNvSpPr/>
          <p:nvPr/>
        </p:nvSpPr>
        <p:spPr>
          <a:xfrm>
            <a:off x="7251120" y="100584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30" name="Image 76" descr="preencoded.png"/>
          <p:cNvPicPr/>
          <p:nvPr/>
        </p:nvPicPr>
        <p:blipFill>
          <a:blip r:embed="rId3"/>
          <a:stretch/>
        </p:blipFill>
        <p:spPr>
          <a:xfrm>
            <a:off x="7324200" y="107892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31" name="Text 3016"/>
          <p:cNvSpPr/>
          <p:nvPr/>
        </p:nvSpPr>
        <p:spPr>
          <a:xfrm>
            <a:off x="6226920" y="1618560"/>
            <a:ext cx="26049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Drill-down / Controls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2" name="Text 3017"/>
          <p:cNvSpPr/>
          <p:nvPr/>
        </p:nvSpPr>
        <p:spPr>
          <a:xfrm>
            <a:off x="6318360" y="2084760"/>
            <a:ext cx="24678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Clic dans un graphique → filtre tout le dashboard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Panneau Controls : inputs interactifs (dropdown, range slider)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Filtres désactivables sans les supprimer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Pin filter : filtre persistant entre dashboards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3" name="Shape 2623"/>
          <p:cNvSpPr/>
          <p:nvPr/>
        </p:nvSpPr>
        <p:spPr>
          <a:xfrm>
            <a:off x="0" y="0"/>
            <a:ext cx="9142920" cy="684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4" name="Shape 2624"/>
          <p:cNvSpPr/>
          <p:nvPr/>
        </p:nvSpPr>
        <p:spPr>
          <a:xfrm>
            <a:off x="0" y="0"/>
            <a:ext cx="108720" cy="684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5" name="Text 3018"/>
          <p:cNvSpPr/>
          <p:nvPr/>
        </p:nvSpPr>
        <p:spPr>
          <a:xfrm>
            <a:off x="228600" y="0"/>
            <a:ext cx="86857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Sauvegarde et partage des dashboards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6" name="Shape 2625"/>
          <p:cNvSpPr/>
          <p:nvPr/>
        </p:nvSpPr>
        <p:spPr>
          <a:xfrm>
            <a:off x="320040" y="822960"/>
            <a:ext cx="4250880" cy="191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7" name="Shape 2626"/>
          <p:cNvSpPr/>
          <p:nvPr/>
        </p:nvSpPr>
        <p:spPr>
          <a:xfrm>
            <a:off x="320040" y="822960"/>
            <a:ext cx="425088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8" name="Shape 2627"/>
          <p:cNvSpPr/>
          <p:nvPr/>
        </p:nvSpPr>
        <p:spPr>
          <a:xfrm>
            <a:off x="429840" y="10242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39" name="Image 77" descr="preencoded.png"/>
          <p:cNvPicPr/>
          <p:nvPr/>
        </p:nvPicPr>
        <p:blipFill>
          <a:blip r:embed="rId1"/>
          <a:stretch/>
        </p:blipFill>
        <p:spPr>
          <a:xfrm>
            <a:off x="502920" y="1097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40" name="Text 3019"/>
          <p:cNvSpPr/>
          <p:nvPr/>
        </p:nvSpPr>
        <p:spPr>
          <a:xfrm>
            <a:off x="1069920" y="102420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Sauvegarder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1" name="Text 3020"/>
          <p:cNvSpPr/>
          <p:nvPr/>
        </p:nvSpPr>
        <p:spPr>
          <a:xfrm>
            <a:off x="502920" y="1536120"/>
            <a:ext cx="393084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Bouton Save dans la barre de menu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Titre et description obligatoires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Sauvegardé dans le tenant courant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Versioning via les Saved Objects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2" name="Shape 2628"/>
          <p:cNvSpPr/>
          <p:nvPr/>
        </p:nvSpPr>
        <p:spPr>
          <a:xfrm>
            <a:off x="4727520" y="822960"/>
            <a:ext cx="4250880" cy="191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3" name="Shape 2629"/>
          <p:cNvSpPr/>
          <p:nvPr/>
        </p:nvSpPr>
        <p:spPr>
          <a:xfrm>
            <a:off x="4727520" y="822960"/>
            <a:ext cx="4250880" cy="72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4" name="Shape 2630"/>
          <p:cNvSpPr/>
          <p:nvPr/>
        </p:nvSpPr>
        <p:spPr>
          <a:xfrm>
            <a:off x="4837320" y="1024200"/>
            <a:ext cx="501840" cy="501840"/>
          </a:xfrm>
          <a:prstGeom prst="ellipse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45" name="Image 78" descr="preencoded.png"/>
          <p:cNvPicPr/>
          <p:nvPr/>
        </p:nvPicPr>
        <p:blipFill>
          <a:blip r:embed="rId2"/>
          <a:stretch/>
        </p:blipFill>
        <p:spPr>
          <a:xfrm>
            <a:off x="4910400" y="10972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46" name="Text 3021"/>
          <p:cNvSpPr/>
          <p:nvPr/>
        </p:nvSpPr>
        <p:spPr>
          <a:xfrm>
            <a:off x="5477400" y="102420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Partager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7" name="Text 3022"/>
          <p:cNvSpPr/>
          <p:nvPr/>
        </p:nvSpPr>
        <p:spPr>
          <a:xfrm>
            <a:off x="4910400" y="1536120"/>
            <a:ext cx="393084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Share › Get links : lien permanent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Embed code : iframe intégrable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Export PNG / PDF (rapports planifiables)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Short URL pour liens avec filtres complexes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8" name="Shape 2631"/>
          <p:cNvSpPr/>
          <p:nvPr/>
        </p:nvSpPr>
        <p:spPr>
          <a:xfrm>
            <a:off x="320040" y="2880360"/>
            <a:ext cx="4250880" cy="191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9" name="Shape 2632"/>
          <p:cNvSpPr/>
          <p:nvPr/>
        </p:nvSpPr>
        <p:spPr>
          <a:xfrm>
            <a:off x="320040" y="2880360"/>
            <a:ext cx="425088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0" name="Shape 2633"/>
          <p:cNvSpPr/>
          <p:nvPr/>
        </p:nvSpPr>
        <p:spPr>
          <a:xfrm>
            <a:off x="429840" y="30816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51" name="Image 79" descr="preencoded.png"/>
          <p:cNvPicPr/>
          <p:nvPr/>
        </p:nvPicPr>
        <p:blipFill>
          <a:blip r:embed="rId3"/>
          <a:stretch/>
        </p:blipFill>
        <p:spPr>
          <a:xfrm>
            <a:off x="502920" y="3154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52" name="Text 3023"/>
          <p:cNvSpPr/>
          <p:nvPr/>
        </p:nvSpPr>
        <p:spPr>
          <a:xfrm>
            <a:off x="1069920" y="308160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Import / Export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3" name="Text 3024"/>
          <p:cNvSpPr/>
          <p:nvPr/>
        </p:nvSpPr>
        <p:spPr>
          <a:xfrm>
            <a:off x="502920" y="3593520"/>
            <a:ext cx="393084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Stack Management › Saved Objects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Export JSON : dashboards, visualisations, index patterns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Import JSON sur un autre cluster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02535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Promotion entre environnements (dev → prod)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4" name="Shape 2634"/>
          <p:cNvSpPr/>
          <p:nvPr/>
        </p:nvSpPr>
        <p:spPr>
          <a:xfrm>
            <a:off x="4727520" y="2880360"/>
            <a:ext cx="4250880" cy="191916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5" name="Shape 2635"/>
          <p:cNvSpPr/>
          <p:nvPr/>
        </p:nvSpPr>
        <p:spPr>
          <a:xfrm>
            <a:off x="4727520" y="2880360"/>
            <a:ext cx="4250880" cy="72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6" name="Shape 2636"/>
          <p:cNvSpPr/>
          <p:nvPr/>
        </p:nvSpPr>
        <p:spPr>
          <a:xfrm>
            <a:off x="4837320" y="3081600"/>
            <a:ext cx="501840" cy="50184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57" name="Image 80" descr="preencoded.png"/>
          <p:cNvPicPr/>
          <p:nvPr/>
        </p:nvPicPr>
        <p:blipFill>
          <a:blip r:embed="rId4"/>
          <a:stretch/>
        </p:blipFill>
        <p:spPr>
          <a:xfrm>
            <a:off x="4910400" y="3154680"/>
            <a:ext cx="346320" cy="346320"/>
          </a:xfrm>
          <a:prstGeom prst="rect">
            <a:avLst/>
          </a:prstGeom>
          <a:ln w="0">
            <a:noFill/>
          </a:ln>
        </p:spPr>
      </p:pic>
      <p:sp>
        <p:nvSpPr>
          <p:cNvPr id="4958" name="Text 3025"/>
          <p:cNvSpPr/>
          <p:nvPr/>
        </p:nvSpPr>
        <p:spPr>
          <a:xfrm>
            <a:off x="5477400" y="3081600"/>
            <a:ext cx="33822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Rapports et alertes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9" name="Text 3026"/>
          <p:cNvSpPr/>
          <p:nvPr/>
        </p:nvSpPr>
        <p:spPr>
          <a:xfrm>
            <a:off x="4910400" y="3593520"/>
            <a:ext cx="3930840" cy="11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Rapports PDF/CSV planifiables depuis le dashboard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Alerting : déclenchement sur seuils OpenSearch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Notifications : email, Slack, webhook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1a2b2f"/>
              </a:buClr>
              <a:buFont typeface="Symbol" charset="2"/>
              <a:buChar char=""/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Surveillance continue sans ouvrir l'interface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0" name="Shape 1093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1" name="Text 1168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</a:t>
            </a: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nSea</a:t>
            </a: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2" name="Text 1169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e8834a"/>
                </a:solidFill>
                <a:latin typeface="Calibri"/>
                <a:ea typeface="Calibri"/>
              </a:rPr>
              <a:t>Administration et sécurité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3" name="Shape 1094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4" name="Shape 1095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5" name="Text 1170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6" name="Text 1171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Rôles et types de noeuds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7" name="Shape 1096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8" name="Text 1172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9" name="Text 1173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Sauvegardes et snapshots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0" name="Shape 1097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1" name="Text 1174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2" name="Text 1175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3" name="Shape 1098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0" lang="en-US" sz="1050" spc="-1" strike="noStrike">
              <a:solidFill>
                <a:srgbClr val="5a8a96"/>
              </a:solidFill>
              <a:latin typeface="Calibri"/>
              <a:ea typeface="Calibri"/>
            </a:endParaRPr>
          </a:p>
        </p:txBody>
      </p:sp>
      <p:sp>
        <p:nvSpPr>
          <p:cNvPr id="4974" name="Text 1176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1.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5" name="Shape 1099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6" name="Text 1177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2.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7" name="Shape 1100"/>
          <p:cNvSpPr/>
          <p:nvPr/>
        </p:nvSpPr>
        <p:spPr>
          <a:xfrm>
            <a:off x="6536520" y="4316040"/>
            <a:ext cx="127224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8" name="Shape 1101"/>
          <p:cNvSpPr/>
          <p:nvPr/>
        </p:nvSpPr>
        <p:spPr>
          <a:xfrm>
            <a:off x="6536520" y="4316040"/>
            <a:ext cx="130608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9" name="Shape 1102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0" name="Text 1178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3. 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1" name="Shape 1103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2" name="Text 1179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4. 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3" name="Shape 1104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4" name="Text 1182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5. 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5" name="Shape 1105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6" name="Text 1183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6. 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7" name="Shape 1106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8" name="Text 1184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7. 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Monitori</a:t>
            </a:r>
            <a:r>
              <a:rPr b="0" lang="en-US" sz="1050" spc="-1" strike="noStrike">
                <a:solidFill>
                  <a:srgbClr val="4a7480"/>
                </a:solidFill>
                <a:latin typeface="Calibri"/>
                <a:ea typeface="Calibri"/>
              </a:rPr>
              <a:t>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9" name="Text 1185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0" name="Shape 907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1" name="Text 939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</a:t>
            </a: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nSe</a:t>
            </a: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2" name="Text 940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Rôles et types de nœuds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3" name="Shape 908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4" name="Text 941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ffffff"/>
                </a:solidFill>
                <a:latin typeface="Calibri"/>
                <a:ea typeface="Calibri"/>
              </a:rPr>
              <a:t>Types de nœud – HA 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5" name="Shape 1107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6" name="Shape 1108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7" name="Text 942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Admin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.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&amp;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Sécuri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té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8" name="Shape 1109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9" name="Text 943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0" name="Shape 1110"/>
          <p:cNvSpPr/>
          <p:nvPr/>
        </p:nvSpPr>
        <p:spPr>
          <a:xfrm>
            <a:off x="1764000" y="4545360"/>
            <a:ext cx="1620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1" name="Text 944"/>
          <p:cNvSpPr/>
          <p:nvPr/>
        </p:nvSpPr>
        <p:spPr>
          <a:xfrm>
            <a:off x="6120000" y="452772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Sécurité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2" name="Text 1186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Typ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es de nœud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3" name="Text 1187"/>
          <p:cNvSpPr/>
          <p:nvPr/>
        </p:nvSpPr>
        <p:spPr>
          <a:xfrm>
            <a:off x="3708000" y="4546800"/>
            <a:ext cx="2052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Sauvegarde et snapshot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4" name="Text 1188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5" name="Text 1189"/>
          <p:cNvSpPr/>
          <p:nvPr/>
        </p:nvSpPr>
        <p:spPr>
          <a:xfrm>
            <a:off x="5693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6" name="Shape 914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7" name="Shape 915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8" name="Text 946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Gestion des nœuds – Rôles et types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9" name="Text 947"/>
          <p:cNvSpPr/>
          <p:nvPr/>
        </p:nvSpPr>
        <p:spPr>
          <a:xfrm>
            <a:off x="320040" y="713160"/>
            <a:ext cx="85028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Dans un cluster OpenSearch, chaque nœud peut avoir un ou plusieurs rôles. Une bonne répartition des rôles est clé pour la stabilité et la performance.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0" name="Shape 916"/>
          <p:cNvSpPr/>
          <p:nvPr/>
        </p:nvSpPr>
        <p:spPr>
          <a:xfrm>
            <a:off x="292680" y="1261800"/>
            <a:ext cx="4296600" cy="16264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1" name="Shape 917"/>
          <p:cNvSpPr/>
          <p:nvPr/>
        </p:nvSpPr>
        <p:spPr>
          <a:xfrm>
            <a:off x="292680" y="126180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2" name="Text 948"/>
          <p:cNvSpPr/>
          <p:nvPr/>
        </p:nvSpPr>
        <p:spPr>
          <a:xfrm>
            <a:off x="402480" y="134424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cluster_manager (master)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3" name="Text 949"/>
          <p:cNvSpPr/>
          <p:nvPr/>
        </p:nvSpPr>
        <p:spPr>
          <a:xfrm>
            <a:off x="402480" y="1673280"/>
            <a:ext cx="407700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Gère l'état du cluster (état des shards, mappings)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Élit le cluster manager parmi les éligibles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Ne devrait pas traiter de requêtes utilisateur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Recommandé : 3 nœuds dédiés (quorum)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4" name="Shape 918"/>
          <p:cNvSpPr/>
          <p:nvPr/>
        </p:nvSpPr>
        <p:spPr>
          <a:xfrm>
            <a:off x="4773240" y="1261800"/>
            <a:ext cx="4296600" cy="16264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5" name="Shape 919"/>
          <p:cNvSpPr/>
          <p:nvPr/>
        </p:nvSpPr>
        <p:spPr>
          <a:xfrm>
            <a:off x="4773240" y="126180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6" name="Text 950"/>
          <p:cNvSpPr/>
          <p:nvPr/>
        </p:nvSpPr>
        <p:spPr>
          <a:xfrm>
            <a:off x="4883040" y="134424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data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7" name="Text 951"/>
          <p:cNvSpPr/>
          <p:nvPr/>
        </p:nvSpPr>
        <p:spPr>
          <a:xfrm>
            <a:off x="4883040" y="1673280"/>
            <a:ext cx="407700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Stocke les shards et les données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Exécute les requêtes CRUD, search, agrégations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Nœud le plus gourmand en disque et RAM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Peut être spécialisé : data_hot, data_warm, data_cold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8" name="Shape 920"/>
          <p:cNvSpPr/>
          <p:nvPr/>
        </p:nvSpPr>
        <p:spPr>
          <a:xfrm>
            <a:off x="292680" y="2971800"/>
            <a:ext cx="4296600" cy="16264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9" name="Shape 921"/>
          <p:cNvSpPr/>
          <p:nvPr/>
        </p:nvSpPr>
        <p:spPr>
          <a:xfrm>
            <a:off x="292680" y="297180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0" name="Text 952"/>
          <p:cNvSpPr/>
          <p:nvPr/>
        </p:nvSpPr>
        <p:spPr>
          <a:xfrm>
            <a:off x="402480" y="305424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ingest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1" name="Text 953"/>
          <p:cNvSpPr/>
          <p:nvPr/>
        </p:nvSpPr>
        <p:spPr>
          <a:xfrm>
            <a:off x="402480" y="3383280"/>
            <a:ext cx="407700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Pré-traite les documents avant indexation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Applique des pipelines (grok, gsub, enrich…)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Peut être séparé des nœuds data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Remplacé par des pipelines d'ingestion dédiés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2" name="Shape 922"/>
          <p:cNvSpPr/>
          <p:nvPr/>
        </p:nvSpPr>
        <p:spPr>
          <a:xfrm>
            <a:off x="4773240" y="2971800"/>
            <a:ext cx="4296600" cy="16264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3" name="Shape 923"/>
          <p:cNvSpPr/>
          <p:nvPr/>
        </p:nvSpPr>
        <p:spPr>
          <a:xfrm>
            <a:off x="4773240" y="297180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4" name="Text 954"/>
          <p:cNvSpPr/>
          <p:nvPr/>
        </p:nvSpPr>
        <p:spPr>
          <a:xfrm>
            <a:off x="4883040" y="305424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coordinating (client)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5" name="Text 955"/>
          <p:cNvSpPr/>
          <p:nvPr/>
        </p:nvSpPr>
        <p:spPr>
          <a:xfrm>
            <a:off x="4883040" y="3383280"/>
            <a:ext cx="4077000" cy="11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Reçoit les requêtes, les distribue et agrège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Aucun rôle de stockage ou de management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Utile pour décharger les nœuds data/master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Configuré avec une liste vide de rôles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6" name="Shape 924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7" name="Shape 925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8" name="Text 956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Gestion des nœuds – Configuration opensearch.yml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9" name="Text 957"/>
          <p:cNvSpPr/>
          <p:nvPr/>
        </p:nvSpPr>
        <p:spPr>
          <a:xfrm>
            <a:off x="320040" y="749880"/>
            <a:ext cx="4113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Configuration par rôle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0" name="Shape 926"/>
          <p:cNvSpPr/>
          <p:nvPr/>
        </p:nvSpPr>
        <p:spPr>
          <a:xfrm>
            <a:off x="320040" y="1115640"/>
            <a:ext cx="4205160" cy="3473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1" name="Text 958"/>
          <p:cNvSpPr/>
          <p:nvPr/>
        </p:nvSpPr>
        <p:spPr>
          <a:xfrm>
            <a:off x="411480" y="1179720"/>
            <a:ext cx="4022280" cy="33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Nœud cluster_manager dédié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node.name: master-node-1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node.roles: [ cluster_manager ]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cluster.name: mon-cluster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network.host: 10.0.1.10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Nœud data dédié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node.name: data-node-1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node.roles: [ data ]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path.data: /data/opensearch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Nœud data chaud (ILM tiering)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node.name: data-hot-1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node.roles: [ data_hot ]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node.attr.temperature: hot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Nœud coordinating uniquement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node.name: coord-node-1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node.roles: []</a:t>
            </a:r>
            <a:endParaRPr b="1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2" name="Text 959"/>
          <p:cNvSpPr/>
          <p:nvPr/>
        </p:nvSpPr>
        <p:spPr>
          <a:xfrm>
            <a:off x="4754880" y="749880"/>
            <a:ext cx="41137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API de gestion du cluster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3" name="Text 960"/>
          <p:cNvSpPr/>
          <p:nvPr/>
        </p:nvSpPr>
        <p:spPr>
          <a:xfrm>
            <a:off x="4754880" y="1115640"/>
            <a:ext cx="4205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Santé du cluster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4" name="Shape 927"/>
          <p:cNvSpPr/>
          <p:nvPr/>
        </p:nvSpPr>
        <p:spPr>
          <a:xfrm>
            <a:off x="4754880" y="1353240"/>
            <a:ext cx="4205160" cy="291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5" name="Text 961"/>
          <p:cNvSpPr/>
          <p:nvPr/>
        </p:nvSpPr>
        <p:spPr>
          <a:xfrm>
            <a:off x="4846320" y="141732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/_cluster/health?pretty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6" name="Text 962"/>
          <p:cNvSpPr/>
          <p:nvPr/>
        </p:nvSpPr>
        <p:spPr>
          <a:xfrm>
            <a:off x="4754880" y="1719000"/>
            <a:ext cx="4205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Liste des nœuds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7" name="Shape 928"/>
          <p:cNvSpPr/>
          <p:nvPr/>
        </p:nvSpPr>
        <p:spPr>
          <a:xfrm>
            <a:off x="4754880" y="1956960"/>
            <a:ext cx="4205160" cy="291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8" name="Text 963"/>
          <p:cNvSpPr/>
          <p:nvPr/>
        </p:nvSpPr>
        <p:spPr>
          <a:xfrm>
            <a:off x="4846320" y="202068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/_cat/nodes?v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9" name="Text 964"/>
          <p:cNvSpPr/>
          <p:nvPr/>
        </p:nvSpPr>
        <p:spPr>
          <a:xfrm>
            <a:off x="4754880" y="2322720"/>
            <a:ext cx="4205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Infos détaillées nœuds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0" name="Shape 1065"/>
          <p:cNvSpPr/>
          <p:nvPr/>
        </p:nvSpPr>
        <p:spPr>
          <a:xfrm>
            <a:off x="4754880" y="2560320"/>
            <a:ext cx="4205160" cy="291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1" name="Text 965"/>
          <p:cNvSpPr/>
          <p:nvPr/>
        </p:nvSpPr>
        <p:spPr>
          <a:xfrm>
            <a:off x="4846320" y="262440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/_nodes/stats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2" name="Text 966"/>
          <p:cNvSpPr/>
          <p:nvPr/>
        </p:nvSpPr>
        <p:spPr>
          <a:xfrm>
            <a:off x="4754880" y="2926080"/>
            <a:ext cx="4205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État des shards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3" name="Shape 1066"/>
          <p:cNvSpPr/>
          <p:nvPr/>
        </p:nvSpPr>
        <p:spPr>
          <a:xfrm>
            <a:off x="4754880" y="3163680"/>
            <a:ext cx="4205160" cy="291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4" name="Text 967"/>
          <p:cNvSpPr/>
          <p:nvPr/>
        </p:nvSpPr>
        <p:spPr>
          <a:xfrm>
            <a:off x="4846320" y="322776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/_cat/shards?v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5" name="Text 968"/>
          <p:cNvSpPr/>
          <p:nvPr/>
        </p:nvSpPr>
        <p:spPr>
          <a:xfrm>
            <a:off x="4754880" y="3529440"/>
            <a:ext cx="4205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Paramètres cluster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6" name="Shape 1067"/>
          <p:cNvSpPr/>
          <p:nvPr/>
        </p:nvSpPr>
        <p:spPr>
          <a:xfrm>
            <a:off x="4754880" y="3767400"/>
            <a:ext cx="4205160" cy="291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7" name="Text 969"/>
          <p:cNvSpPr/>
          <p:nvPr/>
        </p:nvSpPr>
        <p:spPr>
          <a:xfrm>
            <a:off x="4846320" y="383148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/_cluster/settings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8" name="Text 970"/>
          <p:cNvSpPr/>
          <p:nvPr/>
        </p:nvSpPr>
        <p:spPr>
          <a:xfrm>
            <a:off x="4754880" y="4133160"/>
            <a:ext cx="42051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Rerouter un shard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9" name="Shape 1068"/>
          <p:cNvSpPr/>
          <p:nvPr/>
        </p:nvSpPr>
        <p:spPr>
          <a:xfrm>
            <a:off x="4754880" y="4370760"/>
            <a:ext cx="4205160" cy="5018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0" name="Text 1131"/>
          <p:cNvSpPr/>
          <p:nvPr/>
        </p:nvSpPr>
        <p:spPr>
          <a:xfrm>
            <a:off x="4846320" y="4434840"/>
            <a:ext cx="402228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POST /_cluster/reroute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{"commands":[{"move":{"index":"logs",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"shard":0,"from_node":"n1","to_node":"n2"}}]}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1" name="Shape 1069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2" name="Shape 1070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3" name="Text 1132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Haute disponibilité – Réplication et allocation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4" name="Text 1133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La HA dans OpenSearch repose sur la réplication des shards et les politiques d'allocation pour garantir qu'aucune donnée n'est perdue en cas de défaillance.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5" name="Text 1134"/>
          <p:cNvSpPr/>
          <p:nvPr/>
        </p:nvSpPr>
        <p:spPr>
          <a:xfrm>
            <a:off x="320040" y="123444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Shards primaires &amp; réplicas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6" name="Shape 1071"/>
          <p:cNvSpPr/>
          <p:nvPr/>
        </p:nvSpPr>
        <p:spPr>
          <a:xfrm>
            <a:off x="320040" y="1572840"/>
            <a:ext cx="4205160" cy="1507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7" name="Shape 1072"/>
          <p:cNvSpPr/>
          <p:nvPr/>
        </p:nvSpPr>
        <p:spPr>
          <a:xfrm>
            <a:off x="320040" y="1572840"/>
            <a:ext cx="420516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8" name="Text 1135"/>
          <p:cNvSpPr/>
          <p:nvPr/>
        </p:nvSpPr>
        <p:spPr>
          <a:xfrm>
            <a:off x="429840" y="1654920"/>
            <a:ext cx="39855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Principe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9" name="Text 1136"/>
          <p:cNvSpPr/>
          <p:nvPr/>
        </p:nvSpPr>
        <p:spPr>
          <a:xfrm>
            <a:off x="429840" y="1984320"/>
            <a:ext cx="398556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Un index est découpé en N shards primaires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Chaque primaire a R réplicas (copies)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Les réplicas sont placés sur des nœuds différents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Lecture possible sur primaires ET réplicas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Écriture toujours sur le primaire, répliquée ensuite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0" name="Shape 1073"/>
          <p:cNvSpPr/>
          <p:nvPr/>
        </p:nvSpPr>
        <p:spPr>
          <a:xfrm>
            <a:off x="320040" y="3127320"/>
            <a:ext cx="4205160" cy="20163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1" name="Text 1137"/>
          <p:cNvSpPr/>
          <p:nvPr/>
        </p:nvSpPr>
        <p:spPr>
          <a:xfrm>
            <a:off x="411480" y="3191400"/>
            <a:ext cx="4022280" cy="184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Définir les réplicas à la création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/mon-index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"settings":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"number_of_shards": 3,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"number_of_replicas": 1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Modifier sur un index existant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/mon-index/_settings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"number_of_replicas": 2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2" name="Text 1138"/>
          <p:cNvSpPr/>
          <p:nvPr/>
        </p:nvSpPr>
        <p:spPr>
          <a:xfrm>
            <a:off x="4754880" y="123444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Allocation filtering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3" name="Shape 1074"/>
          <p:cNvSpPr/>
          <p:nvPr/>
        </p:nvSpPr>
        <p:spPr>
          <a:xfrm>
            <a:off x="4754880" y="1572840"/>
            <a:ext cx="4205160" cy="109620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4" name="Shape 1075"/>
          <p:cNvSpPr/>
          <p:nvPr/>
        </p:nvSpPr>
        <p:spPr>
          <a:xfrm>
            <a:off x="4754880" y="1572840"/>
            <a:ext cx="420516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5" name="Text 1139"/>
          <p:cNvSpPr/>
          <p:nvPr/>
        </p:nvSpPr>
        <p:spPr>
          <a:xfrm>
            <a:off x="4864680" y="1654920"/>
            <a:ext cx="39855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Règles d'allocation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6" name="Text 1140"/>
          <p:cNvSpPr/>
          <p:nvPr/>
        </p:nvSpPr>
        <p:spPr>
          <a:xfrm>
            <a:off x="4864680" y="1984320"/>
            <a:ext cx="398556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Contrôle sur quels nœuds les shards sont placés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include: au moins un tag doit correspondre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require: tous les tags doivent correspondre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exclude: aucun shard sur ces nœuds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7" name="Shape 1076"/>
          <p:cNvSpPr/>
          <p:nvPr/>
        </p:nvSpPr>
        <p:spPr>
          <a:xfrm>
            <a:off x="4754880" y="2715840"/>
            <a:ext cx="4205160" cy="23241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8" name="Text 1141"/>
          <p:cNvSpPr/>
          <p:nvPr/>
        </p:nvSpPr>
        <p:spPr>
          <a:xfrm>
            <a:off x="4846320" y="2779920"/>
            <a:ext cx="4022280" cy="23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Attribut nœud dans opensearch.yml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node.attr.zone: zone-a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Allocation sur les nœuds de zone-a uniquement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/mon-index/_settings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"index.routing.allocation.require.zone": "zone-a"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Exclure un nœud de l'allocation (décommission)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/_cluster/settings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"transient":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"cluster.routing.allocation.exclude._name": "data-node-3"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Shape 1077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0" name="Shape 1078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1" name="Text 1142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Haute disponibilité – Rack / Zone Awareness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2" name="Text 1143"/>
          <p:cNvSpPr/>
          <p:nvPr/>
        </p:nvSpPr>
        <p:spPr>
          <a:xfrm>
            <a:off x="320040" y="713160"/>
            <a:ext cx="8502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 Rack Awareness garantit que les copies d'un shard (primaire et réplicas) sont distribuées sur des zones physiques distinctes, évitant toute perte de données en cas de défaillance d'une zone.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3" name="Text 1144"/>
          <p:cNvSpPr/>
          <p:nvPr/>
        </p:nvSpPr>
        <p:spPr>
          <a:xfrm>
            <a:off x="320040" y="126180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Configuration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4" name="Shape 1079"/>
          <p:cNvSpPr/>
          <p:nvPr/>
        </p:nvSpPr>
        <p:spPr>
          <a:xfrm>
            <a:off x="320040" y="1591200"/>
            <a:ext cx="4205160" cy="18734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5" name="Text 1145"/>
          <p:cNvSpPr/>
          <p:nvPr/>
        </p:nvSpPr>
        <p:spPr>
          <a:xfrm>
            <a:off x="411480" y="1654920"/>
            <a:ext cx="4022280" cy="17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Sur chaque nœud — opensearch.yml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node.attr.zone: zone-a    # (ou zone-b, zone-c)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cluster.name: prod-cluster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Sur les nœuds cluster_manager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cluster.routing.allocation.awareness.attributes: zone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Forcer la répartition équilibrée (forced awareness)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cluster.routing.allocation.awareness.force.zone.values: zone-a,zone-b,zone-c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6" name="Text 1146"/>
          <p:cNvSpPr/>
          <p:nvPr/>
        </p:nvSpPr>
        <p:spPr>
          <a:xfrm>
            <a:off x="320040" y="3511440"/>
            <a:ext cx="4205160" cy="565920"/>
          </a:xfrm>
          <a:prstGeom prst="rect">
            <a:avLst/>
          </a:prstGeom>
          <a:solidFill>
            <a:srgbClr val="e6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⚠  </a:t>
            </a: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Sans forced awareness, si une zone disparaît, OpenSearch peut créer plusieurs réplicas sur les zones restantes et surcharger ces nœuds.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7" name="Shape 1080"/>
          <p:cNvSpPr/>
          <p:nvPr/>
        </p:nvSpPr>
        <p:spPr>
          <a:xfrm>
            <a:off x="320040" y="3511440"/>
            <a:ext cx="4205160" cy="56592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8" name="Text 1343"/>
          <p:cNvSpPr/>
          <p:nvPr/>
        </p:nvSpPr>
        <p:spPr>
          <a:xfrm>
            <a:off x="411480" y="3538800"/>
            <a:ext cx="4022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⚠  </a:t>
            </a:r>
            <a:r>
              <a:rPr b="0" lang="en-US" sz="1000" spc="-1" strike="noStrike">
                <a:solidFill>
                  <a:srgbClr val="007a8a"/>
                </a:solidFill>
                <a:latin typeface="Calibri"/>
                <a:ea typeface="Calibri"/>
              </a:rPr>
              <a:t>Sans forced awareness, si une zone disparaît, OpenSearch peut créer plusieurs réplicas sur les zones restantes et surcharger ces nœuds.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9" name="Text 1345"/>
          <p:cNvSpPr/>
          <p:nvPr/>
        </p:nvSpPr>
        <p:spPr>
          <a:xfrm>
            <a:off x="4754880" y="1261800"/>
            <a:ext cx="411372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Répartition des shards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0" name="Shape 1081"/>
          <p:cNvSpPr/>
          <p:nvPr/>
        </p:nvSpPr>
        <p:spPr>
          <a:xfrm>
            <a:off x="4754880" y="1591200"/>
            <a:ext cx="1690560" cy="2732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1" name="Text 1346"/>
          <p:cNvSpPr/>
          <p:nvPr/>
        </p:nvSpPr>
        <p:spPr>
          <a:xfrm>
            <a:off x="4754880" y="1591200"/>
            <a:ext cx="1690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Zone A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2" name="Shape 1082"/>
          <p:cNvSpPr/>
          <p:nvPr/>
        </p:nvSpPr>
        <p:spPr>
          <a:xfrm>
            <a:off x="4827960" y="1901880"/>
            <a:ext cx="1535040" cy="6573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3" name="Text 1378"/>
          <p:cNvSpPr/>
          <p:nvPr/>
        </p:nvSpPr>
        <p:spPr>
          <a:xfrm>
            <a:off x="4827960" y="190188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data-1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P0  P1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084" name="Shape 1083"/>
          <p:cNvSpPr/>
          <p:nvPr/>
        </p:nvSpPr>
        <p:spPr>
          <a:xfrm>
            <a:off x="4827960" y="2670120"/>
            <a:ext cx="1535040" cy="6573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5" name="Text 1379"/>
          <p:cNvSpPr/>
          <p:nvPr/>
        </p:nvSpPr>
        <p:spPr>
          <a:xfrm>
            <a:off x="4827960" y="267012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data-2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P2  R0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086" name="Shape 1084"/>
          <p:cNvSpPr/>
          <p:nvPr/>
        </p:nvSpPr>
        <p:spPr>
          <a:xfrm>
            <a:off x="6537960" y="1591200"/>
            <a:ext cx="1690560" cy="2732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7" name="Text 1380"/>
          <p:cNvSpPr/>
          <p:nvPr/>
        </p:nvSpPr>
        <p:spPr>
          <a:xfrm>
            <a:off x="6537960" y="1591200"/>
            <a:ext cx="16905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Zone B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8" name="Shape 1085"/>
          <p:cNvSpPr/>
          <p:nvPr/>
        </p:nvSpPr>
        <p:spPr>
          <a:xfrm>
            <a:off x="6611040" y="1901880"/>
            <a:ext cx="1535040" cy="6573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9" name="Text 1381"/>
          <p:cNvSpPr/>
          <p:nvPr/>
        </p:nvSpPr>
        <p:spPr>
          <a:xfrm>
            <a:off x="6611040" y="190188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data-3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R1  R2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090" name="Shape 1086"/>
          <p:cNvSpPr/>
          <p:nvPr/>
        </p:nvSpPr>
        <p:spPr>
          <a:xfrm>
            <a:off x="6611040" y="2670120"/>
            <a:ext cx="1535040" cy="6573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1" name="Text 1382"/>
          <p:cNvSpPr/>
          <p:nvPr/>
        </p:nvSpPr>
        <p:spPr>
          <a:xfrm>
            <a:off x="6611040" y="2670120"/>
            <a:ext cx="153504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data-4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onsolas"/>
                <a:ea typeface="Consolas"/>
              </a:rPr>
              <a:t>P0r P1r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092" name="Shape 1087"/>
          <p:cNvSpPr/>
          <p:nvPr/>
        </p:nvSpPr>
        <p:spPr>
          <a:xfrm>
            <a:off x="4754880" y="3511440"/>
            <a:ext cx="3519360" cy="5659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3" name="Text 1383"/>
          <p:cNvSpPr/>
          <p:nvPr/>
        </p:nvSpPr>
        <p:spPr>
          <a:xfrm>
            <a:off x="4846320" y="3566160"/>
            <a:ext cx="3336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P0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= Shard primaire 0    </a:t>
            </a:r>
            <a:r>
              <a:rPr b="1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R0</a:t>
            </a: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 = Réplica du shard 0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4" name="Shape 985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5" name="Text 1040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6" name="Text 1041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Sauvegarde et snapshot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7" name="Shape 986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8" name="Text 1042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ffffff"/>
                </a:solidFill>
                <a:latin typeface="Calibri"/>
                <a:ea typeface="Calibri"/>
              </a:rPr>
              <a:t>Repositories – API - Automatisation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9" name="Shape 987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0" name="Shape 988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1" name="Text 1043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Admin.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&amp;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2" name="Shape 989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3" name="Text 1044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4" name="Shape 990"/>
          <p:cNvSpPr/>
          <p:nvPr/>
        </p:nvSpPr>
        <p:spPr>
          <a:xfrm>
            <a:off x="3744000" y="4545360"/>
            <a:ext cx="2376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5" name="Text 1045"/>
          <p:cNvSpPr/>
          <p:nvPr/>
        </p:nvSpPr>
        <p:spPr>
          <a:xfrm>
            <a:off x="6660000" y="452772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Sécurité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6" name="Text 1046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Types de nœud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7" name="Text 1047"/>
          <p:cNvSpPr/>
          <p:nvPr/>
        </p:nvSpPr>
        <p:spPr>
          <a:xfrm>
            <a:off x="3708000" y="4546800"/>
            <a:ext cx="252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Sauvegarde et snapshot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8" name="Text 1048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9" name="Text 1049"/>
          <p:cNvSpPr/>
          <p:nvPr/>
        </p:nvSpPr>
        <p:spPr>
          <a:xfrm>
            <a:off x="6233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Shape 909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1" name="Shape 910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2" name="Text 945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Sauvegardes et snapshots – Repositories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3" name="Text 1384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Les snapshots OpenSearch sont des sauvegardes incrémentales des index. Ils sont stockés dans un repository (dépôt) configuré au préalable.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4" name="Shape 911"/>
          <p:cNvSpPr/>
          <p:nvPr/>
        </p:nvSpPr>
        <p:spPr>
          <a:xfrm>
            <a:off x="320040" y="1234440"/>
            <a:ext cx="4296600" cy="1480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5" name="Shape 912"/>
          <p:cNvSpPr/>
          <p:nvPr/>
        </p:nvSpPr>
        <p:spPr>
          <a:xfrm>
            <a:off x="320040" y="123444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6" name="Text 1385"/>
          <p:cNvSpPr/>
          <p:nvPr/>
        </p:nvSpPr>
        <p:spPr>
          <a:xfrm>
            <a:off x="429840" y="131688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fs (filesystem)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7" name="Text 1386"/>
          <p:cNvSpPr/>
          <p:nvPr/>
        </p:nvSpPr>
        <p:spPr>
          <a:xfrm>
            <a:off x="429840" y="1645920"/>
            <a:ext cx="407700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Chemin NFS/local partagé entre tous les nœuds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path.repo doit être configuré dans opensearch.yml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Simple à mettre en place, adapté aux labs/petits clusters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8" name="Shape 913"/>
          <p:cNvSpPr/>
          <p:nvPr/>
        </p:nvSpPr>
        <p:spPr>
          <a:xfrm>
            <a:off x="4773240" y="1234440"/>
            <a:ext cx="4296600" cy="1480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9" name="Shape 1267"/>
          <p:cNvSpPr/>
          <p:nvPr/>
        </p:nvSpPr>
        <p:spPr>
          <a:xfrm>
            <a:off x="4773240" y="123444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0" name="Text 1387"/>
          <p:cNvSpPr/>
          <p:nvPr/>
        </p:nvSpPr>
        <p:spPr>
          <a:xfrm>
            <a:off x="4883040" y="131688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s3 (Amazon S3 / MinIO)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1" name="Text 1388"/>
          <p:cNvSpPr/>
          <p:nvPr/>
        </p:nvSpPr>
        <p:spPr>
          <a:xfrm>
            <a:off x="4883040" y="1645920"/>
            <a:ext cx="407700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Plugin opensearch-repository-s3 requis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Compatible S3 : MinIO, Ceph RGW, OVH Object Storage…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Solution de référence pour les clusters en production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2" name="Shape 1268"/>
          <p:cNvSpPr/>
          <p:nvPr/>
        </p:nvSpPr>
        <p:spPr>
          <a:xfrm>
            <a:off x="320040" y="2816280"/>
            <a:ext cx="4296600" cy="1480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3" name="Shape 1298"/>
          <p:cNvSpPr/>
          <p:nvPr/>
        </p:nvSpPr>
        <p:spPr>
          <a:xfrm>
            <a:off x="320040" y="281628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4" name="Text 1389"/>
          <p:cNvSpPr/>
          <p:nvPr/>
        </p:nvSpPr>
        <p:spPr>
          <a:xfrm>
            <a:off x="429840" y="289872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gcs (Google Cloud Storage)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5" name="Text 1390"/>
          <p:cNvSpPr/>
          <p:nvPr/>
        </p:nvSpPr>
        <p:spPr>
          <a:xfrm>
            <a:off x="429840" y="3227760"/>
            <a:ext cx="407700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Plugin opensearch-repository-gcs requis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Stockage objet managé sur GCP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Idéal si cluster sur GKE/GCP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6" name="Shape 1299"/>
          <p:cNvSpPr/>
          <p:nvPr/>
        </p:nvSpPr>
        <p:spPr>
          <a:xfrm>
            <a:off x="4773240" y="2816280"/>
            <a:ext cx="4296600" cy="1480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7" name="Shape 1300"/>
          <p:cNvSpPr/>
          <p:nvPr/>
        </p:nvSpPr>
        <p:spPr>
          <a:xfrm>
            <a:off x="4773240" y="281628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8" name="Text 1391"/>
          <p:cNvSpPr/>
          <p:nvPr/>
        </p:nvSpPr>
        <p:spPr>
          <a:xfrm>
            <a:off x="4883040" y="289872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azure (Azure Blob Storage)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9" name="Text 1392"/>
          <p:cNvSpPr/>
          <p:nvPr/>
        </p:nvSpPr>
        <p:spPr>
          <a:xfrm>
            <a:off x="4883040" y="3227760"/>
            <a:ext cx="407700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Plugin opensearch-repository-azure requis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Stockage objet managé sur Azure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a2b2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Idéal si cluster sur AKS/Azure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Shape 1301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1" name="Shape 1302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2" name="Text 1393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Sauvegardes et snapshots – Création et restauration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3" name="Text 1394"/>
          <p:cNvSpPr/>
          <p:nvPr/>
        </p:nvSpPr>
        <p:spPr>
          <a:xfrm>
            <a:off x="320040" y="749880"/>
            <a:ext cx="42051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Enregistrer un repository &amp; créer un snapshot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4" name="Shape 1303"/>
          <p:cNvSpPr/>
          <p:nvPr/>
        </p:nvSpPr>
        <p:spPr>
          <a:xfrm>
            <a:off x="320040" y="1115640"/>
            <a:ext cx="4205160" cy="3153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5" name="Text 1395"/>
          <p:cNvSpPr/>
          <p:nvPr/>
        </p:nvSpPr>
        <p:spPr>
          <a:xfrm>
            <a:off x="411480" y="1179720"/>
            <a:ext cx="4022280" cy="302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1. Enregistrer un repository S3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/_snapshot/backup-s3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"type": "s3",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"settings":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"bucket": "opensearch-backups",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"region": "eu-west-1",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"base_path": "prod-cluster"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2. Créer un snapshot manuel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/_snapshot/backup-s3/snapshot-2024-01-15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"indices": "logs-*,metrics-*",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"ignore_unavailable": true,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"include_global_state": false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3. Suivre la progression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/_snapshot/backup-s3/snapshot-2024-01-15/_status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6" name="Text 1396"/>
          <p:cNvSpPr/>
          <p:nvPr/>
        </p:nvSpPr>
        <p:spPr>
          <a:xfrm>
            <a:off x="4754880" y="749880"/>
            <a:ext cx="42051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Restaurer un snapshot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7" name="Shape 1304"/>
          <p:cNvSpPr/>
          <p:nvPr/>
        </p:nvSpPr>
        <p:spPr>
          <a:xfrm>
            <a:off x="4754880" y="1115640"/>
            <a:ext cx="4205160" cy="2330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8" name="Text 1397"/>
          <p:cNvSpPr/>
          <p:nvPr/>
        </p:nvSpPr>
        <p:spPr>
          <a:xfrm>
            <a:off x="4846320" y="1179720"/>
            <a:ext cx="4022280" cy="22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Lister les snapshots disponibles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/_snapshot/backup-s3/_all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Restaurer un index spécifique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POST /_snapshot/backup-s3/snapshot-2024-01-15/_restore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"indices": "logs-2024.01.14",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"rename_pattern":  "(.+)",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"rename_replacement": "restored-$1",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"index_settings":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"index.number_of_replicas": 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Surveiller la restauration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GET /_cat/recovery?v&amp;active_only=true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39" name="Shape 1305"/>
          <p:cNvSpPr/>
          <p:nvPr/>
        </p:nvSpPr>
        <p:spPr>
          <a:xfrm>
            <a:off x="4754880" y="3493080"/>
            <a:ext cx="4205160" cy="776160"/>
          </a:xfrm>
          <a:prstGeom prst="rect">
            <a:avLst/>
          </a:prstGeom>
          <a:solidFill>
            <a:srgbClr val="e6f4f7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0" name="Text 1398"/>
          <p:cNvSpPr/>
          <p:nvPr/>
        </p:nvSpPr>
        <p:spPr>
          <a:xfrm>
            <a:off x="4846320" y="3529440"/>
            <a:ext cx="402228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⚠  </a:t>
            </a:r>
            <a:r>
              <a:rPr b="0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Avant restauration :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Fermer ou supprimer l'index cible s'il existe déjà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Les réplicas peuvent être remis à 0 pour accélérer la restauration, puis réactivés ensuite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1" name="Shape 1306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2" name="Shape 1307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3" name="Text 1399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Sauvegardes – Snapshot Management (automatisation)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4" name="Text 1400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 plugin Index Management (ISM) intègre une fonctionnalité de Snapshot Management pour automatiser la création et la rétention des snapshots.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5" name="Text 1401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Via OpenSearch Dashboards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6" name="Shape 1308"/>
          <p:cNvSpPr/>
          <p:nvPr/>
        </p:nvSpPr>
        <p:spPr>
          <a:xfrm>
            <a:off x="320040" y="163692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7" name="Text 1402"/>
          <p:cNvSpPr/>
          <p:nvPr/>
        </p:nvSpPr>
        <p:spPr>
          <a:xfrm>
            <a:off x="320040" y="163692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8" name="Text 1403"/>
          <p:cNvSpPr/>
          <p:nvPr/>
        </p:nvSpPr>
        <p:spPr>
          <a:xfrm>
            <a:off x="749880" y="1600200"/>
            <a:ext cx="365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Index Management → Snapshot Management → Create policy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9" name="Shape 1309"/>
          <p:cNvSpPr/>
          <p:nvPr/>
        </p:nvSpPr>
        <p:spPr>
          <a:xfrm>
            <a:off x="320040" y="209412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0" name="Text 1404"/>
          <p:cNvSpPr/>
          <p:nvPr/>
        </p:nvSpPr>
        <p:spPr>
          <a:xfrm>
            <a:off x="320040" y="209412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1" name="Text 1405"/>
          <p:cNvSpPr/>
          <p:nvPr/>
        </p:nvSpPr>
        <p:spPr>
          <a:xfrm>
            <a:off x="749880" y="2057400"/>
            <a:ext cx="365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Définir le repository cible (backup-s3)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2" name="Shape 1310"/>
          <p:cNvSpPr/>
          <p:nvPr/>
        </p:nvSpPr>
        <p:spPr>
          <a:xfrm>
            <a:off x="320040" y="255132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3" name="Text 1406"/>
          <p:cNvSpPr/>
          <p:nvPr/>
        </p:nvSpPr>
        <p:spPr>
          <a:xfrm>
            <a:off x="320040" y="255132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4" name="Text 1407"/>
          <p:cNvSpPr/>
          <p:nvPr/>
        </p:nvSpPr>
        <p:spPr>
          <a:xfrm>
            <a:off x="749880" y="2514600"/>
            <a:ext cx="365652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Planifier via une expression cron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(ex: 0 1 * * * = chaque nuit à 1h)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5" name="Shape 1311"/>
          <p:cNvSpPr/>
          <p:nvPr/>
        </p:nvSpPr>
        <p:spPr>
          <a:xfrm>
            <a:off x="320040" y="309996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6" name="Text 1408"/>
          <p:cNvSpPr/>
          <p:nvPr/>
        </p:nvSpPr>
        <p:spPr>
          <a:xfrm>
            <a:off x="320040" y="309996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7" name="Text 1409"/>
          <p:cNvSpPr/>
          <p:nvPr/>
        </p:nvSpPr>
        <p:spPr>
          <a:xfrm>
            <a:off x="749880" y="3063240"/>
            <a:ext cx="365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Configurer la rétention (nb max, durée max)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8" name="Shape 1312"/>
          <p:cNvSpPr/>
          <p:nvPr/>
        </p:nvSpPr>
        <p:spPr>
          <a:xfrm>
            <a:off x="320040" y="3557160"/>
            <a:ext cx="346320" cy="34632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9" name="Text 1410"/>
          <p:cNvSpPr/>
          <p:nvPr/>
        </p:nvSpPr>
        <p:spPr>
          <a:xfrm>
            <a:off x="320040" y="3557160"/>
            <a:ext cx="3463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0" name="Text 1449"/>
          <p:cNvSpPr/>
          <p:nvPr/>
        </p:nvSpPr>
        <p:spPr>
          <a:xfrm>
            <a:off x="749880" y="3520440"/>
            <a:ext cx="36565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Activer et surveiller dans 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1" name="Text 1450"/>
          <p:cNvSpPr/>
          <p:nvPr/>
        </p:nvSpPr>
        <p:spPr>
          <a:xfrm>
            <a:off x="475488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Via API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2" name="Shape 1313"/>
          <p:cNvSpPr/>
          <p:nvPr/>
        </p:nvSpPr>
        <p:spPr>
          <a:xfrm>
            <a:off x="4754880" y="1600200"/>
            <a:ext cx="4205160" cy="3543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3" name="Text 1451"/>
          <p:cNvSpPr/>
          <p:nvPr/>
        </p:nvSpPr>
        <p:spPr>
          <a:xfrm>
            <a:off x="4846320" y="1664280"/>
            <a:ext cx="4022280" cy="327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POST /_plugins/_sm/policies/daily-backup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"description": "Sauvegarde quotidienne",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"creation":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"schedule":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"cron":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"expression": "0 1 * * *",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"timezone": "Europe/Paris"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"time_limit": "1h"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"deletion":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"schedule":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"cron":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"expression": "0 2 * * *",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"timezone": "Europe/Paris"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"condition":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"max_count": 30,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"max_age": "30d",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"min_count": 5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"snapshot_config":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"repository": "backup-s3",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"indices": "logs-*",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"include_global_state": false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4" name="Shape 1059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5" name="Text 1119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6" name="Text 1120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7" name="Shape 1060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8" name="Text 1121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ffffff"/>
                </a:solidFill>
                <a:latin typeface="Calibri"/>
                <a:ea typeface="Calibri"/>
              </a:rPr>
              <a:t>TLS – RBAC – Documents – Intégration Realms - Audit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9" name="Shape 1061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0" name="Shape 1062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1" name="Text 1122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Admin.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&amp;</a:t>
            </a:r>
            <a:br>
              <a:rPr sz="1400"/>
            </a:b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2" name="Shape 1063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3" name="Text 1123"/>
          <p:cNvSpPr/>
          <p:nvPr/>
        </p:nvSpPr>
        <p:spPr>
          <a:xfrm>
            <a:off x="314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4" name="Shape 1064"/>
          <p:cNvSpPr/>
          <p:nvPr/>
        </p:nvSpPr>
        <p:spPr>
          <a:xfrm>
            <a:off x="6840000" y="4545360"/>
            <a:ext cx="1080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5" name="Text 1124"/>
          <p:cNvSpPr/>
          <p:nvPr/>
        </p:nvSpPr>
        <p:spPr>
          <a:xfrm>
            <a:off x="6660000" y="452772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Sécurité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6" name="Text 1125"/>
          <p:cNvSpPr/>
          <p:nvPr/>
        </p:nvSpPr>
        <p:spPr>
          <a:xfrm>
            <a:off x="1512000" y="4546800"/>
            <a:ext cx="2138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Types de nœud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7" name="Text 1126"/>
          <p:cNvSpPr/>
          <p:nvPr/>
        </p:nvSpPr>
        <p:spPr>
          <a:xfrm>
            <a:off x="3708000" y="4546800"/>
            <a:ext cx="252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Sauvegarde et snapshot 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8" name="Text 1127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9" name="Text 1128"/>
          <p:cNvSpPr/>
          <p:nvPr/>
        </p:nvSpPr>
        <p:spPr>
          <a:xfrm>
            <a:off x="6233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0" name="Shape 1749"/>
          <p:cNvSpPr/>
          <p:nvPr/>
        </p:nvSpPr>
        <p:spPr>
          <a:xfrm>
            <a:off x="0" y="0"/>
            <a:ext cx="9142560" cy="638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1" name="Shape 1750"/>
          <p:cNvSpPr/>
          <p:nvPr/>
        </p:nvSpPr>
        <p:spPr>
          <a:xfrm>
            <a:off x="0" y="0"/>
            <a:ext cx="163080" cy="638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2" name="Text 1872"/>
          <p:cNvSpPr/>
          <p:nvPr/>
        </p:nvSpPr>
        <p:spPr>
          <a:xfrm>
            <a:off x="320040" y="0"/>
            <a:ext cx="8593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Sécurité – Certificats TLS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3" name="Text 1873"/>
          <p:cNvSpPr/>
          <p:nvPr/>
        </p:nvSpPr>
        <p:spPr>
          <a:xfrm>
            <a:off x="320040" y="713160"/>
            <a:ext cx="8502480" cy="40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OpenSearch utilise deux couches TLS indépendantes qu'il faut configurer séparément dans opensearch.yml.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4" name="Shape 1751"/>
          <p:cNvSpPr/>
          <p:nvPr/>
        </p:nvSpPr>
        <p:spPr>
          <a:xfrm>
            <a:off x="320040" y="1170360"/>
            <a:ext cx="4204800" cy="309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5" name="Text 1874"/>
          <p:cNvSpPr/>
          <p:nvPr/>
        </p:nvSpPr>
        <p:spPr>
          <a:xfrm>
            <a:off x="320040" y="1170360"/>
            <a:ext cx="42048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Transport layer (inter-nœuds)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6" name="Text 1875"/>
          <p:cNvSpPr/>
          <p:nvPr/>
        </p:nvSpPr>
        <p:spPr>
          <a:xfrm>
            <a:off x="320040" y="150876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Chiffre les communications entre nœuds du cluster. Obligatoire.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7" name="Shape 1752"/>
          <p:cNvSpPr/>
          <p:nvPr/>
        </p:nvSpPr>
        <p:spPr>
          <a:xfrm>
            <a:off x="320040" y="1883520"/>
            <a:ext cx="4204800" cy="1168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8" name="Text 1876"/>
          <p:cNvSpPr/>
          <p:nvPr/>
        </p:nvSpPr>
        <p:spPr>
          <a:xfrm>
            <a:off x="411480" y="1947600"/>
            <a:ext cx="402192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plugins.security.ssl.transport.pemcert_filepath: node.pem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plugins.security.ssl.transport.pemkey_filepath: node-key.pem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plugins.security.ssl.transport.pemtrustedcas_filepath: root-ca.pem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plugins.security.ssl.transport.enforce_hostname_verification: false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9" name="Shape 1753"/>
          <p:cNvSpPr/>
          <p:nvPr/>
        </p:nvSpPr>
        <p:spPr>
          <a:xfrm>
            <a:off x="4754880" y="1170360"/>
            <a:ext cx="4204800" cy="309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0" name="Text 1877"/>
          <p:cNvSpPr/>
          <p:nvPr/>
        </p:nvSpPr>
        <p:spPr>
          <a:xfrm>
            <a:off x="4754880" y="1170360"/>
            <a:ext cx="42048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REST layer (API HTTP)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1" name="Text 1878"/>
          <p:cNvSpPr/>
          <p:nvPr/>
        </p:nvSpPr>
        <p:spPr>
          <a:xfrm>
            <a:off x="4754880" y="1508760"/>
            <a:ext cx="4204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alibri"/>
                <a:ea typeface="Calibri"/>
              </a:rPr>
              <a:t>Chiffre les communications client ↔ cluster (HTTPS). Recommandé.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2" name="Shape 1754"/>
          <p:cNvSpPr/>
          <p:nvPr/>
        </p:nvSpPr>
        <p:spPr>
          <a:xfrm>
            <a:off x="4754880" y="1883520"/>
            <a:ext cx="4204800" cy="1168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3" name="Text 1985"/>
          <p:cNvSpPr/>
          <p:nvPr/>
        </p:nvSpPr>
        <p:spPr>
          <a:xfrm>
            <a:off x="4846320" y="1947600"/>
            <a:ext cx="402192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plugins.security.ssl.http.enabled: true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plugins.security.ssl.http.pemcert_filepath: http.pem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plugins.security.ssl.http.pemkey_filepath: http-key.pem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plugins.security.ssl.http.pemtrustedcas_filepath: root-ca.pem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4" name="Text 1986"/>
          <p:cNvSpPr/>
          <p:nvPr/>
        </p:nvSpPr>
        <p:spPr>
          <a:xfrm>
            <a:off x="320040" y="3127320"/>
            <a:ext cx="8502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Appliquer la configuration de sécurité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5" name="Shape 1755"/>
          <p:cNvSpPr/>
          <p:nvPr/>
        </p:nvSpPr>
        <p:spPr>
          <a:xfrm>
            <a:off x="320040" y="3474720"/>
            <a:ext cx="8502480" cy="12787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6" name="Text 1987"/>
          <p:cNvSpPr/>
          <p:nvPr/>
        </p:nvSpPr>
        <p:spPr>
          <a:xfrm>
            <a:off x="411480" y="3538800"/>
            <a:ext cx="8319600" cy="11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Après modification des certificats ou de la configuration security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./plugins/opensearch-security/tools/securityadmin.sh \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-cd config/opensearch-security/ \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-icl -nhnv \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-cacert config/root-ca.pem \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-cert config/admin.pem \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-key config/admin-key.pem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7" name="Shape 1756"/>
          <p:cNvSpPr/>
          <p:nvPr/>
        </p:nvSpPr>
        <p:spPr>
          <a:xfrm>
            <a:off x="0" y="0"/>
            <a:ext cx="9143280" cy="6382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8" name="Shape 1757"/>
          <p:cNvSpPr/>
          <p:nvPr/>
        </p:nvSpPr>
        <p:spPr>
          <a:xfrm>
            <a:off x="0" y="0"/>
            <a:ext cx="163080" cy="638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9" name="Text 1988"/>
          <p:cNvSpPr/>
          <p:nvPr/>
        </p:nvSpPr>
        <p:spPr>
          <a:xfrm>
            <a:off x="320040" y="0"/>
            <a:ext cx="850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Sécurité – Génération des certificats TLS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0" name="Text 1989"/>
          <p:cNvSpPr/>
          <p:nvPr/>
        </p:nvSpPr>
        <p:spPr>
          <a:xfrm>
            <a:off x="320040" y="712440"/>
            <a:ext cx="85014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0eaee"/>
                </a:solidFill>
                <a:latin typeface="Calibri"/>
                <a:ea typeface="Calibri"/>
              </a:rPr>
              <a:t>Créer une CA auto-signée et signer les certificats nœuds et admin avec OpenSSL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1" name="Shape 1758"/>
          <p:cNvSpPr/>
          <p:nvPr/>
        </p:nvSpPr>
        <p:spPr>
          <a:xfrm>
            <a:off x="320040" y="1169640"/>
            <a:ext cx="4207320" cy="310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2" name="Text 1990"/>
          <p:cNvSpPr/>
          <p:nvPr/>
        </p:nvSpPr>
        <p:spPr>
          <a:xfrm>
            <a:off x="393120" y="1169640"/>
            <a:ext cx="4097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Commandes OpenSSL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3" name="Shape 1759"/>
          <p:cNvSpPr/>
          <p:nvPr/>
        </p:nvSpPr>
        <p:spPr>
          <a:xfrm>
            <a:off x="320040" y="1517040"/>
            <a:ext cx="4207320" cy="35892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4" name="Text 1991"/>
          <p:cNvSpPr/>
          <p:nvPr/>
        </p:nvSpPr>
        <p:spPr>
          <a:xfrm>
            <a:off x="402480" y="1581120"/>
            <a:ext cx="4042800" cy="34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1. CA root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genrsa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-out root-ca-key.pem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2048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req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-new -x509 -sha256 -key root-ca-key.pem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-subj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'/CN=root-ca'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-out root-ca.pem -days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730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2. Certificat admin  (pour securityadmin.sh)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genrsa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-out admin-key-temp.pem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2048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pkcs8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-inform PEM -outform PEM -in admin-key-temp.pem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-out admin-key.pem -nocrypt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req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-new -key admin-key.pem -subj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'/CN=admin'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-out admin.csr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x509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-req -in admin.csr -CA root-ca.pem -CAkey root-ca-key.pem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-CAcreateserial -sha256 -out admin.pem -days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730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3. Certificat nœud  (SAN = noms de tous les conteneurs)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genrsa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-out node-key-temp.pem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2048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pkcs8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-inform PEM -outform PEM -in node-key-temp.pem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-out node-key.pem -nocrypt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req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-new -key node-key.pem -subj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'/CN=node'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-out node.csr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echo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"subjectAltName=DNS:localhost,DNS:os-node1,DNS:os-node2"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&gt; ext.cnf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openssl x509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-req -in node.csr -CA root-ca.pem -CAkey root-ca-key.pem \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-CAcreateserial -sha256 -out node.pem -days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730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-extfile ext.cnf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5" name="Shape 1760"/>
          <p:cNvSpPr/>
          <p:nvPr/>
        </p:nvSpPr>
        <p:spPr>
          <a:xfrm>
            <a:off x="4753800" y="1169640"/>
            <a:ext cx="4207320" cy="310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6" name="Text 2116"/>
          <p:cNvSpPr/>
          <p:nvPr/>
        </p:nvSpPr>
        <p:spPr>
          <a:xfrm>
            <a:off x="4827240" y="1169640"/>
            <a:ext cx="4097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Rôle de chaque certificat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7" name="Shape 1761"/>
          <p:cNvSpPr/>
          <p:nvPr/>
        </p:nvSpPr>
        <p:spPr>
          <a:xfrm>
            <a:off x="4753800" y="1517040"/>
            <a:ext cx="4207320" cy="8038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8" name="Shape 1762"/>
          <p:cNvSpPr/>
          <p:nvPr/>
        </p:nvSpPr>
        <p:spPr>
          <a:xfrm>
            <a:off x="4753800" y="1517040"/>
            <a:ext cx="53280" cy="803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9" name="Text 2117"/>
          <p:cNvSpPr/>
          <p:nvPr/>
        </p:nvSpPr>
        <p:spPr>
          <a:xfrm>
            <a:off x="4863600" y="1553400"/>
            <a:ext cx="40611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root-ca.pem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0" name="Text 2118"/>
          <p:cNvSpPr/>
          <p:nvPr/>
        </p:nvSpPr>
        <p:spPr>
          <a:xfrm>
            <a:off x="4863600" y="1754640"/>
            <a:ext cx="40611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CA racine auto-signée. Signe tous les autres certificats. Doit être distribuée sur chaque nœud comme CA de confiance (pemtrustedcas_filepath).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1" name="Shape 1763"/>
          <p:cNvSpPr/>
          <p:nvPr/>
        </p:nvSpPr>
        <p:spPr>
          <a:xfrm>
            <a:off x="4753800" y="2413080"/>
            <a:ext cx="4207320" cy="8038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2" name="Shape 1764"/>
          <p:cNvSpPr/>
          <p:nvPr/>
        </p:nvSpPr>
        <p:spPr>
          <a:xfrm>
            <a:off x="4753800" y="2413080"/>
            <a:ext cx="53280" cy="803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3" name="Text 2119"/>
          <p:cNvSpPr/>
          <p:nvPr/>
        </p:nvSpPr>
        <p:spPr>
          <a:xfrm>
            <a:off x="4863600" y="2449800"/>
            <a:ext cx="40611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admin.pem + key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4" name="Text 2120"/>
          <p:cNvSpPr/>
          <p:nvPr/>
        </p:nvSpPr>
        <p:spPr>
          <a:xfrm>
            <a:off x="4863600" y="2650680"/>
            <a:ext cx="40611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Certificat super-admin utilisé uniquement par securityadmin.sh pour pousser la configuration de sécurité. Ne jamais mettre sur les nœuds.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5" name="Shape 1765"/>
          <p:cNvSpPr/>
          <p:nvPr/>
        </p:nvSpPr>
        <p:spPr>
          <a:xfrm>
            <a:off x="4753800" y="3309120"/>
            <a:ext cx="4207320" cy="8038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6" name="Shape 1766"/>
          <p:cNvSpPr/>
          <p:nvPr/>
        </p:nvSpPr>
        <p:spPr>
          <a:xfrm>
            <a:off x="4753800" y="3309120"/>
            <a:ext cx="53280" cy="803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7" name="Text 2121"/>
          <p:cNvSpPr/>
          <p:nvPr/>
        </p:nvSpPr>
        <p:spPr>
          <a:xfrm>
            <a:off x="4863600" y="3345840"/>
            <a:ext cx="406116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node.pem + key</a:t>
            </a:r>
            <a:endParaRPr b="0" lang="fr-F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8" name="Text 2122"/>
          <p:cNvSpPr/>
          <p:nvPr/>
        </p:nvSpPr>
        <p:spPr>
          <a:xfrm>
            <a:off x="4863600" y="3547080"/>
            <a:ext cx="406116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Certificat de nœud utilisé pour les deux couches TLS (transport inter-nœuds ET REST HTTP). Doit inclure les SANs de tous les conteneurs.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9" name="Shape 1767"/>
          <p:cNvSpPr/>
          <p:nvPr/>
        </p:nvSpPr>
        <p:spPr>
          <a:xfrm>
            <a:off x="4753800" y="4260240"/>
            <a:ext cx="4207320" cy="65772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0" name="Shape 1768"/>
          <p:cNvSpPr/>
          <p:nvPr/>
        </p:nvSpPr>
        <p:spPr>
          <a:xfrm>
            <a:off x="4753800" y="4260240"/>
            <a:ext cx="53280" cy="6577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1" name="Text 2123"/>
          <p:cNvSpPr/>
          <p:nvPr/>
        </p:nvSpPr>
        <p:spPr>
          <a:xfrm>
            <a:off x="4845240" y="4314960"/>
            <a:ext cx="40791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7a8a"/>
                </a:solidFill>
                <a:latin typeface="Calibri"/>
                <a:ea typeface="Calibri"/>
              </a:rPr>
              <a:t>💡 </a:t>
            </a:r>
            <a:r>
              <a:rPr b="1" lang="en-US" sz="1100" spc="-1" strike="noStrike">
                <a:solidFill>
                  <a:srgbClr val="007a8a"/>
                </a:solidFill>
                <a:latin typeface="Calibri"/>
                <a:ea typeface="Calibri"/>
              </a:rPr>
              <a:t>Tip 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En production, utiliser une PKI interne ou </a:t>
            </a:r>
            <a:r>
              <a:rPr b="0" lang="en-US" sz="1100" spc="-1" strike="noStrike">
                <a:solidFill>
                  <a:srgbClr val="007a8a"/>
                </a:solidFill>
                <a:latin typeface="Calibri"/>
                <a:ea typeface="Calibri"/>
              </a:rPr>
              <a:t>cfssl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/ </a:t>
            </a:r>
            <a:r>
              <a:rPr b="0" lang="en-US" sz="1100" spc="-1" strike="noStrike">
                <a:solidFill>
                  <a:srgbClr val="007a8a"/>
                </a:solidFill>
                <a:latin typeface="Calibri"/>
                <a:ea typeface="Calibri"/>
              </a:rPr>
              <a:t>opensearch-onboarding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 pour gérer le cycle de vie des certificats. Le même certificat node peut être partagé entre tous les nœuds en lab, mais en production chaque nœud doit avoir le sien.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" name="Shape 1769"/>
          <p:cNvSpPr/>
          <p:nvPr/>
        </p:nvSpPr>
        <p:spPr>
          <a:xfrm>
            <a:off x="0" y="0"/>
            <a:ext cx="9142560" cy="638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3" name="Shape 1770"/>
          <p:cNvSpPr/>
          <p:nvPr/>
        </p:nvSpPr>
        <p:spPr>
          <a:xfrm>
            <a:off x="0" y="0"/>
            <a:ext cx="163080" cy="638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4" name="Text 2124"/>
          <p:cNvSpPr/>
          <p:nvPr/>
        </p:nvSpPr>
        <p:spPr>
          <a:xfrm>
            <a:off x="320040" y="0"/>
            <a:ext cx="8593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Sécurité – RBAC : Rôles et utilisateurs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5" name="Text 2125"/>
          <p:cNvSpPr/>
          <p:nvPr/>
        </p:nvSpPr>
        <p:spPr>
          <a:xfrm>
            <a:off x="320040" y="713160"/>
            <a:ext cx="850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 modèle RBAC (Role-Based Access Control) d'OpenSearch Security permet de contrôler finement les accès aux index, aux champs et aux données (Document Level Security).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6" name="Text 2126"/>
          <p:cNvSpPr/>
          <p:nvPr/>
        </p:nvSpPr>
        <p:spPr>
          <a:xfrm>
            <a:off x="320040" y="1234440"/>
            <a:ext cx="4113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Créer un rôle et un utilisateur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7" name="Shape 1771"/>
          <p:cNvSpPr/>
          <p:nvPr/>
        </p:nvSpPr>
        <p:spPr>
          <a:xfrm>
            <a:off x="320040" y="1581840"/>
            <a:ext cx="4204800" cy="3336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8" name="Text 2127"/>
          <p:cNvSpPr/>
          <p:nvPr/>
        </p:nvSpPr>
        <p:spPr>
          <a:xfrm>
            <a:off x="411480" y="1645920"/>
            <a:ext cx="4021920" cy="32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Créer un rôle avec permissions sur un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/_plugins/_security/api/roles/logs-reader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"cluster_permissions": ["cluster_composite_ops_ro"],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"index_permissions": [{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"index_patterns": ["logs-*"],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"allowed_actions": ["read","indices:data/read/search"]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Créer un utilisateur interne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/_plugins/_security/api/internalusers/alice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"password": "SecretP@ss1",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"backend_roles": [],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"attributes": { "dept": "ops"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# Mapper l'utilisateur au rôle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PUT /_plugins/_security/api/rolesmapping/logs-reader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6f4f7"/>
                </a:solidFill>
                <a:latin typeface="Consolas"/>
                <a:ea typeface="Consolas"/>
              </a:rPr>
              <a:t>{ "users": ["alice"]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9" name="Text 2128"/>
          <p:cNvSpPr/>
          <p:nvPr/>
        </p:nvSpPr>
        <p:spPr>
          <a:xfrm>
            <a:off x="4754880" y="1234440"/>
            <a:ext cx="4113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Rôles prédéfinis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0" name="Shape 1772"/>
          <p:cNvSpPr/>
          <p:nvPr/>
        </p:nvSpPr>
        <p:spPr>
          <a:xfrm>
            <a:off x="4754880" y="1581840"/>
            <a:ext cx="4204800" cy="4741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1" name="Shape 1773"/>
          <p:cNvSpPr/>
          <p:nvPr/>
        </p:nvSpPr>
        <p:spPr>
          <a:xfrm>
            <a:off x="4754880" y="1581840"/>
            <a:ext cx="53280" cy="474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2" name="Text 2129"/>
          <p:cNvSpPr/>
          <p:nvPr/>
        </p:nvSpPr>
        <p:spPr>
          <a:xfrm>
            <a:off x="4883040" y="1609200"/>
            <a:ext cx="1735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all_access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3" name="Text 2130"/>
          <p:cNvSpPr/>
          <p:nvPr/>
        </p:nvSpPr>
        <p:spPr>
          <a:xfrm>
            <a:off x="4883040" y="1819800"/>
            <a:ext cx="3985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Accès total au cluster (super-admin)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4" name="Shape 1774"/>
          <p:cNvSpPr/>
          <p:nvPr/>
        </p:nvSpPr>
        <p:spPr>
          <a:xfrm>
            <a:off x="4754880" y="2112120"/>
            <a:ext cx="4204800" cy="4741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5" name="Shape 1775"/>
          <p:cNvSpPr/>
          <p:nvPr/>
        </p:nvSpPr>
        <p:spPr>
          <a:xfrm>
            <a:off x="4754880" y="2112120"/>
            <a:ext cx="53280" cy="474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6" name="Text 2131"/>
          <p:cNvSpPr/>
          <p:nvPr/>
        </p:nvSpPr>
        <p:spPr>
          <a:xfrm>
            <a:off x="4883040" y="2139840"/>
            <a:ext cx="1735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security_manager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7" name="Text 2132"/>
          <p:cNvSpPr/>
          <p:nvPr/>
        </p:nvSpPr>
        <p:spPr>
          <a:xfrm>
            <a:off x="4883040" y="2350080"/>
            <a:ext cx="3985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Gestion des utilisateurs et rôles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8" name="Shape 1776"/>
          <p:cNvSpPr/>
          <p:nvPr/>
        </p:nvSpPr>
        <p:spPr>
          <a:xfrm>
            <a:off x="4754880" y="2642760"/>
            <a:ext cx="4204800" cy="4741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9" name="Shape 1777"/>
          <p:cNvSpPr/>
          <p:nvPr/>
        </p:nvSpPr>
        <p:spPr>
          <a:xfrm>
            <a:off x="4754880" y="2642760"/>
            <a:ext cx="53280" cy="474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0" name="Text 2133"/>
          <p:cNvSpPr/>
          <p:nvPr/>
        </p:nvSpPr>
        <p:spPr>
          <a:xfrm>
            <a:off x="4883040" y="2670120"/>
            <a:ext cx="1735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kibana_user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1" name="Text 2134"/>
          <p:cNvSpPr/>
          <p:nvPr/>
        </p:nvSpPr>
        <p:spPr>
          <a:xfrm>
            <a:off x="4883040" y="2880360"/>
            <a:ext cx="3985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Accès à OpenSearch Dashboards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2" name="Shape 1778"/>
          <p:cNvSpPr/>
          <p:nvPr/>
        </p:nvSpPr>
        <p:spPr>
          <a:xfrm>
            <a:off x="4754880" y="3173040"/>
            <a:ext cx="4204800" cy="4741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3" name="Shape 1779"/>
          <p:cNvSpPr/>
          <p:nvPr/>
        </p:nvSpPr>
        <p:spPr>
          <a:xfrm>
            <a:off x="4754880" y="3173040"/>
            <a:ext cx="53280" cy="474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4" name="Text 2135"/>
          <p:cNvSpPr/>
          <p:nvPr/>
        </p:nvSpPr>
        <p:spPr>
          <a:xfrm>
            <a:off x="4883040" y="3200400"/>
            <a:ext cx="1735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readall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5" name="Text 2136"/>
          <p:cNvSpPr/>
          <p:nvPr/>
        </p:nvSpPr>
        <p:spPr>
          <a:xfrm>
            <a:off x="4883040" y="3410640"/>
            <a:ext cx="3985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Lecture seule sur tous les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6" name="Shape 1780"/>
          <p:cNvSpPr/>
          <p:nvPr/>
        </p:nvSpPr>
        <p:spPr>
          <a:xfrm>
            <a:off x="4754880" y="3703320"/>
            <a:ext cx="4204800" cy="4741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7" name="Shape 1781"/>
          <p:cNvSpPr/>
          <p:nvPr/>
        </p:nvSpPr>
        <p:spPr>
          <a:xfrm>
            <a:off x="4754880" y="3703320"/>
            <a:ext cx="53280" cy="474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8" name="Text 2137"/>
          <p:cNvSpPr/>
          <p:nvPr/>
        </p:nvSpPr>
        <p:spPr>
          <a:xfrm>
            <a:off x="4883040" y="3730680"/>
            <a:ext cx="1735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logstash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9" name="Text 2138"/>
          <p:cNvSpPr/>
          <p:nvPr/>
        </p:nvSpPr>
        <p:spPr>
          <a:xfrm>
            <a:off x="4883040" y="3940920"/>
            <a:ext cx="3985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Écriture pour les agents d'ingestion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0" name="Shape 1782"/>
          <p:cNvSpPr/>
          <p:nvPr/>
        </p:nvSpPr>
        <p:spPr>
          <a:xfrm>
            <a:off x="4754880" y="4233600"/>
            <a:ext cx="4204800" cy="4741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1" name="Shape 1783"/>
          <p:cNvSpPr/>
          <p:nvPr/>
        </p:nvSpPr>
        <p:spPr>
          <a:xfrm>
            <a:off x="4754880" y="4233600"/>
            <a:ext cx="53280" cy="474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2" name="Text 2139"/>
          <p:cNvSpPr/>
          <p:nvPr/>
        </p:nvSpPr>
        <p:spPr>
          <a:xfrm>
            <a:off x="4883040" y="4260960"/>
            <a:ext cx="1735920" cy="20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snapshot_restore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3" name="Text 2140"/>
          <p:cNvSpPr/>
          <p:nvPr/>
        </p:nvSpPr>
        <p:spPr>
          <a:xfrm>
            <a:off x="4883040" y="4471560"/>
            <a:ext cx="3985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Création et restauration de snapshots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4" name="Shape 1784"/>
          <p:cNvSpPr/>
          <p:nvPr/>
        </p:nvSpPr>
        <p:spPr>
          <a:xfrm>
            <a:off x="4754880" y="4681800"/>
            <a:ext cx="4204800" cy="3459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5" name="Text 2141"/>
          <p:cNvSpPr/>
          <p:nvPr/>
        </p:nvSpPr>
        <p:spPr>
          <a:xfrm>
            <a:off x="4846320" y="4709160"/>
            <a:ext cx="40219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💡 </a:t>
            </a: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Document Level Security (DLS) : filtrer les documents visibles par rôle via une query DSL dans les index permissions.</a:t>
            </a:r>
            <a:endParaRPr b="0" lang="fr-FR" sz="95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6" name="Shape 1785"/>
          <p:cNvSpPr/>
          <p:nvPr/>
        </p:nvSpPr>
        <p:spPr>
          <a:xfrm>
            <a:off x="0" y="0"/>
            <a:ext cx="9143280" cy="6382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7" name="Shape 1786"/>
          <p:cNvSpPr/>
          <p:nvPr/>
        </p:nvSpPr>
        <p:spPr>
          <a:xfrm>
            <a:off x="0" y="0"/>
            <a:ext cx="163080" cy="638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8" name="Text 2142"/>
          <p:cNvSpPr/>
          <p:nvPr/>
        </p:nvSpPr>
        <p:spPr>
          <a:xfrm>
            <a:off x="320040" y="0"/>
            <a:ext cx="850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Document &amp; Field Level Security (DLS / FLS)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9" name="Text 2143"/>
          <p:cNvSpPr/>
          <p:nvPr/>
        </p:nvSpPr>
        <p:spPr>
          <a:xfrm>
            <a:off x="320040" y="712440"/>
            <a:ext cx="8501400" cy="38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0eaee"/>
                </a:solidFill>
                <a:latin typeface="Calibri"/>
                <a:ea typeface="Calibri"/>
              </a:rPr>
              <a:t>Restreindre les documents visibles et les champs accessibles par rôle, sans dupliquer les index.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0" name="Shape 1787"/>
          <p:cNvSpPr/>
          <p:nvPr/>
        </p:nvSpPr>
        <p:spPr>
          <a:xfrm>
            <a:off x="320040" y="1149480"/>
            <a:ext cx="4207320" cy="296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1" name="Text 2144"/>
          <p:cNvSpPr/>
          <p:nvPr/>
        </p:nvSpPr>
        <p:spPr>
          <a:xfrm>
            <a:off x="393120" y="1149480"/>
            <a:ext cx="409752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DLS — Document Level Security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2" name="Text 2145"/>
          <p:cNvSpPr/>
          <p:nvPr/>
        </p:nvSpPr>
        <p:spPr>
          <a:xfrm>
            <a:off x="320040" y="1481400"/>
            <a:ext cx="42073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0eaee"/>
                </a:solidFill>
                <a:latin typeface="Calibri"/>
                <a:ea typeface="Calibri"/>
              </a:rPr>
              <a:t>Filtrer les documents via une query DSL dans les index_permissions du rôle.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3" name="Shape 1788"/>
          <p:cNvSpPr/>
          <p:nvPr/>
        </p:nvSpPr>
        <p:spPr>
          <a:xfrm>
            <a:off x="320040" y="1848600"/>
            <a:ext cx="4207320" cy="1834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4" name="Text 2146"/>
          <p:cNvSpPr/>
          <p:nvPr/>
        </p:nvSpPr>
        <p:spPr>
          <a:xfrm>
            <a:off x="402480" y="1909440"/>
            <a:ext cx="4042800" cy="17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Seuls les logs de niveau 'error' sont visibles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PUT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/_plugins/_security/api/roles/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logs-errors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"index_permissions"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"index_patterns"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"logs-*"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],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"allowed_actions"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"read"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],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La query DLS est injectée côté serveur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"dls"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"{\"term\":{\"level\":\"error\"}}"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}]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5" name="Shape 1789"/>
          <p:cNvSpPr/>
          <p:nvPr/>
        </p:nvSpPr>
        <p:spPr>
          <a:xfrm>
            <a:off x="4753800" y="1149480"/>
            <a:ext cx="4207320" cy="296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6" name="Text 2147"/>
          <p:cNvSpPr/>
          <p:nvPr/>
        </p:nvSpPr>
        <p:spPr>
          <a:xfrm>
            <a:off x="4827240" y="1149480"/>
            <a:ext cx="409752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FLS — Field Level Security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7" name="Text 2148"/>
          <p:cNvSpPr/>
          <p:nvPr/>
        </p:nvSpPr>
        <p:spPr>
          <a:xfrm>
            <a:off x="4753800" y="1481400"/>
            <a:ext cx="4207320" cy="3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d0eaee"/>
                </a:solidFill>
                <a:latin typeface="Calibri"/>
                <a:ea typeface="Calibri"/>
              </a:rPr>
              <a:t>Inclure (~) ou exclure les champs retournés dans chaque document.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8" name="Shape 1790"/>
          <p:cNvSpPr/>
          <p:nvPr/>
        </p:nvSpPr>
        <p:spPr>
          <a:xfrm>
            <a:off x="4753800" y="1848600"/>
            <a:ext cx="4207320" cy="1834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9" name="Text 2149"/>
          <p:cNvSpPr/>
          <p:nvPr/>
        </p:nvSpPr>
        <p:spPr>
          <a:xfrm>
            <a:off x="4836240" y="1909440"/>
            <a:ext cx="404280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Masquer les champs sensibles (IP, email…)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PUT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/_plugins/_security/api/roles/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logs-masked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"index_permissions"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[{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"index_patterns"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"logs-*"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],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"allowed_actions"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"read"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],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"fls"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     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"~client_ip"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, </a:t>
            </a: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exclure ce champ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     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"~user.email"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exclure ce champ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] }] }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0" name="Shape 1791"/>
          <p:cNvSpPr/>
          <p:nvPr/>
        </p:nvSpPr>
        <p:spPr>
          <a:xfrm>
            <a:off x="320040" y="3841560"/>
            <a:ext cx="4204440" cy="119844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1" name="Shape 1792"/>
          <p:cNvSpPr/>
          <p:nvPr/>
        </p:nvSpPr>
        <p:spPr>
          <a:xfrm>
            <a:off x="320040" y="3841560"/>
            <a:ext cx="4204440" cy="2613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2" name="Text 2150"/>
          <p:cNvSpPr/>
          <p:nvPr/>
        </p:nvSpPr>
        <p:spPr>
          <a:xfrm>
            <a:off x="393120" y="3841560"/>
            <a:ext cx="40950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DLS — granularité document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3" name="Text 2151"/>
          <p:cNvSpPr/>
          <p:nvPr/>
        </p:nvSpPr>
        <p:spPr>
          <a:xfrm>
            <a:off x="411480" y="4138560"/>
            <a:ext cx="40582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Filtre sur les documents retournés (WHERE)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Query DSL standard injectée côté serveur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L'utilisateur ne peut pas contourner le filtre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Exemple : chaque équipe ne voit que ses propres logs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4" name="Shape 1793"/>
          <p:cNvSpPr/>
          <p:nvPr/>
        </p:nvSpPr>
        <p:spPr>
          <a:xfrm>
            <a:off x="4616640" y="3841560"/>
            <a:ext cx="4204440" cy="130212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5" name="Shape 1794"/>
          <p:cNvSpPr/>
          <p:nvPr/>
        </p:nvSpPr>
        <p:spPr>
          <a:xfrm>
            <a:off x="4616640" y="3841560"/>
            <a:ext cx="4204440" cy="261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6" name="Text 2152"/>
          <p:cNvSpPr/>
          <p:nvPr/>
        </p:nvSpPr>
        <p:spPr>
          <a:xfrm>
            <a:off x="4690080" y="3841560"/>
            <a:ext cx="40950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FLS — granularité champ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7" name="Text 2153"/>
          <p:cNvSpPr/>
          <p:nvPr/>
        </p:nvSpPr>
        <p:spPr>
          <a:xfrm>
            <a:off x="4708080" y="4138560"/>
            <a:ext cx="405828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Filtre sur les colonnes retournées (SELECT)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Inclusion (liste des champs autorisés) ou exclusion (~champ)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Compatible avec DLS : les deux peuvent se combiner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Exemple : masquer les IPs et emails dans les logs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8" name="Shape 1795"/>
          <p:cNvSpPr/>
          <p:nvPr/>
        </p:nvSpPr>
        <p:spPr>
          <a:xfrm>
            <a:off x="0" y="0"/>
            <a:ext cx="9142560" cy="6386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9" name="Shape 1796"/>
          <p:cNvSpPr/>
          <p:nvPr/>
        </p:nvSpPr>
        <p:spPr>
          <a:xfrm>
            <a:off x="0" y="0"/>
            <a:ext cx="163080" cy="638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0" name="Text 2154"/>
          <p:cNvSpPr/>
          <p:nvPr/>
        </p:nvSpPr>
        <p:spPr>
          <a:xfrm>
            <a:off x="320040" y="0"/>
            <a:ext cx="8593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Sécurité – Backends d'authentification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1" name="Text 2155"/>
          <p:cNvSpPr/>
          <p:nvPr/>
        </p:nvSpPr>
        <p:spPr>
          <a:xfrm>
            <a:off x="320040" y="713160"/>
            <a:ext cx="8502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OpenSearch Security supporte plusieurs backends d'authentification (authc) configurables dans config.yml. Ils sont évalués dans l'ordre de priorité défini.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2" name="Shape 1797"/>
          <p:cNvSpPr/>
          <p:nvPr/>
        </p:nvSpPr>
        <p:spPr>
          <a:xfrm>
            <a:off x="292680" y="1234440"/>
            <a:ext cx="4296240" cy="1507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3" name="Shape 1798"/>
          <p:cNvSpPr/>
          <p:nvPr/>
        </p:nvSpPr>
        <p:spPr>
          <a:xfrm>
            <a:off x="292680" y="1234440"/>
            <a:ext cx="4296240" cy="5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4" name="Text 2156"/>
          <p:cNvSpPr/>
          <p:nvPr/>
        </p:nvSpPr>
        <p:spPr>
          <a:xfrm>
            <a:off x="402480" y="1316880"/>
            <a:ext cx="40766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Basic (utilisateurs internes)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5" name="Text 2157"/>
          <p:cNvSpPr/>
          <p:nvPr/>
        </p:nvSpPr>
        <p:spPr>
          <a:xfrm>
            <a:off x="402480" y="1645920"/>
            <a:ext cx="4076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Stockage des users dans le Security Index interne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Hash bcrypt des mots de passe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Idéal pour les comptes de service et les labs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6" name="Shape 1799"/>
          <p:cNvSpPr/>
          <p:nvPr/>
        </p:nvSpPr>
        <p:spPr>
          <a:xfrm>
            <a:off x="4773240" y="1234440"/>
            <a:ext cx="4296240" cy="1507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7" name="Shape 1800"/>
          <p:cNvSpPr/>
          <p:nvPr/>
        </p:nvSpPr>
        <p:spPr>
          <a:xfrm>
            <a:off x="4773240" y="1234440"/>
            <a:ext cx="4296240" cy="532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8" name="Text 2158"/>
          <p:cNvSpPr/>
          <p:nvPr/>
        </p:nvSpPr>
        <p:spPr>
          <a:xfrm>
            <a:off x="4883040" y="1316880"/>
            <a:ext cx="40766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LDAP / Active Directory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9" name="Text 2159"/>
          <p:cNvSpPr/>
          <p:nvPr/>
        </p:nvSpPr>
        <p:spPr>
          <a:xfrm>
            <a:off x="4883040" y="1645920"/>
            <a:ext cx="4076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Connexion à un annuaire LDAP/AD existant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Synchronisation automatique des groupes → rôles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Authentification et autorisation LDAP distinctes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0" name="Shape 1801"/>
          <p:cNvSpPr/>
          <p:nvPr/>
        </p:nvSpPr>
        <p:spPr>
          <a:xfrm>
            <a:off x="292680" y="2834640"/>
            <a:ext cx="4296240" cy="1507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1" name="Shape 1802"/>
          <p:cNvSpPr/>
          <p:nvPr/>
        </p:nvSpPr>
        <p:spPr>
          <a:xfrm>
            <a:off x="292680" y="2834640"/>
            <a:ext cx="4296240" cy="5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2" name="Text 2160"/>
          <p:cNvSpPr/>
          <p:nvPr/>
        </p:nvSpPr>
        <p:spPr>
          <a:xfrm>
            <a:off x="402480" y="2917080"/>
            <a:ext cx="40766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SAML 2.0 (SSO)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3" name="Text 2161"/>
          <p:cNvSpPr/>
          <p:nvPr/>
        </p:nvSpPr>
        <p:spPr>
          <a:xfrm>
            <a:off x="402480" y="3246120"/>
            <a:ext cx="4076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SSO via un Identity Provider (Okta, Keycloak, ADFS…)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Utilisé principalement pour OpenSearch Dashboards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Flux de redirection standard SAML POST/Redirect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4" name="Shape 1803"/>
          <p:cNvSpPr/>
          <p:nvPr/>
        </p:nvSpPr>
        <p:spPr>
          <a:xfrm>
            <a:off x="4773240" y="2834640"/>
            <a:ext cx="4296240" cy="150732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5" name="Shape 1804"/>
          <p:cNvSpPr/>
          <p:nvPr/>
        </p:nvSpPr>
        <p:spPr>
          <a:xfrm>
            <a:off x="4773240" y="2834640"/>
            <a:ext cx="4296240" cy="53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6" name="Text 2162"/>
          <p:cNvSpPr/>
          <p:nvPr/>
        </p:nvSpPr>
        <p:spPr>
          <a:xfrm>
            <a:off x="4883040" y="2917080"/>
            <a:ext cx="40766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OIDC / JWT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7" name="Text 2163"/>
          <p:cNvSpPr/>
          <p:nvPr/>
        </p:nvSpPr>
        <p:spPr>
          <a:xfrm>
            <a:off x="4883040" y="3246120"/>
            <a:ext cx="4076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OpenID Connect ou tokens JWT signés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Compatible Keycloak, Auth0, Azure AD, Google…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Validation via JWKS endpoint ou secret partagé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8" name="Shape 1805"/>
          <p:cNvSpPr/>
          <p:nvPr/>
        </p:nvSpPr>
        <p:spPr>
          <a:xfrm>
            <a:off x="292680" y="4425840"/>
            <a:ext cx="8593920" cy="601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9" name="Text 2164"/>
          <p:cNvSpPr/>
          <p:nvPr/>
        </p:nvSpPr>
        <p:spPr>
          <a:xfrm>
            <a:off x="384120" y="4462200"/>
            <a:ext cx="841104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6f4f7"/>
                </a:solidFill>
                <a:latin typeface="Consolas"/>
                <a:ea typeface="Consolas"/>
              </a:rPr>
              <a:t># config/opensearch-security/config.yml — activer plusieurs backends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6f4f7"/>
                </a:solidFill>
                <a:latin typeface="Consolas"/>
                <a:ea typeface="Consolas"/>
              </a:rPr>
              <a:t>authc: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e6f4f7"/>
                </a:solidFill>
                <a:latin typeface="Consolas"/>
                <a:ea typeface="Consolas"/>
              </a:rPr>
              <a:t>ldap_auth: { order: 1, http_authenticator: {type: basic}, authentication_backend: {type: ldap, config: {…}}}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900" spc="-1" strike="noStrike">
                <a:solidFill>
                  <a:srgbClr val="e6f4f7"/>
                </a:solidFill>
                <a:latin typeface="Consolas"/>
                <a:ea typeface="Consolas"/>
              </a:rPr>
              <a:t>internal_auth: { order: 2, http_authenticator: {type: basic}, authentication_backend: {type: intern}}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0" name="Shape 1806"/>
          <p:cNvSpPr/>
          <p:nvPr/>
        </p:nvSpPr>
        <p:spPr>
          <a:xfrm>
            <a:off x="0" y="0"/>
            <a:ext cx="9143280" cy="6382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1" name="Shape 1807"/>
          <p:cNvSpPr/>
          <p:nvPr/>
        </p:nvSpPr>
        <p:spPr>
          <a:xfrm>
            <a:off x="0" y="0"/>
            <a:ext cx="163080" cy="6382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2" name="Text 2165"/>
          <p:cNvSpPr/>
          <p:nvPr/>
        </p:nvSpPr>
        <p:spPr>
          <a:xfrm>
            <a:off x="320040" y="0"/>
            <a:ext cx="8501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Sécurité – Audit Logging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3" name="Text 2166"/>
          <p:cNvSpPr/>
          <p:nvPr/>
        </p:nvSpPr>
        <p:spPr>
          <a:xfrm>
            <a:off x="320040" y="712440"/>
            <a:ext cx="85014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0eaee"/>
                </a:solidFill>
                <a:latin typeface="Calibri"/>
                <a:ea typeface="Calibri"/>
              </a:rPr>
              <a:t>Tracer qui a accédé à quoi et quand — essentiel pour la conformité (RGPD, SOC2, ISO 27001).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4" name="Shape 1808"/>
          <p:cNvSpPr/>
          <p:nvPr/>
        </p:nvSpPr>
        <p:spPr>
          <a:xfrm>
            <a:off x="320040" y="1158840"/>
            <a:ext cx="4207320" cy="303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5" name="Text 2167"/>
          <p:cNvSpPr/>
          <p:nvPr/>
        </p:nvSpPr>
        <p:spPr>
          <a:xfrm>
            <a:off x="393120" y="1158840"/>
            <a:ext cx="409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Configuration — opensearch-security/audit.yml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6" name="Shape 1809"/>
          <p:cNvSpPr/>
          <p:nvPr/>
        </p:nvSpPr>
        <p:spPr>
          <a:xfrm>
            <a:off x="320040" y="1498320"/>
            <a:ext cx="4207320" cy="350496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7" name="Text 2168"/>
          <p:cNvSpPr/>
          <p:nvPr/>
        </p:nvSpPr>
        <p:spPr>
          <a:xfrm>
            <a:off x="402480" y="1560960"/>
            <a:ext cx="4042800" cy="339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Destination : index OpenSearch interne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config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enabled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true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audit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type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"internal_opensearch"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log_request_body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false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resolve_indices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true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Compliance — traçabilité lecture/écriture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compliance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enabled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true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write_log_diffs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</a:t>
            </a: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true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d580"/>
                </a:solidFill>
                <a:latin typeface="Consolas"/>
                <a:ea typeface="Consolas"/>
              </a:rPr>
              <a:t>true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</a:t>
            </a:r>
            <a:r>
              <a:rPr b="0" lang="en-US" sz="1000" spc="-1" strike="noStrike">
                <a:solidFill>
                  <a:srgbClr val="7ec8d4"/>
                </a:solidFill>
                <a:latin typeface="Consolas"/>
                <a:ea typeface="Consolas"/>
              </a:rPr>
              <a:t>read_watched_fields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"logs-*"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: [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"client_ip"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,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"user.email"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]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 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d0eaee"/>
                </a:solidFill>
                <a:latin typeface="Consolas"/>
                <a:ea typeface="Consolas"/>
              </a:rPr>
              <a:t># Consulter les logs d'audit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GET </a:t>
            </a:r>
            <a:r>
              <a:rPr b="0" lang="en-US" sz="1000" spc="-1" strike="noStrike">
                <a:solidFill>
                  <a:srgbClr val="a8e6cf"/>
                </a:solidFill>
                <a:latin typeface="Consolas"/>
                <a:ea typeface="Consolas"/>
              </a:rPr>
              <a:t>/.opensearch-security-auditlog*</a:t>
            </a:r>
            <a:r>
              <a:rPr b="0" lang="en-US" sz="1000" spc="-1" strike="noStrike">
                <a:solidFill>
                  <a:srgbClr val="e6f4f7"/>
                </a:solidFill>
                <a:latin typeface="Consolas"/>
                <a:ea typeface="Consolas"/>
              </a:rPr>
              <a:t>/_search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8" name="Shape 1810"/>
          <p:cNvSpPr/>
          <p:nvPr/>
        </p:nvSpPr>
        <p:spPr>
          <a:xfrm>
            <a:off x="4753800" y="1158840"/>
            <a:ext cx="4207320" cy="3031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9" name="Text 2169"/>
          <p:cNvSpPr/>
          <p:nvPr/>
        </p:nvSpPr>
        <p:spPr>
          <a:xfrm>
            <a:off x="4827240" y="1158840"/>
            <a:ext cx="409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Catégories d'événements tracées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0" name="Shape 1815"/>
          <p:cNvSpPr/>
          <p:nvPr/>
        </p:nvSpPr>
        <p:spPr>
          <a:xfrm>
            <a:off x="4753800" y="1498320"/>
            <a:ext cx="4207320" cy="463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1" name="Shape 1816"/>
          <p:cNvSpPr/>
          <p:nvPr/>
        </p:nvSpPr>
        <p:spPr>
          <a:xfrm>
            <a:off x="4753800" y="1498320"/>
            <a:ext cx="53280" cy="463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2" name="Text 2170"/>
          <p:cNvSpPr/>
          <p:nvPr/>
        </p:nvSpPr>
        <p:spPr>
          <a:xfrm>
            <a:off x="4845240" y="1524960"/>
            <a:ext cx="4079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FAILED_LOGIN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3" name="Text 2171"/>
          <p:cNvSpPr/>
          <p:nvPr/>
        </p:nvSpPr>
        <p:spPr>
          <a:xfrm>
            <a:off x="4845240" y="1721520"/>
            <a:ext cx="40791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Tentatives d'authentification échouées — détection de brute-force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4" name="Shape 1886"/>
          <p:cNvSpPr/>
          <p:nvPr/>
        </p:nvSpPr>
        <p:spPr>
          <a:xfrm>
            <a:off x="4753800" y="2016000"/>
            <a:ext cx="4207320" cy="463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5" name="Shape 1887"/>
          <p:cNvSpPr/>
          <p:nvPr/>
        </p:nvSpPr>
        <p:spPr>
          <a:xfrm>
            <a:off x="4753800" y="2016000"/>
            <a:ext cx="53280" cy="463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6" name="Text 2172"/>
          <p:cNvSpPr/>
          <p:nvPr/>
        </p:nvSpPr>
        <p:spPr>
          <a:xfrm>
            <a:off x="4845240" y="2042640"/>
            <a:ext cx="4079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AUTHENTICATED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7" name="Text 2173"/>
          <p:cNvSpPr/>
          <p:nvPr/>
        </p:nvSpPr>
        <p:spPr>
          <a:xfrm>
            <a:off x="4845240" y="2239200"/>
            <a:ext cx="40791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Connexions réussies — qui s'est connecté, quand, depuis quelle IP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8" name="Shape 1888"/>
          <p:cNvSpPr/>
          <p:nvPr/>
        </p:nvSpPr>
        <p:spPr>
          <a:xfrm>
            <a:off x="4753800" y="2534040"/>
            <a:ext cx="4207320" cy="463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9" name="Shape 1889"/>
          <p:cNvSpPr/>
          <p:nvPr/>
        </p:nvSpPr>
        <p:spPr>
          <a:xfrm>
            <a:off x="4753800" y="2534040"/>
            <a:ext cx="53280" cy="463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0" name="Text 2174"/>
          <p:cNvSpPr/>
          <p:nvPr/>
        </p:nvSpPr>
        <p:spPr>
          <a:xfrm>
            <a:off x="4845240" y="2560680"/>
            <a:ext cx="4079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GRANTED_PRIVILEGES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1" name="Text 2175"/>
          <p:cNvSpPr/>
          <p:nvPr/>
        </p:nvSpPr>
        <p:spPr>
          <a:xfrm>
            <a:off x="4845240" y="2757240"/>
            <a:ext cx="40791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Actions autorisées sur les index (GET, PUT, DELETE…)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2" name="Shape 1890"/>
          <p:cNvSpPr/>
          <p:nvPr/>
        </p:nvSpPr>
        <p:spPr>
          <a:xfrm>
            <a:off x="4753800" y="3051720"/>
            <a:ext cx="4207320" cy="463680"/>
          </a:xfrm>
          <a:prstGeom prst="rect">
            <a:avLst/>
          </a:prstGeom>
          <a:solidFill>
            <a:srgbClr val="00576b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3" name="Shape 1891"/>
          <p:cNvSpPr/>
          <p:nvPr/>
        </p:nvSpPr>
        <p:spPr>
          <a:xfrm>
            <a:off x="4753800" y="3051720"/>
            <a:ext cx="53280" cy="463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4" name="Text 2176"/>
          <p:cNvSpPr/>
          <p:nvPr/>
        </p:nvSpPr>
        <p:spPr>
          <a:xfrm>
            <a:off x="4845240" y="3079080"/>
            <a:ext cx="407916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MISSING_PRIVILEGES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5" name="Text 2177"/>
          <p:cNvSpPr/>
          <p:nvPr/>
        </p:nvSpPr>
        <p:spPr>
          <a:xfrm>
            <a:off x="4845240" y="3274920"/>
            <a:ext cx="40791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Tentatives d'accès refusées — qui essaie d'accéder à quoi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6" name="Shape 1968"/>
          <p:cNvSpPr/>
          <p:nvPr/>
        </p:nvSpPr>
        <p:spPr>
          <a:xfrm>
            <a:off x="4753800" y="3570120"/>
            <a:ext cx="4207320" cy="463680"/>
          </a:xfrm>
          <a:prstGeom prst="rect">
            <a:avLst/>
          </a:prstGeom>
          <a:solidFill>
            <a:srgbClr val="003040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7" name="Shape 1969"/>
          <p:cNvSpPr/>
          <p:nvPr/>
        </p:nvSpPr>
        <p:spPr>
          <a:xfrm>
            <a:off x="4753800" y="3570120"/>
            <a:ext cx="53280" cy="4636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8" name="Text 2178"/>
          <p:cNvSpPr/>
          <p:nvPr/>
        </p:nvSpPr>
        <p:spPr>
          <a:xfrm>
            <a:off x="4845240" y="3596760"/>
            <a:ext cx="407916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INDEX_EVENT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9" name="Text 2179"/>
          <p:cNvSpPr/>
          <p:nvPr/>
        </p:nvSpPr>
        <p:spPr>
          <a:xfrm>
            <a:off x="4845240" y="3793320"/>
            <a:ext cx="40791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d0eaee"/>
                </a:solidFill>
                <a:latin typeface="Calibri"/>
                <a:ea typeface="Calibri"/>
              </a:rPr>
              <a:t>Création, suppression, modification de mapping d'index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0" name="Shape 1970"/>
          <p:cNvSpPr/>
          <p:nvPr/>
        </p:nvSpPr>
        <p:spPr>
          <a:xfrm>
            <a:off x="4753800" y="4123440"/>
            <a:ext cx="4207320" cy="91656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1" name="Shape 1971"/>
          <p:cNvSpPr/>
          <p:nvPr/>
        </p:nvSpPr>
        <p:spPr>
          <a:xfrm>
            <a:off x="4753800" y="4123440"/>
            <a:ext cx="53280" cy="9165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2" name="Text 2180"/>
          <p:cNvSpPr/>
          <p:nvPr/>
        </p:nvSpPr>
        <p:spPr>
          <a:xfrm>
            <a:off x="4845240" y="4177080"/>
            <a:ext cx="4079160" cy="8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💡 </a:t>
            </a:r>
            <a:r>
              <a:rPr b="1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Stockage  </a:t>
            </a:r>
            <a:r>
              <a:rPr b="0" lang="en-US" sz="1100" spc="-1" strike="noStrike">
                <a:solidFill>
                  <a:srgbClr val="355269"/>
                </a:solidFill>
                <a:latin typeface="Calibri"/>
                <a:ea typeface="Calibri"/>
              </a:rPr>
              <a:t>Par défaut les logs sont écrits dans un index .opensearch-security-auditlog-YYYY.MM.dd. Ils peuvent aussi être redirigés vers log4j (fichier) ou un webhook externe. Appliquer une politique ISM sur ces index pour gérer leur rétention.</a:t>
            </a:r>
            <a:endParaRPr b="0" lang="fr-FR" sz="11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3" name="Shape 1972"/>
          <p:cNvSpPr/>
          <p:nvPr/>
        </p:nvSpPr>
        <p:spPr>
          <a:xfrm>
            <a:off x="0" y="0"/>
            <a:ext cx="9142920" cy="474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4" name="Shape 1973"/>
          <p:cNvSpPr/>
          <p:nvPr/>
        </p:nvSpPr>
        <p:spPr>
          <a:xfrm>
            <a:off x="0" y="0"/>
            <a:ext cx="11772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5" name="Text 2181"/>
          <p:cNvSpPr/>
          <p:nvPr/>
        </p:nvSpPr>
        <p:spPr>
          <a:xfrm>
            <a:off x="228600" y="0"/>
            <a:ext cx="8841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Administration via OpenSearch Dashboards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6" name="Text 2182"/>
          <p:cNvSpPr/>
          <p:nvPr/>
        </p:nvSpPr>
        <p:spPr>
          <a:xfrm>
            <a:off x="274320" y="567000"/>
            <a:ext cx="85942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OpenSearch Dashboards embarque plusieurs modules d'administration accessibles depuis le menu Stack Management et le menu principal.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7" name="Shape 1974"/>
          <p:cNvSpPr/>
          <p:nvPr/>
        </p:nvSpPr>
        <p:spPr>
          <a:xfrm>
            <a:off x="201240" y="905400"/>
            <a:ext cx="4278240" cy="184608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8" name="Shape 1975"/>
          <p:cNvSpPr/>
          <p:nvPr/>
        </p:nvSpPr>
        <p:spPr>
          <a:xfrm>
            <a:off x="201240" y="905400"/>
            <a:ext cx="4278240" cy="49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9" name="Shape 1976"/>
          <p:cNvSpPr/>
          <p:nvPr/>
        </p:nvSpPr>
        <p:spPr>
          <a:xfrm>
            <a:off x="201240" y="905400"/>
            <a:ext cx="4278240" cy="291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0" name="Text 2183"/>
          <p:cNvSpPr/>
          <p:nvPr/>
        </p:nvSpPr>
        <p:spPr>
          <a:xfrm>
            <a:off x="311040" y="941760"/>
            <a:ext cx="4077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Index Management (ISM)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1" name="Text 2184"/>
          <p:cNvSpPr/>
          <p:nvPr/>
        </p:nvSpPr>
        <p:spPr>
          <a:xfrm>
            <a:off x="292680" y="1234440"/>
            <a:ext cx="411372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38160" tIns="381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Politiques de cycle de vie : hot → warm → cold → delete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Rollover, force_merge, shrink, snapshot par état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ISM Templates : applique une policy aux nouveaux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Suivi des managed indexes et de leur état courant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2" name="Shape 1977"/>
          <p:cNvSpPr/>
          <p:nvPr/>
        </p:nvSpPr>
        <p:spPr>
          <a:xfrm>
            <a:off x="4663440" y="905400"/>
            <a:ext cx="4278240" cy="184608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3" name="Shape 1978"/>
          <p:cNvSpPr/>
          <p:nvPr/>
        </p:nvSpPr>
        <p:spPr>
          <a:xfrm>
            <a:off x="4663440" y="905400"/>
            <a:ext cx="4278240" cy="493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4" name="Shape 1979"/>
          <p:cNvSpPr/>
          <p:nvPr/>
        </p:nvSpPr>
        <p:spPr>
          <a:xfrm>
            <a:off x="4663440" y="905400"/>
            <a:ext cx="4278240" cy="291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5" name="Text 2185"/>
          <p:cNvSpPr/>
          <p:nvPr/>
        </p:nvSpPr>
        <p:spPr>
          <a:xfrm>
            <a:off x="4773240" y="941760"/>
            <a:ext cx="4077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Snapshot Management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6" name="Text 2186"/>
          <p:cNvSpPr/>
          <p:nvPr/>
        </p:nvSpPr>
        <p:spPr>
          <a:xfrm>
            <a:off x="4754880" y="1234440"/>
            <a:ext cx="411372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38160" tIns="381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Création et planification (cron) des politiques de snapshot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 par repository et navigation dans les snapshots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Restauration guidée depuis l'interface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Rétention configurable : max_count, max_age, min_count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7" name="Shape 1980"/>
          <p:cNvSpPr/>
          <p:nvPr/>
        </p:nvSpPr>
        <p:spPr>
          <a:xfrm>
            <a:off x="201240" y="2880360"/>
            <a:ext cx="4278240" cy="184608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8" name="Shape 1981"/>
          <p:cNvSpPr/>
          <p:nvPr/>
        </p:nvSpPr>
        <p:spPr>
          <a:xfrm>
            <a:off x="201240" y="2880360"/>
            <a:ext cx="4278240" cy="49320"/>
          </a:xfrm>
          <a:prstGeom prst="rect">
            <a:avLst/>
          </a:prstGeom>
          <a:solidFill>
            <a:srgbClr val="2c4a52"/>
          </a:solidFill>
          <a:ln w="12700">
            <a:solidFill>
              <a:srgbClr val="2c4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9" name="Shape 1982"/>
          <p:cNvSpPr/>
          <p:nvPr/>
        </p:nvSpPr>
        <p:spPr>
          <a:xfrm>
            <a:off x="201240" y="2880360"/>
            <a:ext cx="4278240" cy="291600"/>
          </a:xfrm>
          <a:prstGeom prst="rect">
            <a:avLst/>
          </a:prstGeom>
          <a:solidFill>
            <a:srgbClr val="2c4a52"/>
          </a:solidFill>
          <a:ln w="12700">
            <a:solidFill>
              <a:srgbClr val="2c4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0" name="Text 2187"/>
          <p:cNvSpPr/>
          <p:nvPr/>
        </p:nvSpPr>
        <p:spPr>
          <a:xfrm>
            <a:off x="311040" y="2917080"/>
            <a:ext cx="4077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Security Plugin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1" name="Text 2188"/>
          <p:cNvSpPr/>
          <p:nvPr/>
        </p:nvSpPr>
        <p:spPr>
          <a:xfrm>
            <a:off x="292680" y="3209400"/>
            <a:ext cx="411372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38160" tIns="381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Gestion des utilisateurs internes (create / edit / delete)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Création et assignation des rôles (RBAC)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Mapping rôles ↔ groupes backend (LDAP, SAML…)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Audit logs : qui a accédé à quoi, quand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2" name="Shape 1983"/>
          <p:cNvSpPr/>
          <p:nvPr/>
        </p:nvSpPr>
        <p:spPr>
          <a:xfrm>
            <a:off x="4663440" y="2880360"/>
            <a:ext cx="4278240" cy="184608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3" name="Shape 1984"/>
          <p:cNvSpPr/>
          <p:nvPr/>
        </p:nvSpPr>
        <p:spPr>
          <a:xfrm>
            <a:off x="4663440" y="2880360"/>
            <a:ext cx="4278240" cy="493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4" name="Shape 1985"/>
          <p:cNvSpPr/>
          <p:nvPr/>
        </p:nvSpPr>
        <p:spPr>
          <a:xfrm>
            <a:off x="4663440" y="2880360"/>
            <a:ext cx="4278240" cy="29160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5" name="Text 2195"/>
          <p:cNvSpPr/>
          <p:nvPr/>
        </p:nvSpPr>
        <p:spPr>
          <a:xfrm>
            <a:off x="4773240" y="2917080"/>
            <a:ext cx="40770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Dev Tools &amp; Alerting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6" name="Text 2196"/>
          <p:cNvSpPr/>
          <p:nvPr/>
        </p:nvSpPr>
        <p:spPr>
          <a:xfrm>
            <a:off x="4754880" y="3209400"/>
            <a:ext cx="411372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38160" tIns="381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Console interactive : Query DSL, PPL, SQL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Alerting &gt; Monitors : seuils, anomalies ML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Notifications : email, Slack, webhook, PagerDuty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 : traces et métriques OpenTelemetry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7" name="Shape 1986"/>
          <p:cNvSpPr/>
          <p:nvPr/>
        </p:nvSpPr>
        <p:spPr>
          <a:xfrm>
            <a:off x="0" y="0"/>
            <a:ext cx="9142920" cy="474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8" name="Shape 1987"/>
          <p:cNvSpPr/>
          <p:nvPr/>
        </p:nvSpPr>
        <p:spPr>
          <a:xfrm>
            <a:off x="0" y="0"/>
            <a:ext cx="11772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9" name="Text 2197"/>
          <p:cNvSpPr/>
          <p:nvPr/>
        </p:nvSpPr>
        <p:spPr>
          <a:xfrm>
            <a:off x="228600" y="0"/>
            <a:ext cx="8841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ISM – Index State Management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0" name="Shape 1988"/>
          <p:cNvSpPr/>
          <p:nvPr/>
        </p:nvSpPr>
        <p:spPr>
          <a:xfrm>
            <a:off x="201240" y="640080"/>
            <a:ext cx="3976560" cy="438804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1" name="Shape 1989"/>
          <p:cNvSpPr/>
          <p:nvPr/>
        </p:nvSpPr>
        <p:spPr>
          <a:xfrm>
            <a:off x="201240" y="640080"/>
            <a:ext cx="3976560" cy="49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2" name="Shape 1990"/>
          <p:cNvSpPr/>
          <p:nvPr/>
        </p:nvSpPr>
        <p:spPr>
          <a:xfrm>
            <a:off x="201240" y="640080"/>
            <a:ext cx="3976560" cy="291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3" name="Text 2198"/>
          <p:cNvSpPr/>
          <p:nvPr/>
        </p:nvSpPr>
        <p:spPr>
          <a:xfrm>
            <a:off x="311040" y="676800"/>
            <a:ext cx="3784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Concepts clés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4" name="Text 2199"/>
          <p:cNvSpPr/>
          <p:nvPr/>
        </p:nvSpPr>
        <p:spPr>
          <a:xfrm>
            <a:off x="292680" y="987480"/>
            <a:ext cx="382104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Policy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— ensemble d'états et de transitions définissant le cycle de vie d'un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State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— étape du cycle : hot, warm, cold, delete (noms libres)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Action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— opération exécutée en entrant dans un état (rollover, force_merge, allocation, delete…)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Transition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— condition de passage vers l'état suivant (min_index_age, min_size, min_doc_count)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ISM Template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— applique automatiquement une policy aux nouveaux index matchant un pattern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Managed Index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  — index piloté par ISM, visible dans Dashboards &gt; Index Management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5" name="Shape 1991"/>
          <p:cNvSpPr/>
          <p:nvPr/>
        </p:nvSpPr>
        <p:spPr>
          <a:xfrm>
            <a:off x="201240" y="4155840"/>
            <a:ext cx="3976560" cy="748800"/>
          </a:xfrm>
          <a:prstGeom prst="rect">
            <a:avLst/>
          </a:prstGeom>
          <a:solidFill>
            <a:srgbClr val="e6f4f7"/>
          </a:solidFill>
          <a:ln w="12700">
            <a:solidFill>
              <a:srgbClr val="e6f4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6" name="Shape 1992"/>
          <p:cNvSpPr/>
          <p:nvPr/>
        </p:nvSpPr>
        <p:spPr>
          <a:xfrm>
            <a:off x="201240" y="4155840"/>
            <a:ext cx="49320" cy="748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7" name="Text 2200"/>
          <p:cNvSpPr/>
          <p:nvPr/>
        </p:nvSpPr>
        <p:spPr>
          <a:xfrm>
            <a:off x="274320" y="4210920"/>
            <a:ext cx="38577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007a8a"/>
                </a:solidFill>
                <a:latin typeface="Calibri"/>
                <a:ea typeface="Calibri"/>
              </a:rPr>
              <a:t>Astuce  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ISM est l'équivalent OpenSearch des </a:t>
            </a: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ILM Policies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d'Elasticsearch. Les deux concepts sont quasi identiques.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8" name="Shape 1993"/>
          <p:cNvSpPr/>
          <p:nvPr/>
        </p:nvSpPr>
        <p:spPr>
          <a:xfrm>
            <a:off x="4316040" y="640080"/>
            <a:ext cx="4616640" cy="43880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9" name="Shape 1994"/>
          <p:cNvSpPr/>
          <p:nvPr/>
        </p:nvSpPr>
        <p:spPr>
          <a:xfrm>
            <a:off x="4316040" y="640080"/>
            <a:ext cx="4616640" cy="154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0" name="Text 2201"/>
          <p:cNvSpPr/>
          <p:nvPr/>
        </p:nvSpPr>
        <p:spPr>
          <a:xfrm>
            <a:off x="4407480" y="640080"/>
            <a:ext cx="445212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PUT /_plugins/_ism/policies/logs-lifecycle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1" name="Text 2202"/>
          <p:cNvSpPr/>
          <p:nvPr/>
        </p:nvSpPr>
        <p:spPr>
          <a:xfrm>
            <a:off x="4407480" y="831960"/>
            <a:ext cx="4452120" cy="41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38160" tIns="38160" bIns="12600" anchor="t">
            <a:no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Structure minimale d'une policy ISM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"policy"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"description"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"Cycle de vie logs"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"default_state"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"hot"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"states"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[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"name"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"hot"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,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"actions"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[{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"rollover"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"min_size"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"50gb"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,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"min_doc_count"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5000000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}],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"transitions"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[{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"state_name"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"warm"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"conditions"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"min_index_age"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"7d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}]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... état warm ...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... état cold ...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  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... état delete ... 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],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"ism_template"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[{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"index_patterns"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[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"logs-*"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],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"priority"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100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}]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eaf4f6"/>
                </a:solidFill>
                <a:latin typeface="Consolas"/>
                <a:ea typeface="Consolas"/>
              </a:rPr>
              <a:t>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Shape 1995"/>
          <p:cNvSpPr/>
          <p:nvPr/>
        </p:nvSpPr>
        <p:spPr>
          <a:xfrm>
            <a:off x="0" y="0"/>
            <a:ext cx="9142920" cy="474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3" name="Shape 1996"/>
          <p:cNvSpPr/>
          <p:nvPr/>
        </p:nvSpPr>
        <p:spPr>
          <a:xfrm>
            <a:off x="0" y="0"/>
            <a:ext cx="11772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4" name="Text 2203"/>
          <p:cNvSpPr/>
          <p:nvPr/>
        </p:nvSpPr>
        <p:spPr>
          <a:xfrm>
            <a:off x="228600" y="0"/>
            <a:ext cx="8841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ISM – Politique hot → warm → cold → delete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5" name="Shape 1997"/>
          <p:cNvSpPr/>
          <p:nvPr/>
        </p:nvSpPr>
        <p:spPr>
          <a:xfrm>
            <a:off x="201240" y="658440"/>
            <a:ext cx="2010600" cy="10778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6" name="Text 2204"/>
          <p:cNvSpPr/>
          <p:nvPr/>
        </p:nvSpPr>
        <p:spPr>
          <a:xfrm>
            <a:off x="201240" y="73152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HOT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7" name="Text 2205"/>
          <p:cNvSpPr/>
          <p:nvPr/>
        </p:nvSpPr>
        <p:spPr>
          <a:xfrm>
            <a:off x="201240" y="1078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d0eef2"/>
                </a:solidFill>
                <a:latin typeface="Calibri"/>
                <a:ea typeface="Calibri"/>
              </a:rPr>
              <a:t>Écriture active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8" name="Text 2206"/>
          <p:cNvSpPr/>
          <p:nvPr/>
        </p:nvSpPr>
        <p:spPr>
          <a:xfrm>
            <a:off x="201240" y="12985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rollover ≥50GB/7j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9" name="Text 2207"/>
          <p:cNvSpPr/>
          <p:nvPr/>
        </p:nvSpPr>
        <p:spPr>
          <a:xfrm>
            <a:off x="2212920" y="1024200"/>
            <a:ext cx="21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e6ec"/>
                </a:solidFill>
                <a:latin typeface="Calibri"/>
                <a:ea typeface="Calibri"/>
              </a:rPr>
              <a:t>▶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0" name="Shape 1998"/>
          <p:cNvSpPr/>
          <p:nvPr/>
        </p:nvSpPr>
        <p:spPr>
          <a:xfrm>
            <a:off x="2432160" y="658440"/>
            <a:ext cx="2010600" cy="10778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1" name="Text 2208"/>
          <p:cNvSpPr/>
          <p:nvPr/>
        </p:nvSpPr>
        <p:spPr>
          <a:xfrm>
            <a:off x="2432160" y="73152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WARM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2" name="Text 2209"/>
          <p:cNvSpPr/>
          <p:nvPr/>
        </p:nvSpPr>
        <p:spPr>
          <a:xfrm>
            <a:off x="2432160" y="1078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d0eef2"/>
                </a:solidFill>
                <a:latin typeface="Calibri"/>
                <a:ea typeface="Calibri"/>
              </a:rPr>
              <a:t>Lecture seule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3" name="Text 2210"/>
          <p:cNvSpPr/>
          <p:nvPr/>
        </p:nvSpPr>
        <p:spPr>
          <a:xfrm>
            <a:off x="2432160" y="12985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après 30 j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4" name="Text 2211"/>
          <p:cNvSpPr/>
          <p:nvPr/>
        </p:nvSpPr>
        <p:spPr>
          <a:xfrm>
            <a:off x="4443840" y="1024200"/>
            <a:ext cx="21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e6ec"/>
                </a:solidFill>
                <a:latin typeface="Calibri"/>
                <a:ea typeface="Calibri"/>
              </a:rPr>
              <a:t>▶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5" name="Shape 1999"/>
          <p:cNvSpPr/>
          <p:nvPr/>
        </p:nvSpPr>
        <p:spPr>
          <a:xfrm>
            <a:off x="4663440" y="658440"/>
            <a:ext cx="2010600" cy="1077840"/>
          </a:xfrm>
          <a:prstGeom prst="rect">
            <a:avLst/>
          </a:prstGeom>
          <a:solidFill>
            <a:srgbClr val="2c4a52"/>
          </a:solidFill>
          <a:ln w="12700">
            <a:solidFill>
              <a:srgbClr val="2c4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6" name="Text 2212"/>
          <p:cNvSpPr/>
          <p:nvPr/>
        </p:nvSpPr>
        <p:spPr>
          <a:xfrm>
            <a:off x="4663440" y="73152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COLD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7" name="Text 2213"/>
          <p:cNvSpPr/>
          <p:nvPr/>
        </p:nvSpPr>
        <p:spPr>
          <a:xfrm>
            <a:off x="4663440" y="1078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d0eef2"/>
                </a:solidFill>
                <a:latin typeface="Calibri"/>
                <a:ea typeface="Calibri"/>
              </a:rPr>
              <a:t>Accès rare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8" name="Text 2214"/>
          <p:cNvSpPr/>
          <p:nvPr/>
        </p:nvSpPr>
        <p:spPr>
          <a:xfrm>
            <a:off x="4663440" y="12985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après 60 j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9" name="Text 2215"/>
          <p:cNvSpPr/>
          <p:nvPr/>
        </p:nvSpPr>
        <p:spPr>
          <a:xfrm>
            <a:off x="6675120" y="1024200"/>
            <a:ext cx="218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e6ec"/>
                </a:solidFill>
                <a:latin typeface="Calibri"/>
                <a:ea typeface="Calibri"/>
              </a:rPr>
              <a:t>▶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0" name="Shape 2000"/>
          <p:cNvSpPr/>
          <p:nvPr/>
        </p:nvSpPr>
        <p:spPr>
          <a:xfrm>
            <a:off x="6894720" y="658440"/>
            <a:ext cx="2010600" cy="10778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1" name="Text 2216"/>
          <p:cNvSpPr/>
          <p:nvPr/>
        </p:nvSpPr>
        <p:spPr>
          <a:xfrm>
            <a:off x="6894720" y="731520"/>
            <a:ext cx="201060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DELETE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2" name="Text 2217"/>
          <p:cNvSpPr/>
          <p:nvPr/>
        </p:nvSpPr>
        <p:spPr>
          <a:xfrm>
            <a:off x="6894720" y="1078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d0eef2"/>
                </a:solidFill>
                <a:latin typeface="Calibri"/>
                <a:ea typeface="Calibri"/>
              </a:rPr>
              <a:t>Suppression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3" name="Text 2218"/>
          <p:cNvSpPr/>
          <p:nvPr/>
        </p:nvSpPr>
        <p:spPr>
          <a:xfrm>
            <a:off x="6894720" y="12985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après 90 j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4" name="Shape 2001"/>
          <p:cNvSpPr/>
          <p:nvPr/>
        </p:nvSpPr>
        <p:spPr>
          <a:xfrm>
            <a:off x="201240" y="1892880"/>
            <a:ext cx="4342320" cy="1717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5" name="Shape 2002"/>
          <p:cNvSpPr/>
          <p:nvPr/>
        </p:nvSpPr>
        <p:spPr>
          <a:xfrm>
            <a:off x="201240" y="1892880"/>
            <a:ext cx="4342320" cy="154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6" name="Text 2219"/>
          <p:cNvSpPr/>
          <p:nvPr/>
        </p:nvSpPr>
        <p:spPr>
          <a:xfrm>
            <a:off x="292680" y="1892880"/>
            <a:ext cx="417780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État warm — actions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7" name="Text 2220"/>
          <p:cNvSpPr/>
          <p:nvPr/>
        </p:nvSpPr>
        <p:spPr>
          <a:xfrm>
            <a:off x="292680" y="2084760"/>
            <a:ext cx="4177800" cy="14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38160" tIns="38160" bIns="12600" anchor="t">
            <a:noAutofit/>
          </a:bodyPr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"actions"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[{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"force_merge"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"max_num_segments"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1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"index_settings"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"index.number_of_replicas"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1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"index.blocks.write"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true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}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"allocation"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83"/>
              </a:spcAft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"require"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"temperature"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"warm"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 } }]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8" name="Shape 2003"/>
          <p:cNvSpPr/>
          <p:nvPr/>
        </p:nvSpPr>
        <p:spPr>
          <a:xfrm>
            <a:off x="4681800" y="1892880"/>
            <a:ext cx="4223520" cy="171792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9" name="Shape 2004"/>
          <p:cNvSpPr/>
          <p:nvPr/>
        </p:nvSpPr>
        <p:spPr>
          <a:xfrm>
            <a:off x="4681800" y="1892880"/>
            <a:ext cx="4223520" cy="154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0" name="Text 2221"/>
          <p:cNvSpPr/>
          <p:nvPr/>
        </p:nvSpPr>
        <p:spPr>
          <a:xfrm>
            <a:off x="4773240" y="1892880"/>
            <a:ext cx="405900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État cold + delete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1" name="Text 2222"/>
          <p:cNvSpPr/>
          <p:nvPr/>
        </p:nvSpPr>
        <p:spPr>
          <a:xfrm>
            <a:off x="4773240" y="2084760"/>
            <a:ext cx="4059000" cy="14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38160" tIns="38160" bIns="12600" anchor="t">
            <a:no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État cold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"actions"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[{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"allocation"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"require"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"temperature"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"cold"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"index_settings"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"index.number_of_replicas"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0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 }],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État delete (snap avant)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"actions"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[{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"snapshot"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"repository"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"backup-s3"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"delete"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{} }],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"transitions"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[]  // état final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2" name="Shape 2005"/>
          <p:cNvSpPr/>
          <p:nvPr/>
        </p:nvSpPr>
        <p:spPr>
          <a:xfrm>
            <a:off x="201240" y="3749040"/>
            <a:ext cx="8731440" cy="1290960"/>
          </a:xfrm>
          <a:prstGeom prst="rect">
            <a:avLst/>
          </a:prstGeom>
          <a:solidFill>
            <a:srgbClr val="e6f4f7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3" name="Shape 2006"/>
          <p:cNvSpPr/>
          <p:nvPr/>
        </p:nvSpPr>
        <p:spPr>
          <a:xfrm>
            <a:off x="201240" y="3749040"/>
            <a:ext cx="49320" cy="1290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4" name="Text 2223"/>
          <p:cNvSpPr/>
          <p:nvPr/>
        </p:nvSpPr>
        <p:spPr>
          <a:xfrm>
            <a:off x="292680" y="3791880"/>
            <a:ext cx="8557560" cy="17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7a8a"/>
                </a:solidFill>
                <a:latin typeface="Calibri"/>
                <a:ea typeface="Calibri"/>
              </a:rPr>
              <a:t>Actions ISM disponibles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5" name="Text 2224"/>
          <p:cNvSpPr/>
          <p:nvPr/>
        </p:nvSpPr>
        <p:spPr>
          <a:xfrm>
            <a:off x="274320" y="3985920"/>
            <a:ext cx="422568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rollover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Crée un nouvel index quand taille/âge/doc atteint le seuil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    ·   </a:t>
            </a:r>
            <a:br>
              <a:rPr sz="900"/>
            </a:b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force_merge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Réduit les segments Lucene (optimise la lecture)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    ·    </a:t>
            </a:r>
            <a:br>
              <a:rPr sz="900"/>
            </a:b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shrink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Réduit le nombre de shards primaires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    ·    </a:t>
            </a:r>
            <a:br>
              <a:rPr sz="900"/>
            </a:b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index_settings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Modifie les settings de l'index (réplicas, write block…)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allocation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Déplace l'index sur des nœuds avec un attribut donné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    ·    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6" name="Text 460"/>
          <p:cNvSpPr/>
          <p:nvPr/>
        </p:nvSpPr>
        <p:spPr>
          <a:xfrm>
            <a:off x="5240160" y="3985920"/>
            <a:ext cx="343584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snapshot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Déclenche un snapshot avant suppression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    ·    </a:t>
            </a:r>
            <a:br>
              <a:rPr sz="900"/>
            </a:b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delete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Supprime définitivement l'index</a:t>
            </a:r>
            <a:r>
              <a:rPr b="0" lang="en-US" sz="900" spc="-1" strike="noStrike">
                <a:solidFill>
                  <a:srgbClr val="d0eaee"/>
                </a:solidFill>
                <a:latin typeface="Calibri"/>
                <a:ea typeface="Calibri"/>
              </a:rPr>
              <a:t>    ·    </a:t>
            </a:r>
            <a:br>
              <a:rPr sz="900"/>
            </a:br>
            <a:r>
              <a:rPr b="1" lang="en-US" sz="900" spc="-1" strike="noStrike">
                <a:solidFill>
                  <a:srgbClr val="007a8a"/>
                </a:solidFill>
                <a:latin typeface="Consolas"/>
                <a:ea typeface="Consolas"/>
              </a:rPr>
              <a:t>close / open</a:t>
            </a:r>
            <a:r>
              <a:rPr b="0" lang="en-US" sz="900" spc="-1" strike="noStrike">
                <a:solidFill>
                  <a:srgbClr val="2c4a52"/>
                </a:solidFill>
                <a:latin typeface="Calibri"/>
                <a:ea typeface="Calibri"/>
              </a:rPr>
              <a:t>  Ferme (libère RAM) ou rouvre l'index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7" name="Shape 2007"/>
          <p:cNvSpPr/>
          <p:nvPr/>
        </p:nvSpPr>
        <p:spPr>
          <a:xfrm>
            <a:off x="0" y="0"/>
            <a:ext cx="9142920" cy="474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8" name="Shape 2008"/>
          <p:cNvSpPr/>
          <p:nvPr/>
        </p:nvSpPr>
        <p:spPr>
          <a:xfrm>
            <a:off x="0" y="0"/>
            <a:ext cx="11772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9" name="Text 2225"/>
          <p:cNvSpPr/>
          <p:nvPr/>
        </p:nvSpPr>
        <p:spPr>
          <a:xfrm>
            <a:off x="228600" y="0"/>
            <a:ext cx="8841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Monitoring du cluster via Dashboards &amp; API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0" name="Shape 2009"/>
          <p:cNvSpPr/>
          <p:nvPr/>
        </p:nvSpPr>
        <p:spPr>
          <a:xfrm>
            <a:off x="201240" y="640080"/>
            <a:ext cx="2742120" cy="439272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1" name="Shape 2010"/>
          <p:cNvSpPr/>
          <p:nvPr/>
        </p:nvSpPr>
        <p:spPr>
          <a:xfrm>
            <a:off x="201240" y="640080"/>
            <a:ext cx="2742120" cy="493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2" name="Shape 2011"/>
          <p:cNvSpPr/>
          <p:nvPr/>
        </p:nvSpPr>
        <p:spPr>
          <a:xfrm>
            <a:off x="201240" y="640080"/>
            <a:ext cx="2742120" cy="291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3" name="Text 2226"/>
          <p:cNvSpPr/>
          <p:nvPr/>
        </p:nvSpPr>
        <p:spPr>
          <a:xfrm>
            <a:off x="292680" y="676800"/>
            <a:ext cx="2577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Cluster Health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4" name="Text 2227"/>
          <p:cNvSpPr/>
          <p:nvPr/>
        </p:nvSpPr>
        <p:spPr>
          <a:xfrm>
            <a:off x="292680" y="987480"/>
            <a:ext cx="2577600" cy="40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green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  tous les shards primaires ET réplicas assignés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yellow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  primaires OK, certains réplicas non assignés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red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  au moins un shard primaire manquant (perte de données possible)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/_cluster/health?pretty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/_cluster/stats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Widget de santé accessible depuis le menu Dashboards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5" name="Shape 2012"/>
          <p:cNvSpPr/>
          <p:nvPr/>
        </p:nvSpPr>
        <p:spPr>
          <a:xfrm>
            <a:off x="3145680" y="640080"/>
            <a:ext cx="2742120" cy="439272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6" name="Shape 2013"/>
          <p:cNvSpPr/>
          <p:nvPr/>
        </p:nvSpPr>
        <p:spPr>
          <a:xfrm>
            <a:off x="3145680" y="640080"/>
            <a:ext cx="2742120" cy="4932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7" name="Shape 2014"/>
          <p:cNvSpPr/>
          <p:nvPr/>
        </p:nvSpPr>
        <p:spPr>
          <a:xfrm>
            <a:off x="3145680" y="640080"/>
            <a:ext cx="2742120" cy="29160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8" name="Text 2228"/>
          <p:cNvSpPr/>
          <p:nvPr/>
        </p:nvSpPr>
        <p:spPr>
          <a:xfrm>
            <a:off x="3237120" y="676800"/>
            <a:ext cx="2577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Cat APIs — diagnostics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9" name="Text 2229"/>
          <p:cNvSpPr/>
          <p:nvPr/>
        </p:nvSpPr>
        <p:spPr>
          <a:xfrm>
            <a:off x="3237120" y="987480"/>
            <a:ext cx="2577600" cy="40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/_cat/nodes?v&amp;h=name,role,heap.percent,cpu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/_cat/indices?v&amp;s=store.size:desc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/_cat/shards?v&amp;h=index,shard,prirep,state,node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/_cat/allocation?v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/_cat/recovery?v&amp;active_only=true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onsolas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/_cat/pending_tasks?v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0" name="Shape 2015"/>
          <p:cNvSpPr/>
          <p:nvPr/>
        </p:nvSpPr>
        <p:spPr>
          <a:xfrm>
            <a:off x="6089760" y="640080"/>
            <a:ext cx="2742120" cy="4392720"/>
          </a:xfrm>
          <a:prstGeom prst="rect">
            <a:avLst/>
          </a:prstGeom>
          <a:solidFill>
            <a:srgbClr val="00576b"/>
          </a:solidFill>
          <a:ln w="6350">
            <a:solidFill>
              <a:srgbClr val="c8e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1" name="Shape 2018"/>
          <p:cNvSpPr/>
          <p:nvPr/>
        </p:nvSpPr>
        <p:spPr>
          <a:xfrm>
            <a:off x="6089760" y="640080"/>
            <a:ext cx="2742120" cy="49320"/>
          </a:xfrm>
          <a:prstGeom prst="rect">
            <a:avLst/>
          </a:prstGeom>
          <a:solidFill>
            <a:srgbClr val="2c4a52"/>
          </a:solidFill>
          <a:ln w="12700">
            <a:solidFill>
              <a:srgbClr val="2c4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2" name="Shape 2019"/>
          <p:cNvSpPr/>
          <p:nvPr/>
        </p:nvSpPr>
        <p:spPr>
          <a:xfrm>
            <a:off x="6089760" y="640080"/>
            <a:ext cx="2742120" cy="291600"/>
          </a:xfrm>
          <a:prstGeom prst="rect">
            <a:avLst/>
          </a:prstGeom>
          <a:solidFill>
            <a:srgbClr val="2c4a52"/>
          </a:solidFill>
          <a:ln w="12700">
            <a:solidFill>
              <a:srgbClr val="2c4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3" name="Text 2230"/>
          <p:cNvSpPr/>
          <p:nvPr/>
        </p:nvSpPr>
        <p:spPr>
          <a:xfrm>
            <a:off x="6181200" y="676800"/>
            <a:ext cx="2577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Alerting &amp; Observability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4" name="Text 2231"/>
          <p:cNvSpPr/>
          <p:nvPr/>
        </p:nvSpPr>
        <p:spPr>
          <a:xfrm>
            <a:off x="6181200" y="987480"/>
            <a:ext cx="2577600" cy="40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Performance Analyzer : CPU, latence, débit en temps réel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Alerting &gt; Monitors : surveille index ou métrique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Triggers : seuil, anomalie ML, clustering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Destinations : email, Slack, webhook, PagerDuty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5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▸  </a:t>
            </a:r>
            <a:r>
              <a:rPr b="0" lang="en-US" sz="920" spc="-1" strike="noStrike">
                <a:solidFill>
                  <a:srgbClr val="ffffff"/>
                </a:solidFill>
                <a:latin typeface="Calibri"/>
                <a:ea typeface="Calibri"/>
              </a:rPr>
              <a:t>Observability : traces et métriques (OpenTelemetry)</a:t>
            </a:r>
            <a:endParaRPr b="0" lang="fr-FR" sz="9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5" name="Shape 2020"/>
          <p:cNvSpPr/>
          <p:nvPr/>
        </p:nvSpPr>
        <p:spPr>
          <a:xfrm>
            <a:off x="0" y="0"/>
            <a:ext cx="9142920" cy="47448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6" name="Shape 2021"/>
          <p:cNvSpPr/>
          <p:nvPr/>
        </p:nvSpPr>
        <p:spPr>
          <a:xfrm>
            <a:off x="0" y="0"/>
            <a:ext cx="11772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7" name="Text 2232"/>
          <p:cNvSpPr/>
          <p:nvPr/>
        </p:nvSpPr>
        <p:spPr>
          <a:xfrm>
            <a:off x="228600" y="0"/>
            <a:ext cx="884124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Opérations courantes d'administration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8" name="Shape 2022"/>
          <p:cNvSpPr/>
          <p:nvPr/>
        </p:nvSpPr>
        <p:spPr>
          <a:xfrm>
            <a:off x="201240" y="640080"/>
            <a:ext cx="4314960" cy="21020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9" name="Shape 2023"/>
          <p:cNvSpPr/>
          <p:nvPr/>
        </p:nvSpPr>
        <p:spPr>
          <a:xfrm>
            <a:off x="201240" y="640080"/>
            <a:ext cx="4314960" cy="154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0" name="Text 2233"/>
          <p:cNvSpPr/>
          <p:nvPr/>
        </p:nvSpPr>
        <p:spPr>
          <a:xfrm>
            <a:off x="292680" y="640080"/>
            <a:ext cx="415044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Maintenance des index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1" name="Text 3027"/>
          <p:cNvSpPr/>
          <p:nvPr/>
        </p:nvSpPr>
        <p:spPr>
          <a:xfrm>
            <a:off x="292680" y="831960"/>
            <a:ext cx="4150440" cy="18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38160" tIns="38160" bIns="12600" anchor="t">
            <a:no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Force merge des segments (après suppressions)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POST /logs-2024.*/_forcemerge?max_num_segments=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1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Fermer / rouvrir un index (libère RAM)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POST /logs-2024.01.*/_close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POST /logs-2024.01.*/_open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Flush (écriture translog → disque)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POST /logs-*/_flush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Réindexer vers un nouvel index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POST /_reindex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"source"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"logs-old"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},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"dest"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"index"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"logs-new"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} 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2" name="Shape 2024"/>
          <p:cNvSpPr/>
          <p:nvPr/>
        </p:nvSpPr>
        <p:spPr>
          <a:xfrm>
            <a:off x="4663440" y="640080"/>
            <a:ext cx="4278240" cy="21020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3" name="Shape 2025"/>
          <p:cNvSpPr/>
          <p:nvPr/>
        </p:nvSpPr>
        <p:spPr>
          <a:xfrm>
            <a:off x="4663440" y="640080"/>
            <a:ext cx="4278240" cy="154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4" name="Text 3028"/>
          <p:cNvSpPr/>
          <p:nvPr/>
        </p:nvSpPr>
        <p:spPr>
          <a:xfrm>
            <a:off x="4754880" y="640080"/>
            <a:ext cx="411372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Allocation &amp; exclusion de nœud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5" name="Text 3029"/>
          <p:cNvSpPr/>
          <p:nvPr/>
        </p:nvSpPr>
        <p:spPr>
          <a:xfrm>
            <a:off x="4754880" y="831960"/>
            <a:ext cx="4113720" cy="18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38160" tIns="38160" bIns="12600" anchor="t">
            <a:no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Exclure un nœud (décommission progressif)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PUT /_cluster/settings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"transient"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"cluster.routing.allocation.exclude._name"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"data-node-3"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} 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Désactiver l'allocation (rolling restart)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PUT /_cluster/settings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{ </a:t>
            </a: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"transient"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{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  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"cluster.routing.allocation.enable"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"primaries"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a8e6cf"/>
                </a:solidFill>
                <a:latin typeface="Consolas"/>
                <a:ea typeface="Consolas"/>
              </a:rPr>
              <a:t>} }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Remettre à "all" après redémarrage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6" name="Shape 2026"/>
          <p:cNvSpPr/>
          <p:nvPr/>
        </p:nvSpPr>
        <p:spPr>
          <a:xfrm>
            <a:off x="201240" y="2889360"/>
            <a:ext cx="4314960" cy="21020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7" name="Shape 2027"/>
          <p:cNvSpPr/>
          <p:nvPr/>
        </p:nvSpPr>
        <p:spPr>
          <a:xfrm>
            <a:off x="201240" y="2889360"/>
            <a:ext cx="4314960" cy="154440"/>
          </a:xfrm>
          <a:prstGeom prst="rect">
            <a:avLst/>
          </a:prstGeom>
          <a:solidFill>
            <a:srgbClr val="00576b"/>
          </a:solidFill>
          <a:ln w="12700">
            <a:solidFill>
              <a:srgbClr val="0057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8" name="Text 3030"/>
          <p:cNvSpPr/>
          <p:nvPr/>
        </p:nvSpPr>
        <p:spPr>
          <a:xfrm>
            <a:off x="292680" y="2889360"/>
            <a:ext cx="4150440" cy="1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ffffff"/>
                </a:solidFill>
                <a:latin typeface="Calibri"/>
                <a:ea typeface="Calibri"/>
              </a:rPr>
              <a:t>Circuit breakers &amp; JVM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9" name="Text 3031"/>
          <p:cNvSpPr/>
          <p:nvPr/>
        </p:nvSpPr>
        <p:spPr>
          <a:xfrm>
            <a:off x="292680" y="3081600"/>
            <a:ext cx="4150440" cy="18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600" rIns="38160" tIns="38160" bIns="12600" anchor="t">
            <a:noAutofit/>
          </a:bodyPr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État des circuit breakers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GET /_nodes/stats/breaker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Mémoire JVM par nœud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GET /_nodes/stats/jvm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Quorum split-brain (opensearch.yml)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discovery.zen.minimum_master_nodes</a:t>
            </a: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: </a:t>
            </a:r>
            <a:r>
              <a:rPr b="0" lang="en-US" sz="880" spc="-1" strike="noStrike">
                <a:solidFill>
                  <a:srgbClr val="ffd580"/>
                </a:solidFill>
                <a:latin typeface="Consolas"/>
                <a:ea typeface="Consolas"/>
              </a:rPr>
              <a:t>2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Formule : (nb_managers / 2) + 1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d0eaee"/>
                </a:solidFill>
                <a:latin typeface="Consolas"/>
                <a:ea typeface="Consolas"/>
              </a:rPr>
              <a:t># Voir tâches en cours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GET /_tasks?detailed=true&amp;actions=*search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fffff"/>
                </a:solidFill>
                <a:latin typeface="Consolas"/>
                <a:ea typeface="Consolas"/>
              </a:rPr>
              <a:t>GET /_tasks?detailed=true&amp;actions=*reindex</a:t>
            </a:r>
            <a:endParaRPr b="0" lang="fr-FR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0" name="Shape 2028"/>
          <p:cNvSpPr/>
          <p:nvPr/>
        </p:nvSpPr>
        <p:spPr>
          <a:xfrm>
            <a:off x="4663440" y="2889360"/>
            <a:ext cx="4278240" cy="21020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1" name="Shape 2029"/>
          <p:cNvSpPr/>
          <p:nvPr/>
        </p:nvSpPr>
        <p:spPr>
          <a:xfrm>
            <a:off x="4663440" y="2889360"/>
            <a:ext cx="4278240" cy="273240"/>
          </a:xfrm>
          <a:prstGeom prst="rect">
            <a:avLst/>
          </a:prstGeom>
          <a:solidFill>
            <a:srgbClr val="002535"/>
          </a:solidFill>
          <a:ln w="12700">
            <a:solidFill>
              <a:srgbClr val="00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2" name="Text 3032"/>
          <p:cNvSpPr/>
          <p:nvPr/>
        </p:nvSpPr>
        <p:spPr>
          <a:xfrm>
            <a:off x="4754880" y="292608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Procédure : Rolling Restart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3" name="Text 3033"/>
          <p:cNvSpPr/>
          <p:nvPr/>
        </p:nvSpPr>
        <p:spPr>
          <a:xfrm>
            <a:off x="4736520" y="3200400"/>
            <a:ext cx="4113720" cy="175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50760" tIns="50760" bIns="255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1.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Désactiver l'allocation : cluster.routing.allocation.enable → primaries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2.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Flush : POST /_flush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3.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Arrêter le nœud (graceful shutdown)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4.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Mettre à jour config / upgrader si besoin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5.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Redémarrer et attendre qu'il rejoigne le cluster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6.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Vérifier GET /_cat/nodes — nœud present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7.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Réactiver l'allocation → all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fr-FR" sz="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7a8a"/>
                </a:solidFill>
                <a:latin typeface="Calibri"/>
                <a:ea typeface="Calibri"/>
              </a:rPr>
              <a:t>8.  </a:t>
            </a:r>
            <a:r>
              <a:rPr b="0" lang="en-US" sz="900" spc="-1" strike="noStrike">
                <a:solidFill>
                  <a:srgbClr val="eaf4f6"/>
                </a:solidFill>
                <a:latin typeface="Calibri"/>
                <a:ea typeface="Calibri"/>
              </a:rPr>
              <a:t>Attendre green avant nœud suivant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4" name="Shape 2016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5" name="Text 2189"/>
          <p:cNvSpPr/>
          <p:nvPr/>
        </p:nvSpPr>
        <p:spPr>
          <a:xfrm>
            <a:off x="502920" y="2012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6" name="Text 2190"/>
          <p:cNvSpPr/>
          <p:nvPr/>
        </p:nvSpPr>
        <p:spPr>
          <a:xfrm>
            <a:off x="502920" y="685800"/>
            <a:ext cx="8229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e8834a"/>
                </a:solidFill>
                <a:latin typeface="Calibri"/>
                <a:ea typeface="Calibri"/>
              </a:rPr>
              <a:t>Monitoring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7" name="Shape 2017"/>
          <p:cNvSpPr/>
          <p:nvPr/>
        </p:nvSpPr>
        <p:spPr>
          <a:xfrm>
            <a:off x="502920" y="2331720"/>
            <a:ext cx="813816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8" name="Shape 2120"/>
          <p:cNvSpPr/>
          <p:nvPr/>
        </p:nvSpPr>
        <p:spPr>
          <a:xfrm>
            <a:off x="5029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9" name="Text 2191"/>
          <p:cNvSpPr/>
          <p:nvPr/>
        </p:nvSpPr>
        <p:spPr>
          <a:xfrm>
            <a:off x="5029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0" name="Text 2192"/>
          <p:cNvSpPr/>
          <p:nvPr/>
        </p:nvSpPr>
        <p:spPr>
          <a:xfrm>
            <a:off x="8503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Supervision et optimisation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1" name="Shape 2121"/>
          <p:cNvSpPr/>
          <p:nvPr/>
        </p:nvSpPr>
        <p:spPr>
          <a:xfrm>
            <a:off x="4617720" y="254196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2" name="Text 2193"/>
          <p:cNvSpPr/>
          <p:nvPr/>
        </p:nvSpPr>
        <p:spPr>
          <a:xfrm>
            <a:off x="4617720" y="25419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3" name="Text 2194"/>
          <p:cNvSpPr/>
          <p:nvPr/>
        </p:nvSpPr>
        <p:spPr>
          <a:xfrm>
            <a:off x="496512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Performance Analyser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4" name="Shape 2122"/>
          <p:cNvSpPr/>
          <p:nvPr/>
        </p:nvSpPr>
        <p:spPr>
          <a:xfrm>
            <a:off x="502920" y="2962800"/>
            <a:ext cx="255600" cy="25560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5" name="Text 2400"/>
          <p:cNvSpPr/>
          <p:nvPr/>
        </p:nvSpPr>
        <p:spPr>
          <a:xfrm>
            <a:off x="50292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fr-F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6" name="Text 2401"/>
          <p:cNvSpPr/>
          <p:nvPr/>
        </p:nvSpPr>
        <p:spPr>
          <a:xfrm>
            <a:off x="85032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ffffff"/>
                </a:solidFill>
                <a:latin typeface="Calibri"/>
                <a:ea typeface="Calibri"/>
              </a:rPr>
              <a:t>Gestion du stockage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7" name="Shape 2123"/>
          <p:cNvSpPr/>
          <p:nvPr/>
        </p:nvSpPr>
        <p:spPr>
          <a:xfrm>
            <a:off x="0" y="4316040"/>
            <a:ext cx="9143640" cy="827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endParaRPr b="0" lang="en-US" sz="1050" spc="-1" strike="noStrike">
              <a:solidFill>
                <a:srgbClr val="5a8a96"/>
              </a:solidFill>
              <a:latin typeface="Calibri"/>
              <a:ea typeface="Calibri"/>
            </a:endParaRPr>
          </a:p>
        </p:txBody>
      </p:sp>
      <p:sp>
        <p:nvSpPr>
          <p:cNvPr id="5458" name="Text 2402"/>
          <p:cNvSpPr/>
          <p:nvPr/>
        </p:nvSpPr>
        <p:spPr>
          <a:xfrm>
            <a:off x="7308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1.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Introduction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9" name="Shape 2124"/>
          <p:cNvSpPr/>
          <p:nvPr/>
        </p:nvSpPr>
        <p:spPr>
          <a:xfrm>
            <a:off x="130608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0" name="Text 2403"/>
          <p:cNvSpPr/>
          <p:nvPr/>
        </p:nvSpPr>
        <p:spPr>
          <a:xfrm>
            <a:off x="13795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2. </a:t>
            </a: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Mapping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1" name="Shape 2125"/>
          <p:cNvSpPr/>
          <p:nvPr/>
        </p:nvSpPr>
        <p:spPr>
          <a:xfrm>
            <a:off x="7832520" y="4316040"/>
            <a:ext cx="1272240" cy="827280"/>
          </a:xfrm>
          <a:prstGeom prst="rect">
            <a:avLst/>
          </a:prstGeom>
          <a:solidFill>
            <a:srgbClr val="c4622a"/>
          </a:solidFill>
          <a:ln w="1270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2" name="Shape 2126"/>
          <p:cNvSpPr/>
          <p:nvPr/>
        </p:nvSpPr>
        <p:spPr>
          <a:xfrm>
            <a:off x="7832520" y="4316040"/>
            <a:ext cx="1306080" cy="637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3" name="Shape 2127"/>
          <p:cNvSpPr/>
          <p:nvPr/>
        </p:nvSpPr>
        <p:spPr>
          <a:xfrm>
            <a:off x="261252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4" name="Text 2404"/>
          <p:cNvSpPr/>
          <p:nvPr/>
        </p:nvSpPr>
        <p:spPr>
          <a:xfrm>
            <a:off x="26856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3. Ingestion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5" name="Shape 2128"/>
          <p:cNvSpPr/>
          <p:nvPr/>
        </p:nvSpPr>
        <p:spPr>
          <a:xfrm>
            <a:off x="3918600" y="4407120"/>
            <a:ext cx="360" cy="644760"/>
          </a:xfrm>
          <a:prstGeom prst="line">
            <a:avLst/>
          </a:prstGeom>
          <a:ln w="63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6" name="Text 2405"/>
          <p:cNvSpPr/>
          <p:nvPr/>
        </p:nvSpPr>
        <p:spPr>
          <a:xfrm>
            <a:off x="399204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4. DSL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7" name="Shape 2129"/>
          <p:cNvSpPr/>
          <p:nvPr/>
        </p:nvSpPr>
        <p:spPr>
          <a:xfrm>
            <a:off x="522504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8" name="Text 2406"/>
          <p:cNvSpPr/>
          <p:nvPr/>
        </p:nvSpPr>
        <p:spPr>
          <a:xfrm>
            <a:off x="529812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5. Dashboards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9" name="Shape 2130"/>
          <p:cNvSpPr/>
          <p:nvPr/>
        </p:nvSpPr>
        <p:spPr>
          <a:xfrm>
            <a:off x="653112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0" name="Text 2407"/>
          <p:cNvSpPr/>
          <p:nvPr/>
        </p:nvSpPr>
        <p:spPr>
          <a:xfrm>
            <a:off x="660456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050" spc="-1" strike="noStrike">
                <a:solidFill>
                  <a:srgbClr val="5a8a96"/>
                </a:solidFill>
                <a:latin typeface="Calibri"/>
                <a:ea typeface="Calibri"/>
              </a:rPr>
              <a:t>6. Admin &amp; Sécurité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1" name="Shape 2131"/>
          <p:cNvSpPr/>
          <p:nvPr/>
        </p:nvSpPr>
        <p:spPr>
          <a:xfrm>
            <a:off x="7837560" y="4407120"/>
            <a:ext cx="360" cy="644760"/>
          </a:xfrm>
          <a:prstGeom prst="line">
            <a:avLst/>
          </a:prstGeom>
          <a:ln w="635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2" name="Text 2408"/>
          <p:cNvSpPr/>
          <p:nvPr/>
        </p:nvSpPr>
        <p:spPr>
          <a:xfrm>
            <a:off x="7911000" y="4316040"/>
            <a:ext cx="12146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7. Monitoring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3" name="Text 2409"/>
          <p:cNvSpPr/>
          <p:nvPr/>
        </p:nvSpPr>
        <p:spPr>
          <a:xfrm>
            <a:off x="0" y="4960800"/>
            <a:ext cx="9143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4" name="Shape 2109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5" name="Text 2288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6" name="Text 2289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Supervision et optimisation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7" name="Shape 2133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8" name="Text 2290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ffffff"/>
                </a:solidFill>
                <a:latin typeface="Calibri"/>
                <a:ea typeface="Calibri"/>
              </a:rPr>
              <a:t>API _cat – Opensearch Dashboard – Alerting – Slow log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9" name="Shape 2134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0" name="Shape 2135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1" name="Text 2291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2" name="Shape 2136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3" name="Text 2292"/>
          <p:cNvSpPr/>
          <p:nvPr/>
        </p:nvSpPr>
        <p:spPr>
          <a:xfrm>
            <a:off x="422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4" name="Shape 2137"/>
          <p:cNvSpPr/>
          <p:nvPr/>
        </p:nvSpPr>
        <p:spPr>
          <a:xfrm>
            <a:off x="1584000" y="4545360"/>
            <a:ext cx="2736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5" name="Text 2293"/>
          <p:cNvSpPr/>
          <p:nvPr/>
        </p:nvSpPr>
        <p:spPr>
          <a:xfrm>
            <a:off x="7344000" y="452772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Stockage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6" name="Text 2416"/>
          <p:cNvSpPr/>
          <p:nvPr/>
        </p:nvSpPr>
        <p:spPr>
          <a:xfrm>
            <a:off x="1512000" y="4546800"/>
            <a:ext cx="288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Supervision et optimisation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7" name="Text 2417"/>
          <p:cNvSpPr/>
          <p:nvPr/>
        </p:nvSpPr>
        <p:spPr>
          <a:xfrm>
            <a:off x="4392000" y="4546800"/>
            <a:ext cx="252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Performance Analyser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8" name="Text 2418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9" name="Text 2419"/>
          <p:cNvSpPr/>
          <p:nvPr/>
        </p:nvSpPr>
        <p:spPr>
          <a:xfrm>
            <a:off x="69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0" name="Shape 1314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1" name="Shape 1315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2" name="Text 1452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Analyse des performances – API _cat et _cluster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3" name="Text 1453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L'API _cat offre des vues lisibles sur l'état du cluster. C'est le premier réflexe pour diagnostiquer un problème de performance ou d'allocation.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4" name="Text 1454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Commandes _cat essentielles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5" name="Text 1455"/>
          <p:cNvSpPr/>
          <p:nvPr/>
        </p:nvSpPr>
        <p:spPr>
          <a:xfrm>
            <a:off x="320040" y="158184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Santé globale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6" name="Shape 1316"/>
          <p:cNvSpPr/>
          <p:nvPr/>
        </p:nvSpPr>
        <p:spPr>
          <a:xfrm>
            <a:off x="320040" y="1801440"/>
            <a:ext cx="4205160" cy="2916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7" name="Text 1456"/>
          <p:cNvSpPr/>
          <p:nvPr/>
        </p:nvSpPr>
        <p:spPr>
          <a:xfrm>
            <a:off x="411480" y="186552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/_cluster/health?pretty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8" name="Text 1457"/>
          <p:cNvSpPr/>
          <p:nvPr/>
        </p:nvSpPr>
        <p:spPr>
          <a:xfrm>
            <a:off x="320040" y="216720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Nœuds + charge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9" name="Shape 1317"/>
          <p:cNvSpPr/>
          <p:nvPr/>
        </p:nvSpPr>
        <p:spPr>
          <a:xfrm>
            <a:off x="320040" y="2386440"/>
            <a:ext cx="4205160" cy="2916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0" name="Text 1458"/>
          <p:cNvSpPr/>
          <p:nvPr/>
        </p:nvSpPr>
        <p:spPr>
          <a:xfrm>
            <a:off x="411480" y="245052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/_cat/nodes?v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&amp;h=name,heap.percent,cpu,load_1m,disk.avail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1" name="Text 1459"/>
          <p:cNvSpPr/>
          <p:nvPr/>
        </p:nvSpPr>
        <p:spPr>
          <a:xfrm>
            <a:off x="320040" y="275220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Index + taille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2" name="Shape 1318"/>
          <p:cNvSpPr/>
          <p:nvPr/>
        </p:nvSpPr>
        <p:spPr>
          <a:xfrm>
            <a:off x="320040" y="2971800"/>
            <a:ext cx="4205160" cy="2916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3" name="Text 1460"/>
          <p:cNvSpPr/>
          <p:nvPr/>
        </p:nvSpPr>
        <p:spPr>
          <a:xfrm>
            <a:off x="411480" y="303588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/_cat/indices?v&amp;s=store.size:desc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4" name="Text 1461"/>
          <p:cNvSpPr/>
          <p:nvPr/>
        </p:nvSpPr>
        <p:spPr>
          <a:xfrm>
            <a:off x="320040" y="333756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Shards non assignés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5" name="Shape 1319"/>
          <p:cNvSpPr/>
          <p:nvPr/>
        </p:nvSpPr>
        <p:spPr>
          <a:xfrm>
            <a:off x="320040" y="3557160"/>
            <a:ext cx="4205160" cy="2916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6" name="Text 1462"/>
          <p:cNvSpPr/>
          <p:nvPr/>
        </p:nvSpPr>
        <p:spPr>
          <a:xfrm>
            <a:off x="411480" y="362088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/_cat/shards?v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&amp;h=index,shard,prirep,state,node&amp;s=state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7" name="Text 1463"/>
          <p:cNvSpPr/>
          <p:nvPr/>
        </p:nvSpPr>
        <p:spPr>
          <a:xfrm>
            <a:off x="320040" y="392292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Tâches en cours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8" name="Shape 1320"/>
          <p:cNvSpPr/>
          <p:nvPr/>
        </p:nvSpPr>
        <p:spPr>
          <a:xfrm>
            <a:off x="320040" y="4142160"/>
            <a:ext cx="4205160" cy="2916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9" name="Text 1464"/>
          <p:cNvSpPr/>
          <p:nvPr/>
        </p:nvSpPr>
        <p:spPr>
          <a:xfrm>
            <a:off x="411480" y="420624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/_cat/tasks?v&amp;detailed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0" name="Text 1465"/>
          <p:cNvSpPr/>
          <p:nvPr/>
        </p:nvSpPr>
        <p:spPr>
          <a:xfrm>
            <a:off x="320040" y="4507920"/>
            <a:ext cx="41137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Threads pools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1" name="Shape 1321"/>
          <p:cNvSpPr/>
          <p:nvPr/>
        </p:nvSpPr>
        <p:spPr>
          <a:xfrm>
            <a:off x="320040" y="4727520"/>
            <a:ext cx="4205160" cy="2916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2" name="Text 1466"/>
          <p:cNvSpPr/>
          <p:nvPr/>
        </p:nvSpPr>
        <p:spPr>
          <a:xfrm>
            <a:off x="411480" y="4791600"/>
            <a:ext cx="40222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/_cat/thread_pool?v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&amp;h=name,active,queue,rejected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3" name="Text 1467"/>
          <p:cNvSpPr/>
          <p:nvPr/>
        </p:nvSpPr>
        <p:spPr>
          <a:xfrm>
            <a:off x="475488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Diagnostics avancés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4" name="Shape 1322"/>
          <p:cNvSpPr/>
          <p:nvPr/>
        </p:nvSpPr>
        <p:spPr>
          <a:xfrm>
            <a:off x="4754880" y="1581840"/>
            <a:ext cx="4205160" cy="32634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5" name="Text 1468"/>
          <p:cNvSpPr/>
          <p:nvPr/>
        </p:nvSpPr>
        <p:spPr>
          <a:xfrm>
            <a:off x="4846320" y="1645920"/>
            <a:ext cx="4022280" cy="31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Statistiques détaillées par nœud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/_nodes/stats/indices,os,jvm,process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Index les plus lourds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/_cat/indices?v&amp;s=pri.store.size:desc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&amp;h=index,docs.count,store.size,pri.store.size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Cause des shards non assignés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/_cluster/allocation/explain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"index": "mon-index",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"shard": 0,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"primary": true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Requêtes en attente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/_tasks?actions=*search*&amp;detailed=true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Utilisation des segments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/_cat/segments?v&amp;h=index,shard,segment,size,docs.count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6" name="Shape 1323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7" name="Shape 1324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8" name="Text 1469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Administration dans OpenSearch Dashboards – Stack Management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9" name="Shape 1325"/>
          <p:cNvSpPr/>
          <p:nvPr/>
        </p:nvSpPr>
        <p:spPr>
          <a:xfrm>
            <a:off x="8686800" y="0"/>
            <a:ext cx="437760" cy="3006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0" name="Text 1470"/>
          <p:cNvSpPr/>
          <p:nvPr/>
        </p:nvSpPr>
        <p:spPr>
          <a:xfrm>
            <a:off x="8686800" y="0"/>
            <a:ext cx="4377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M6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1" name="Text 1471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Stack Management centralise toutes les fonctions d'administration depuis l'interface web — index, templates, snapshots, alertes, et outils de diagnostic.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2" name="Text 1472"/>
          <p:cNvSpPr/>
          <p:nvPr/>
        </p:nvSpPr>
        <p:spPr>
          <a:xfrm>
            <a:off x="320040" y="118872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Stack Management — sections clés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3" name="Shape 1326"/>
          <p:cNvSpPr/>
          <p:nvPr/>
        </p:nvSpPr>
        <p:spPr>
          <a:xfrm>
            <a:off x="320040" y="1536120"/>
            <a:ext cx="4205160" cy="7851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4" name="Shape 1327"/>
          <p:cNvSpPr/>
          <p:nvPr/>
        </p:nvSpPr>
        <p:spPr>
          <a:xfrm>
            <a:off x="320040" y="1536120"/>
            <a:ext cx="53640" cy="7851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5" name="Text 1473"/>
          <p:cNvSpPr/>
          <p:nvPr/>
        </p:nvSpPr>
        <p:spPr>
          <a:xfrm>
            <a:off x="448200" y="1581840"/>
            <a:ext cx="4040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Index Management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6" name="Text 1474"/>
          <p:cNvSpPr/>
          <p:nvPr/>
        </p:nvSpPr>
        <p:spPr>
          <a:xfrm>
            <a:off x="448200" y="1828800"/>
            <a:ext cx="4040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Gérer les index, politiques ISM, templates. Visualiser l'état ISM par index. Déclencher un rollover ou une transition manuellement.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7" name="Shape 1328"/>
          <p:cNvSpPr/>
          <p:nvPr/>
        </p:nvSpPr>
        <p:spPr>
          <a:xfrm>
            <a:off x="320040" y="2423160"/>
            <a:ext cx="4205160" cy="7851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8" name="Shape 1362"/>
          <p:cNvSpPr/>
          <p:nvPr/>
        </p:nvSpPr>
        <p:spPr>
          <a:xfrm>
            <a:off x="320040" y="2423160"/>
            <a:ext cx="53640" cy="7851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9" name="Text 1475"/>
          <p:cNvSpPr/>
          <p:nvPr/>
        </p:nvSpPr>
        <p:spPr>
          <a:xfrm>
            <a:off x="448200" y="2468880"/>
            <a:ext cx="4040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Index Patterns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0" name="Text 1476"/>
          <p:cNvSpPr/>
          <p:nvPr/>
        </p:nvSpPr>
        <p:spPr>
          <a:xfrm>
            <a:off x="448200" y="2715840"/>
            <a:ext cx="4040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Créer / modifier les index patterns utilisés par Discover et Visualize. Rafraîchir les champs après un changement de mapping.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1" name="Shape 1363"/>
          <p:cNvSpPr/>
          <p:nvPr/>
        </p:nvSpPr>
        <p:spPr>
          <a:xfrm>
            <a:off x="320040" y="3310200"/>
            <a:ext cx="4205160" cy="78516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2" name="Shape 1364"/>
          <p:cNvSpPr/>
          <p:nvPr/>
        </p:nvSpPr>
        <p:spPr>
          <a:xfrm>
            <a:off x="320040" y="3310200"/>
            <a:ext cx="53640" cy="785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3" name="Text 1477"/>
          <p:cNvSpPr/>
          <p:nvPr/>
        </p:nvSpPr>
        <p:spPr>
          <a:xfrm>
            <a:off x="448200" y="3355920"/>
            <a:ext cx="4040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Snapshot Management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4" name="Text 1478"/>
          <p:cNvSpPr/>
          <p:nvPr/>
        </p:nvSpPr>
        <p:spPr>
          <a:xfrm>
            <a:off x="448200" y="3602880"/>
            <a:ext cx="4040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Créer des repositories (S3, filesystem). Planifier des snapshots automatiques (SLM). Restaurer depuis l'interface.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5" name="Shape 1365"/>
          <p:cNvSpPr/>
          <p:nvPr/>
        </p:nvSpPr>
        <p:spPr>
          <a:xfrm>
            <a:off x="320040" y="4197240"/>
            <a:ext cx="4205160" cy="78516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6" name="Shape 1366"/>
          <p:cNvSpPr/>
          <p:nvPr/>
        </p:nvSpPr>
        <p:spPr>
          <a:xfrm>
            <a:off x="320040" y="4197240"/>
            <a:ext cx="53640" cy="7851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7" name="Text 1479"/>
          <p:cNvSpPr/>
          <p:nvPr/>
        </p:nvSpPr>
        <p:spPr>
          <a:xfrm>
            <a:off x="448200" y="4242960"/>
            <a:ext cx="4040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834a"/>
                </a:solidFill>
                <a:latin typeface="Calibri"/>
                <a:ea typeface="Calibri"/>
              </a:rPr>
              <a:t>Alerting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8" name="Text 1480"/>
          <p:cNvSpPr/>
          <p:nvPr/>
        </p:nvSpPr>
        <p:spPr>
          <a:xfrm>
            <a:off x="448200" y="4489560"/>
            <a:ext cx="40406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Créer des monitors sur seuils (cluster health, heap, latence). Configurer destinations : email, Slack, webhook PagerDuty.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9" name="Text 1481"/>
          <p:cNvSpPr/>
          <p:nvPr/>
        </p:nvSpPr>
        <p:spPr>
          <a:xfrm>
            <a:off x="4754880" y="118872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Dev Tools – outils intégrés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0" name="Shape 1367"/>
          <p:cNvSpPr/>
          <p:nvPr/>
        </p:nvSpPr>
        <p:spPr>
          <a:xfrm>
            <a:off x="4754880" y="1536120"/>
            <a:ext cx="4205160" cy="12243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1" name="Text 1482"/>
          <p:cNvSpPr/>
          <p:nvPr/>
        </p:nvSpPr>
        <p:spPr>
          <a:xfrm>
            <a:off x="4846320" y="1600200"/>
            <a:ext cx="406800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Console — requêtes REST interactives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GET /_cluster/health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GET /_cat/indices?v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POST /mon-index/_search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{ "query": { "match_all": {} 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Search Profiler — analyser le temps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d'exécution d'une requête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Bouton Profile dans la Console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2" name="Text 1483"/>
          <p:cNvSpPr/>
          <p:nvPr/>
        </p:nvSpPr>
        <p:spPr>
          <a:xfrm>
            <a:off x="4754880" y="283464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Index Management UI — workflow ISM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3" name="Shape 1368"/>
          <p:cNvSpPr/>
          <p:nvPr/>
        </p:nvSpPr>
        <p:spPr>
          <a:xfrm>
            <a:off x="4754880" y="3182040"/>
            <a:ext cx="4205160" cy="118764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4" name="Text 1484"/>
          <p:cNvSpPr/>
          <p:nvPr/>
        </p:nvSpPr>
        <p:spPr>
          <a:xfrm>
            <a:off x="4846320" y="3246120"/>
            <a:ext cx="406800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Depuis Index Management → Policies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→ Apply policy to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Vérifier l'état ISM d'un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GET /_plugins/_ism/explain/mon-index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# Forcer une transition manuelle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POST /_plugins/_ism/retry/mon-index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{ "state": "warm"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5" name="Shape 1369"/>
          <p:cNvSpPr/>
          <p:nvPr/>
        </p:nvSpPr>
        <p:spPr>
          <a:xfrm>
            <a:off x="4754880" y="4443840"/>
            <a:ext cx="420516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6" name="Shape 1370"/>
          <p:cNvSpPr/>
          <p:nvPr/>
        </p:nvSpPr>
        <p:spPr>
          <a:xfrm>
            <a:off x="4754880" y="4443840"/>
            <a:ext cx="53640" cy="401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7" name="Text 1485"/>
          <p:cNvSpPr/>
          <p:nvPr/>
        </p:nvSpPr>
        <p:spPr>
          <a:xfrm>
            <a:off x="4883040" y="4489560"/>
            <a:ext cx="402228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La Console Dev Tools supporte l'autocomplétion (Ctrl+Espace) et le Search Profiler visualise graphiquement quel composant de la requête prend du temps.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8" name="Shape 1384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9" name="Shape 1385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0" name="Text 1844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Alerting – Monitors, triggers et destinations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1" name="Shape 1386"/>
          <p:cNvSpPr/>
          <p:nvPr/>
        </p:nvSpPr>
        <p:spPr>
          <a:xfrm>
            <a:off x="8686800" y="0"/>
            <a:ext cx="437760" cy="3006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2" name="Text 1845"/>
          <p:cNvSpPr/>
          <p:nvPr/>
        </p:nvSpPr>
        <p:spPr>
          <a:xfrm>
            <a:off x="8686800" y="0"/>
            <a:ext cx="43776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M6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3" name="Text 1846"/>
          <p:cNvSpPr/>
          <p:nvPr/>
        </p:nvSpPr>
        <p:spPr>
          <a:xfrm>
            <a:off x="320040" y="713160"/>
            <a:ext cx="85028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 plugin Alerting permet de surveiller en continu l'état du cluster et des données, et de notifier via email, Slack ou webhook dès qu'un seuil est franchi.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4" name="Shape 1387"/>
          <p:cNvSpPr/>
          <p:nvPr/>
        </p:nvSpPr>
        <p:spPr>
          <a:xfrm>
            <a:off x="320040" y="1170360"/>
            <a:ext cx="1827720" cy="65736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5" name="Text 1847"/>
          <p:cNvSpPr/>
          <p:nvPr/>
        </p:nvSpPr>
        <p:spPr>
          <a:xfrm>
            <a:off x="320040" y="117036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Monitor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6" name="Text 1848"/>
          <p:cNvSpPr/>
          <p:nvPr/>
        </p:nvSpPr>
        <p:spPr>
          <a:xfrm>
            <a:off x="320040" y="1517760"/>
            <a:ext cx="1827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Requête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planifiée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7" name="Text 1849"/>
          <p:cNvSpPr/>
          <p:nvPr/>
        </p:nvSpPr>
        <p:spPr>
          <a:xfrm>
            <a:off x="2148840" y="1280160"/>
            <a:ext cx="227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8" name="Shape 1388"/>
          <p:cNvSpPr/>
          <p:nvPr/>
        </p:nvSpPr>
        <p:spPr>
          <a:xfrm>
            <a:off x="2267640" y="1170360"/>
            <a:ext cx="1827720" cy="657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9" name="Text 1850"/>
          <p:cNvSpPr/>
          <p:nvPr/>
        </p:nvSpPr>
        <p:spPr>
          <a:xfrm>
            <a:off x="2267640" y="117036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Trigger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0" name="Text 1851"/>
          <p:cNvSpPr/>
          <p:nvPr/>
        </p:nvSpPr>
        <p:spPr>
          <a:xfrm>
            <a:off x="2267640" y="1517760"/>
            <a:ext cx="1827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Condition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de seuil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1" name="Text 1852"/>
          <p:cNvSpPr/>
          <p:nvPr/>
        </p:nvSpPr>
        <p:spPr>
          <a:xfrm>
            <a:off x="4096440" y="1280160"/>
            <a:ext cx="227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2" name="Shape 1389"/>
          <p:cNvSpPr/>
          <p:nvPr/>
        </p:nvSpPr>
        <p:spPr>
          <a:xfrm>
            <a:off x="4215240" y="1170360"/>
            <a:ext cx="1827720" cy="65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3" name="Text 1853"/>
          <p:cNvSpPr/>
          <p:nvPr/>
        </p:nvSpPr>
        <p:spPr>
          <a:xfrm>
            <a:off x="4215240" y="117036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Action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4" name="Text 1854"/>
          <p:cNvSpPr/>
          <p:nvPr/>
        </p:nvSpPr>
        <p:spPr>
          <a:xfrm>
            <a:off x="4215240" y="1517760"/>
            <a:ext cx="1827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Notification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déclenchée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5" name="Text 1855"/>
          <p:cNvSpPr/>
          <p:nvPr/>
        </p:nvSpPr>
        <p:spPr>
          <a:xfrm>
            <a:off x="6044040" y="1280160"/>
            <a:ext cx="227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8834a"/>
                </a:solidFill>
                <a:latin typeface="Calibri"/>
                <a:ea typeface="Calibri"/>
              </a:rPr>
              <a:t>→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6" name="Shape 1390"/>
          <p:cNvSpPr/>
          <p:nvPr/>
        </p:nvSpPr>
        <p:spPr>
          <a:xfrm>
            <a:off x="6163200" y="1170360"/>
            <a:ext cx="1827720" cy="6573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7" name="Text 1856"/>
          <p:cNvSpPr/>
          <p:nvPr/>
        </p:nvSpPr>
        <p:spPr>
          <a:xfrm>
            <a:off x="6163200" y="1170360"/>
            <a:ext cx="18277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Destination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8" name="Text 1857"/>
          <p:cNvSpPr/>
          <p:nvPr/>
        </p:nvSpPr>
        <p:spPr>
          <a:xfrm>
            <a:off x="6163200" y="1517760"/>
            <a:ext cx="1827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Email · Slack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c8e8f4"/>
                </a:solidFill>
                <a:latin typeface="Calibri"/>
                <a:ea typeface="Calibri"/>
              </a:rPr>
              <a:t>Webhook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9" name="Text 1858"/>
          <p:cNvSpPr/>
          <p:nvPr/>
        </p:nvSpPr>
        <p:spPr>
          <a:xfrm>
            <a:off x="320040" y="197496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Monitor — cluster health (via API)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0" name="Shape 1391"/>
          <p:cNvSpPr/>
          <p:nvPr/>
        </p:nvSpPr>
        <p:spPr>
          <a:xfrm>
            <a:off x="320040" y="2322720"/>
            <a:ext cx="4205160" cy="230328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1" name="Text 1859"/>
          <p:cNvSpPr/>
          <p:nvPr/>
        </p:nvSpPr>
        <p:spPr>
          <a:xfrm>
            <a:off x="411480" y="2386440"/>
            <a:ext cx="4068000" cy="22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POST /_plugins/_alerting/monitors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"name": "Cluster Health Monitor",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"type": "monitor",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"enabled": true,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"schedule":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"period": { "interval": 1, "unit": "MINUTES"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"inputs": [{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"search":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"indices": [".opensearch-alerting*"],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"query":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"size": 1,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"query": { "match_all": {}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"triggers": [{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"name": "Cluster non-green",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"severity": "1",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"condition":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"script":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"source": "ctx.results[0].hits.total.value &gt; 0"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urier New"/>
                <a:ea typeface="Courier New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2" name="Text 1860"/>
          <p:cNvSpPr/>
          <p:nvPr/>
        </p:nvSpPr>
        <p:spPr>
          <a:xfrm>
            <a:off x="4754880" y="1974960"/>
            <a:ext cx="4205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Calibri"/>
                <a:ea typeface="Calibri"/>
              </a:rPr>
              <a:t>Cas d'usage recommandés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3" name="Shape 1392"/>
          <p:cNvSpPr/>
          <p:nvPr/>
        </p:nvSpPr>
        <p:spPr>
          <a:xfrm>
            <a:off x="4754880" y="2322720"/>
            <a:ext cx="4205160" cy="4561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4" name="Shape 1393"/>
          <p:cNvSpPr/>
          <p:nvPr/>
        </p:nvSpPr>
        <p:spPr>
          <a:xfrm>
            <a:off x="4754880" y="2322720"/>
            <a:ext cx="53640" cy="456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5" name="Text 1861"/>
          <p:cNvSpPr/>
          <p:nvPr/>
        </p:nvSpPr>
        <p:spPr>
          <a:xfrm>
            <a:off x="4883040" y="235908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Cluster status ≠ green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6" name="Text 1862"/>
          <p:cNvSpPr/>
          <p:nvPr/>
        </p:nvSpPr>
        <p:spPr>
          <a:xfrm>
            <a:off x="4883040" y="256932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Trigger dès que status=yellow ou red. Priorité critique — notifier immédiatement.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7" name="Shape 1394"/>
          <p:cNvSpPr/>
          <p:nvPr/>
        </p:nvSpPr>
        <p:spPr>
          <a:xfrm>
            <a:off x="4754880" y="2853000"/>
            <a:ext cx="4205160" cy="4561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8" name="Shape 1395"/>
          <p:cNvSpPr/>
          <p:nvPr/>
        </p:nvSpPr>
        <p:spPr>
          <a:xfrm>
            <a:off x="4754880" y="2853000"/>
            <a:ext cx="53640" cy="4561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9" name="Text 1863"/>
          <p:cNvSpPr/>
          <p:nvPr/>
        </p:nvSpPr>
        <p:spPr>
          <a:xfrm>
            <a:off x="4883040" y="288936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Heap JVM &gt; 80%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0" name="Text 1864"/>
          <p:cNvSpPr/>
          <p:nvPr/>
        </p:nvSpPr>
        <p:spPr>
          <a:xfrm>
            <a:off x="4883040" y="309996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Surveiller via _nodes/stats. Anticiper les OOM avant qu'ils ne surviennent.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1" name="Shape 1396"/>
          <p:cNvSpPr/>
          <p:nvPr/>
        </p:nvSpPr>
        <p:spPr>
          <a:xfrm>
            <a:off x="4754880" y="3383280"/>
            <a:ext cx="4205160" cy="4561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2" name="Shape 1397"/>
          <p:cNvSpPr/>
          <p:nvPr/>
        </p:nvSpPr>
        <p:spPr>
          <a:xfrm>
            <a:off x="4754880" y="3383280"/>
            <a:ext cx="53640" cy="456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3" name="Text 1865"/>
          <p:cNvSpPr/>
          <p:nvPr/>
        </p:nvSpPr>
        <p:spPr>
          <a:xfrm>
            <a:off x="4883040" y="342000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Shards non assignés &gt; 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4" name="Text 1866"/>
          <p:cNvSpPr/>
          <p:nvPr/>
        </p:nvSpPr>
        <p:spPr>
          <a:xfrm>
            <a:off x="4883040" y="363024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_cluster/health.unassigned_shards. Données inaccessibles si non résolus.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5" name="Shape 1398"/>
          <p:cNvSpPr/>
          <p:nvPr/>
        </p:nvSpPr>
        <p:spPr>
          <a:xfrm>
            <a:off x="4754880" y="3913560"/>
            <a:ext cx="4205160" cy="4561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6" name="Shape 1399"/>
          <p:cNvSpPr/>
          <p:nvPr/>
        </p:nvSpPr>
        <p:spPr>
          <a:xfrm>
            <a:off x="4754880" y="3913560"/>
            <a:ext cx="53640" cy="45612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7" name="Text 1867"/>
          <p:cNvSpPr/>
          <p:nvPr/>
        </p:nvSpPr>
        <p:spPr>
          <a:xfrm>
            <a:off x="4883040" y="395028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Espace disque &lt; 20%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8" name="Text 1868"/>
          <p:cNvSpPr/>
          <p:nvPr/>
        </p:nvSpPr>
        <p:spPr>
          <a:xfrm>
            <a:off x="4883040" y="416052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disk.avail depuis _cat/nodes. Opensearch bloque les écritures à 5% restant.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9" name="Shape 1400"/>
          <p:cNvSpPr/>
          <p:nvPr/>
        </p:nvSpPr>
        <p:spPr>
          <a:xfrm>
            <a:off x="4754880" y="4443840"/>
            <a:ext cx="4205160" cy="45612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0" name="Shape 1401"/>
          <p:cNvSpPr/>
          <p:nvPr/>
        </p:nvSpPr>
        <p:spPr>
          <a:xfrm>
            <a:off x="4754880" y="4443840"/>
            <a:ext cx="53640" cy="4561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1" name="Text 1869"/>
          <p:cNvSpPr/>
          <p:nvPr/>
        </p:nvSpPr>
        <p:spPr>
          <a:xfrm>
            <a:off x="4883040" y="448056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Latence search P95 &gt; 1s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2" name="Text 1870"/>
          <p:cNvSpPr/>
          <p:nvPr/>
        </p:nvSpPr>
        <p:spPr>
          <a:xfrm>
            <a:off x="4883040" y="4690800"/>
            <a:ext cx="4040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d0eaee"/>
                </a:solidFill>
                <a:latin typeface="Calibri"/>
                <a:ea typeface="Calibri"/>
              </a:rPr>
              <a:t>Via Performance Analyzer. Dégradation UX avant saturation complète.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3" name="Shape 1402"/>
          <p:cNvSpPr/>
          <p:nvPr/>
        </p:nvSpPr>
        <p:spPr>
          <a:xfrm>
            <a:off x="320040" y="4700160"/>
            <a:ext cx="8502840" cy="4014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4" name="Shape 1403"/>
          <p:cNvSpPr/>
          <p:nvPr/>
        </p:nvSpPr>
        <p:spPr>
          <a:xfrm>
            <a:off x="320040" y="4700160"/>
            <a:ext cx="53640" cy="401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5" name="Text 1871"/>
          <p:cNvSpPr/>
          <p:nvPr/>
        </p:nvSpPr>
        <p:spPr>
          <a:xfrm>
            <a:off x="448200" y="4745880"/>
            <a:ext cx="831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💡  </a:t>
            </a:r>
            <a:r>
              <a:rPr b="0" i="1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Depuis Dashboards → Alerting → Monitors → Create monitor : interface graphique pour créer des monitors sans écrire de JSON — extraction extraction, trigger visuel et test en un clic.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6" name="Shape 1404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7" name="Shape 1405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8" name="Text 2234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Analyse des performances – Slow Logs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9" name="Text 2235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Les slow logs enregistrent les requêtes et indexations qui dépassent un seuil configurable. Ils sont indispensables pour identifier les requêtes problématiques en production.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0" name="Text 2236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Configuration des slow logs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1" name="Shape 1406"/>
          <p:cNvSpPr/>
          <p:nvPr/>
        </p:nvSpPr>
        <p:spPr>
          <a:xfrm>
            <a:off x="320040" y="1581840"/>
            <a:ext cx="4205160" cy="24861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2" name="Text 2237"/>
          <p:cNvSpPr/>
          <p:nvPr/>
        </p:nvSpPr>
        <p:spPr>
          <a:xfrm>
            <a:off x="411480" y="1645920"/>
            <a:ext cx="4022280" cy="23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Activer les slow logs sur un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/mon-index/_settings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"index.search.slowlog.threshold.query.warn":  "5s",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"index.search.slowlog.threshold.query.info":  "2s",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"index.search.slowlog.threshold.query.debug": "500ms",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"index.search.slowlog.threshold.fetch.warn":  "1s",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"index.search.slowlog.level": "info",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"index.indexing.slowlog.threshold.index.warn": "5s",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"index.indexing.slowlog.threshold.index.info": "2s",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"index.indexing.slowlog.level": "info",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"index.indexing.slowlog.source": "1000"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3" name="Shape 1407"/>
          <p:cNvSpPr/>
          <p:nvPr/>
        </p:nvSpPr>
        <p:spPr>
          <a:xfrm>
            <a:off x="320040" y="4133160"/>
            <a:ext cx="4205160" cy="657360"/>
          </a:xfrm>
          <a:prstGeom prst="rect">
            <a:avLst/>
          </a:prstGeom>
          <a:solidFill>
            <a:srgbClr val="003040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4" name="Text 2238"/>
          <p:cNvSpPr/>
          <p:nvPr/>
        </p:nvSpPr>
        <p:spPr>
          <a:xfrm>
            <a:off x="411480" y="4178880"/>
            <a:ext cx="402228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 </a:t>
            </a: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En production, commencer avec des seuils élevés (warn: 5s) et les réduire progressivement. Les slow logs peuvent générer un volume important.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5" name="Text 2239"/>
          <p:cNvSpPr/>
          <p:nvPr/>
        </p:nvSpPr>
        <p:spPr>
          <a:xfrm>
            <a:off x="475488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Lecture et niveaux de logs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6" name="Shape 1408"/>
          <p:cNvSpPr/>
          <p:nvPr/>
        </p:nvSpPr>
        <p:spPr>
          <a:xfrm>
            <a:off x="4754880" y="1581840"/>
            <a:ext cx="4205160" cy="187344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7" name="Text 2240"/>
          <p:cNvSpPr/>
          <p:nvPr/>
        </p:nvSpPr>
        <p:spPr>
          <a:xfrm>
            <a:off x="4846320" y="1645920"/>
            <a:ext cx="4022280" cy="17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Emplacement des logs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/var/log/opensearch/&lt;cluster&gt;_index_search_slowlog.log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/var/log/opensearch/&lt;cluster&gt;_index_indexing_slowlog.log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Exemple de ligne slow log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[2024-01-15T14:32:01][WARN][index.search.slowlog.query]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[logs-2024.01.15][0]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took[6.2s], took_millis[6234],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search_type[QUERY_THEN_FETCH],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source[{"query":{"match":{"msg":"error"}}}]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8" name="Text 2241"/>
          <p:cNvSpPr/>
          <p:nvPr/>
        </p:nvSpPr>
        <p:spPr>
          <a:xfrm>
            <a:off x="4754880" y="3520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Niveaux de logs OpenSearch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9" name="Shape 1409"/>
          <p:cNvSpPr/>
          <p:nvPr/>
        </p:nvSpPr>
        <p:spPr>
          <a:xfrm>
            <a:off x="4754880" y="3886200"/>
            <a:ext cx="776160" cy="254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0" name="Text 2242"/>
          <p:cNvSpPr/>
          <p:nvPr/>
        </p:nvSpPr>
        <p:spPr>
          <a:xfrm>
            <a:off x="4754880" y="3886200"/>
            <a:ext cx="776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ERROR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1" name="Text 2243"/>
          <p:cNvSpPr/>
          <p:nvPr/>
        </p:nvSpPr>
        <p:spPr>
          <a:xfrm>
            <a:off x="5577840" y="388620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Erreur critique nécessitant une intervention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2" name="Shape 1410"/>
          <p:cNvSpPr/>
          <p:nvPr/>
        </p:nvSpPr>
        <p:spPr>
          <a:xfrm>
            <a:off x="4754880" y="4187880"/>
            <a:ext cx="776160" cy="2548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3" name="Text 2244"/>
          <p:cNvSpPr/>
          <p:nvPr/>
        </p:nvSpPr>
        <p:spPr>
          <a:xfrm>
            <a:off x="4754880" y="4187880"/>
            <a:ext cx="776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WARN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4" name="Text 2245"/>
          <p:cNvSpPr/>
          <p:nvPr/>
        </p:nvSpPr>
        <p:spPr>
          <a:xfrm>
            <a:off x="5577840" y="418788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Anomalie non bloquante, à surveiller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5" name="Shape 1411"/>
          <p:cNvSpPr/>
          <p:nvPr/>
        </p:nvSpPr>
        <p:spPr>
          <a:xfrm>
            <a:off x="4754880" y="4489560"/>
            <a:ext cx="776160" cy="254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6" name="Text 2246"/>
          <p:cNvSpPr/>
          <p:nvPr/>
        </p:nvSpPr>
        <p:spPr>
          <a:xfrm>
            <a:off x="4754880" y="4489560"/>
            <a:ext cx="776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INFO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7" name="Text 2247"/>
          <p:cNvSpPr/>
          <p:nvPr/>
        </p:nvSpPr>
        <p:spPr>
          <a:xfrm>
            <a:off x="5577840" y="448956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Événements normaux du cycle de vie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8" name="Shape 1412"/>
          <p:cNvSpPr/>
          <p:nvPr/>
        </p:nvSpPr>
        <p:spPr>
          <a:xfrm>
            <a:off x="4754880" y="4791600"/>
            <a:ext cx="776160" cy="25488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9" name="Text 2248"/>
          <p:cNvSpPr/>
          <p:nvPr/>
        </p:nvSpPr>
        <p:spPr>
          <a:xfrm>
            <a:off x="4754880" y="4791600"/>
            <a:ext cx="77616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onsolas"/>
                <a:ea typeface="Consolas"/>
              </a:rPr>
              <a:t>DEBUG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0" name="Text 2249"/>
          <p:cNvSpPr/>
          <p:nvPr/>
        </p:nvSpPr>
        <p:spPr>
          <a:xfrm>
            <a:off x="5577840" y="4791600"/>
            <a:ext cx="3382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Détails techniques (verbeux)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" name="Shape 1371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2" name="Text 1486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3" name="Text 1487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Performance Analyser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4" name="Shape 1372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5" name="Text 1488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ffffff"/>
                </a:solidFill>
                <a:latin typeface="Calibri"/>
                <a:ea typeface="Calibri"/>
              </a:rPr>
              <a:t>Activation – Analyse – Opensearch dashboard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6" name="Shape 1373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7" name="Shape 1374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8" name="Text 1489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9" name="Shape 1375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0" name="Text 1490"/>
          <p:cNvSpPr/>
          <p:nvPr/>
        </p:nvSpPr>
        <p:spPr>
          <a:xfrm>
            <a:off x="422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1" name="Shape 1376"/>
          <p:cNvSpPr/>
          <p:nvPr/>
        </p:nvSpPr>
        <p:spPr>
          <a:xfrm>
            <a:off x="4716000" y="4545360"/>
            <a:ext cx="220104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2" name="Text 1491"/>
          <p:cNvSpPr/>
          <p:nvPr/>
        </p:nvSpPr>
        <p:spPr>
          <a:xfrm>
            <a:off x="7344000" y="452772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Stockage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3" name="Text 1492"/>
          <p:cNvSpPr/>
          <p:nvPr/>
        </p:nvSpPr>
        <p:spPr>
          <a:xfrm>
            <a:off x="1656000" y="4546800"/>
            <a:ext cx="288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Supervision et optimisation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4" name="Text 1493"/>
          <p:cNvSpPr/>
          <p:nvPr/>
        </p:nvSpPr>
        <p:spPr>
          <a:xfrm>
            <a:off x="4572000" y="4546800"/>
            <a:ext cx="252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Performance Analyser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5" name="Text 1494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6" name="Text 1495"/>
          <p:cNvSpPr/>
          <p:nvPr/>
        </p:nvSpPr>
        <p:spPr>
          <a:xfrm>
            <a:off x="69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7" name="Shape 1413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8" name="Shape 1414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9" name="Text 2250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Performance Analyzer – Activation et métriques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0" name="Text 2251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Performance Analyzer est activé par défaut dans OpenSearch. Il expose une API REST sur le port 9600 et s'intègre à Dashboards via le plugin PerfTop.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1" name="Text 2252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Activation et requêtes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2" name="Shape 1743"/>
          <p:cNvSpPr/>
          <p:nvPr/>
        </p:nvSpPr>
        <p:spPr>
          <a:xfrm>
            <a:off x="320040" y="1581840"/>
            <a:ext cx="4205160" cy="24861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3" name="Text 2253"/>
          <p:cNvSpPr/>
          <p:nvPr/>
        </p:nvSpPr>
        <p:spPr>
          <a:xfrm>
            <a:off x="411480" y="1645920"/>
            <a:ext cx="4022280" cy="23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Vérifier l'état de l'agent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http://&lt;node&gt;:9600/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_plugins/_performanceanalyzer/cluster/config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Activer / désactiver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http://&lt;node&gt;:9600/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_plugins/_performanceanalyzer/cluster/config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"enabled": true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Requête de métriques brutes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http://&lt;node&gt;:9600/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_plugins/_performanceanalyzer/metrics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?metrics=CPU_Utilization,Heap_Used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&amp;dim=ShardID,IndexName&amp;nodes=all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Installer et lancer PerfTop (CLI)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npm install -g @opensearch-project/perftop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perftop --dashboard ClusterOverview.json \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--endpoint &lt;node&gt;:9600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4" name="Shape 1744"/>
          <p:cNvSpPr/>
          <p:nvPr/>
        </p:nvSpPr>
        <p:spPr>
          <a:xfrm>
            <a:off x="320040" y="4133160"/>
            <a:ext cx="4205160" cy="419400"/>
          </a:xfrm>
          <a:prstGeom prst="rect">
            <a:avLst/>
          </a:prstGeom>
          <a:solidFill>
            <a:srgbClr val="edf2f7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5" name="Text 2254"/>
          <p:cNvSpPr/>
          <p:nvPr/>
        </p:nvSpPr>
        <p:spPr>
          <a:xfrm>
            <a:off x="411480" y="4178880"/>
            <a:ext cx="402228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💡 </a:t>
            </a: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PerfTop propose des dashboards prédéfinis : ClusterOverview, NodeAnalysis, SearchLatency, MemoryAnalysis.</a:t>
            </a:r>
            <a:endParaRPr b="0" lang="fr-FR" sz="95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646" name="Text 2255"/>
          <p:cNvSpPr/>
          <p:nvPr/>
        </p:nvSpPr>
        <p:spPr>
          <a:xfrm>
            <a:off x="4754880" y="1234440"/>
            <a:ext cx="4113720" cy="24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Métriques disponibles (sélection)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7" name="Shape 1745"/>
          <p:cNvSpPr/>
          <p:nvPr/>
        </p:nvSpPr>
        <p:spPr>
          <a:xfrm>
            <a:off x="4754880" y="1508400"/>
            <a:ext cx="4205160" cy="2008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8" name="Text 2256"/>
          <p:cNvSpPr/>
          <p:nvPr/>
        </p:nvSpPr>
        <p:spPr>
          <a:xfrm>
            <a:off x="4754880" y="1508400"/>
            <a:ext cx="4205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JVM / GC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9" name="Text 2257"/>
          <p:cNvSpPr/>
          <p:nvPr/>
        </p:nvSpPr>
        <p:spPr>
          <a:xfrm>
            <a:off x="4846320" y="172476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Heap_Used, Heap_Max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0" name="Text 2258"/>
          <p:cNvSpPr/>
          <p:nvPr/>
        </p:nvSpPr>
        <p:spPr>
          <a:xfrm>
            <a:off x="4846320" y="191952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GC_Collection_Event, GC_Collection_Time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1" name="Text 2259"/>
          <p:cNvSpPr/>
          <p:nvPr/>
        </p:nvSpPr>
        <p:spPr>
          <a:xfrm>
            <a:off x="4846320" y="211428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Paging_MajfltRate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2" name="Shape 1746"/>
          <p:cNvSpPr/>
          <p:nvPr/>
        </p:nvSpPr>
        <p:spPr>
          <a:xfrm>
            <a:off x="4754880" y="2402640"/>
            <a:ext cx="4205160" cy="201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3" name="Text 2260"/>
          <p:cNvSpPr/>
          <p:nvPr/>
        </p:nvSpPr>
        <p:spPr>
          <a:xfrm>
            <a:off x="4754880" y="2402640"/>
            <a:ext cx="4205160" cy="20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CPU / OS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4" name="Text 2261"/>
          <p:cNvSpPr/>
          <p:nvPr/>
        </p:nvSpPr>
        <p:spPr>
          <a:xfrm>
            <a:off x="4846320" y="261900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CPU_Utilization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5" name="Text 2262"/>
          <p:cNvSpPr/>
          <p:nvPr/>
        </p:nvSpPr>
        <p:spPr>
          <a:xfrm>
            <a:off x="4846320" y="281376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IO_ReadThroughput, IO_WriteThroughput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6" name="Text 2263"/>
          <p:cNvSpPr/>
          <p:nvPr/>
        </p:nvSpPr>
        <p:spPr>
          <a:xfrm>
            <a:off x="4846320" y="3008160"/>
            <a:ext cx="402228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Thread_Blocked_Time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7" name="Shape 1747"/>
          <p:cNvSpPr/>
          <p:nvPr/>
        </p:nvSpPr>
        <p:spPr>
          <a:xfrm>
            <a:off x="4754880" y="3296880"/>
            <a:ext cx="4205160" cy="2008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8" name="Text 2264"/>
          <p:cNvSpPr/>
          <p:nvPr/>
        </p:nvSpPr>
        <p:spPr>
          <a:xfrm>
            <a:off x="4754880" y="3296880"/>
            <a:ext cx="4205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Indexation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9" name="Text 2265"/>
          <p:cNvSpPr/>
          <p:nvPr/>
        </p:nvSpPr>
        <p:spPr>
          <a:xfrm>
            <a:off x="4846320" y="351324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Indexing_ThrottleTime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0" name="Text 2266"/>
          <p:cNvSpPr/>
          <p:nvPr/>
        </p:nvSpPr>
        <p:spPr>
          <a:xfrm>
            <a:off x="4846320" y="370800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Shard_BulkDocs, Indexing_Docs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1" name="Text 2267"/>
          <p:cNvSpPr/>
          <p:nvPr/>
        </p:nvSpPr>
        <p:spPr>
          <a:xfrm>
            <a:off x="4846320" y="390276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Segments_Count, Segments_Memory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2" name="Shape 1748"/>
          <p:cNvSpPr/>
          <p:nvPr/>
        </p:nvSpPr>
        <p:spPr>
          <a:xfrm>
            <a:off x="4754880" y="4191120"/>
            <a:ext cx="4205160" cy="2008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3" name="Text 2268"/>
          <p:cNvSpPr/>
          <p:nvPr/>
        </p:nvSpPr>
        <p:spPr>
          <a:xfrm>
            <a:off x="4754880" y="4191120"/>
            <a:ext cx="4205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Recherche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4" name="Text 2269"/>
          <p:cNvSpPr/>
          <p:nvPr/>
        </p:nvSpPr>
        <p:spPr>
          <a:xfrm>
            <a:off x="4846320" y="440748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Latency (search / fetch)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5" name="Text 2270"/>
          <p:cNvSpPr/>
          <p:nvPr/>
        </p:nvSpPr>
        <p:spPr>
          <a:xfrm>
            <a:off x="4846320" y="460224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Cache_Query_Hit / Miss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6" name="Text 2271"/>
          <p:cNvSpPr/>
          <p:nvPr/>
        </p:nvSpPr>
        <p:spPr>
          <a:xfrm>
            <a:off x="4846320" y="4797000"/>
            <a:ext cx="40222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•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ShardEvents, HTTP_RequestDocs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7" name="Shape 2030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8" name="Shape 2031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9" name="Text 2272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Performance Analyzer – Root Cause Analysis (RCA)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0" name="Text 2273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 framework RCA analyse en continu les métriques de Performance Analyzer pour détecter automatiquement les causes racines des dégradations de performance.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1" name="Text 2274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Pipeline d'analyse RCA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2" name="Shape 2032"/>
          <p:cNvSpPr/>
          <p:nvPr/>
        </p:nvSpPr>
        <p:spPr>
          <a:xfrm>
            <a:off x="320040" y="1645920"/>
            <a:ext cx="318960" cy="3189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3" name="Text 2275"/>
          <p:cNvSpPr/>
          <p:nvPr/>
        </p:nvSpPr>
        <p:spPr>
          <a:xfrm>
            <a:off x="320040" y="16459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4" name="Shape 2033"/>
          <p:cNvSpPr/>
          <p:nvPr/>
        </p:nvSpPr>
        <p:spPr>
          <a:xfrm>
            <a:off x="768240" y="1581840"/>
            <a:ext cx="3565080" cy="4744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5" name="Shape 2034"/>
          <p:cNvSpPr/>
          <p:nvPr/>
        </p:nvSpPr>
        <p:spPr>
          <a:xfrm>
            <a:off x="768240" y="1581840"/>
            <a:ext cx="5364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6" name="Text 2276"/>
          <p:cNvSpPr/>
          <p:nvPr/>
        </p:nvSpPr>
        <p:spPr>
          <a:xfrm>
            <a:off x="914400" y="160020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Collecte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7" name="Text 2277"/>
          <p:cNvSpPr/>
          <p:nvPr/>
        </p:nvSpPr>
        <p:spPr>
          <a:xfrm>
            <a:off x="914400" y="181044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Métriques brutes via Performance Analyzer (port 9600)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8" name="Shape 2035"/>
          <p:cNvSpPr/>
          <p:nvPr/>
        </p:nvSpPr>
        <p:spPr>
          <a:xfrm>
            <a:off x="475200" y="2057400"/>
            <a:ext cx="360" cy="16452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9" name="Shape 2036"/>
          <p:cNvSpPr/>
          <p:nvPr/>
        </p:nvSpPr>
        <p:spPr>
          <a:xfrm>
            <a:off x="320040" y="2286000"/>
            <a:ext cx="318960" cy="318960"/>
          </a:xfrm>
          <a:prstGeom prst="ellipse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0" name="Text 2278"/>
          <p:cNvSpPr/>
          <p:nvPr/>
        </p:nvSpPr>
        <p:spPr>
          <a:xfrm>
            <a:off x="320040" y="22860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1" name="Shape 2037"/>
          <p:cNvSpPr/>
          <p:nvPr/>
        </p:nvSpPr>
        <p:spPr>
          <a:xfrm>
            <a:off x="768240" y="2221920"/>
            <a:ext cx="3565080" cy="4744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2" name="Shape 2038"/>
          <p:cNvSpPr/>
          <p:nvPr/>
        </p:nvSpPr>
        <p:spPr>
          <a:xfrm>
            <a:off x="768240" y="2221920"/>
            <a:ext cx="53640" cy="4744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3" name="Text 2279"/>
          <p:cNvSpPr/>
          <p:nvPr/>
        </p:nvSpPr>
        <p:spPr>
          <a:xfrm>
            <a:off x="914400" y="224028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Symptômes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4" name="Text 2280"/>
          <p:cNvSpPr/>
          <p:nvPr/>
        </p:nvSpPr>
        <p:spPr>
          <a:xfrm>
            <a:off x="914400" y="245052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Détection : haute latence, GC excessif, CPU saturé…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5" name="Shape 2039"/>
          <p:cNvSpPr/>
          <p:nvPr/>
        </p:nvSpPr>
        <p:spPr>
          <a:xfrm>
            <a:off x="475200" y="2697480"/>
            <a:ext cx="360" cy="164520"/>
          </a:xfrm>
          <a:prstGeom prst="line">
            <a:avLst/>
          </a:prstGeom>
          <a:ln w="1905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6" name="Shape 2040"/>
          <p:cNvSpPr/>
          <p:nvPr/>
        </p:nvSpPr>
        <p:spPr>
          <a:xfrm>
            <a:off x="320040" y="2926080"/>
            <a:ext cx="318960" cy="318960"/>
          </a:xfrm>
          <a:prstGeom prst="ellipse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7" name="Text 2281"/>
          <p:cNvSpPr/>
          <p:nvPr/>
        </p:nvSpPr>
        <p:spPr>
          <a:xfrm>
            <a:off x="320040" y="292608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8" name="Shape 2041"/>
          <p:cNvSpPr/>
          <p:nvPr/>
        </p:nvSpPr>
        <p:spPr>
          <a:xfrm>
            <a:off x="768240" y="2862000"/>
            <a:ext cx="3565080" cy="4744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9" name="Shape 2042"/>
          <p:cNvSpPr/>
          <p:nvPr/>
        </p:nvSpPr>
        <p:spPr>
          <a:xfrm>
            <a:off x="768240" y="2862000"/>
            <a:ext cx="53640" cy="47448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0" name="Text 2282"/>
          <p:cNvSpPr/>
          <p:nvPr/>
        </p:nvSpPr>
        <p:spPr>
          <a:xfrm>
            <a:off x="914400" y="288036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Analyse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1" name="Text 2283"/>
          <p:cNvSpPr/>
          <p:nvPr/>
        </p:nvSpPr>
        <p:spPr>
          <a:xfrm>
            <a:off x="914400" y="309060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Corrélation des métriques → identification de la cause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2" name="Shape 2043"/>
          <p:cNvSpPr/>
          <p:nvPr/>
        </p:nvSpPr>
        <p:spPr>
          <a:xfrm>
            <a:off x="320040" y="3566160"/>
            <a:ext cx="318960" cy="318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3" name="Text 2284"/>
          <p:cNvSpPr/>
          <p:nvPr/>
        </p:nvSpPr>
        <p:spPr>
          <a:xfrm>
            <a:off x="320040" y="35661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4" name="Shape 2044"/>
          <p:cNvSpPr/>
          <p:nvPr/>
        </p:nvSpPr>
        <p:spPr>
          <a:xfrm>
            <a:off x="768240" y="3502080"/>
            <a:ext cx="3565080" cy="47448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5" name="Shape 2045"/>
          <p:cNvSpPr/>
          <p:nvPr/>
        </p:nvSpPr>
        <p:spPr>
          <a:xfrm>
            <a:off x="768240" y="3502080"/>
            <a:ext cx="53640" cy="47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6" name="Text 2285"/>
          <p:cNvSpPr/>
          <p:nvPr/>
        </p:nvSpPr>
        <p:spPr>
          <a:xfrm>
            <a:off x="914400" y="352044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Résultat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7" name="Text 2286"/>
          <p:cNvSpPr/>
          <p:nvPr/>
        </p:nvSpPr>
        <p:spPr>
          <a:xfrm>
            <a:off x="914400" y="3730680"/>
            <a:ext cx="32907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Verdict exposé via l'API RCA ou dans Dashboards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8" name="Text 2287"/>
          <p:cNvSpPr/>
          <p:nvPr/>
        </p:nvSpPr>
        <p:spPr>
          <a:xfrm>
            <a:off x="4754880" y="1234440"/>
            <a:ext cx="41137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API RCA – Analyses disponibles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9" name="Shape 2046"/>
          <p:cNvSpPr/>
          <p:nvPr/>
        </p:nvSpPr>
        <p:spPr>
          <a:xfrm>
            <a:off x="4754880" y="1581840"/>
            <a:ext cx="4205160" cy="219816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0" name="Text 2294"/>
          <p:cNvSpPr/>
          <p:nvPr/>
        </p:nvSpPr>
        <p:spPr>
          <a:xfrm>
            <a:off x="4846320" y="1566720"/>
            <a:ext cx="4022280" cy="131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Lister les analyses RCA disponibles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http://&lt;node&gt;:9600/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_plugins/_performanceanalyzer/rca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Analyse haute utilisation heap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http://&lt;node&gt;:9600/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_plugins/_performanceanalyzer/rca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?rca=HighHeapUsageClusterRca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Analyses disponibles (sélection)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HighHeapUsageClusterRca   → heap saturé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HotShardClusterRca        → shard surchargé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HotNodeClusterRca         → nœud surchargé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HighCPUClusterRca         → CPU saturé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SlowQueryClusterRca       → requêtes lentes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1" name="Text 2295"/>
          <p:cNvSpPr/>
          <p:nvPr/>
        </p:nvSpPr>
        <p:spPr>
          <a:xfrm>
            <a:off x="4754880" y="3763080"/>
            <a:ext cx="411372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Correspondances symptôme → cause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2" name="Text 2296"/>
          <p:cNvSpPr/>
          <p:nvPr/>
        </p:nvSpPr>
        <p:spPr>
          <a:xfrm>
            <a:off x="4754880" y="4023360"/>
            <a:ext cx="2010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</a:t>
            </a: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Latence dégradée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3" name="Text 2297"/>
          <p:cNvSpPr/>
          <p:nvPr/>
        </p:nvSpPr>
        <p:spPr>
          <a:xfrm>
            <a:off x="6812280" y="4023360"/>
            <a:ext cx="214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→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Hot shard → rééquilibrer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4" name="Text 2298"/>
          <p:cNvSpPr/>
          <p:nvPr/>
        </p:nvSpPr>
        <p:spPr>
          <a:xfrm>
            <a:off x="4754880" y="4297680"/>
            <a:ext cx="2010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</a:t>
            </a: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GC fréquent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5" name="Text 2299"/>
          <p:cNvSpPr/>
          <p:nvPr/>
        </p:nvSpPr>
        <p:spPr>
          <a:xfrm>
            <a:off x="6812280" y="4297680"/>
            <a:ext cx="214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→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Heap trop petit → réduire les caches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6" name="Text 2300"/>
          <p:cNvSpPr/>
          <p:nvPr/>
        </p:nvSpPr>
        <p:spPr>
          <a:xfrm>
            <a:off x="4754880" y="4572000"/>
            <a:ext cx="2010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</a:t>
            </a: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CPU saturé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7" name="Text 2301"/>
          <p:cNvSpPr/>
          <p:nvPr/>
        </p:nvSpPr>
        <p:spPr>
          <a:xfrm>
            <a:off x="6812280" y="4572000"/>
            <a:ext cx="214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→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Trop de shards sur un nœud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8" name="Text 2302"/>
          <p:cNvSpPr/>
          <p:nvPr/>
        </p:nvSpPr>
        <p:spPr>
          <a:xfrm>
            <a:off x="4754880" y="4846320"/>
            <a:ext cx="201060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</a:t>
            </a:r>
            <a:r>
              <a:rPr b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I/O élevé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9" name="Text 2303"/>
          <p:cNvSpPr/>
          <p:nvPr/>
        </p:nvSpPr>
        <p:spPr>
          <a:xfrm>
            <a:off x="6812280" y="4846320"/>
            <a:ext cx="21477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→ </a:t>
            </a: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Merges excessifs → throttle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0" name="Shape 2047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1" name="Shape 2048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2" name="Text 2304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Supervision avec OpenSearch Dashboards – Observability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3" name="Text 2305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 plugin Observability centralise logs, métriques et traces dans une interface unifiée, en s'appuyant sur les standards OpenTelemetry (OTel).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4" name="Shape 2049"/>
          <p:cNvSpPr/>
          <p:nvPr/>
        </p:nvSpPr>
        <p:spPr>
          <a:xfrm>
            <a:off x="292680" y="1234440"/>
            <a:ext cx="4296600" cy="1507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5" name="Shape 2050"/>
          <p:cNvSpPr/>
          <p:nvPr/>
        </p:nvSpPr>
        <p:spPr>
          <a:xfrm>
            <a:off x="292680" y="1234440"/>
            <a:ext cx="4296600" cy="536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6" name="Text 2306"/>
          <p:cNvSpPr/>
          <p:nvPr/>
        </p:nvSpPr>
        <p:spPr>
          <a:xfrm>
            <a:off x="402480" y="131688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834a"/>
                </a:solidFill>
                <a:latin typeface="Arial"/>
                <a:ea typeface="Arial"/>
              </a:rPr>
              <a:t>Logs Explorer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7" name="Text 2307"/>
          <p:cNvSpPr/>
          <p:nvPr/>
        </p:nvSpPr>
        <p:spPr>
          <a:xfrm>
            <a:off x="402480" y="1654920"/>
            <a:ext cx="407700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Recherche full-text dans les logs via PPL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Filtres interactifs par champ, niveau, service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Corrélation avec les traces et métriques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Sauvegarde de requêtes fréquentes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8" name="Shape 2051"/>
          <p:cNvSpPr/>
          <p:nvPr/>
        </p:nvSpPr>
        <p:spPr>
          <a:xfrm>
            <a:off x="4773240" y="1234440"/>
            <a:ext cx="4296600" cy="1507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9" name="Shape 2052"/>
          <p:cNvSpPr/>
          <p:nvPr/>
        </p:nvSpPr>
        <p:spPr>
          <a:xfrm>
            <a:off x="4773240" y="1234440"/>
            <a:ext cx="4296600" cy="536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0" name="Text 2308"/>
          <p:cNvSpPr/>
          <p:nvPr/>
        </p:nvSpPr>
        <p:spPr>
          <a:xfrm>
            <a:off x="4883040" y="131688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834a"/>
                </a:solidFill>
                <a:latin typeface="Arial"/>
                <a:ea typeface="Arial"/>
              </a:rPr>
              <a:t>Trace Analytics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1" name="Text 2309"/>
          <p:cNvSpPr/>
          <p:nvPr/>
        </p:nvSpPr>
        <p:spPr>
          <a:xfrm>
            <a:off x="4883040" y="1654920"/>
            <a:ext cx="407700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Visualisation des traces distribuées (OTel)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Latence par service, opération, span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Identification des goulots d'étranglement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Compatible Jaeger et Data Prepper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2" name="Shape 2053"/>
          <p:cNvSpPr/>
          <p:nvPr/>
        </p:nvSpPr>
        <p:spPr>
          <a:xfrm>
            <a:off x="292680" y="2834640"/>
            <a:ext cx="4296600" cy="1507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3" name="Shape 2054"/>
          <p:cNvSpPr/>
          <p:nvPr/>
        </p:nvSpPr>
        <p:spPr>
          <a:xfrm>
            <a:off x="292680" y="2834640"/>
            <a:ext cx="4296600" cy="53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4" name="Text 2310"/>
          <p:cNvSpPr/>
          <p:nvPr/>
        </p:nvSpPr>
        <p:spPr>
          <a:xfrm>
            <a:off x="402480" y="291708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834a"/>
                </a:solidFill>
                <a:latin typeface="Arial"/>
                <a:ea typeface="Arial"/>
              </a:rPr>
              <a:t>Métriques (Metrics)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5" name="Text 2311"/>
          <p:cNvSpPr/>
          <p:nvPr/>
        </p:nvSpPr>
        <p:spPr>
          <a:xfrm>
            <a:off x="402480" y="3255120"/>
            <a:ext cx="407700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Ingestion via Data Prepper ou OTel Collector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Graphiques de séries temporelles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Corrélation avec les logs associés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Format Prometheus compatible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6" name="Shape 2055"/>
          <p:cNvSpPr/>
          <p:nvPr/>
        </p:nvSpPr>
        <p:spPr>
          <a:xfrm>
            <a:off x="4773240" y="2834640"/>
            <a:ext cx="4296600" cy="150768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7" name="Shape 2056"/>
          <p:cNvSpPr/>
          <p:nvPr/>
        </p:nvSpPr>
        <p:spPr>
          <a:xfrm>
            <a:off x="4773240" y="2834640"/>
            <a:ext cx="4296600" cy="53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8" name="Text 2312"/>
          <p:cNvSpPr/>
          <p:nvPr/>
        </p:nvSpPr>
        <p:spPr>
          <a:xfrm>
            <a:off x="4883040" y="2917080"/>
            <a:ext cx="40770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834a"/>
                </a:solidFill>
                <a:latin typeface="Arial"/>
                <a:ea typeface="Arial"/>
              </a:rPr>
              <a:t>Notebooks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9" name="Text 2313"/>
          <p:cNvSpPr/>
          <p:nvPr/>
        </p:nvSpPr>
        <p:spPr>
          <a:xfrm>
            <a:off x="4883040" y="3255120"/>
            <a:ext cx="407700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Combine visualisations, requêtes PPL/SQL, markdown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Idéal pour les rapports de post-mortem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Partage en équipe, exportable en PDF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d1b2a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Exécution pas à pas des cellules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0" name="Shape 1377"/>
          <p:cNvSpPr/>
          <p:nvPr/>
        </p:nvSpPr>
        <p:spPr>
          <a:xfrm>
            <a:off x="0" y="0"/>
            <a:ext cx="9143280" cy="633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1" name="Text 1496"/>
          <p:cNvSpPr/>
          <p:nvPr/>
        </p:nvSpPr>
        <p:spPr>
          <a:xfrm>
            <a:off x="502920" y="18288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4a7480"/>
                </a:solidFill>
                <a:latin typeface="Calibri"/>
                <a:ea typeface="Calibri"/>
              </a:rPr>
              <a:t>OpenSearch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2" name="Text 1497"/>
          <p:cNvSpPr/>
          <p:nvPr/>
        </p:nvSpPr>
        <p:spPr>
          <a:xfrm>
            <a:off x="502920" y="73152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fr-FR" sz="3600" spc="-1" strike="noStrike">
                <a:solidFill>
                  <a:srgbClr val="ffffff"/>
                </a:solidFill>
                <a:latin typeface="Calibri"/>
                <a:ea typeface="Calibri"/>
              </a:rPr>
              <a:t>Gestion du stockage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3" name="Shape 1378"/>
          <p:cNvSpPr/>
          <p:nvPr/>
        </p:nvSpPr>
        <p:spPr>
          <a:xfrm>
            <a:off x="502920" y="2541960"/>
            <a:ext cx="5029200" cy="360"/>
          </a:xfrm>
          <a:prstGeom prst="line">
            <a:avLst/>
          </a:prstGeom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4" name="Text 1498"/>
          <p:cNvSpPr/>
          <p:nvPr/>
        </p:nvSpPr>
        <p:spPr>
          <a:xfrm>
            <a:off x="502920" y="26334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" strike="noStrike">
                <a:solidFill>
                  <a:srgbClr val="ffffff"/>
                </a:solidFill>
                <a:latin typeface="Calibri"/>
                <a:ea typeface="Calibri"/>
              </a:rPr>
              <a:t>Activation – Analyse – Opensearch dashboard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5" name="Shape 1379"/>
          <p:cNvSpPr/>
          <p:nvPr/>
        </p:nvSpPr>
        <p:spPr>
          <a:xfrm>
            <a:off x="0" y="4316040"/>
            <a:ext cx="9144000" cy="8269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6" name="Shape 1380"/>
          <p:cNvSpPr/>
          <p:nvPr/>
        </p:nvSpPr>
        <p:spPr>
          <a:xfrm>
            <a:off x="0" y="4316040"/>
            <a:ext cx="1439640" cy="82692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7" name="Text 1499"/>
          <p:cNvSpPr/>
          <p:nvPr/>
        </p:nvSpPr>
        <p:spPr>
          <a:xfrm>
            <a:off x="0" y="4316040"/>
            <a:ext cx="1433880" cy="8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Monitoring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8" name="Shape 1381"/>
          <p:cNvSpPr/>
          <p:nvPr/>
        </p:nvSpPr>
        <p:spPr>
          <a:xfrm flipH="1">
            <a:off x="1449000" y="4425480"/>
            <a:ext cx="360" cy="608040"/>
          </a:xfrm>
          <a:prstGeom prst="line">
            <a:avLst/>
          </a:prstGeom>
          <a:ln w="19050">
            <a:solidFill>
              <a:srgbClr val="c46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9" name="Text 1841"/>
          <p:cNvSpPr/>
          <p:nvPr/>
        </p:nvSpPr>
        <p:spPr>
          <a:xfrm>
            <a:off x="4226400" y="4546800"/>
            <a:ext cx="669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0" name="Shape 1382"/>
          <p:cNvSpPr/>
          <p:nvPr/>
        </p:nvSpPr>
        <p:spPr>
          <a:xfrm>
            <a:off x="7452000" y="4545360"/>
            <a:ext cx="1188000" cy="401760"/>
          </a:xfrm>
          <a:prstGeom prst="roundRect">
            <a:avLst>
              <a:gd name="adj" fmla="val 15909"/>
            </a:avLst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1" name="Text 1842"/>
          <p:cNvSpPr/>
          <p:nvPr/>
        </p:nvSpPr>
        <p:spPr>
          <a:xfrm>
            <a:off x="7344000" y="4527720"/>
            <a:ext cx="144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Stockage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2" name="Text 1843"/>
          <p:cNvSpPr/>
          <p:nvPr/>
        </p:nvSpPr>
        <p:spPr>
          <a:xfrm>
            <a:off x="1656000" y="4546800"/>
            <a:ext cx="2880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Supervision et optimisation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3" name="Text 2389"/>
          <p:cNvSpPr/>
          <p:nvPr/>
        </p:nvSpPr>
        <p:spPr>
          <a:xfrm>
            <a:off x="4572000" y="4546800"/>
            <a:ext cx="252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tabLst>
                <a:tab algn="l" pos="0"/>
              </a:tabLst>
            </a:pPr>
            <a:r>
              <a:rPr b="0" lang="en-US" sz="1300" spc="-1" strike="noStrike">
                <a:solidFill>
                  <a:srgbClr val="4a7480"/>
                </a:solidFill>
                <a:latin typeface="Calibri"/>
                <a:ea typeface="Calibri"/>
              </a:rPr>
              <a:t>Performance Analyser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4" name="Text 2390"/>
          <p:cNvSpPr/>
          <p:nvPr/>
        </p:nvSpPr>
        <p:spPr>
          <a:xfrm>
            <a:off x="0" y="4951440"/>
            <a:ext cx="914328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a7480"/>
                </a:solidFill>
                <a:latin typeface="Calibri"/>
                <a:ea typeface="Calibri"/>
              </a:rPr>
              <a:t>Formation OpenSearch · 2026</a:t>
            </a:r>
            <a:endParaRPr b="0" lang="fr-F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5" name="Text 2391"/>
          <p:cNvSpPr/>
          <p:nvPr/>
        </p:nvSpPr>
        <p:spPr>
          <a:xfrm>
            <a:off x="6917040" y="4546800"/>
            <a:ext cx="502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4a7480"/>
                </a:solidFill>
                <a:latin typeface="Calibri"/>
                <a:ea typeface="Calibri"/>
              </a:rPr>
              <a:t>•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6" name="Shape 2057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7" name="Shape 2058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8" name="Text 2314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Scaling – Ajout de nœuds et rééquilibrage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9" name="Text 2315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OpenSearch supporte le scaling horizontal à chaud : les nouveaux nœuds rejoignent le cluster et les shards sont automatiquement redistribués selon les règles d'allocation.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0" name="Text 2316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Ajouter un nœud data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1" name="Shape 2059"/>
          <p:cNvSpPr/>
          <p:nvPr/>
        </p:nvSpPr>
        <p:spPr>
          <a:xfrm>
            <a:off x="320040" y="1581840"/>
            <a:ext cx="4205160" cy="233064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2" name="Text 2317"/>
          <p:cNvSpPr/>
          <p:nvPr/>
        </p:nvSpPr>
        <p:spPr>
          <a:xfrm>
            <a:off x="411480" y="1645920"/>
            <a:ext cx="4022280" cy="22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opensearch.yml du nouveau nœud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cluster.name: prod-cluster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node.name: data-node-5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node.roles: [ data 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network.host: 10.0.1.15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discovery.seed_hosts: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- 10.0.1.10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- 10.0.1.11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- 10.0.1.12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Démarrer OpenSearch →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le nœud rejoint le cluster automatiquement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Surveiller le rééquilibrage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/_cat/recovery?v&amp;active_only=true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GET /_cluster/health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?wait_for_status=green&amp;timeout=120s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3" name="Shape 2060"/>
          <p:cNvSpPr/>
          <p:nvPr/>
        </p:nvSpPr>
        <p:spPr>
          <a:xfrm>
            <a:off x="320040" y="3977640"/>
            <a:ext cx="4205160" cy="821880"/>
          </a:xfrm>
          <a:prstGeom prst="rect">
            <a:avLst/>
          </a:prstGeom>
          <a:solidFill>
            <a:srgbClr val="003040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4" name="Text 2318"/>
          <p:cNvSpPr/>
          <p:nvPr/>
        </p:nvSpPr>
        <p:spPr>
          <a:xfrm>
            <a:off x="411480" y="4023360"/>
            <a:ext cx="402228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⚠  </a:t>
            </a: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Le rééquilibrage peut impacter les performances. En prod, limiter la vitesse :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cluster.routing.allocation.node_concurrent_recoveries: 2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indices.recovery.max_bytes_per_sec: 40mb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5" name="Text 2319"/>
          <p:cNvSpPr/>
          <p:nvPr/>
        </p:nvSpPr>
        <p:spPr>
          <a:xfrm>
            <a:off x="475488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Contrôle de l'allocation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6" name="Shape 2061"/>
          <p:cNvSpPr/>
          <p:nvPr/>
        </p:nvSpPr>
        <p:spPr>
          <a:xfrm>
            <a:off x="4754880" y="1581840"/>
            <a:ext cx="4205160" cy="32634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7" name="Text 2320"/>
          <p:cNvSpPr/>
          <p:nvPr/>
        </p:nvSpPr>
        <p:spPr>
          <a:xfrm>
            <a:off x="4846320" y="1645920"/>
            <a:ext cx="4022280" cy="31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Désactiver le rééquilibrage pendant maintenance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/_cluster/settings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"transient":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"cluster.routing.rebalance.enable": "none"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Réactiver après maintenance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/_cluster/settings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"transient":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"cluster.routing.rebalance.enable": "all"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ea7500"/>
                </a:solidFill>
                <a:latin typeface="Consolas"/>
                <a:ea typeface="Consolas"/>
              </a:rPr>
              <a:t># Déplacer manuellement un shard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/_cluster/reroute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"commands": [{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"move":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"index": "logs-2024.01.01",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"shard": 0,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"from_node": "data-node-1",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"to_node":   "data-node-5"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 }]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8" name="Shape 2062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9" name="Shape 2063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0" name="Text 2321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ISM – Index State Management : cycle de vie des index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1" name="Text 2322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ISM automatise les opérations sur les index selon des politiques déclaratives : rollover, passage en read-only, migration vers nœuds cold, suppression après rétention.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2" name="Shape 2064"/>
          <p:cNvSpPr/>
          <p:nvPr/>
        </p:nvSpPr>
        <p:spPr>
          <a:xfrm>
            <a:off x="320040" y="1234440"/>
            <a:ext cx="1919160" cy="309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3" name="Text 2323"/>
          <p:cNvSpPr/>
          <p:nvPr/>
        </p:nvSpPr>
        <p:spPr>
          <a:xfrm>
            <a:off x="320040" y="1234440"/>
            <a:ext cx="1919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hot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4" name="Shape 2065"/>
          <p:cNvSpPr/>
          <p:nvPr/>
        </p:nvSpPr>
        <p:spPr>
          <a:xfrm>
            <a:off x="320040" y="1554480"/>
            <a:ext cx="1919160" cy="639000"/>
          </a:xfrm>
          <a:prstGeom prst="rect">
            <a:avLst/>
          </a:prstGeom>
          <a:solidFill>
            <a:srgbClr val="edf2f7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5" name="Text 2324"/>
          <p:cNvSpPr/>
          <p:nvPr/>
        </p:nvSpPr>
        <p:spPr>
          <a:xfrm>
            <a:off x="320040" y="1554480"/>
            <a:ext cx="1919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Écriture active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Rollover auto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766" name="Shape 2066"/>
          <p:cNvSpPr/>
          <p:nvPr/>
        </p:nvSpPr>
        <p:spPr>
          <a:xfrm>
            <a:off x="2240280" y="1389600"/>
            <a:ext cx="685800" cy="360"/>
          </a:xfrm>
          <a:prstGeom prst="line">
            <a:avLst/>
          </a:prstGeom>
          <a:ln w="254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7" name="Text 2325"/>
          <p:cNvSpPr/>
          <p:nvPr/>
        </p:nvSpPr>
        <p:spPr>
          <a:xfrm>
            <a:off x="2377440" y="1261800"/>
            <a:ext cx="364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834a"/>
                </a:solidFill>
                <a:latin typeface="Calibri"/>
              </a:rPr>
              <a:t>▶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8" name="Shape 2067"/>
          <p:cNvSpPr/>
          <p:nvPr/>
        </p:nvSpPr>
        <p:spPr>
          <a:xfrm>
            <a:off x="2606040" y="1234440"/>
            <a:ext cx="1919160" cy="309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9" name="Text 2326"/>
          <p:cNvSpPr/>
          <p:nvPr/>
        </p:nvSpPr>
        <p:spPr>
          <a:xfrm>
            <a:off x="2606040" y="1234440"/>
            <a:ext cx="1919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warm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0" name="Shape 2068"/>
          <p:cNvSpPr/>
          <p:nvPr/>
        </p:nvSpPr>
        <p:spPr>
          <a:xfrm>
            <a:off x="2606040" y="1554480"/>
            <a:ext cx="1919160" cy="639000"/>
          </a:xfrm>
          <a:prstGeom prst="rect">
            <a:avLst/>
          </a:prstGeom>
          <a:solidFill>
            <a:srgbClr val="edf2f7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1" name="Text 2327"/>
          <p:cNvSpPr/>
          <p:nvPr/>
        </p:nvSpPr>
        <p:spPr>
          <a:xfrm>
            <a:off x="2606040" y="1554480"/>
            <a:ext cx="1919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Lecture seule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Forcemerge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772" name="Shape 2069"/>
          <p:cNvSpPr/>
          <p:nvPr/>
        </p:nvSpPr>
        <p:spPr>
          <a:xfrm>
            <a:off x="4526280" y="1389600"/>
            <a:ext cx="685800" cy="360"/>
          </a:xfrm>
          <a:prstGeom prst="line">
            <a:avLst/>
          </a:prstGeom>
          <a:ln w="254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3" name="Text 2328"/>
          <p:cNvSpPr/>
          <p:nvPr/>
        </p:nvSpPr>
        <p:spPr>
          <a:xfrm>
            <a:off x="4663440" y="1261800"/>
            <a:ext cx="364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834a"/>
                </a:solidFill>
                <a:latin typeface="Calibri"/>
              </a:rPr>
              <a:t>▶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4" name="Shape 2070"/>
          <p:cNvSpPr/>
          <p:nvPr/>
        </p:nvSpPr>
        <p:spPr>
          <a:xfrm>
            <a:off x="4892040" y="1234440"/>
            <a:ext cx="1919160" cy="309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5" name="Text 2329"/>
          <p:cNvSpPr/>
          <p:nvPr/>
        </p:nvSpPr>
        <p:spPr>
          <a:xfrm>
            <a:off x="4892040" y="1234440"/>
            <a:ext cx="1919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cold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6" name="Shape 2071"/>
          <p:cNvSpPr/>
          <p:nvPr/>
        </p:nvSpPr>
        <p:spPr>
          <a:xfrm>
            <a:off x="4892040" y="1554480"/>
            <a:ext cx="1919160" cy="639000"/>
          </a:xfrm>
          <a:prstGeom prst="rect">
            <a:avLst/>
          </a:prstGeom>
          <a:solidFill>
            <a:srgbClr val="edf2f7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7" name="Text 2330"/>
          <p:cNvSpPr/>
          <p:nvPr/>
        </p:nvSpPr>
        <p:spPr>
          <a:xfrm>
            <a:off x="4892040" y="1554480"/>
            <a:ext cx="1919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Nœud cold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Réplicas = 0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  <p:sp>
        <p:nvSpPr>
          <p:cNvPr id="5778" name="Shape 2072"/>
          <p:cNvSpPr/>
          <p:nvPr/>
        </p:nvSpPr>
        <p:spPr>
          <a:xfrm>
            <a:off x="6812280" y="1389600"/>
            <a:ext cx="685800" cy="360"/>
          </a:xfrm>
          <a:prstGeom prst="line">
            <a:avLst/>
          </a:prstGeom>
          <a:ln w="254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9" name="Text 2331"/>
          <p:cNvSpPr/>
          <p:nvPr/>
        </p:nvSpPr>
        <p:spPr>
          <a:xfrm>
            <a:off x="6949440" y="1261800"/>
            <a:ext cx="36468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8834a"/>
                </a:solidFill>
                <a:latin typeface="Calibri"/>
              </a:rPr>
              <a:t>▶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0" name="Shape 2073"/>
          <p:cNvSpPr/>
          <p:nvPr/>
        </p:nvSpPr>
        <p:spPr>
          <a:xfrm>
            <a:off x="7178040" y="1234440"/>
            <a:ext cx="1919160" cy="309960"/>
          </a:xfrm>
          <a:prstGeom prst="rect">
            <a:avLst/>
          </a:prstGeom>
          <a:solidFill>
            <a:srgbClr val="4a7480"/>
          </a:solidFill>
          <a:ln w="12700">
            <a:solidFill>
              <a:srgbClr val="4a74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1" name="Text 2332"/>
          <p:cNvSpPr/>
          <p:nvPr/>
        </p:nvSpPr>
        <p:spPr>
          <a:xfrm>
            <a:off x="7178040" y="1234440"/>
            <a:ext cx="19191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delete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2" name="Shape 2074"/>
          <p:cNvSpPr/>
          <p:nvPr/>
        </p:nvSpPr>
        <p:spPr>
          <a:xfrm>
            <a:off x="7178040" y="1554480"/>
            <a:ext cx="1919160" cy="639000"/>
          </a:xfrm>
          <a:prstGeom prst="rect">
            <a:avLst/>
          </a:prstGeom>
          <a:solidFill>
            <a:srgbClr val="edf2f7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3" name="Text 2333"/>
          <p:cNvSpPr/>
          <p:nvPr/>
        </p:nvSpPr>
        <p:spPr>
          <a:xfrm>
            <a:off x="7178040" y="1554480"/>
            <a:ext cx="191916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Suppression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55269"/>
                </a:solidFill>
                <a:latin typeface="Calibri"/>
                <a:ea typeface="Calibri"/>
              </a:rPr>
              <a:t>après rétention</a:t>
            </a:r>
            <a:endParaRPr b="0" lang="fr-FR" sz="100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4" name="Shape 973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5" name="Shape 1113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6" name="Text 461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Politique ISM complète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7" name="Shape 1535"/>
          <p:cNvSpPr/>
          <p:nvPr/>
        </p:nvSpPr>
        <p:spPr>
          <a:xfrm>
            <a:off x="320040" y="697680"/>
            <a:ext cx="8502840" cy="437832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8" name="Text 1286"/>
          <p:cNvSpPr/>
          <p:nvPr/>
        </p:nvSpPr>
        <p:spPr>
          <a:xfrm>
            <a:off x="411480" y="768240"/>
            <a:ext cx="8319960" cy="24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/_plugins/_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ism/policie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s/logs-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lifecycle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"policy":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"descriptio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n": "Hot →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Warm → Cold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→ Delete",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"default_st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ate":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"hot",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"states": [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"hot",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"actions":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[{ "rollove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"min_inde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x_age":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"1d",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"min_size":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"50gb" } }]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"transition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[{ "state_n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"warm",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"conditions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"min_roll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over_age":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"2d" } 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"warm",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"actions":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"replica_co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unt":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"number_o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f_replicas"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: 1 }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"force_merg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"max_num_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segments":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1 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"transition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[{ "state_n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"cold",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"conditions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"min_inde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x_age":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"15d" } 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"cold",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"actions":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"replica_co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unt":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"number_o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f_replicas"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: 0 }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"read_only"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: {}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"transition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[{ "state_n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"delete",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"conditions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"min_inde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x_age":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"90d" } 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"name":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"delete",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"actions":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[{ "delete"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: {} }],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"transition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s": []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"ism_templa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te":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[{ "index_p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atterns":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["logs-*"],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"priority":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100 }]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9" name="Shape 2076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0" name="Shape 2077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1" name="Text 2336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Gestion du stockage – Architecture Hot-Warm-Cold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2" name="Text 2337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L'architecture Hot-Warm-Cold optimise le rapport performance/coût en stockant les données sur des nœuds adaptés à leur fréquence d'accès.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3" name="Shape 2078"/>
          <p:cNvSpPr/>
          <p:nvPr/>
        </p:nvSpPr>
        <p:spPr>
          <a:xfrm>
            <a:off x="292680" y="1234440"/>
            <a:ext cx="2742120" cy="309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4" name="Text 2338"/>
          <p:cNvSpPr/>
          <p:nvPr/>
        </p:nvSpPr>
        <p:spPr>
          <a:xfrm>
            <a:off x="292680" y="1234440"/>
            <a:ext cx="27421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 Black"/>
                <a:ea typeface="Arial Black"/>
              </a:rPr>
              <a:t>HOT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5" name="Shape 2079"/>
          <p:cNvSpPr/>
          <p:nvPr/>
        </p:nvSpPr>
        <p:spPr>
          <a:xfrm>
            <a:off x="292680" y="1554480"/>
            <a:ext cx="2742120" cy="27421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6" name="Text 2339"/>
          <p:cNvSpPr/>
          <p:nvPr/>
        </p:nvSpPr>
        <p:spPr>
          <a:xfrm>
            <a:off x="384120" y="1591200"/>
            <a:ext cx="2559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nsolas"/>
                <a:ea typeface="Consolas"/>
              </a:rPr>
              <a:t>Nœud : data_hot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7" name="Text 2340"/>
          <p:cNvSpPr/>
          <p:nvPr/>
        </p:nvSpPr>
        <p:spPr>
          <a:xfrm>
            <a:off x="384120" y="1847160"/>
            <a:ext cx="2559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Matériel : SSD NVMe, RAM ++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8" name="Shape 2080"/>
          <p:cNvSpPr/>
          <p:nvPr/>
        </p:nvSpPr>
        <p:spPr>
          <a:xfrm>
            <a:off x="383760" y="2084760"/>
            <a:ext cx="2560320" cy="360"/>
          </a:xfrm>
          <a:prstGeom prst="line">
            <a:avLst/>
          </a:prstGeom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9" name="Text 2341"/>
          <p:cNvSpPr/>
          <p:nvPr/>
        </p:nvSpPr>
        <p:spPr>
          <a:xfrm>
            <a:off x="384120" y="2121480"/>
            <a:ext cx="25592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Index en cours (&lt; 1-2 jours)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0" name="Shape 2081"/>
          <p:cNvSpPr/>
          <p:nvPr/>
        </p:nvSpPr>
        <p:spPr>
          <a:xfrm>
            <a:off x="383760" y="2468880"/>
            <a:ext cx="2560320" cy="360"/>
          </a:xfrm>
          <a:prstGeom prst="line">
            <a:avLst/>
          </a:prstGeom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1" name="Text 2342"/>
          <p:cNvSpPr/>
          <p:nvPr/>
        </p:nvSpPr>
        <p:spPr>
          <a:xfrm>
            <a:off x="384120" y="2505600"/>
            <a:ext cx="255924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Écriture et lecture haute fréquence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Réplicas actifs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node.roles: [data_hot]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2" name="Shape 2082"/>
          <p:cNvSpPr/>
          <p:nvPr/>
        </p:nvSpPr>
        <p:spPr>
          <a:xfrm>
            <a:off x="3218760" y="1234440"/>
            <a:ext cx="2742120" cy="30996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3" name="Text 2343"/>
          <p:cNvSpPr/>
          <p:nvPr/>
        </p:nvSpPr>
        <p:spPr>
          <a:xfrm>
            <a:off x="3218760" y="1234440"/>
            <a:ext cx="27421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 Black"/>
                <a:ea typeface="Arial Black"/>
              </a:rPr>
              <a:t>WARM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4" name="Shape 2083"/>
          <p:cNvSpPr/>
          <p:nvPr/>
        </p:nvSpPr>
        <p:spPr>
          <a:xfrm>
            <a:off x="3218760" y="1554480"/>
            <a:ext cx="2742120" cy="27421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5" name="Text 2344"/>
          <p:cNvSpPr/>
          <p:nvPr/>
        </p:nvSpPr>
        <p:spPr>
          <a:xfrm>
            <a:off x="3310200" y="1591200"/>
            <a:ext cx="2559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nsolas"/>
                <a:ea typeface="Consolas"/>
              </a:rPr>
              <a:t>Nœud : data_warm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6" name="Text 2345"/>
          <p:cNvSpPr/>
          <p:nvPr/>
        </p:nvSpPr>
        <p:spPr>
          <a:xfrm>
            <a:off x="3310200" y="1847160"/>
            <a:ext cx="2559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Matériel : SSD ou HDD, RAM moyenne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7" name="Shape 2084"/>
          <p:cNvSpPr/>
          <p:nvPr/>
        </p:nvSpPr>
        <p:spPr>
          <a:xfrm>
            <a:off x="3309840" y="2084760"/>
            <a:ext cx="2560320" cy="360"/>
          </a:xfrm>
          <a:prstGeom prst="line">
            <a:avLst/>
          </a:prstGeom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8" name="Text 2346"/>
          <p:cNvSpPr/>
          <p:nvPr/>
        </p:nvSpPr>
        <p:spPr>
          <a:xfrm>
            <a:off x="3310200" y="2121480"/>
            <a:ext cx="25592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Index récents, lecture seule (&lt; 30j)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9" name="Shape 2085"/>
          <p:cNvSpPr/>
          <p:nvPr/>
        </p:nvSpPr>
        <p:spPr>
          <a:xfrm>
            <a:off x="3309840" y="2468880"/>
            <a:ext cx="2560320" cy="360"/>
          </a:xfrm>
          <a:prstGeom prst="line">
            <a:avLst/>
          </a:prstGeom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0" name="Text 2347"/>
          <p:cNvSpPr/>
          <p:nvPr/>
        </p:nvSpPr>
        <p:spPr>
          <a:xfrm>
            <a:off x="3310200" y="2505600"/>
            <a:ext cx="255924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Forcemerge 1 segment, réplicas 1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Économie de ressources SSD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node.roles: [data_warm]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1" name="Shape 2086"/>
          <p:cNvSpPr/>
          <p:nvPr/>
        </p:nvSpPr>
        <p:spPr>
          <a:xfrm>
            <a:off x="6144840" y="1234440"/>
            <a:ext cx="2742120" cy="30996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2" name="Text 2348"/>
          <p:cNvSpPr/>
          <p:nvPr/>
        </p:nvSpPr>
        <p:spPr>
          <a:xfrm>
            <a:off x="6144840" y="1234440"/>
            <a:ext cx="27421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 Black"/>
                <a:ea typeface="Arial Black"/>
              </a:rPr>
              <a:t>COLD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3" name="Shape 2087"/>
          <p:cNvSpPr/>
          <p:nvPr/>
        </p:nvSpPr>
        <p:spPr>
          <a:xfrm>
            <a:off x="6144840" y="1554480"/>
            <a:ext cx="2742120" cy="274212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4" name="Text 2349"/>
          <p:cNvSpPr/>
          <p:nvPr/>
        </p:nvSpPr>
        <p:spPr>
          <a:xfrm>
            <a:off x="6236280" y="1591200"/>
            <a:ext cx="25592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Consolas"/>
                <a:ea typeface="Consolas"/>
              </a:rPr>
              <a:t>Nœud : data_cold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5" name="Text 2350"/>
          <p:cNvSpPr/>
          <p:nvPr/>
        </p:nvSpPr>
        <p:spPr>
          <a:xfrm>
            <a:off x="6236280" y="1847160"/>
            <a:ext cx="25592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Matériel : HDD haute capacité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6" name="Shape 2088"/>
          <p:cNvSpPr/>
          <p:nvPr/>
        </p:nvSpPr>
        <p:spPr>
          <a:xfrm>
            <a:off x="6235920" y="2084760"/>
            <a:ext cx="2560320" cy="360"/>
          </a:xfrm>
          <a:prstGeom prst="line">
            <a:avLst/>
          </a:prstGeom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7" name="Text 2351"/>
          <p:cNvSpPr/>
          <p:nvPr/>
        </p:nvSpPr>
        <p:spPr>
          <a:xfrm>
            <a:off x="6236280" y="2121480"/>
            <a:ext cx="25592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e8834a"/>
                </a:solidFill>
                <a:latin typeface="Calibri"/>
                <a:ea typeface="Calibri"/>
              </a:rPr>
              <a:t>Archives (&gt; 30 jours)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8" name="Shape 2089"/>
          <p:cNvSpPr/>
          <p:nvPr/>
        </p:nvSpPr>
        <p:spPr>
          <a:xfrm>
            <a:off x="6235920" y="2468880"/>
            <a:ext cx="2560320" cy="360"/>
          </a:xfrm>
          <a:prstGeom prst="line">
            <a:avLst/>
          </a:prstGeom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9" name="Text 2352"/>
          <p:cNvSpPr/>
          <p:nvPr/>
        </p:nvSpPr>
        <p:spPr>
          <a:xfrm>
            <a:off x="6236280" y="2505600"/>
            <a:ext cx="255924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read_only, réplicas = 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Accès rare, stockage économique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2535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node.roles: [data_cold]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0" name="Shape 2090"/>
          <p:cNvSpPr/>
          <p:nvPr/>
        </p:nvSpPr>
        <p:spPr>
          <a:xfrm>
            <a:off x="292680" y="4370760"/>
            <a:ext cx="8594280" cy="456120"/>
          </a:xfrm>
          <a:prstGeom prst="rect">
            <a:avLst/>
          </a:prstGeom>
          <a:solidFill>
            <a:srgbClr val="edf2f7"/>
          </a:solidFill>
          <a:ln w="12700">
            <a:solidFill>
              <a:srgbClr val="005f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1" name="Text 2353"/>
          <p:cNvSpPr/>
          <p:nvPr/>
        </p:nvSpPr>
        <p:spPr>
          <a:xfrm>
            <a:off x="384120" y="4416480"/>
            <a:ext cx="8411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⚙  </a:t>
            </a: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Configuration du nœud dans opensearch.yml : node.roles: [data_hot] + node.attr.temperature: hot</a:t>
            </a:r>
            <a:endParaRPr b="0" lang="fr-FR" sz="950" spc="-1" strike="noStrike">
              <a:solidFill>
                <a:srgbClr val="355269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→ </a:t>
            </a:r>
            <a:r>
              <a:rPr b="0" lang="en-US" sz="950" spc="-1" strike="noStrike">
                <a:solidFill>
                  <a:srgbClr val="355269"/>
                </a:solidFill>
                <a:latin typeface="Calibri"/>
                <a:ea typeface="Calibri"/>
              </a:rPr>
              <a:t>ISM route via : index.routing.allocation.require.temperature: hot</a:t>
            </a:r>
            <a:endParaRPr b="0" lang="fr-FR" sz="950" spc="-1" strike="noStrike">
              <a:solidFill>
                <a:srgbClr val="355269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2" name="Shape 2091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3" name="Shape 2092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4" name="Text 2354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Bonnes pratiques – Dimensionnement des shards et rollover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5" name="Text 2355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Un mauvais dimensionnement des shards est la première source de problèmes de performance. La règle d'or : 10–50 GB par shard, ≤ 20 shards par Go de heap JVM.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6" name="Text 2356"/>
          <p:cNvSpPr/>
          <p:nvPr/>
        </p:nvSpPr>
        <p:spPr>
          <a:xfrm>
            <a:off x="32004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Règles de dimensionnement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7" name="Shape 2093"/>
          <p:cNvSpPr/>
          <p:nvPr/>
        </p:nvSpPr>
        <p:spPr>
          <a:xfrm>
            <a:off x="320040" y="1581840"/>
            <a:ext cx="4205160" cy="7488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8" name="Shape 2094"/>
          <p:cNvSpPr/>
          <p:nvPr/>
        </p:nvSpPr>
        <p:spPr>
          <a:xfrm>
            <a:off x="320040" y="1581840"/>
            <a:ext cx="53640" cy="748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9" name="Text 2357"/>
          <p:cNvSpPr/>
          <p:nvPr/>
        </p:nvSpPr>
        <p:spPr>
          <a:xfrm>
            <a:off x="457200" y="162756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📦  </a:t>
            </a: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Taille cible : 10–50 GB par shard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0" name="Text 2358"/>
          <p:cNvSpPr/>
          <p:nvPr/>
        </p:nvSpPr>
        <p:spPr>
          <a:xfrm>
            <a:off x="457200" y="190188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En dessous de 1 GB : overhead trop élevé. Au-dessus de 50 GB : récupération très longue en cas de défaillance.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1" name="Shape 2095"/>
          <p:cNvSpPr/>
          <p:nvPr/>
        </p:nvSpPr>
        <p:spPr>
          <a:xfrm>
            <a:off x="320040" y="2404800"/>
            <a:ext cx="4205160" cy="7488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2" name="Shape 2096"/>
          <p:cNvSpPr/>
          <p:nvPr/>
        </p:nvSpPr>
        <p:spPr>
          <a:xfrm>
            <a:off x="320040" y="2404800"/>
            <a:ext cx="53640" cy="748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3" name="Text 2359"/>
          <p:cNvSpPr/>
          <p:nvPr/>
        </p:nvSpPr>
        <p:spPr>
          <a:xfrm>
            <a:off x="457200" y="245052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🔢  </a:t>
            </a: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Max shards par nœud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4" name="Text 2360"/>
          <p:cNvSpPr/>
          <p:nvPr/>
        </p:nvSpPr>
        <p:spPr>
          <a:xfrm>
            <a:off x="457200" y="272484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≤ </a:t>
            </a: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20 shards par Go de heap. Ex : nœud 32 GB heap → max 640 shards (primaires + réplicas).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5" name="Shape 2097"/>
          <p:cNvSpPr/>
          <p:nvPr/>
        </p:nvSpPr>
        <p:spPr>
          <a:xfrm>
            <a:off x="320040" y="3227760"/>
            <a:ext cx="4205160" cy="748800"/>
          </a:xfrm>
          <a:prstGeom prst="rect">
            <a:avLst/>
          </a:prstGeom>
          <a:solidFill>
            <a:srgbClr val="005f75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6" name="Shape 2098"/>
          <p:cNvSpPr/>
          <p:nvPr/>
        </p:nvSpPr>
        <p:spPr>
          <a:xfrm>
            <a:off x="320040" y="3227760"/>
            <a:ext cx="53640" cy="748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7" name="Text 2361"/>
          <p:cNvSpPr/>
          <p:nvPr/>
        </p:nvSpPr>
        <p:spPr>
          <a:xfrm>
            <a:off x="457200" y="327348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⚖️  </a:t>
            </a: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Réplicas selon le contexte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8" name="Text 2362"/>
          <p:cNvSpPr/>
          <p:nvPr/>
        </p:nvSpPr>
        <p:spPr>
          <a:xfrm>
            <a:off x="457200" y="354780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1 réplica en production. 0 pendant une ingestion bulk massive, puis remettre à 1 après.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9" name="Shape 2099"/>
          <p:cNvSpPr/>
          <p:nvPr/>
        </p:nvSpPr>
        <p:spPr>
          <a:xfrm>
            <a:off x="320040" y="4050720"/>
            <a:ext cx="4205160" cy="748800"/>
          </a:xfrm>
          <a:prstGeom prst="rect">
            <a:avLst/>
          </a:prstGeom>
          <a:solidFill>
            <a:srgbClr val="003040"/>
          </a:solidFill>
          <a:ln w="12700">
            <a:solidFill>
              <a:srgbClr val="005f75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0" name="Shape 2100"/>
          <p:cNvSpPr/>
          <p:nvPr/>
        </p:nvSpPr>
        <p:spPr>
          <a:xfrm>
            <a:off x="320040" y="4050720"/>
            <a:ext cx="53640" cy="7488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1" name="Text 2363"/>
          <p:cNvSpPr/>
          <p:nvPr/>
        </p:nvSpPr>
        <p:spPr>
          <a:xfrm>
            <a:off x="457200" y="4096440"/>
            <a:ext cx="39308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📋  </a:t>
            </a:r>
            <a:r>
              <a:rPr b="1" lang="en-US" sz="1000" spc="-1" strike="noStrike">
                <a:solidFill>
                  <a:srgbClr val="e8834a"/>
                </a:solidFill>
                <a:latin typeface="Arial"/>
                <a:ea typeface="Arial"/>
              </a:rPr>
              <a:t>Rollover plutôt que big shards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2" name="Text 2364"/>
          <p:cNvSpPr/>
          <p:nvPr/>
        </p:nvSpPr>
        <p:spPr>
          <a:xfrm>
            <a:off x="457200" y="4370760"/>
            <a:ext cx="39308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d0eaee"/>
                </a:solidFill>
                <a:latin typeface="Calibri"/>
                <a:ea typeface="Calibri"/>
              </a:rPr>
              <a:t>Préférer plusieurs petits index via rollover automatique (1 shard/index) à un index monolithique.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3" name="Text 2365"/>
          <p:cNvSpPr/>
          <p:nvPr/>
        </p:nvSpPr>
        <p:spPr>
          <a:xfrm>
            <a:off x="4754880" y="123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Rollover via alias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4" name="Shape 2101"/>
          <p:cNvSpPr/>
          <p:nvPr/>
        </p:nvSpPr>
        <p:spPr>
          <a:xfrm>
            <a:off x="4754880" y="1581840"/>
            <a:ext cx="4205160" cy="32634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5" name="Text 2366"/>
          <p:cNvSpPr/>
          <p:nvPr/>
        </p:nvSpPr>
        <p:spPr>
          <a:xfrm>
            <a:off x="4846320" y="1645920"/>
            <a:ext cx="4022280" cy="31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1. Créer l'index initial avec alias d'écriture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/logs-000001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"aliases":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"logs-write": { "is_write_index": true },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"logs-read":  {}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2. Déclencher le rollover (manuel ou via ISM)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/logs-write/_rollover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"conditions":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"max_age":  "1d",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"max_size": "40gb",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"max_docs": 100000000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Résultat : logs-000002 créé automatiquement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logs-write pointe vers le nouvel 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logs-read couvre TOUS les index (000001, 000002…)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Toujours écrire sur l'alias, jamais sur l'index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POST /logs-write/_doc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 "message": "mon log"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7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6" name="Shape 2102"/>
          <p:cNvSpPr/>
          <p:nvPr/>
        </p:nvSpPr>
        <p:spPr>
          <a:xfrm>
            <a:off x="0" y="0"/>
            <a:ext cx="9142920" cy="639000"/>
          </a:xfrm>
          <a:prstGeom prst="rect">
            <a:avLst/>
          </a:prstGeom>
          <a:solidFill>
            <a:srgbClr val="004e62"/>
          </a:solidFill>
          <a:ln w="12700">
            <a:solidFill>
              <a:srgbClr val="004e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7" name="Shape 2103"/>
          <p:cNvSpPr/>
          <p:nvPr/>
        </p:nvSpPr>
        <p:spPr>
          <a:xfrm>
            <a:off x="0" y="0"/>
            <a:ext cx="163440" cy="63900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8" name="Text 2367"/>
          <p:cNvSpPr/>
          <p:nvPr/>
        </p:nvSpPr>
        <p:spPr>
          <a:xfrm>
            <a:off x="320040" y="0"/>
            <a:ext cx="8594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  <a:ea typeface="Arial"/>
              </a:rPr>
              <a:t>Bonnes pratiques – Index Templates et checklist de maintenance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9" name="Text 2368"/>
          <p:cNvSpPr/>
          <p:nvPr/>
        </p:nvSpPr>
        <p:spPr>
          <a:xfrm>
            <a:off x="320040" y="713160"/>
            <a:ext cx="85028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eaee"/>
                </a:solidFill>
                <a:latin typeface="Calibri"/>
                <a:ea typeface="Calibri"/>
              </a:rPr>
              <a:t>Les index templates garantissent une configuration cohérente sur tous les index d'un pattern. La maintenance régulière évite l'accumulation de dettes techniques.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0" name="Text 2369"/>
          <p:cNvSpPr/>
          <p:nvPr/>
        </p:nvSpPr>
        <p:spPr>
          <a:xfrm>
            <a:off x="320040" y="1054440"/>
            <a:ext cx="411372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Index template composable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1" name="Shape 2104"/>
          <p:cNvSpPr/>
          <p:nvPr/>
        </p:nvSpPr>
        <p:spPr>
          <a:xfrm>
            <a:off x="320040" y="1440000"/>
            <a:ext cx="4205160" cy="3528000"/>
          </a:xfrm>
          <a:prstGeom prst="rect">
            <a:avLst/>
          </a:prstGeom>
          <a:solidFill>
            <a:srgbClr val="003d4f"/>
          </a:solidFill>
          <a:ln w="12700">
            <a:solidFill>
              <a:srgbClr val="003d4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2" name="Text 2370"/>
          <p:cNvSpPr/>
          <p:nvPr/>
        </p:nvSpPr>
        <p:spPr>
          <a:xfrm>
            <a:off x="411480" y="1573920"/>
            <a:ext cx="4022280" cy="24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1. Component template : paramètres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/_component_template/logs-settings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"template":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"settings":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"number_of_shards": 1,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"number_of_replicas": 1,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"refresh_interval": "5s",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"index.search.slowlog.threshold.query.warn": "5s"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2. Index template composé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PUT /_index_template/logs-template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"index_patterns": ["logs-*"],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"composed_of": ["logs-settings","logs-mappings"],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"priority": 200,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"template": {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"aliases": { "logs-all": {} 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3" name="Text 2371"/>
          <p:cNvSpPr/>
          <p:nvPr/>
        </p:nvSpPr>
        <p:spPr>
          <a:xfrm>
            <a:off x="4754880" y="1054440"/>
            <a:ext cx="411372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834a"/>
                </a:solidFill>
                <a:latin typeface="Arial"/>
                <a:ea typeface="Arial"/>
              </a:rPr>
              <a:t>Checklist de maintenance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4" name="Shape 2105"/>
          <p:cNvSpPr/>
          <p:nvPr/>
        </p:nvSpPr>
        <p:spPr>
          <a:xfrm>
            <a:off x="4754880" y="1461600"/>
            <a:ext cx="4205160" cy="235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5" name="Text 2372"/>
          <p:cNvSpPr/>
          <p:nvPr/>
        </p:nvSpPr>
        <p:spPr>
          <a:xfrm>
            <a:off x="4754880" y="1461600"/>
            <a:ext cx="42051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Quotidien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6" name="Shape 2106"/>
          <p:cNvSpPr/>
          <p:nvPr/>
        </p:nvSpPr>
        <p:spPr>
          <a:xfrm>
            <a:off x="4754880" y="1729080"/>
            <a:ext cx="273240" cy="219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7" name="Text 2373"/>
          <p:cNvSpPr/>
          <p:nvPr/>
        </p:nvSpPr>
        <p:spPr>
          <a:xfrm>
            <a:off x="4754880" y="1729080"/>
            <a:ext cx="27324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8" name="Text 2374"/>
          <p:cNvSpPr/>
          <p:nvPr/>
        </p:nvSpPr>
        <p:spPr>
          <a:xfrm>
            <a:off x="5065920" y="1729080"/>
            <a:ext cx="38941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cluster health = green ?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9" name="Shape 2107"/>
          <p:cNvSpPr/>
          <p:nvPr/>
        </p:nvSpPr>
        <p:spPr>
          <a:xfrm>
            <a:off x="4754880" y="1981080"/>
            <a:ext cx="273240" cy="219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0" name="Text 2375"/>
          <p:cNvSpPr/>
          <p:nvPr/>
        </p:nvSpPr>
        <p:spPr>
          <a:xfrm>
            <a:off x="4754880" y="1981080"/>
            <a:ext cx="27324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1" name="Text 2376"/>
          <p:cNvSpPr/>
          <p:nvPr/>
        </p:nvSpPr>
        <p:spPr>
          <a:xfrm>
            <a:off x="5065920" y="1981080"/>
            <a:ext cx="38941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Shards non assignés ?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2" name="Shape 2110"/>
          <p:cNvSpPr/>
          <p:nvPr/>
        </p:nvSpPr>
        <p:spPr>
          <a:xfrm>
            <a:off x="4754880" y="2232720"/>
            <a:ext cx="273240" cy="219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3" name="Text 2377"/>
          <p:cNvSpPr/>
          <p:nvPr/>
        </p:nvSpPr>
        <p:spPr>
          <a:xfrm>
            <a:off x="4754880" y="2232720"/>
            <a:ext cx="27324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4" name="Text 2378"/>
          <p:cNvSpPr/>
          <p:nvPr/>
        </p:nvSpPr>
        <p:spPr>
          <a:xfrm>
            <a:off x="5065920" y="2232720"/>
            <a:ext cx="38941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Heap &lt; 75 % sur tous les nœuds ?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5" name="Shape 2111"/>
          <p:cNvSpPr/>
          <p:nvPr/>
        </p:nvSpPr>
        <p:spPr>
          <a:xfrm>
            <a:off x="4754880" y="2626200"/>
            <a:ext cx="4205160" cy="2354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6" name="Text 2379"/>
          <p:cNvSpPr/>
          <p:nvPr/>
        </p:nvSpPr>
        <p:spPr>
          <a:xfrm>
            <a:off x="4754880" y="2626200"/>
            <a:ext cx="42051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Hebdomadaire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7" name="Shape 2112"/>
          <p:cNvSpPr/>
          <p:nvPr/>
        </p:nvSpPr>
        <p:spPr>
          <a:xfrm>
            <a:off x="4754880" y="2894040"/>
            <a:ext cx="273240" cy="21960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8" name="Text 2380"/>
          <p:cNvSpPr/>
          <p:nvPr/>
        </p:nvSpPr>
        <p:spPr>
          <a:xfrm>
            <a:off x="4754880" y="2894040"/>
            <a:ext cx="27324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9" name="Text 2381"/>
          <p:cNvSpPr/>
          <p:nvPr/>
        </p:nvSpPr>
        <p:spPr>
          <a:xfrm>
            <a:off x="5065920" y="2894040"/>
            <a:ext cx="389412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Analyser les slow logs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0" name="Shape 2113"/>
          <p:cNvSpPr/>
          <p:nvPr/>
        </p:nvSpPr>
        <p:spPr>
          <a:xfrm>
            <a:off x="4754880" y="3146040"/>
            <a:ext cx="273240" cy="219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1" name="Text 2382"/>
          <p:cNvSpPr/>
          <p:nvPr/>
        </p:nvSpPr>
        <p:spPr>
          <a:xfrm>
            <a:off x="4754880" y="3146040"/>
            <a:ext cx="273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2" name="Text 2383"/>
          <p:cNvSpPr/>
          <p:nvPr/>
        </p:nvSpPr>
        <p:spPr>
          <a:xfrm>
            <a:off x="5065920" y="3146040"/>
            <a:ext cx="389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Progression des politiques ISM ?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3" name="Shape 2114"/>
          <p:cNvSpPr/>
          <p:nvPr/>
        </p:nvSpPr>
        <p:spPr>
          <a:xfrm>
            <a:off x="4754880" y="3398040"/>
            <a:ext cx="273240" cy="219240"/>
          </a:xfrm>
          <a:prstGeom prst="rect">
            <a:avLst/>
          </a:prstGeom>
          <a:solidFill>
            <a:srgbClr val="007a8a"/>
          </a:solidFill>
          <a:ln w="12700">
            <a:solidFill>
              <a:srgbClr val="007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4" name="Text 2384"/>
          <p:cNvSpPr/>
          <p:nvPr/>
        </p:nvSpPr>
        <p:spPr>
          <a:xfrm>
            <a:off x="4754880" y="3398040"/>
            <a:ext cx="273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5" name="Text 2385"/>
          <p:cNvSpPr/>
          <p:nvPr/>
        </p:nvSpPr>
        <p:spPr>
          <a:xfrm>
            <a:off x="5065920" y="3398040"/>
            <a:ext cx="389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Croissance des index nominale ?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6" name="Shape 2115"/>
          <p:cNvSpPr/>
          <p:nvPr/>
        </p:nvSpPr>
        <p:spPr>
          <a:xfrm>
            <a:off x="4754880" y="3791520"/>
            <a:ext cx="4205160" cy="23508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7" name="Text 2386"/>
          <p:cNvSpPr/>
          <p:nvPr/>
        </p:nvSpPr>
        <p:spPr>
          <a:xfrm>
            <a:off x="4754880" y="3791520"/>
            <a:ext cx="42051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Mensuel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8" name="Shape 2116"/>
          <p:cNvSpPr/>
          <p:nvPr/>
        </p:nvSpPr>
        <p:spPr>
          <a:xfrm>
            <a:off x="4754880" y="4059000"/>
            <a:ext cx="273240" cy="219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9" name="Text 2387"/>
          <p:cNvSpPr/>
          <p:nvPr/>
        </p:nvSpPr>
        <p:spPr>
          <a:xfrm>
            <a:off x="4754880" y="4059000"/>
            <a:ext cx="273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0" name="Text 2388"/>
          <p:cNvSpPr/>
          <p:nvPr/>
        </p:nvSpPr>
        <p:spPr>
          <a:xfrm>
            <a:off x="5065920" y="4059000"/>
            <a:ext cx="389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Revue des politiques ISM/templates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1" name="Shape 2117"/>
          <p:cNvSpPr/>
          <p:nvPr/>
        </p:nvSpPr>
        <p:spPr>
          <a:xfrm>
            <a:off x="4754880" y="4311000"/>
            <a:ext cx="273240" cy="219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2" name="Text 2395"/>
          <p:cNvSpPr/>
          <p:nvPr/>
        </p:nvSpPr>
        <p:spPr>
          <a:xfrm>
            <a:off x="4754880" y="4311000"/>
            <a:ext cx="273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3" name="Text 2396"/>
          <p:cNvSpPr/>
          <p:nvPr/>
        </p:nvSpPr>
        <p:spPr>
          <a:xfrm>
            <a:off x="5065920" y="4311000"/>
            <a:ext cx="389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Tester la restauration de snapshot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4" name="Shape 2118"/>
          <p:cNvSpPr/>
          <p:nvPr/>
        </p:nvSpPr>
        <p:spPr>
          <a:xfrm>
            <a:off x="4754880" y="4563000"/>
            <a:ext cx="273240" cy="219240"/>
          </a:xfrm>
          <a:prstGeom prst="rect">
            <a:avLst/>
          </a:prstGeom>
          <a:solidFill>
            <a:srgbClr val="e8834a"/>
          </a:solidFill>
          <a:ln w="12700">
            <a:solidFill>
              <a:srgbClr val="e88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5" name="Text 2397"/>
          <p:cNvSpPr/>
          <p:nvPr/>
        </p:nvSpPr>
        <p:spPr>
          <a:xfrm>
            <a:off x="4754880" y="4563000"/>
            <a:ext cx="273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fr-F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6" name="Text 2398"/>
          <p:cNvSpPr/>
          <p:nvPr/>
        </p:nvSpPr>
        <p:spPr>
          <a:xfrm>
            <a:off x="5065920" y="4563000"/>
            <a:ext cx="389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Analyse des tendances de performance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2026-03-17T11:30:50Z</dcterms:created>
  <dc:creator>David THIBAU</dc:creator>
  <dc:description/>
  <dc:language>fr-FR</dc:language>
  <cp:lastModifiedBy/>
  <cp:lastPrinted>2026-03-23T17:36:12Z</cp:lastPrinted>
  <dcterms:modified xsi:type="dcterms:W3CDTF">2026-03-23T17:36:58Z</dcterms:modified>
  <cp:revision>155</cp:revision>
  <dc:subject>PptxGenJS Presentation</dc:subject>
  <dc:title>OpenSearch –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